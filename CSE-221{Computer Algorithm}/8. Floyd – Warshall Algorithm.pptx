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77" r:id="rId6"/>
    <p:sldId id="261" r:id="rId7"/>
    <p:sldId id="262" r:id="rId8"/>
    <p:sldId id="263" r:id="rId9"/>
    <p:sldId id="264" r:id="rId10"/>
    <p:sldId id="265" r:id="rId11"/>
    <p:sldId id="278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9" r:id="rId21"/>
    <p:sldId id="274" r:id="rId22"/>
    <p:sldId id="275" r:id="rId23"/>
    <p:sldId id="27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1194" y="-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A7406-544B-443B-930D-577B0DF2F5E7}" type="datetimeFigureOut">
              <a:rPr lang="en-US" smtClean="0"/>
              <a:t>04-Jul-24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4C346-92D9-44EA-869F-9CEB3AFAF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62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86564EC-F53E-44F4-BA4D-A1E943225010}" type="datetime1">
              <a:rPr lang="en-US" smtClean="0"/>
              <a:t>04-Jul-24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Kawsar Ahmed, Lecturer, ICT, MBSTU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98D622-D588-4A95-92BC-201A913B38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2DC58-0407-4E43-9CEC-BFF02BDCA58B}" type="datetime1">
              <a:rPr lang="en-US" smtClean="0"/>
              <a:t>04-Jul-24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Kawsar Ahmed, Lecturer, ICT, MBSTU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398D622-D588-4A95-92BC-201A913B38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DE2CD-BB1C-4A0C-8B7F-12D52853C6B6}" type="datetime1">
              <a:rPr lang="en-US" smtClean="0"/>
              <a:t>04-Jul-24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1398D622-D588-4A95-92BC-201A913B38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Kawsar Ahmed, Lecturer, ICT, MBSTU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245BDAF-A4B8-457B-8E45-FAD551515375}" type="datetime1">
              <a:rPr lang="en-US" smtClean="0"/>
              <a:t>04-Jul-24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398D622-D588-4A95-92BC-201A913B38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Kawsar Ahmed, Lecturer, ICT, MBSTU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91AEEA1-6C87-4C5B-B6A9-893613335914}" type="datetime1">
              <a:rPr lang="en-US" smtClean="0"/>
              <a:t>04-Jul-24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1398D622-D588-4A95-92BC-201A913B38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Kawsar Ahmed, Lecturer, ICT, MBSTU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8F7C-7C64-450B-A2D1-A57ED264781E}" type="datetime1">
              <a:rPr lang="en-US" smtClean="0"/>
              <a:t>04-Jul-24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Kawsar Ahmed, Lecturer, ICT, MBSTU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398D622-D588-4A95-92BC-201A913B38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25A4-6F9B-4CE2-80F6-BEE367A5680C}" type="datetime1">
              <a:rPr lang="en-US" smtClean="0"/>
              <a:t>04-Jul-24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Kawsar Ahmed, Lecturer, ICT, MBSTU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398D622-D588-4A95-92BC-201A913B38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F1C1-789D-4D37-806A-6BCD68C3FCAF}" type="datetime1">
              <a:rPr lang="en-US" smtClean="0"/>
              <a:t>04-Jul-24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Kawsar Ahmed, Lecturer, ICT, MBSTU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398D622-D588-4A95-92BC-201A913B38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2199BF5-3AD2-465C-9F08-008E46642A7C}" type="datetime1">
              <a:rPr lang="en-US" smtClean="0"/>
              <a:t>04-Jul-24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1398D622-D588-4A95-92BC-201A913B38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en-US"/>
              <a:t>Kawsar Ahmed, Lecturer, ICT, MBSTU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A36B-8FA1-4786-B07E-576FEA750027}" type="datetime1">
              <a:rPr lang="en-US" smtClean="0"/>
              <a:t>04-Jul-24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Kawsar Ahmed, Lecturer, ICT, MBSTU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8D622-D588-4A95-92BC-201A913B38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3BC2244A-3B50-47B3-B845-9A464756967E}" type="datetime1">
              <a:rPr lang="en-US" smtClean="0"/>
              <a:t>04-Jul-24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en-US"/>
              <a:t>Kawsar Ahmed, Lecturer, ICT, MBSTU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1398D622-D588-4A95-92BC-201A913B38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39820FB-146B-450F-98EF-50EB228B5A2C}" type="datetime1">
              <a:rPr lang="en-US" smtClean="0"/>
              <a:t>04-Jul-24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Kawsar Ahmed, Lecturer, ICT, MBSTU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398D622-D588-4A95-92BC-201A913B38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600" b="1" dirty="0"/>
            </a:br>
            <a:endParaRPr lang="en-US" sz="36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81000" y="304800"/>
            <a:ext cx="8458200" cy="9144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</a:rPr>
              <a:t>Floyd – </a:t>
            </a:r>
            <a:r>
              <a:rPr lang="en-US" sz="5400" b="1" dirty="0" err="1">
                <a:solidFill>
                  <a:schemeClr val="accent2">
                    <a:lumMod val="75000"/>
                  </a:schemeClr>
                </a:solidFill>
              </a:rPr>
              <a:t>Warshall</a:t>
            </a:r>
            <a:r>
              <a:rPr lang="en-US" sz="5400" b="1" dirty="0">
                <a:solidFill>
                  <a:schemeClr val="accent2">
                    <a:lumMod val="75000"/>
                  </a:schemeClr>
                </a:solidFill>
              </a:rPr>
              <a:t> Algorithm</a:t>
            </a:r>
            <a:endParaRPr kumimoji="0" lang="en-US" sz="5400" b="0" i="0" u="none" strike="noStrike" kern="1200" cap="all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381000" y="2286000"/>
            <a:ext cx="8458200" cy="1371600"/>
          </a:xfrm>
          <a:prstGeom prst="rect">
            <a:avLst/>
          </a:prstGeom>
        </p:spPr>
        <p:txBody>
          <a:bodyPr vert="horz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/>
            </a:pPr>
            <a:r>
              <a:rPr lang="en-US" sz="3600" dirty="0">
                <a:solidFill>
                  <a:srgbClr val="FFFFFF"/>
                </a:solidFill>
              </a:rPr>
              <a:t>Lecture 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A2FF-349E-4FE1-840E-FC8FF5235C88}" type="datetime1">
              <a:rPr lang="en-US" smtClean="0"/>
              <a:t>04-Jul-24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98D622-D588-4A95-92BC-201A913B387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Floyd – </a:t>
            </a:r>
            <a:r>
              <a:rPr lang="en-US" sz="4000" dirty="0" err="1"/>
              <a:t>Warshall</a:t>
            </a:r>
            <a:r>
              <a:rPr lang="en-US" sz="4000" dirty="0"/>
              <a:t> Algorithm?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362200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Floyd-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Warshall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algorithm is a graph analysis algorithm for finding shortest path in a weighted graph with positive or negative edge weights.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C2E0-B83E-4874-9628-0B20992EC674}" type="datetime1">
              <a:rPr lang="en-US" smtClean="0"/>
              <a:t>04-Jul-24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Still Don’t Understand?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1828800"/>
            <a:ext cx="7924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Its just a simple method to find out the shortest path from the initial point to the destination using shortest pairs.</a:t>
            </a:r>
          </a:p>
        </p:txBody>
      </p:sp>
      <p:pic>
        <p:nvPicPr>
          <p:cNvPr id="9" name="Picture 8" descr="Johns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3048000"/>
            <a:ext cx="5597891" cy="3662817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867C-2DF0-43C9-92BC-FAA02ADC1B17}" type="datetime1">
              <a:rPr lang="en-US" smtClean="0"/>
              <a:t>04-Jul-24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It should be a directed graph</a:t>
            </a:r>
          </a:p>
          <a:p>
            <a:r>
              <a:rPr lang="en-US" sz="3600" dirty="0"/>
              <a:t>Problem is solved using matrix</a:t>
            </a:r>
          </a:p>
          <a:p>
            <a:r>
              <a:rPr lang="en-US" sz="3600" dirty="0"/>
              <a:t>The matrix should be a square matrix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3DDDA-7DF0-4BC6-8221-E94446D046B2}" type="datetime1">
              <a:rPr lang="en-US" smtClean="0"/>
              <a:t>04-Jul-24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are going to develop adjacency matrix.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Adjacency Matrix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DD789-D41C-4A6A-95C1-E5FD161F44D2}" type="datetime1">
              <a:rPr lang="en-US" smtClean="0"/>
              <a:t>04-Jul-24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98D622-D588-4A95-92BC-201A913B387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Adjacency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752600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To develop an adjacency matrix from the given graph using the nodes and the edges,  first take out the nodes and make a square matrix using them.</a:t>
            </a:r>
          </a:p>
        </p:txBody>
      </p:sp>
      <p:pic>
        <p:nvPicPr>
          <p:cNvPr id="4" name="Picture 3" descr="APSP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3124200"/>
            <a:ext cx="3240505" cy="335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85619" y="3146323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400" y="3617820"/>
            <a:ext cx="4114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endParaRPr lang="en-US" sz="2400" dirty="0">
              <a:latin typeface="Adobe Heiti Std R"/>
              <a:ea typeface="Adobe Heiti Std R"/>
            </a:endParaRPr>
          </a:p>
          <a:p>
            <a:endParaRPr lang="en-US" sz="2400" dirty="0"/>
          </a:p>
          <a:p>
            <a:r>
              <a:rPr lang="en-US" sz="2400" b="1" dirty="0"/>
              <a:t>2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4</a:t>
            </a:r>
            <a:endParaRPr lang="en-US" sz="24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CA15-1ACB-4364-801C-5253BA518EA5}" type="datetime1">
              <a:rPr lang="en-US" smtClean="0"/>
              <a:t>04-Jul-24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Adjacency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02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400" y="3048000"/>
            <a:ext cx="4191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</a:t>
            </a:r>
            <a:r>
              <a:rPr lang="en-US" sz="2400" dirty="0">
                <a:latin typeface="Adobe Heiti Std R"/>
                <a:ea typeface="Adobe Heiti Std R"/>
              </a:rPr>
              <a:t>∞	         ∞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4</a:t>
            </a:r>
            <a:endParaRPr lang="en-US" sz="2400" dirty="0"/>
          </a:p>
        </p:txBody>
      </p:sp>
      <p:pic>
        <p:nvPicPr>
          <p:cNvPr id="6" name="Picture 5" descr="APSP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90800"/>
            <a:ext cx="3240505" cy="33528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609600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Then apply the value of edges.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DA39-3D99-40E1-9DBF-B9F0E0CEA635}" type="datetime1">
              <a:rPr lang="en-US" smtClean="0"/>
              <a:t>04-Jul-24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Developing Adjacency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02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400" y="3048000"/>
            <a:ext cx="4191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</a:t>
            </a:r>
            <a:r>
              <a:rPr lang="en-US" sz="2400" dirty="0">
                <a:latin typeface="Adobe Heiti Std R"/>
                <a:ea typeface="Adobe Heiti Std R"/>
              </a:rPr>
              <a:t>∞	         ∞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latin typeface="Adobe Heiti Std R"/>
                <a:ea typeface="Adobe Heiti Std R"/>
              </a:rPr>
              <a:t>∞          0            1      ∞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4</a:t>
            </a:r>
            <a:endParaRPr lang="en-US" sz="2400" dirty="0"/>
          </a:p>
        </p:txBody>
      </p:sp>
      <p:pic>
        <p:nvPicPr>
          <p:cNvPr id="7" name="Picture 6" descr="APSP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90800"/>
            <a:ext cx="3240505" cy="33528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609600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Then apply the value of edges.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6E0E4-264D-4473-8328-92EBA22E6D4A}" type="datetime1">
              <a:rPr lang="en-US" smtClean="0"/>
              <a:t>04-Jul-24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Developing Adjacency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400" y="3048000"/>
            <a:ext cx="4267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</a:t>
            </a:r>
            <a:r>
              <a:rPr lang="en-US" sz="2400" dirty="0">
                <a:latin typeface="Adobe Heiti Std R"/>
                <a:ea typeface="Adobe Heiti Std R"/>
              </a:rPr>
              <a:t>∞	         ∞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latin typeface="Adobe Heiti Std R"/>
                <a:ea typeface="Adobe Heiti Std R"/>
              </a:rPr>
              <a:t>∞          0        1          ∞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 </a:t>
            </a:r>
            <a:r>
              <a:rPr lang="en-US" sz="2400" dirty="0">
                <a:latin typeface="Adobe Heiti Std R"/>
                <a:ea typeface="Adobe Heiti Std R"/>
              </a:rPr>
              <a:t>∞           0          3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4</a:t>
            </a:r>
            <a:endParaRPr lang="en-US" sz="2400" dirty="0"/>
          </a:p>
        </p:txBody>
      </p:sp>
      <p:pic>
        <p:nvPicPr>
          <p:cNvPr id="11" name="Picture 10" descr="APSP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90800"/>
            <a:ext cx="3240505" cy="3352800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609600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Then apply the value of edges.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C9F39-C88A-4591-87EA-9DD09668EE43}" type="datetime1">
              <a:rPr lang="en-US" smtClean="0"/>
              <a:t>04-Jul-24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Developing Adjacency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02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400" y="3048000"/>
            <a:ext cx="4191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</a:t>
            </a:r>
            <a:r>
              <a:rPr lang="en-US" sz="2400" dirty="0">
                <a:latin typeface="Adobe Heiti Std R"/>
                <a:ea typeface="Adobe Heiti Std R"/>
              </a:rPr>
              <a:t>∞	         ∞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latin typeface="Adobe Heiti Std R"/>
                <a:ea typeface="Adobe Heiti Std R"/>
              </a:rPr>
              <a:t>∞          0        1          ∞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 </a:t>
            </a:r>
            <a:r>
              <a:rPr lang="en-US" sz="2400" dirty="0">
                <a:latin typeface="Adobe Heiti Std R"/>
                <a:ea typeface="Adobe Heiti Std R"/>
              </a:rPr>
              <a:t>∞           0          3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</a:t>
            </a:r>
            <a:r>
              <a:rPr lang="en-US" sz="2400" dirty="0">
                <a:latin typeface="Adobe Heiti Std R"/>
                <a:ea typeface="Adobe Heiti Std R"/>
              </a:rPr>
              <a:t>∞          ∞          0</a:t>
            </a:r>
            <a:endParaRPr lang="en-US" sz="2400" dirty="0"/>
          </a:p>
        </p:txBody>
      </p:sp>
      <p:pic>
        <p:nvPicPr>
          <p:cNvPr id="7" name="Picture 6" descr="APSP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90800"/>
            <a:ext cx="3240505" cy="33528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609600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Then apply the value of edges.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16E38-7D42-473F-91B0-B4C0BFF53AA2}" type="datetime1">
              <a:rPr lang="en-US" smtClean="0"/>
              <a:t>04-Jul-24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are going to arrange the matrix and calculate them.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Arranging matrix and calculate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5D29-FB98-4507-8B9E-587D48D70AF4}" type="datetime1">
              <a:rPr lang="en-US" smtClean="0"/>
              <a:t>04-Jul-24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98D622-D588-4A95-92BC-201A913B387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Arranging 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48000"/>
            <a:ext cx="4267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</a:t>
            </a:r>
            <a:r>
              <a:rPr lang="en-US" sz="2400" dirty="0">
                <a:latin typeface="Adobe Heiti Std R"/>
                <a:ea typeface="Adobe Heiti Std R"/>
              </a:rPr>
              <a:t>∞	         ∞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latin typeface="Adobe Heiti Std R"/>
                <a:ea typeface="Adobe Heiti Std R"/>
              </a:rPr>
              <a:t>∞          0        1          ∞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 </a:t>
            </a:r>
            <a:r>
              <a:rPr lang="en-US" sz="2400" dirty="0">
                <a:latin typeface="Adobe Heiti Std R"/>
                <a:ea typeface="Adobe Heiti Std R"/>
              </a:rPr>
              <a:t>∞         0          3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</a:t>
            </a:r>
            <a:r>
              <a:rPr lang="en-US" sz="2400" dirty="0">
                <a:latin typeface="Adobe Heiti Std R"/>
                <a:ea typeface="Adobe Heiti Std R"/>
              </a:rPr>
              <a:t>∞          ∞          0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Original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3048000"/>
            <a:ext cx="4114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</a:t>
            </a:r>
            <a:r>
              <a:rPr lang="en-US" sz="2400" dirty="0">
                <a:latin typeface="Adobe Heiti Std R"/>
                <a:ea typeface="Adobe Heiti Std R"/>
              </a:rPr>
              <a:t>∞	         ∞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latin typeface="Adobe Heiti Std R"/>
                <a:ea typeface="Adobe Heiti Std R"/>
              </a:rPr>
              <a:t>∞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R1</a:t>
            </a:r>
          </a:p>
        </p:txBody>
      </p:sp>
      <p:sp>
        <p:nvSpPr>
          <p:cNvPr id="10" name="Rectangle 9"/>
          <p:cNvSpPr/>
          <p:nvPr/>
        </p:nvSpPr>
        <p:spPr>
          <a:xfrm rot="5400000">
            <a:off x="6477000" y="1295400"/>
            <a:ext cx="457200" cy="3962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rot="16200000" flipH="1">
            <a:off x="2598326" y="4107272"/>
            <a:ext cx="3810002" cy="150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 rot="10800000">
            <a:off x="5410200" y="2438400"/>
            <a:ext cx="457200" cy="33528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4D383-46E5-4368-AC2B-F7732D00C05A}" type="datetime1">
              <a:rPr lang="en-US" smtClean="0"/>
              <a:t>04-Jul-24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Arranging R1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48000"/>
            <a:ext cx="4267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 </a:t>
            </a:r>
            <a:r>
              <a:rPr lang="en-US" sz="2400" dirty="0">
                <a:latin typeface="Adobe Heiti Std R"/>
                <a:ea typeface="Adobe Heiti Std R"/>
              </a:rPr>
              <a:t>∞	         ∞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latin typeface="Adobe Heiti Std R"/>
                <a:ea typeface="Adobe Heiti Std R"/>
              </a:rPr>
              <a:t>∞          0         1          ∞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 </a:t>
            </a:r>
            <a:r>
              <a:rPr lang="en-US" sz="2400" dirty="0">
                <a:latin typeface="Adobe Heiti Std R"/>
                <a:ea typeface="Adobe Heiti Std R"/>
              </a:rPr>
              <a:t>∞           0          3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</a:t>
            </a:r>
            <a:r>
              <a:rPr lang="en-US" sz="2400" dirty="0">
                <a:latin typeface="Adobe Heiti Std R"/>
                <a:ea typeface="Adobe Heiti Std R"/>
              </a:rPr>
              <a:t>∞          ∞          0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Original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048000"/>
            <a:ext cx="4191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</a:t>
            </a:r>
            <a:r>
              <a:rPr lang="en-US" sz="2400" dirty="0">
                <a:latin typeface="Adobe Heiti Std R"/>
                <a:ea typeface="Adobe Heiti Std R"/>
              </a:rPr>
              <a:t>∞	         ∞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latin typeface="Adobe Heiti Std R"/>
                <a:ea typeface="Adobe Heiti Std R"/>
              </a:rPr>
              <a:t>∞          0         1         ∞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8       13         0         3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2         7        </a:t>
            </a:r>
            <a:r>
              <a:rPr lang="en-US" sz="2400" dirty="0">
                <a:latin typeface="Adobe Heiti Std R"/>
                <a:ea typeface="Adobe Heiti Std R"/>
              </a:rPr>
              <a:t>∞           0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R1</a:t>
            </a:r>
          </a:p>
        </p:txBody>
      </p:sp>
      <p:sp>
        <p:nvSpPr>
          <p:cNvPr id="11" name="Rectangle 10"/>
          <p:cNvSpPr/>
          <p:nvPr/>
        </p:nvSpPr>
        <p:spPr>
          <a:xfrm rot="5400000">
            <a:off x="6477000" y="1295400"/>
            <a:ext cx="457200" cy="3962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rot="16200000" flipH="1">
            <a:off x="2598326" y="4107272"/>
            <a:ext cx="3810002" cy="150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 rot="10800000">
            <a:off x="5410200" y="2438400"/>
            <a:ext cx="457200" cy="33528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420BC-8A45-42E6-9AC6-FBBAFB256CE6}" type="datetime1">
              <a:rPr lang="en-US" smtClean="0"/>
              <a:t>04-Jul-24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Arranging R2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Original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048000"/>
            <a:ext cx="4267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	        5	         </a:t>
            </a:r>
            <a:r>
              <a:rPr lang="en-US" sz="2400" dirty="0">
                <a:latin typeface="Adobe Heiti Std R"/>
                <a:ea typeface="Adobe Heiti Std R"/>
              </a:rPr>
              <a:t>                  </a:t>
            </a:r>
          </a:p>
          <a:p>
            <a:endParaRPr lang="en-US" sz="2400" dirty="0"/>
          </a:p>
          <a:p>
            <a:pPr marL="457200" indent="-457200"/>
            <a:r>
              <a:rPr lang="en-US" sz="2400" b="1" dirty="0">
                <a:ea typeface="Adobe Heiti Std R"/>
              </a:rPr>
              <a:t>2</a:t>
            </a:r>
            <a:r>
              <a:rPr lang="en-US" sz="2400" dirty="0">
                <a:latin typeface="Adobe Heiti Std R"/>
                <a:ea typeface="Adobe Heiti Std R"/>
              </a:rPr>
              <a:t>      ∞        0            1         ∞</a:t>
            </a:r>
          </a:p>
          <a:p>
            <a:pPr marL="457200" indent="-457200">
              <a:buAutoNum type="arabicPlain" startAt="2"/>
            </a:pPr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          13                          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           7        </a:t>
            </a:r>
            <a:r>
              <a:rPr lang="en-US" sz="2400" dirty="0">
                <a:latin typeface="Adobe Heiti Std R"/>
                <a:ea typeface="Adobe Heiti Std R"/>
              </a:rPr>
              <a:t>  </a:t>
            </a:r>
            <a:r>
              <a:rPr lang="en-US" sz="2400" dirty="0">
                <a:ea typeface="Adobe Heiti Std R"/>
              </a:rPr>
              <a:t>         </a:t>
            </a:r>
            <a:r>
              <a:rPr lang="en-US" sz="2400" dirty="0">
                <a:latin typeface="Adobe Heiti Std R"/>
                <a:ea typeface="Adobe Heiti Std R"/>
              </a:rPr>
              <a:t>          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R2</a:t>
            </a:r>
          </a:p>
        </p:txBody>
      </p:sp>
      <p:sp>
        <p:nvSpPr>
          <p:cNvPr id="11" name="Rectangle 10"/>
          <p:cNvSpPr/>
          <p:nvPr/>
        </p:nvSpPr>
        <p:spPr>
          <a:xfrm rot="5400000">
            <a:off x="6553200" y="1968910"/>
            <a:ext cx="457200" cy="3962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rot="16200000" flipH="1">
            <a:off x="2598326" y="4107272"/>
            <a:ext cx="3810002" cy="150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 rot="10800000">
            <a:off x="6324600" y="2438400"/>
            <a:ext cx="457200" cy="33528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430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48000"/>
            <a:ext cx="4191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</a:t>
            </a:r>
            <a:r>
              <a:rPr lang="en-US" sz="2400" dirty="0">
                <a:latin typeface="Adobe Heiti Std R"/>
                <a:ea typeface="Adobe Heiti Std R"/>
              </a:rPr>
              <a:t>∞	         ∞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latin typeface="Adobe Heiti Std R"/>
                <a:ea typeface="Adobe Heiti Std R"/>
              </a:rPr>
              <a:t>∞         0         1         ∞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8       13         0         3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2         7        </a:t>
            </a:r>
            <a:r>
              <a:rPr lang="en-US" sz="2400" dirty="0">
                <a:latin typeface="Adobe Heiti Std R"/>
                <a:ea typeface="Adobe Heiti Std R"/>
              </a:rPr>
              <a:t>∞           0</a:t>
            </a:r>
            <a:endParaRPr 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DC318-78C9-4811-9F0B-471E1AD39494}" type="datetime1">
              <a:rPr lang="en-US" smtClean="0"/>
              <a:t>04-Jul-24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Arranging 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Original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048000"/>
            <a:ext cx="4267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  6</a:t>
            </a:r>
            <a:r>
              <a:rPr lang="en-US" sz="2400" dirty="0">
                <a:latin typeface="Adobe Heiti Std R"/>
                <a:ea typeface="Adobe Heiti Std R"/>
              </a:rPr>
              <a:t>         ∞         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latin typeface="Adobe Heiti Std R"/>
                <a:ea typeface="Adobe Heiti Std R"/>
              </a:rPr>
              <a:t>∞          0            1        ∞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8        13         0        3         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2         7        </a:t>
            </a:r>
            <a:r>
              <a:rPr lang="en-US" sz="2400" dirty="0">
                <a:latin typeface="Adobe Heiti Std R"/>
                <a:ea typeface="Adobe Heiti Std R"/>
              </a:rPr>
              <a:t>  </a:t>
            </a:r>
            <a:r>
              <a:rPr lang="en-US" sz="2400" dirty="0">
                <a:ea typeface="Adobe Heiti Std R"/>
              </a:rPr>
              <a:t>8         0</a:t>
            </a:r>
            <a:r>
              <a:rPr lang="en-US" sz="2400" dirty="0">
                <a:latin typeface="Adobe Heiti Std R"/>
                <a:ea typeface="Adobe Heiti Std R"/>
              </a:rPr>
              <a:t>          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R2</a:t>
            </a:r>
          </a:p>
        </p:txBody>
      </p:sp>
      <p:sp>
        <p:nvSpPr>
          <p:cNvPr id="9" name="Rectangle 8"/>
          <p:cNvSpPr/>
          <p:nvPr/>
        </p:nvSpPr>
        <p:spPr>
          <a:xfrm rot="5400000">
            <a:off x="6570406" y="1981200"/>
            <a:ext cx="457200" cy="3962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rot="16200000" flipH="1">
            <a:off x="2598326" y="4107272"/>
            <a:ext cx="3810002" cy="150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 rot="10800000">
            <a:off x="6324600" y="2438400"/>
            <a:ext cx="457200" cy="33528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430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48000"/>
            <a:ext cx="4267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</a:t>
            </a:r>
            <a:r>
              <a:rPr lang="en-US" sz="2400" dirty="0">
                <a:latin typeface="Adobe Heiti Std R"/>
                <a:ea typeface="Adobe Heiti Std R"/>
              </a:rPr>
              <a:t>∞	         ∞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latin typeface="Adobe Heiti Std R"/>
                <a:ea typeface="Adobe Heiti Std R"/>
              </a:rPr>
              <a:t>∞          0        1         ∞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8       13         0         3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2         7        </a:t>
            </a:r>
            <a:r>
              <a:rPr lang="en-US" sz="2400" dirty="0">
                <a:latin typeface="Adobe Heiti Std R"/>
                <a:ea typeface="Adobe Heiti Std R"/>
              </a:rPr>
              <a:t>∞           0</a:t>
            </a:r>
            <a:endParaRPr 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FE47-BECF-4D33-AF4A-9CCF06A48395}" type="datetime1">
              <a:rPr lang="en-US" smtClean="0"/>
              <a:t>04-Jul-24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Arranging R3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Original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048000"/>
            <a:ext cx="3886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	        	        6</a:t>
            </a:r>
            <a:r>
              <a:rPr lang="en-US" sz="2400" dirty="0">
                <a:ea typeface="Adobe Heiti Std R"/>
              </a:rPr>
              <a:t>               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    </a:t>
            </a:r>
            <a:r>
              <a:rPr lang="en-US" sz="2400" dirty="0">
                <a:ea typeface="Adobe Heiti Std R"/>
              </a:rPr>
              <a:t>                   1                  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8        13        0         3       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                    </a:t>
            </a:r>
            <a:r>
              <a:rPr lang="en-US" sz="2400" dirty="0">
                <a:ea typeface="Adobe Heiti Std R"/>
              </a:rPr>
              <a:t>  8                   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R3</a:t>
            </a:r>
          </a:p>
        </p:txBody>
      </p:sp>
      <p:sp>
        <p:nvSpPr>
          <p:cNvPr id="9" name="Rectangle 8"/>
          <p:cNvSpPr/>
          <p:nvPr/>
        </p:nvSpPr>
        <p:spPr>
          <a:xfrm rot="5400000">
            <a:off x="6477000" y="2743200"/>
            <a:ext cx="457200" cy="3962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rot="16200000" flipH="1">
            <a:off x="2598326" y="4107272"/>
            <a:ext cx="3810002" cy="150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 rot="10800000">
            <a:off x="7239000" y="2438400"/>
            <a:ext cx="457200" cy="33528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430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48000"/>
            <a:ext cx="4267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  6</a:t>
            </a:r>
            <a:r>
              <a:rPr lang="en-US" sz="2400" dirty="0">
                <a:latin typeface="Adobe Heiti Std R"/>
                <a:ea typeface="Adobe Heiti Std R"/>
              </a:rPr>
              <a:t>         ∞         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latin typeface="Adobe Heiti Std R"/>
                <a:ea typeface="Adobe Heiti Std R"/>
              </a:rPr>
              <a:t>∞          0         1        ∞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8        13         0        3         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2         7        </a:t>
            </a:r>
            <a:r>
              <a:rPr lang="en-US" sz="2400" dirty="0">
                <a:latin typeface="Adobe Heiti Std R"/>
                <a:ea typeface="Adobe Heiti Std R"/>
              </a:rPr>
              <a:t>  </a:t>
            </a:r>
            <a:r>
              <a:rPr lang="en-US" sz="2400" dirty="0">
                <a:ea typeface="Adobe Heiti Std R"/>
              </a:rPr>
              <a:t>8         0</a:t>
            </a:r>
            <a:r>
              <a:rPr lang="en-US" sz="2400" dirty="0">
                <a:latin typeface="Adobe Heiti Std R"/>
                <a:ea typeface="Adobe Heiti Std R"/>
              </a:rPr>
              <a:t>          </a:t>
            </a:r>
            <a:endParaRPr 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174AE-9735-4306-BBE6-59B424F8FADC}" type="datetime1">
              <a:rPr lang="en-US" smtClean="0"/>
              <a:t>04-Jul-24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Arranging R3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Original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048000"/>
            <a:ext cx="3886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 6</a:t>
            </a:r>
            <a:r>
              <a:rPr lang="en-US" sz="2400" dirty="0">
                <a:ea typeface="Adobe Heiti Std R"/>
              </a:rPr>
              <a:t>         9      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ea typeface="Adobe Heiti Std R"/>
              </a:rPr>
              <a:t>14        0         1         4         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8        13        0         3         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2          7      </a:t>
            </a:r>
            <a:r>
              <a:rPr lang="en-US" sz="2400" dirty="0">
                <a:ea typeface="Adobe Heiti Std R"/>
              </a:rPr>
              <a:t>  8         0          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50292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R3</a:t>
            </a:r>
          </a:p>
        </p:txBody>
      </p:sp>
      <p:sp>
        <p:nvSpPr>
          <p:cNvPr id="19" name="Rectangle 18"/>
          <p:cNvSpPr/>
          <p:nvPr/>
        </p:nvSpPr>
        <p:spPr>
          <a:xfrm rot="5400000">
            <a:off x="6477000" y="2743200"/>
            <a:ext cx="457200" cy="3962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16200000" flipH="1">
            <a:off x="2598326" y="4107272"/>
            <a:ext cx="3810002" cy="150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 rot="10800000">
            <a:off x="7239000" y="2438400"/>
            <a:ext cx="457200" cy="33528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1430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48000"/>
            <a:ext cx="4267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  6</a:t>
            </a:r>
            <a:r>
              <a:rPr lang="en-US" sz="2400" dirty="0">
                <a:latin typeface="Adobe Heiti Std R"/>
                <a:ea typeface="Adobe Heiti Std R"/>
              </a:rPr>
              <a:t>         ∞         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latin typeface="Adobe Heiti Std R"/>
                <a:ea typeface="Adobe Heiti Std R"/>
              </a:rPr>
              <a:t>∞          0         1        ∞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8        13         0        3         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2         7        </a:t>
            </a:r>
            <a:r>
              <a:rPr lang="en-US" sz="2400" dirty="0">
                <a:latin typeface="Adobe Heiti Std R"/>
                <a:ea typeface="Adobe Heiti Std R"/>
              </a:rPr>
              <a:t>  </a:t>
            </a:r>
            <a:r>
              <a:rPr lang="en-US" sz="2400" dirty="0">
                <a:ea typeface="Adobe Heiti Std R"/>
              </a:rPr>
              <a:t>8         0</a:t>
            </a:r>
            <a:r>
              <a:rPr lang="en-US" sz="2400" dirty="0">
                <a:latin typeface="Adobe Heiti Std R"/>
                <a:ea typeface="Adobe Heiti Std R"/>
              </a:rPr>
              <a:t>          </a:t>
            </a:r>
            <a:endParaRPr 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6A58D-24B1-485E-ABBB-E1BE64423ABE}" type="datetime1">
              <a:rPr lang="en-US" smtClean="0"/>
              <a:t>04-Jul-24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Original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3048000"/>
            <a:ext cx="3886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	        	          </a:t>
            </a:r>
            <a:r>
              <a:rPr lang="en-US" sz="2400" dirty="0">
                <a:ea typeface="Adobe Heiti Std R"/>
              </a:rPr>
              <a:t>         9      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			        </a:t>
            </a:r>
            <a:r>
              <a:rPr lang="en-US" sz="2400" dirty="0">
                <a:ea typeface="Adobe Heiti Std R"/>
              </a:rPr>
              <a:t>4         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			        3         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2          7      </a:t>
            </a:r>
            <a:r>
              <a:rPr lang="en-US" sz="2400" dirty="0">
                <a:ea typeface="Adobe Heiti Std R"/>
              </a:rPr>
              <a:t>  8         0          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R4</a:t>
            </a:r>
          </a:p>
        </p:txBody>
      </p:sp>
      <p:sp>
        <p:nvSpPr>
          <p:cNvPr id="8" name="Rectangle 7"/>
          <p:cNvSpPr/>
          <p:nvPr/>
        </p:nvSpPr>
        <p:spPr>
          <a:xfrm rot="5400000">
            <a:off x="6477000" y="3505200"/>
            <a:ext cx="457200" cy="3962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16200000" flipH="1">
            <a:off x="2598326" y="4107272"/>
            <a:ext cx="3810002" cy="150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rot="10800000">
            <a:off x="8153400" y="2438400"/>
            <a:ext cx="457200" cy="33528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430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48000"/>
            <a:ext cx="3886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 6</a:t>
            </a:r>
            <a:r>
              <a:rPr lang="en-US" sz="2400" dirty="0">
                <a:ea typeface="Adobe Heiti Std R"/>
              </a:rPr>
              <a:t>         9      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ea typeface="Adobe Heiti Std R"/>
              </a:rPr>
              <a:t>14        0         1         4         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8        13        0         3         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2          7      </a:t>
            </a:r>
            <a:r>
              <a:rPr lang="en-US" sz="2400" dirty="0">
                <a:ea typeface="Adobe Heiti Std R"/>
              </a:rPr>
              <a:t>  8         0          </a:t>
            </a:r>
            <a:endParaRPr lang="en-US" sz="2400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Arranging R4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661B-BD33-43F3-A855-38A8B8DDD9A2}" type="datetime1">
              <a:rPr lang="en-US" smtClean="0"/>
              <a:t>04-Jul-24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Original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3048000"/>
            <a:ext cx="3886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 6</a:t>
            </a:r>
            <a:r>
              <a:rPr lang="en-US" sz="2400" dirty="0">
                <a:ea typeface="Adobe Heiti Std R"/>
              </a:rPr>
              <a:t>         9      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 6	        0	        1	        </a:t>
            </a:r>
            <a:r>
              <a:rPr lang="en-US" sz="2400" dirty="0">
                <a:ea typeface="Adobe Heiti Std R"/>
              </a:rPr>
              <a:t>4         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5	        10       0         3         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2          7      </a:t>
            </a:r>
            <a:r>
              <a:rPr lang="en-US" sz="2400" dirty="0">
                <a:ea typeface="Adobe Heiti Std R"/>
              </a:rPr>
              <a:t>  8         0          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R4</a:t>
            </a:r>
          </a:p>
        </p:txBody>
      </p:sp>
      <p:sp>
        <p:nvSpPr>
          <p:cNvPr id="8" name="Rectangle 7"/>
          <p:cNvSpPr/>
          <p:nvPr/>
        </p:nvSpPr>
        <p:spPr>
          <a:xfrm rot="5400000">
            <a:off x="6477000" y="3505200"/>
            <a:ext cx="457200" cy="3962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16200000" flipH="1">
            <a:off x="2598326" y="4107272"/>
            <a:ext cx="3810002" cy="150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 rot="10800000">
            <a:off x="8153400" y="2438400"/>
            <a:ext cx="457200" cy="33528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43000" y="2514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48000"/>
            <a:ext cx="3886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 6</a:t>
            </a:r>
            <a:r>
              <a:rPr lang="en-US" sz="2400" dirty="0">
                <a:ea typeface="Adobe Heiti Std R"/>
              </a:rPr>
              <a:t>         9      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</a:t>
            </a:r>
            <a:r>
              <a:rPr lang="en-US" sz="2400" dirty="0">
                <a:ea typeface="Adobe Heiti Std R"/>
              </a:rPr>
              <a:t>14        0         1         4         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8        13        0         3         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2          7      </a:t>
            </a:r>
            <a:r>
              <a:rPr lang="en-US" sz="2400" dirty="0">
                <a:ea typeface="Adobe Heiti Std R"/>
              </a:rPr>
              <a:t>  8         0          </a:t>
            </a:r>
            <a:endParaRPr lang="en-US" sz="2400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/>
              <a:t>Arranging R4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406C1-6041-4727-8832-5D777F0AB7E5}" type="datetime1">
              <a:rPr lang="en-US" smtClean="0"/>
              <a:t>04-Jul-24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Arrangement Done!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07B5D-C690-4010-9E2A-5A196C013396}" type="datetime1">
              <a:rPr lang="en-US" smtClean="0"/>
              <a:t>04-Jul-24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98D622-D588-4A95-92BC-201A913B387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24384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71800"/>
            <a:ext cx="3886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 6</a:t>
            </a:r>
            <a:r>
              <a:rPr lang="en-US" sz="2400" dirty="0">
                <a:ea typeface="Adobe Heiti Std R"/>
              </a:rPr>
              <a:t>         9      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 6	        0	        1	        </a:t>
            </a:r>
            <a:r>
              <a:rPr lang="en-US" sz="2400" dirty="0">
                <a:ea typeface="Adobe Heiti Std R"/>
              </a:rPr>
              <a:t>4         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5	        10       0         3         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2          7      </a:t>
            </a:r>
            <a:r>
              <a:rPr lang="en-US" sz="2400" dirty="0">
                <a:ea typeface="Adobe Heiti Std R"/>
              </a:rPr>
              <a:t>  8         0          </a:t>
            </a:r>
            <a:endParaRPr lang="en-US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762B-348B-4318-8225-A5CF94234A42}" type="datetime1">
              <a:rPr lang="en-US" smtClean="0"/>
              <a:t>04-Jul-24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with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0200" y="24384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	2	3	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400" y="2971800"/>
            <a:ext cx="3886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dirty="0"/>
              <a:t>      0	        5	        6</a:t>
            </a:r>
            <a:r>
              <a:rPr lang="en-US" sz="2400" dirty="0">
                <a:ea typeface="Adobe Heiti Std R"/>
              </a:rPr>
              <a:t>         9      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      6	        0	        1	        </a:t>
            </a:r>
            <a:r>
              <a:rPr lang="en-US" sz="2400" dirty="0">
                <a:ea typeface="Adobe Heiti Std R"/>
              </a:rPr>
              <a:t>4             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3</a:t>
            </a:r>
            <a:r>
              <a:rPr lang="en-US" sz="2400" dirty="0"/>
              <a:t>      5	        10       0         3         </a:t>
            </a:r>
          </a:p>
          <a:p>
            <a:endParaRPr lang="en-US" sz="2400" dirty="0"/>
          </a:p>
          <a:p>
            <a:r>
              <a:rPr lang="en-US" sz="2400" b="1" dirty="0"/>
              <a:t>4</a:t>
            </a:r>
            <a:r>
              <a:rPr lang="en-US" sz="2400" dirty="0"/>
              <a:t>      2          7      </a:t>
            </a:r>
            <a:r>
              <a:rPr lang="en-US" sz="2400" dirty="0">
                <a:ea typeface="Adobe Heiti Std R"/>
              </a:rPr>
              <a:t>  8         0          </a:t>
            </a:r>
            <a:endParaRPr lang="en-US" sz="2400" dirty="0"/>
          </a:p>
        </p:txBody>
      </p:sp>
      <p:pic>
        <p:nvPicPr>
          <p:cNvPr id="6" name="Picture 5" descr="APSP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90800"/>
            <a:ext cx="3240505" cy="33528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258B7-FDEB-4BFE-A27D-7EB214A4DFCB}" type="datetime1">
              <a:rPr lang="en-US" smtClean="0"/>
              <a:t>04-Jul-24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398D622-D588-4A95-92BC-201A913B387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That’s All about Floyd–</a:t>
            </a:r>
            <a:r>
              <a:rPr lang="en-US" sz="3200" dirty="0" err="1"/>
              <a:t>Warshall</a:t>
            </a:r>
            <a:r>
              <a:rPr lang="en-US" sz="3200" dirty="0"/>
              <a:t>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3810000"/>
            <a:ext cx="309636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/>
              <a:t>Thank You!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88A7-F416-4B7B-B341-AA3C19F6B262}" type="datetime1">
              <a:rPr lang="en-US" smtClean="0"/>
              <a:t>04-Jul-24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98D622-D588-4A95-92BC-201A913B387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168</TotalTime>
  <Words>970</Words>
  <Application>Microsoft Office PowerPoint</Application>
  <PresentationFormat>On-screen Show (4:3)</PresentationFormat>
  <Paragraphs>284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Adobe Heiti Std R</vt:lpstr>
      <vt:lpstr>Calibri</vt:lpstr>
      <vt:lpstr>Times New Roman</vt:lpstr>
      <vt:lpstr>Tw Cen MT</vt:lpstr>
      <vt:lpstr>Wingdings</vt:lpstr>
      <vt:lpstr>Wingdings 2</vt:lpstr>
      <vt:lpstr>Median</vt:lpstr>
      <vt:lpstr> </vt:lpstr>
      <vt:lpstr>What is Floyd – Warshall Algorithm?</vt:lpstr>
      <vt:lpstr>Still Don’t Understand?</vt:lpstr>
      <vt:lpstr>Characteristics</vt:lpstr>
      <vt:lpstr>Developing Adjacency Matrix</vt:lpstr>
      <vt:lpstr>Developing Adjacency Matrix</vt:lpstr>
      <vt:lpstr>Developing Adjacency Matrix</vt:lpstr>
      <vt:lpstr>Developing Adjacency Matrix</vt:lpstr>
      <vt:lpstr>Developing Adjacency Matrix</vt:lpstr>
      <vt:lpstr>Developing Adjacency Matrix</vt:lpstr>
      <vt:lpstr>Arranging matrix and calculate</vt:lpstr>
      <vt:lpstr>Arranging R1</vt:lpstr>
      <vt:lpstr>Arranging R1</vt:lpstr>
      <vt:lpstr>Arranging R2</vt:lpstr>
      <vt:lpstr>Arranging R2</vt:lpstr>
      <vt:lpstr>Arranging R3</vt:lpstr>
      <vt:lpstr>Arranging R3</vt:lpstr>
      <vt:lpstr>Arranging R4</vt:lpstr>
      <vt:lpstr>Arranging R4</vt:lpstr>
      <vt:lpstr>Arrangement Done!</vt:lpstr>
      <vt:lpstr>Final Matrix</vt:lpstr>
      <vt:lpstr>Examining with graph</vt:lpstr>
      <vt:lpstr>That’s All about Floyd–Warshall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Provash Shoumma</dc:creator>
  <cp:lastModifiedBy>Hasan Abdullah</cp:lastModifiedBy>
  <cp:revision>54</cp:revision>
  <dcterms:created xsi:type="dcterms:W3CDTF">2014-04-05T18:03:08Z</dcterms:created>
  <dcterms:modified xsi:type="dcterms:W3CDTF">2024-07-04T05:52:10Z</dcterms:modified>
</cp:coreProperties>
</file>