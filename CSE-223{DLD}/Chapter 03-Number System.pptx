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0058400" cy="7772400"/>
  <p:notesSz cx="10058400" cy="7772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5"/>
              <a:t> </a:t>
            </a:r>
            <a:fld id="{81D60167-4931-47E6-BA6A-407CBD079E47}" type="slidenum">
              <a:rPr dirty="0" spc="-10"/>
              <a:t>#</a:t>
            </a:fld>
            <a:r>
              <a:rPr dirty="0" spc="-10"/>
              <a:t>/40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333333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5"/>
              <a:t> </a:t>
            </a:r>
            <a:fld id="{81D60167-4931-47E6-BA6A-407CBD079E47}" type="slidenum">
              <a:rPr dirty="0" spc="-10"/>
              <a:t>#</a:t>
            </a:fld>
            <a:r>
              <a:rPr dirty="0" spc="-10"/>
              <a:t>/40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5"/>
              <a:t> </a:t>
            </a:r>
            <a:fld id="{81D60167-4931-47E6-BA6A-407CBD079E47}" type="slidenum">
              <a:rPr dirty="0" spc="-10"/>
              <a:t>#</a:t>
            </a:fld>
            <a:r>
              <a:rPr dirty="0" spc="-10"/>
              <a:t>/40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5"/>
              <a:t> </a:t>
            </a:r>
            <a:fld id="{81D60167-4931-47E6-BA6A-407CBD079E47}" type="slidenum">
              <a:rPr dirty="0" spc="-10"/>
              <a:t>#</a:t>
            </a:fld>
            <a:r>
              <a:rPr dirty="0" spc="-10"/>
              <a:t>/40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7200" y="457200"/>
            <a:ext cx="9144000" cy="1011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5"/>
              <a:t> </a:t>
            </a:r>
            <a:fld id="{81D60167-4931-47E6-BA6A-407CBD079E47}" type="slidenum">
              <a:rPr dirty="0" spc="-10"/>
              <a:t>#</a:t>
            </a:fld>
            <a:r>
              <a:rPr dirty="0" spc="-10"/>
              <a:t>/40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7200" y="457200"/>
            <a:ext cx="9144000" cy="10119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4852" y="682752"/>
            <a:ext cx="8108695" cy="731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82903" y="1757679"/>
            <a:ext cx="7292593" cy="3663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333333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5315" y="7089201"/>
            <a:ext cx="2584450" cy="20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192516" y="7098345"/>
            <a:ext cx="1054734" cy="20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5"/>
              <a:t> </a:t>
            </a:r>
            <a:fld id="{81D60167-4931-47E6-BA6A-407CBD079E47}" type="slidenum">
              <a:rPr dirty="0" spc="-10"/>
              <a:t>#</a:t>
            </a:fld>
            <a:r>
              <a:rPr dirty="0" spc="-10"/>
              <a:t>/40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457200"/>
            <a:ext cx="9144000" cy="6858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922395">
              <a:lnSpc>
                <a:spcPts val="1625"/>
              </a:lnSpc>
            </a:pPr>
            <a:r>
              <a:rPr dirty="0" baseline="3968" sz="2100" spc="-577">
                <a:solidFill>
                  <a:srgbClr val="FFFF00"/>
                </a:solidFill>
                <a:latin typeface="Verdana"/>
                <a:cs typeface="Verdana"/>
              </a:rPr>
              <a:t>C</a:t>
            </a:r>
            <a:r>
              <a:rPr dirty="0" sz="1400" spc="-385">
                <a:latin typeface="Verdana"/>
                <a:cs typeface="Verdana"/>
              </a:rPr>
              <a:t>C</a:t>
            </a:r>
            <a:r>
              <a:rPr dirty="0" baseline="3968" sz="2100" spc="-577">
                <a:solidFill>
                  <a:srgbClr val="FFFF00"/>
                </a:solidFill>
                <a:latin typeface="Verdana"/>
                <a:cs typeface="Verdana"/>
              </a:rPr>
              <a:t>o</a:t>
            </a:r>
            <a:r>
              <a:rPr dirty="0" sz="1400" spc="-385">
                <a:latin typeface="Verdana"/>
                <a:cs typeface="Verdana"/>
              </a:rPr>
              <a:t>o</a:t>
            </a:r>
            <a:r>
              <a:rPr dirty="0" baseline="3968" sz="2100" spc="-577">
                <a:solidFill>
                  <a:srgbClr val="FFFF00"/>
                </a:solidFill>
                <a:latin typeface="Verdana"/>
                <a:cs typeface="Verdana"/>
              </a:rPr>
              <a:t>m</a:t>
            </a:r>
            <a:r>
              <a:rPr dirty="0" sz="1400" spc="-385">
                <a:latin typeface="Verdana"/>
                <a:cs typeface="Verdana"/>
              </a:rPr>
              <a:t>m</a:t>
            </a:r>
            <a:r>
              <a:rPr dirty="0" baseline="3968" sz="2100" spc="-577">
                <a:solidFill>
                  <a:srgbClr val="FFFF00"/>
                </a:solidFill>
                <a:latin typeface="Verdana"/>
                <a:cs typeface="Verdana"/>
              </a:rPr>
              <a:t>p</a:t>
            </a:r>
            <a:r>
              <a:rPr dirty="0" sz="1400" spc="-385">
                <a:latin typeface="Verdana"/>
                <a:cs typeface="Verdana"/>
              </a:rPr>
              <a:t>p</a:t>
            </a:r>
            <a:r>
              <a:rPr dirty="0" baseline="3968" sz="2100" spc="-577">
                <a:solidFill>
                  <a:srgbClr val="FFFF00"/>
                </a:solidFill>
                <a:latin typeface="Verdana"/>
                <a:cs typeface="Verdana"/>
              </a:rPr>
              <a:t>u</a:t>
            </a:r>
            <a:r>
              <a:rPr dirty="0" sz="1400" spc="-385">
                <a:latin typeface="Verdana"/>
                <a:cs typeface="Verdana"/>
              </a:rPr>
              <a:t>u</a:t>
            </a:r>
            <a:r>
              <a:rPr dirty="0" baseline="3968" sz="2100" spc="-577">
                <a:solidFill>
                  <a:srgbClr val="FFFF00"/>
                </a:solidFill>
                <a:latin typeface="Verdana"/>
                <a:cs typeface="Verdana"/>
              </a:rPr>
              <a:t>t</a:t>
            </a:r>
            <a:r>
              <a:rPr dirty="0" sz="1400" spc="-385">
                <a:latin typeface="Verdana"/>
                <a:cs typeface="Verdana"/>
              </a:rPr>
              <a:t>t</a:t>
            </a:r>
            <a:r>
              <a:rPr dirty="0" baseline="3968" sz="2100" spc="-577">
                <a:solidFill>
                  <a:srgbClr val="FFFF00"/>
                </a:solidFill>
                <a:latin typeface="Verdana"/>
                <a:cs typeface="Verdana"/>
              </a:rPr>
              <a:t>er</a:t>
            </a:r>
            <a:r>
              <a:rPr dirty="0" sz="1400" spc="-385">
                <a:latin typeface="Verdana"/>
                <a:cs typeface="Verdana"/>
              </a:rPr>
              <a:t>er </a:t>
            </a:r>
            <a:r>
              <a:rPr dirty="0" baseline="3968" sz="2100" spc="-52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 spc="-350">
                <a:latin typeface="Verdana"/>
                <a:cs typeface="Verdana"/>
              </a:rPr>
              <a:t>F</a:t>
            </a:r>
            <a:r>
              <a:rPr dirty="0" baseline="3968" sz="2100" spc="-525">
                <a:solidFill>
                  <a:srgbClr val="FFFF00"/>
                </a:solidFill>
                <a:latin typeface="Verdana"/>
                <a:cs typeface="Verdana"/>
              </a:rPr>
              <a:t>un</a:t>
            </a:r>
            <a:r>
              <a:rPr dirty="0" sz="1400" spc="-350">
                <a:latin typeface="Verdana"/>
                <a:cs typeface="Verdana"/>
              </a:rPr>
              <a:t>un</a:t>
            </a:r>
            <a:r>
              <a:rPr dirty="0" baseline="3968" sz="2100" spc="-525">
                <a:solidFill>
                  <a:srgbClr val="FFFF00"/>
                </a:solidFill>
                <a:latin typeface="Verdana"/>
                <a:cs typeface="Verdana"/>
              </a:rPr>
              <a:t>d</a:t>
            </a:r>
            <a:r>
              <a:rPr dirty="0" sz="1400" spc="-350">
                <a:latin typeface="Verdana"/>
                <a:cs typeface="Verdana"/>
              </a:rPr>
              <a:t>d</a:t>
            </a:r>
            <a:r>
              <a:rPr dirty="0" baseline="3968" sz="2100" spc="-525">
                <a:solidFill>
                  <a:srgbClr val="FFFF00"/>
                </a:solidFill>
                <a:latin typeface="Verdana"/>
                <a:cs typeface="Verdana"/>
              </a:rPr>
              <a:t>a</a:t>
            </a:r>
            <a:r>
              <a:rPr dirty="0" sz="1400" spc="-350">
                <a:latin typeface="Verdana"/>
                <a:cs typeface="Verdana"/>
              </a:rPr>
              <a:t>a</a:t>
            </a:r>
            <a:r>
              <a:rPr dirty="0" baseline="3968" sz="2100" spc="-525">
                <a:solidFill>
                  <a:srgbClr val="FFFF00"/>
                </a:solidFill>
                <a:latin typeface="Verdana"/>
                <a:cs typeface="Verdana"/>
              </a:rPr>
              <a:t>m</a:t>
            </a:r>
            <a:r>
              <a:rPr dirty="0" sz="1400" spc="-350">
                <a:latin typeface="Verdana"/>
                <a:cs typeface="Verdana"/>
              </a:rPr>
              <a:t>m</a:t>
            </a:r>
            <a:r>
              <a:rPr dirty="0" baseline="3968" sz="2100" spc="-525">
                <a:solidFill>
                  <a:srgbClr val="FFFF00"/>
                </a:solidFill>
                <a:latin typeface="Verdana"/>
                <a:cs typeface="Verdana"/>
              </a:rPr>
              <a:t>en</a:t>
            </a:r>
            <a:r>
              <a:rPr dirty="0" sz="1400" spc="-350">
                <a:latin typeface="Verdana"/>
                <a:cs typeface="Verdana"/>
              </a:rPr>
              <a:t>en</a:t>
            </a:r>
            <a:r>
              <a:rPr dirty="0" baseline="3968" sz="2100" spc="-525">
                <a:solidFill>
                  <a:srgbClr val="FFFF00"/>
                </a:solidFill>
                <a:latin typeface="Verdana"/>
                <a:cs typeface="Verdana"/>
              </a:rPr>
              <a:t>t</a:t>
            </a:r>
            <a:r>
              <a:rPr dirty="0" sz="1400" spc="-350">
                <a:latin typeface="Verdana"/>
                <a:cs typeface="Verdana"/>
              </a:rPr>
              <a:t>t</a:t>
            </a:r>
            <a:r>
              <a:rPr dirty="0" baseline="3968" sz="2100" spc="-525">
                <a:solidFill>
                  <a:srgbClr val="FFFF00"/>
                </a:solidFill>
                <a:latin typeface="Verdana"/>
                <a:cs typeface="Verdana"/>
              </a:rPr>
              <a:t>a</a:t>
            </a:r>
            <a:r>
              <a:rPr dirty="0" sz="1400" spc="-350">
                <a:latin typeface="Verdana"/>
                <a:cs typeface="Verdana"/>
              </a:rPr>
              <a:t>a</a:t>
            </a:r>
            <a:r>
              <a:rPr dirty="0" baseline="3968" sz="2100" spc="-525">
                <a:solidFill>
                  <a:srgbClr val="FFFF00"/>
                </a:solidFill>
                <a:latin typeface="Verdana"/>
                <a:cs typeface="Verdana"/>
              </a:rPr>
              <a:t>l</a:t>
            </a:r>
            <a:r>
              <a:rPr dirty="0" sz="1400" spc="-350">
                <a:latin typeface="Verdana"/>
                <a:cs typeface="Verdana"/>
              </a:rPr>
              <a:t>l</a:t>
            </a:r>
            <a:r>
              <a:rPr dirty="0" baseline="3968" sz="2100" spc="-525">
                <a:solidFill>
                  <a:srgbClr val="FFFF00"/>
                </a:solidFill>
                <a:latin typeface="Verdana"/>
                <a:cs typeface="Verdana"/>
              </a:rPr>
              <a:t>s</a:t>
            </a:r>
            <a:r>
              <a:rPr dirty="0" sz="1400" spc="-350">
                <a:latin typeface="Verdana"/>
                <a:cs typeface="Verdana"/>
              </a:rPr>
              <a:t>s</a:t>
            </a:r>
            <a:r>
              <a:rPr dirty="0" baseline="3968" sz="2100" spc="-525">
                <a:solidFill>
                  <a:srgbClr val="FFFF00"/>
                </a:solidFill>
                <a:latin typeface="Verdana"/>
                <a:cs typeface="Verdana"/>
              </a:rPr>
              <a:t>:</a:t>
            </a:r>
            <a:r>
              <a:rPr dirty="0" sz="1400" spc="-350">
                <a:latin typeface="Verdana"/>
                <a:cs typeface="Verdana"/>
              </a:rPr>
              <a:t>: </a:t>
            </a:r>
            <a:r>
              <a:rPr dirty="0" baseline="3968" sz="2100" spc="-457">
                <a:solidFill>
                  <a:srgbClr val="FFFF00"/>
                </a:solidFill>
                <a:latin typeface="Verdana"/>
                <a:cs typeface="Verdana"/>
              </a:rPr>
              <a:t>P</a:t>
            </a:r>
            <a:r>
              <a:rPr dirty="0" sz="1400" spc="-305">
                <a:latin typeface="Verdana"/>
                <a:cs typeface="Verdana"/>
              </a:rPr>
              <a:t>P</a:t>
            </a:r>
            <a:r>
              <a:rPr dirty="0" baseline="3968" sz="2100" spc="-457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-305">
                <a:latin typeface="Verdana"/>
                <a:cs typeface="Verdana"/>
              </a:rPr>
              <a:t>r</a:t>
            </a:r>
            <a:r>
              <a:rPr dirty="0" baseline="3968" sz="2100" spc="-457">
                <a:solidFill>
                  <a:srgbClr val="FFFF00"/>
                </a:solidFill>
                <a:latin typeface="Verdana"/>
                <a:cs typeface="Verdana"/>
              </a:rPr>
              <a:t>ad</a:t>
            </a:r>
            <a:r>
              <a:rPr dirty="0" sz="1400" spc="-305">
                <a:latin typeface="Verdana"/>
                <a:cs typeface="Verdana"/>
              </a:rPr>
              <a:t>ad</a:t>
            </a:r>
            <a:r>
              <a:rPr dirty="0" baseline="3968" sz="2100" spc="-457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305">
                <a:latin typeface="Verdana"/>
                <a:cs typeface="Verdana"/>
              </a:rPr>
              <a:t>e</a:t>
            </a:r>
            <a:r>
              <a:rPr dirty="0" baseline="3968" sz="2100" spc="-457">
                <a:solidFill>
                  <a:srgbClr val="FFFF00"/>
                </a:solidFill>
                <a:latin typeface="Verdana"/>
                <a:cs typeface="Verdana"/>
              </a:rPr>
              <a:t>ep</a:t>
            </a:r>
            <a:r>
              <a:rPr dirty="0" sz="1400" spc="-305">
                <a:latin typeface="Verdana"/>
                <a:cs typeface="Verdana"/>
              </a:rPr>
              <a:t>ep </a:t>
            </a:r>
            <a:r>
              <a:rPr dirty="0" baseline="3968" sz="2100" spc="-494">
                <a:solidFill>
                  <a:srgbClr val="FFFF00"/>
                </a:solidFill>
                <a:latin typeface="Verdana"/>
                <a:cs typeface="Verdana"/>
              </a:rPr>
              <a:t>K</a:t>
            </a:r>
            <a:r>
              <a:rPr dirty="0" sz="1400" spc="-330">
                <a:latin typeface="Verdana"/>
                <a:cs typeface="Verdana"/>
              </a:rPr>
              <a:t>K</a:t>
            </a:r>
            <a:r>
              <a:rPr dirty="0" baseline="3968" sz="2100" spc="-494">
                <a:solidFill>
                  <a:srgbClr val="FFFF00"/>
                </a:solidFill>
                <a:latin typeface="Verdana"/>
                <a:cs typeface="Verdana"/>
              </a:rPr>
              <a:t>.</a:t>
            </a:r>
            <a:r>
              <a:rPr dirty="0" sz="1400" spc="-330">
                <a:latin typeface="Verdana"/>
                <a:cs typeface="Verdana"/>
              </a:rPr>
              <a:t>. </a:t>
            </a:r>
            <a:r>
              <a:rPr dirty="0" baseline="3968" sz="2100" spc="-330">
                <a:solidFill>
                  <a:srgbClr val="FFFF00"/>
                </a:solidFill>
                <a:latin typeface="Verdana"/>
                <a:cs typeface="Verdana"/>
              </a:rPr>
              <a:t>S</a:t>
            </a:r>
            <a:r>
              <a:rPr dirty="0" sz="1400" spc="-220">
                <a:latin typeface="Verdana"/>
                <a:cs typeface="Verdana"/>
              </a:rPr>
              <a:t>S</a:t>
            </a:r>
            <a:r>
              <a:rPr dirty="0" baseline="3968" sz="2100" spc="-330">
                <a:solidFill>
                  <a:srgbClr val="FFFF00"/>
                </a:solidFill>
                <a:latin typeface="Verdana"/>
                <a:cs typeface="Verdana"/>
              </a:rPr>
              <a:t>i</a:t>
            </a:r>
            <a:r>
              <a:rPr dirty="0" sz="1400" spc="-220">
                <a:latin typeface="Verdana"/>
                <a:cs typeface="Verdana"/>
              </a:rPr>
              <a:t>i</a:t>
            </a:r>
            <a:r>
              <a:rPr dirty="0" baseline="3968" sz="2100" spc="-330">
                <a:solidFill>
                  <a:srgbClr val="FFFF00"/>
                </a:solidFill>
                <a:latin typeface="Verdana"/>
                <a:cs typeface="Verdana"/>
              </a:rPr>
              <a:t>nha</a:t>
            </a:r>
            <a:r>
              <a:rPr dirty="0" sz="1400" spc="-220">
                <a:latin typeface="Verdana"/>
                <a:cs typeface="Verdana"/>
              </a:rPr>
              <a:t>nha </a:t>
            </a:r>
            <a:r>
              <a:rPr dirty="0" baseline="3968" sz="2100" spc="-630">
                <a:solidFill>
                  <a:srgbClr val="FFFF00"/>
                </a:solidFill>
                <a:latin typeface="Verdana"/>
                <a:cs typeface="Verdana"/>
              </a:rPr>
              <a:t>&amp;</a:t>
            </a:r>
            <a:r>
              <a:rPr dirty="0" sz="1400" spc="-420">
                <a:latin typeface="Verdana"/>
                <a:cs typeface="Verdana"/>
              </a:rPr>
              <a:t>&amp; </a:t>
            </a:r>
            <a:r>
              <a:rPr dirty="0" baseline="3968" sz="2100" spc="-330">
                <a:solidFill>
                  <a:srgbClr val="FFFF00"/>
                </a:solidFill>
                <a:latin typeface="Verdana"/>
                <a:cs typeface="Verdana"/>
              </a:rPr>
              <a:t>P</a:t>
            </a:r>
            <a:r>
              <a:rPr dirty="0" sz="1400" spc="-220">
                <a:latin typeface="Verdana"/>
                <a:cs typeface="Verdana"/>
              </a:rPr>
              <a:t>P</a:t>
            </a:r>
            <a:r>
              <a:rPr dirty="0" baseline="3968" sz="2100" spc="-33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-220">
                <a:latin typeface="Verdana"/>
                <a:cs typeface="Verdana"/>
              </a:rPr>
              <a:t>r</a:t>
            </a:r>
            <a:r>
              <a:rPr dirty="0" baseline="3968" sz="2100" spc="-330">
                <a:solidFill>
                  <a:srgbClr val="FFFF00"/>
                </a:solidFill>
                <a:latin typeface="Verdana"/>
                <a:cs typeface="Verdana"/>
              </a:rPr>
              <a:t>i</a:t>
            </a:r>
            <a:r>
              <a:rPr dirty="0" sz="1400" spc="-220">
                <a:latin typeface="Verdana"/>
                <a:cs typeface="Verdana"/>
              </a:rPr>
              <a:t>i</a:t>
            </a:r>
            <a:r>
              <a:rPr dirty="0" baseline="3968" sz="2100" spc="-330">
                <a:solidFill>
                  <a:srgbClr val="FFFF00"/>
                </a:solidFill>
                <a:latin typeface="Verdana"/>
                <a:cs typeface="Verdana"/>
              </a:rPr>
              <a:t>ti</a:t>
            </a:r>
            <a:r>
              <a:rPr dirty="0" sz="1400" spc="-220">
                <a:latin typeface="Verdana"/>
                <a:cs typeface="Verdana"/>
              </a:rPr>
              <a:t>ti  </a:t>
            </a:r>
            <a:r>
              <a:rPr dirty="0" baseline="3968" sz="2100" spc="-330">
                <a:solidFill>
                  <a:srgbClr val="FFFF00"/>
                </a:solidFill>
                <a:latin typeface="Verdana"/>
                <a:cs typeface="Verdana"/>
              </a:rPr>
              <a:t>S</a:t>
            </a:r>
            <a:r>
              <a:rPr dirty="0" sz="1400" spc="-220">
                <a:latin typeface="Verdana"/>
                <a:cs typeface="Verdana"/>
              </a:rPr>
              <a:t>S</a:t>
            </a:r>
            <a:r>
              <a:rPr dirty="0" baseline="3968" sz="2100" spc="-330">
                <a:solidFill>
                  <a:srgbClr val="FFFF00"/>
                </a:solidFill>
                <a:latin typeface="Verdana"/>
                <a:cs typeface="Verdana"/>
              </a:rPr>
              <a:t>i</a:t>
            </a:r>
            <a:r>
              <a:rPr dirty="0" sz="1400" spc="-220">
                <a:latin typeface="Verdana"/>
                <a:cs typeface="Verdana"/>
              </a:rPr>
              <a:t>i</a:t>
            </a:r>
            <a:r>
              <a:rPr dirty="0" baseline="3968" sz="2100" spc="-330">
                <a:solidFill>
                  <a:srgbClr val="FFFF00"/>
                </a:solidFill>
                <a:latin typeface="Verdana"/>
                <a:cs typeface="Verdana"/>
              </a:rPr>
              <a:t>nha</a:t>
            </a:r>
            <a:r>
              <a:rPr dirty="0" sz="1400" spc="-220">
                <a:latin typeface="Verdana"/>
                <a:cs typeface="Verdana"/>
              </a:rPr>
              <a:t>nha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5"/>
              </a:spcBef>
              <a:tabLst>
                <a:tab pos="3480435" algn="l"/>
                <a:tab pos="7747634" algn="l"/>
              </a:tabLst>
            </a:pPr>
            <a:r>
              <a:rPr dirty="0" baseline="3968" sz="2100" spc="-7">
                <a:solidFill>
                  <a:srgbClr val="FFFF00"/>
                </a:solidFill>
                <a:latin typeface="Verdana"/>
                <a:cs typeface="Verdana"/>
              </a:rPr>
              <a:t>Ref</a:t>
            </a:r>
            <a:r>
              <a:rPr dirty="0" baseline="3968" sz="21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baseline="3968" sz="2100" spc="-7">
                <a:solidFill>
                  <a:srgbClr val="FFFF00"/>
                </a:solidFill>
                <a:latin typeface="Verdana"/>
                <a:cs typeface="Verdana"/>
              </a:rPr>
              <a:t>Page	</a:t>
            </a:r>
            <a:r>
              <a:rPr dirty="0" baseline="1984" sz="2100" spc="-7">
                <a:solidFill>
                  <a:srgbClr val="FFFF00"/>
                </a:solidFill>
                <a:latin typeface="Verdana"/>
                <a:cs typeface="Verdana"/>
              </a:rPr>
              <a:t>Chapter 3:</a:t>
            </a:r>
            <a:r>
              <a:rPr dirty="0" baseline="1984" sz="2100" spc="37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baseline="1984" sz="2100" spc="-7">
                <a:solidFill>
                  <a:srgbClr val="FFFF00"/>
                </a:solidFill>
                <a:latin typeface="Verdana"/>
                <a:cs typeface="Verdana"/>
              </a:rPr>
              <a:t>Number</a:t>
            </a:r>
            <a:r>
              <a:rPr dirty="0" baseline="1984" sz="2100" spc="7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baseline="1984" sz="2100" spc="-7">
                <a:solidFill>
                  <a:srgbClr val="FFFF00"/>
                </a:solidFill>
                <a:latin typeface="Verdana"/>
                <a:cs typeface="Verdana"/>
              </a:rPr>
              <a:t>Systems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Slide</a:t>
            </a:r>
            <a:r>
              <a:rPr dirty="0" sz="1400" spc="-8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1/40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45720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63244" y="1759711"/>
            <a:ext cx="5682615" cy="33642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200" spc="-5" b="1">
                <a:solidFill>
                  <a:srgbClr val="333333"/>
                </a:solidFill>
                <a:latin typeface="Verdana"/>
                <a:cs typeface="Verdana"/>
              </a:rPr>
              <a:t>In this chapter you will learn</a:t>
            </a:r>
            <a:r>
              <a:rPr dirty="0" sz="2200" spc="-5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200" b="1">
                <a:solidFill>
                  <a:srgbClr val="333333"/>
                </a:solidFill>
                <a:latin typeface="Verdana"/>
                <a:cs typeface="Verdana"/>
              </a:rPr>
              <a:t>about: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920750" indent="-32893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Non-positional number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2000">
              <a:latin typeface="Verdana"/>
              <a:cs typeface="Verdana"/>
            </a:endParaRPr>
          </a:p>
          <a:p>
            <a:pPr marL="92075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Positional number</a:t>
            </a:r>
            <a:r>
              <a:rPr dirty="0" sz="2000" spc="-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2000">
              <a:latin typeface="Verdana"/>
              <a:cs typeface="Verdana"/>
            </a:endParaRPr>
          </a:p>
          <a:p>
            <a:pPr marL="92075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Decimal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r>
              <a:rPr dirty="0" sz="2000" spc="-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2000">
              <a:latin typeface="Verdana"/>
              <a:cs typeface="Verdana"/>
            </a:endParaRPr>
          </a:p>
          <a:p>
            <a:pPr marL="92075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Binary number</a:t>
            </a:r>
            <a:r>
              <a:rPr dirty="0" sz="2000" spc="-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2000">
              <a:latin typeface="Verdana"/>
              <a:cs typeface="Verdana"/>
            </a:endParaRPr>
          </a:p>
          <a:p>
            <a:pPr marL="92075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Octal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r>
              <a:rPr dirty="0" sz="2000" spc="-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2000">
              <a:latin typeface="Verdana"/>
              <a:cs typeface="Verdana"/>
            </a:endParaRPr>
          </a:p>
          <a:p>
            <a:pPr marL="92075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Hexadecimal number</a:t>
            </a:r>
            <a:r>
              <a:rPr dirty="0" sz="2000" spc="-6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20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5"/>
              <a:t> </a:t>
            </a:r>
            <a:fld id="{81D60167-4931-47E6-BA6A-407CBD079E47}" type="slidenum">
              <a:rPr dirty="0" spc="-10"/>
              <a:t>2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ct val="100000"/>
              </a:lnSpc>
            </a:pPr>
            <a:r>
              <a:rPr dirty="0" spc="-10"/>
              <a:t>Learning</a:t>
            </a:r>
            <a:r>
              <a:rPr dirty="0" spc="-15"/>
              <a:t> </a:t>
            </a:r>
            <a:r>
              <a:rPr dirty="0" spc="-5"/>
              <a:t>Objectives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06131" y="6339840"/>
            <a:ext cx="17056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4D4D4D"/>
                </a:solidFill>
                <a:latin typeface="Arial"/>
                <a:cs typeface="Arial"/>
              </a:rPr>
              <a:t>(Continued on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next</a:t>
            </a:r>
            <a:r>
              <a:rPr dirty="0" sz="1200" spc="-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slide)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ct val="100000"/>
              </a:lnSpc>
            </a:pPr>
            <a:r>
              <a:rPr dirty="0" spc="-10"/>
              <a:t>Learning</a:t>
            </a:r>
            <a:r>
              <a:rPr dirty="0" spc="-15"/>
              <a:t> </a:t>
            </a:r>
            <a:r>
              <a:rPr dirty="0" spc="-5"/>
              <a:t>Objectives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20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5"/>
              <a:t> </a:t>
            </a:r>
            <a:fld id="{81D60167-4931-47E6-BA6A-407CBD079E47}" type="slidenum">
              <a:rPr dirty="0" spc="-10"/>
              <a:t>2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6044" y="1473200"/>
            <a:ext cx="6910705" cy="4434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800">
              <a:latin typeface="Times New Roman"/>
              <a:cs typeface="Times New Roman"/>
            </a:endParaRPr>
          </a:p>
          <a:p>
            <a:pPr marL="1167765" indent="-347345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1167765" algn="l"/>
                <a:tab pos="1168400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Convert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 number’s</a:t>
            </a:r>
            <a:r>
              <a:rPr dirty="0" sz="2000" spc="-6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endParaRPr sz="2000">
              <a:latin typeface="Verdana"/>
              <a:cs typeface="Verdana"/>
            </a:endParaRPr>
          </a:p>
          <a:p>
            <a:pPr lvl="1" marL="1728470" indent="-328930">
              <a:lnSpc>
                <a:spcPct val="100000"/>
              </a:lnSpc>
              <a:spcBef>
                <a:spcPts val="980"/>
              </a:spcBef>
              <a:buClr>
                <a:srgbClr val="FF3300"/>
              </a:buClr>
              <a:buFont typeface="Wingdings"/>
              <a:buChar char=""/>
              <a:tabLst>
                <a:tab pos="1728470" algn="l"/>
                <a:tab pos="172910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Another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base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to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decimal</a:t>
            </a:r>
            <a:r>
              <a:rPr dirty="0" sz="2000" spc="-1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endParaRPr sz="2000">
              <a:latin typeface="Verdana"/>
              <a:cs typeface="Verdana"/>
            </a:endParaRPr>
          </a:p>
          <a:p>
            <a:pPr lvl="1" marL="172847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1728470" algn="l"/>
                <a:tab pos="172910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Decimal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base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to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another</a:t>
            </a:r>
            <a:r>
              <a:rPr dirty="0" sz="200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endParaRPr sz="2000">
              <a:latin typeface="Verdana"/>
              <a:cs typeface="Verdana"/>
            </a:endParaRPr>
          </a:p>
          <a:p>
            <a:pPr lvl="1" marL="172847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1728470" algn="l"/>
                <a:tab pos="1729105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Some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base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to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another</a:t>
            </a:r>
            <a:r>
              <a:rPr dirty="0" sz="2000" spc="-7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endParaRPr sz="2000">
              <a:latin typeface="Verdana"/>
              <a:cs typeface="Verdana"/>
            </a:endParaRPr>
          </a:p>
          <a:p>
            <a:pPr marL="1167765" indent="-347345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1167765" algn="l"/>
                <a:tab pos="1168400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Shortcut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methods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for</a:t>
            </a:r>
            <a:r>
              <a:rPr dirty="0" sz="2000" spc="-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converting</a:t>
            </a:r>
            <a:endParaRPr sz="2000">
              <a:latin typeface="Verdana"/>
              <a:cs typeface="Verdana"/>
            </a:endParaRPr>
          </a:p>
          <a:p>
            <a:pPr lvl="1" marL="172847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1728470" algn="l"/>
                <a:tab pos="172910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Binary to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octal</a:t>
            </a:r>
            <a:r>
              <a:rPr dirty="0" sz="200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  <a:p>
            <a:pPr lvl="1" marL="172847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1728470" algn="l"/>
                <a:tab pos="1729105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Octal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to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binary</a:t>
            </a:r>
            <a:r>
              <a:rPr dirty="0" sz="2000" spc="-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  <a:p>
            <a:pPr lvl="1" marL="172847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1728470" algn="l"/>
                <a:tab pos="172910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Binary to hexadecimal</a:t>
            </a:r>
            <a:r>
              <a:rPr dirty="0" sz="200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  <a:p>
            <a:pPr lvl="1" marL="172847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1728470" algn="l"/>
                <a:tab pos="172910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Hexadecimal to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binary</a:t>
            </a:r>
            <a:r>
              <a:rPr dirty="0" sz="2000" spc="-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  <a:p>
            <a:pPr marL="1167765" indent="-347345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1167765" algn="l"/>
                <a:tab pos="1168400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Fractional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numbers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in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binary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number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22908" y="1757679"/>
            <a:ext cx="4987290" cy="18999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 b="1">
                <a:solidFill>
                  <a:srgbClr val="333333"/>
                </a:solidFill>
                <a:latin typeface="Verdana"/>
                <a:cs typeface="Verdana"/>
              </a:rPr>
              <a:t>Two </a:t>
            </a:r>
            <a:r>
              <a:rPr dirty="0" sz="2000" spc="-5" b="1">
                <a:solidFill>
                  <a:srgbClr val="333333"/>
                </a:solidFill>
                <a:latin typeface="Verdana"/>
                <a:cs typeface="Verdana"/>
              </a:rPr>
              <a:t>types of </a:t>
            </a:r>
            <a:r>
              <a:rPr dirty="0" sz="2000" b="1">
                <a:solidFill>
                  <a:srgbClr val="333333"/>
                </a:solidFill>
                <a:latin typeface="Verdana"/>
                <a:cs typeface="Verdana"/>
              </a:rPr>
              <a:t>number </a:t>
            </a:r>
            <a:r>
              <a:rPr dirty="0" sz="2000" spc="-5" b="1">
                <a:solidFill>
                  <a:srgbClr val="333333"/>
                </a:solidFill>
                <a:latin typeface="Verdana"/>
                <a:cs typeface="Verdana"/>
              </a:rPr>
              <a:t>systems are: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Times New Roman"/>
              <a:cs typeface="Times New Roman"/>
            </a:endParaRPr>
          </a:p>
          <a:p>
            <a:pPr marL="920750" indent="-32893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Non-positional number systems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3300"/>
              </a:buClr>
              <a:buFont typeface="Wingdings"/>
              <a:buChar char=""/>
            </a:pPr>
            <a:endParaRPr sz="2900">
              <a:latin typeface="Times New Roman"/>
              <a:cs typeface="Times New Roman"/>
            </a:endParaRPr>
          </a:p>
          <a:p>
            <a:pPr marL="920750" indent="-32893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Positional number</a:t>
            </a:r>
            <a:r>
              <a:rPr dirty="0" sz="2000" spc="-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systems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20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5"/>
              <a:t> </a:t>
            </a:r>
            <a:fld id="{81D60167-4931-47E6-BA6A-407CBD079E47}" type="slidenum">
              <a:rPr dirty="0" spc="-10"/>
              <a:t>2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ct val="100000"/>
              </a:lnSpc>
            </a:pPr>
            <a:r>
              <a:rPr dirty="0" spc="-940"/>
              <a:t>N</a:t>
            </a:r>
            <a:r>
              <a:rPr dirty="0" baseline="-3472" sz="4800" spc="-1410">
                <a:solidFill>
                  <a:srgbClr val="000000"/>
                </a:solidFill>
              </a:rPr>
              <a:t>N</a:t>
            </a:r>
            <a:r>
              <a:rPr dirty="0" sz="3200" spc="-940"/>
              <a:t>u</a:t>
            </a:r>
            <a:r>
              <a:rPr dirty="0" baseline="-3472" sz="4800" spc="-1410">
                <a:solidFill>
                  <a:srgbClr val="000000"/>
                </a:solidFill>
              </a:rPr>
              <a:t>u</a:t>
            </a:r>
            <a:r>
              <a:rPr dirty="0" sz="3200" spc="-940"/>
              <a:t>m</a:t>
            </a:r>
            <a:r>
              <a:rPr dirty="0" baseline="-3472" sz="4800" spc="-1410">
                <a:solidFill>
                  <a:srgbClr val="000000"/>
                </a:solidFill>
              </a:rPr>
              <a:t>m</a:t>
            </a:r>
            <a:r>
              <a:rPr dirty="0" sz="3200" spc="-940"/>
              <a:t>ber      </a:t>
            </a:r>
            <a:r>
              <a:rPr dirty="0" sz="3200" spc="-930"/>
              <a:t> </a:t>
            </a:r>
            <a:r>
              <a:rPr dirty="0" sz="3200" spc="-5"/>
              <a:t>Systems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16811" y="1757679"/>
            <a:ext cx="7513955" cy="396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60045" indent="-347345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360045" algn="l"/>
                <a:tab pos="360680" algn="l"/>
              </a:tabLst>
            </a:pPr>
            <a:r>
              <a:rPr dirty="0" sz="2000" spc="-5" b="1">
                <a:solidFill>
                  <a:srgbClr val="333333"/>
                </a:solidFill>
                <a:latin typeface="Verdana"/>
                <a:cs typeface="Verdana"/>
              </a:rPr>
              <a:t>Characteristics</a:t>
            </a:r>
            <a:endParaRPr sz="2000">
              <a:latin typeface="Verdana"/>
              <a:cs typeface="Verdana"/>
            </a:endParaRPr>
          </a:p>
          <a:p>
            <a:pPr lvl="1" marL="920750" marR="17018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Use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symbols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such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as I for 1, 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II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for 2, III for 3, IIII 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for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4,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IIIII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for 5,</a:t>
            </a:r>
            <a:r>
              <a:rPr dirty="0" sz="2000" spc="-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etc</a:t>
            </a:r>
            <a:endParaRPr sz="2000">
              <a:latin typeface="Verdana"/>
              <a:cs typeface="Verdana"/>
            </a:endParaRPr>
          </a:p>
          <a:p>
            <a:pPr lvl="1" marL="920750" marR="90805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Each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symbol represents the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same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value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regardless  of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its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position in the</a:t>
            </a:r>
            <a:r>
              <a:rPr dirty="0" sz="2000" spc="-8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  <a:p>
            <a:pPr lvl="1" marL="920750" marR="508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symbols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are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simply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added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to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find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out the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value 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particular</a:t>
            </a:r>
            <a:r>
              <a:rPr dirty="0" sz="2000" spc="-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FF3300"/>
              </a:buClr>
              <a:buFont typeface="Wingdings"/>
              <a:buChar char=""/>
            </a:pPr>
            <a:endParaRPr sz="2900">
              <a:latin typeface="Times New Roman"/>
              <a:cs typeface="Times New Roman"/>
            </a:endParaRPr>
          </a:p>
          <a:p>
            <a:pPr marL="360045" indent="-347345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360045" algn="l"/>
                <a:tab pos="360680" algn="l"/>
              </a:tabLst>
            </a:pPr>
            <a:r>
              <a:rPr dirty="0" sz="2000" b="1">
                <a:solidFill>
                  <a:srgbClr val="333333"/>
                </a:solidFill>
                <a:latin typeface="Verdana"/>
                <a:cs typeface="Verdana"/>
              </a:rPr>
              <a:t>Difficulty</a:t>
            </a:r>
            <a:endParaRPr sz="2000">
              <a:latin typeface="Verdana"/>
              <a:cs typeface="Verdana"/>
            </a:endParaRPr>
          </a:p>
          <a:p>
            <a:pPr lvl="1" marL="920750" marR="69215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It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is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difficult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to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perform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arithmetic with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such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  number</a:t>
            </a:r>
            <a:r>
              <a:rPr dirty="0" sz="2000" spc="-1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20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5"/>
              <a:t> </a:t>
            </a:r>
            <a:fld id="{81D60167-4931-47E6-BA6A-407CBD079E47}" type="slidenum">
              <a:rPr dirty="0" spc="-10"/>
              <a:t>2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ct val="100000"/>
              </a:lnSpc>
            </a:pPr>
            <a:r>
              <a:rPr dirty="0" spc="-5"/>
              <a:t>Non-positional </a:t>
            </a:r>
            <a:r>
              <a:rPr dirty="0" spc="-5"/>
              <a:t>Number</a:t>
            </a:r>
            <a:r>
              <a:rPr dirty="0"/>
              <a:t> </a:t>
            </a:r>
            <a:r>
              <a:rPr dirty="0" spc="-5"/>
              <a:t>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16811" y="1757679"/>
            <a:ext cx="7959090" cy="2200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dirty="0" sz="2000" spc="-5" b="1">
                <a:solidFill>
                  <a:srgbClr val="333333"/>
                </a:solidFill>
                <a:latin typeface="Verdana"/>
                <a:cs typeface="Verdana"/>
              </a:rPr>
              <a:t>Characteristics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3300"/>
              </a:buClr>
              <a:buFont typeface="Wingdings"/>
              <a:buChar char=""/>
            </a:pPr>
            <a:endParaRPr sz="2900">
              <a:latin typeface="Times New Roman"/>
              <a:cs typeface="Times New Roman"/>
            </a:endParaRPr>
          </a:p>
          <a:p>
            <a:pPr lvl="1" marL="1049020" indent="-4572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1048385" algn="l"/>
                <a:tab pos="1049020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Use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only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 few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symbols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called</a:t>
            </a:r>
            <a:r>
              <a:rPr dirty="0" sz="2000" spc="-7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digits</a:t>
            </a:r>
            <a:endParaRPr sz="20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</a:pP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FF3300"/>
              </a:buClr>
              <a:buFont typeface="Wingdings"/>
              <a:buChar char=""/>
            </a:pPr>
            <a:endParaRPr sz="1750">
              <a:latin typeface="Times New Roman"/>
              <a:cs typeface="Times New Roman"/>
            </a:endParaRPr>
          </a:p>
          <a:p>
            <a:pPr lvl="1" marL="1049020" marR="5080" indent="-4572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1048385" algn="l"/>
                <a:tab pos="1049020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These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symbols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represent different values depending 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on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position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they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occupy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in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200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20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5"/>
              <a:t> </a:t>
            </a:r>
            <a:fld id="{81D60167-4931-47E6-BA6A-407CBD079E47}" type="slidenum">
              <a:rPr dirty="0" spc="-10"/>
              <a:t>2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ct val="100000"/>
              </a:lnSpc>
            </a:pPr>
            <a:r>
              <a:rPr dirty="0" spc="-5"/>
              <a:t>Positional </a:t>
            </a:r>
            <a:r>
              <a:rPr dirty="0" spc="-10"/>
              <a:t>Number</a:t>
            </a:r>
            <a:r>
              <a:rPr dirty="0" spc="5"/>
              <a:t> </a:t>
            </a:r>
            <a:r>
              <a:rPr dirty="0"/>
              <a:t>Systems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06131" y="6339840"/>
            <a:ext cx="17056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4D4D4D"/>
                </a:solidFill>
                <a:latin typeface="Arial"/>
                <a:cs typeface="Arial"/>
              </a:rPr>
              <a:t>(Continued on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next</a:t>
            </a:r>
            <a:r>
              <a:rPr dirty="0" sz="1200" spc="-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slide)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ct val="100000"/>
              </a:lnSpc>
            </a:pPr>
            <a:r>
              <a:rPr dirty="0" spc="-5"/>
              <a:t>Positional </a:t>
            </a:r>
            <a:r>
              <a:rPr dirty="0" spc="-10"/>
              <a:t>Number</a:t>
            </a:r>
            <a:r>
              <a:rPr dirty="0" spc="5"/>
              <a:t> </a:t>
            </a:r>
            <a:r>
              <a:rPr dirty="0"/>
              <a:t>Systems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21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5"/>
              <a:t> </a:t>
            </a:r>
            <a:fld id="{81D60167-4931-47E6-BA6A-407CBD079E47}" type="slidenum">
              <a:rPr dirty="0" spc="-10"/>
              <a:t>7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6044" y="1473200"/>
            <a:ext cx="7597140" cy="42830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00">
              <a:latin typeface="Times New Roman"/>
              <a:cs typeface="Times New Roman"/>
            </a:endParaRPr>
          </a:p>
          <a:p>
            <a:pPr marL="1865630" indent="-4572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1865630" algn="l"/>
                <a:tab pos="1866264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value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each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digit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is determined</a:t>
            </a:r>
            <a:r>
              <a:rPr dirty="0" sz="2000" spc="-7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by:</a:t>
            </a:r>
            <a:endParaRPr sz="2000">
              <a:latin typeface="Verdana"/>
              <a:cs typeface="Verdana"/>
            </a:endParaRPr>
          </a:p>
          <a:p>
            <a:pPr lvl="1" marL="2658110" indent="-45720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AutoNum type="arabicPeriod"/>
              <a:tabLst>
                <a:tab pos="2658110" algn="l"/>
                <a:tab pos="265874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digit</a:t>
            </a:r>
            <a:r>
              <a:rPr dirty="0" sz="2000" spc="-10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itself</a:t>
            </a:r>
            <a:endParaRPr sz="2000">
              <a:latin typeface="Verdana"/>
              <a:cs typeface="Verdana"/>
            </a:endParaRPr>
          </a:p>
          <a:p>
            <a:pPr lvl="1" marL="2658110" indent="-45720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AutoNum type="arabicPeriod"/>
              <a:tabLst>
                <a:tab pos="2658110" algn="l"/>
                <a:tab pos="265874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position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digit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in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2000" spc="-1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  <a:p>
            <a:pPr lvl="1" marL="2658110" indent="-45720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AutoNum type="arabicPeriod"/>
              <a:tabLst>
                <a:tab pos="2658110" algn="l"/>
                <a:tab pos="265874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base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number</a:t>
            </a:r>
            <a:r>
              <a:rPr dirty="0" sz="2000" spc="-8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20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FF3300"/>
              </a:buClr>
              <a:buFont typeface="Verdana"/>
              <a:buAutoNum type="arabicPeriod"/>
            </a:pPr>
            <a:endParaRPr sz="2900">
              <a:latin typeface="Times New Roman"/>
              <a:cs typeface="Times New Roman"/>
            </a:endParaRPr>
          </a:p>
          <a:p>
            <a:pPr marL="1408430" marR="357505">
              <a:lnSpc>
                <a:spcPct val="140000"/>
              </a:lnSpc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(</a:t>
            </a:r>
            <a:r>
              <a:rPr dirty="0" sz="2000" spc="-5" b="1">
                <a:solidFill>
                  <a:srgbClr val="333333"/>
                </a:solidFill>
                <a:latin typeface="Verdana"/>
                <a:cs typeface="Verdana"/>
              </a:rPr>
              <a:t>base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total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number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of digits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in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system)</a:t>
            </a:r>
            <a:endParaRPr sz="2000">
              <a:latin typeface="Verdana"/>
              <a:cs typeface="Verdana"/>
            </a:endParaRPr>
          </a:p>
          <a:p>
            <a:pPr marL="1865630" marR="346710" indent="-457200">
              <a:lnSpc>
                <a:spcPct val="100000"/>
              </a:lnSpc>
              <a:spcBef>
                <a:spcPts val="1680"/>
              </a:spcBef>
              <a:buClr>
                <a:srgbClr val="FF3300"/>
              </a:buClr>
              <a:buFont typeface="Wingdings"/>
              <a:buChar char=""/>
              <a:tabLst>
                <a:tab pos="1865630" algn="l"/>
                <a:tab pos="1866264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maximum value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single digit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is 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always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equal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to one less than the value</a:t>
            </a:r>
            <a:r>
              <a:rPr dirty="0" sz="2000" spc="-8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2000" spc="-10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6355">
              <a:lnSpc>
                <a:spcPct val="100000"/>
              </a:lnSpc>
            </a:pPr>
            <a:r>
              <a:rPr dirty="0" spc="-5"/>
              <a:t>Characteristics</a:t>
            </a:r>
          </a:p>
          <a:p>
            <a:pPr marL="1069975" indent="-44450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1069975" algn="l"/>
                <a:tab pos="1070610" algn="l"/>
              </a:tabLst>
            </a:pPr>
            <a:r>
              <a:rPr dirty="0" spc="-10" b="0">
                <a:latin typeface="Verdana"/>
                <a:cs typeface="Verdana"/>
              </a:rPr>
              <a:t>A </a:t>
            </a:r>
            <a:r>
              <a:rPr dirty="0" spc="-5" b="0">
                <a:latin typeface="Verdana"/>
                <a:cs typeface="Verdana"/>
              </a:rPr>
              <a:t>positional number</a:t>
            </a:r>
            <a:r>
              <a:rPr dirty="0" spc="-55" b="0">
                <a:latin typeface="Verdana"/>
                <a:cs typeface="Verdana"/>
              </a:rPr>
              <a:t> </a:t>
            </a:r>
            <a:r>
              <a:rPr dirty="0" spc="-10" b="0">
                <a:latin typeface="Verdana"/>
                <a:cs typeface="Verdana"/>
              </a:rPr>
              <a:t>system</a:t>
            </a:r>
          </a:p>
          <a:p>
            <a:pPr marL="624840">
              <a:lnSpc>
                <a:spcPct val="100000"/>
              </a:lnSpc>
              <a:spcBef>
                <a:spcPts val="960"/>
              </a:spcBef>
              <a:tabLst>
                <a:tab pos="1069975" algn="l"/>
              </a:tabLst>
            </a:pPr>
            <a:r>
              <a:rPr dirty="0" spc="-5" b="0">
                <a:solidFill>
                  <a:srgbClr val="FF3300"/>
                </a:solidFill>
                <a:latin typeface="Wingdings"/>
                <a:cs typeface="Wingdings"/>
              </a:rPr>
              <a:t></a:t>
            </a:r>
            <a:r>
              <a:rPr dirty="0" spc="-5" b="0">
                <a:solidFill>
                  <a:srgbClr val="FF3300"/>
                </a:solidFill>
                <a:latin typeface="Times New Roman"/>
                <a:cs typeface="Times New Roman"/>
              </a:rPr>
              <a:t>	</a:t>
            </a:r>
            <a:r>
              <a:rPr dirty="0" spc="-15" b="0">
                <a:latin typeface="Verdana"/>
                <a:cs typeface="Verdana"/>
              </a:rPr>
              <a:t>Has </a:t>
            </a:r>
            <a:r>
              <a:rPr dirty="0" spc="-5" b="0">
                <a:latin typeface="Verdana"/>
                <a:cs typeface="Verdana"/>
              </a:rPr>
              <a:t>10 </a:t>
            </a:r>
            <a:r>
              <a:rPr dirty="0" b="0">
                <a:latin typeface="Verdana"/>
                <a:cs typeface="Verdana"/>
              </a:rPr>
              <a:t>symbols or digits </a:t>
            </a:r>
            <a:r>
              <a:rPr dirty="0" spc="-5" b="0">
                <a:latin typeface="Verdana"/>
                <a:cs typeface="Verdana"/>
              </a:rPr>
              <a:t>(0, 1, 2, </a:t>
            </a:r>
            <a:r>
              <a:rPr dirty="0" spc="5" b="0">
                <a:latin typeface="Verdana"/>
                <a:cs typeface="Verdana"/>
              </a:rPr>
              <a:t>3, </a:t>
            </a:r>
            <a:r>
              <a:rPr dirty="0" spc="-5" b="0">
                <a:latin typeface="Verdana"/>
                <a:cs typeface="Verdana"/>
              </a:rPr>
              <a:t>4, 5, 6,  </a:t>
            </a:r>
            <a:r>
              <a:rPr dirty="0" spc="125" b="0">
                <a:latin typeface="Verdana"/>
                <a:cs typeface="Verdana"/>
              </a:rPr>
              <a:t> </a:t>
            </a:r>
            <a:r>
              <a:rPr dirty="0" spc="5" b="0">
                <a:latin typeface="Verdana"/>
                <a:cs typeface="Verdana"/>
              </a:rPr>
              <a:t>7,</a:t>
            </a:r>
          </a:p>
          <a:p>
            <a:pPr marL="1069975">
              <a:lnSpc>
                <a:spcPct val="100000"/>
              </a:lnSpc>
              <a:tabLst>
                <a:tab pos="1499870" algn="l"/>
                <a:tab pos="2048510" algn="l"/>
              </a:tabLst>
            </a:pPr>
            <a:r>
              <a:rPr dirty="0" spc="-5" b="0">
                <a:latin typeface="Verdana"/>
                <a:cs typeface="Verdana"/>
              </a:rPr>
              <a:t>8,	9).	</a:t>
            </a:r>
            <a:r>
              <a:rPr dirty="0" spc="-10" b="0">
                <a:latin typeface="Verdana"/>
                <a:cs typeface="Verdana"/>
              </a:rPr>
              <a:t>Hence, </a:t>
            </a:r>
            <a:r>
              <a:rPr dirty="0" spc="5" b="0">
                <a:latin typeface="Verdana"/>
                <a:cs typeface="Verdana"/>
              </a:rPr>
              <a:t>its </a:t>
            </a:r>
            <a:r>
              <a:rPr dirty="0" spc="-10" b="0">
                <a:latin typeface="Verdana"/>
                <a:cs typeface="Verdana"/>
              </a:rPr>
              <a:t>base =</a:t>
            </a:r>
            <a:r>
              <a:rPr dirty="0" spc="-75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10</a:t>
            </a:r>
          </a:p>
          <a:p>
            <a:pPr marL="1069975" marR="5080" indent="-44450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1069975" algn="l"/>
                <a:tab pos="1070610" algn="l"/>
              </a:tabLst>
            </a:pPr>
            <a:r>
              <a:rPr dirty="0" spc="-5" b="0">
                <a:latin typeface="Verdana"/>
                <a:cs typeface="Verdana"/>
              </a:rPr>
              <a:t>The </a:t>
            </a:r>
            <a:r>
              <a:rPr dirty="0" b="0">
                <a:latin typeface="Verdana"/>
                <a:cs typeface="Verdana"/>
              </a:rPr>
              <a:t>maximum value </a:t>
            </a:r>
            <a:r>
              <a:rPr dirty="0" spc="-10" b="0">
                <a:latin typeface="Verdana"/>
                <a:cs typeface="Verdana"/>
              </a:rPr>
              <a:t>of </a:t>
            </a:r>
            <a:r>
              <a:rPr dirty="0" spc="-5" b="0">
                <a:latin typeface="Verdana"/>
                <a:cs typeface="Verdana"/>
              </a:rPr>
              <a:t>a single </a:t>
            </a:r>
            <a:r>
              <a:rPr dirty="0" b="0">
                <a:latin typeface="Verdana"/>
                <a:cs typeface="Verdana"/>
              </a:rPr>
              <a:t>digit </a:t>
            </a:r>
            <a:r>
              <a:rPr dirty="0" spc="10" b="0">
                <a:latin typeface="Verdana"/>
                <a:cs typeface="Verdana"/>
              </a:rPr>
              <a:t>is </a:t>
            </a:r>
            <a:r>
              <a:rPr dirty="0" spc="-5" b="0">
                <a:latin typeface="Verdana"/>
                <a:cs typeface="Verdana"/>
              </a:rPr>
              <a:t>9 </a:t>
            </a:r>
            <a:r>
              <a:rPr dirty="0" spc="-15" b="0">
                <a:latin typeface="Verdana"/>
                <a:cs typeface="Verdana"/>
              </a:rPr>
              <a:t>(one  </a:t>
            </a:r>
            <a:r>
              <a:rPr dirty="0" spc="-5" b="0">
                <a:latin typeface="Verdana"/>
                <a:cs typeface="Verdana"/>
              </a:rPr>
              <a:t>less than the value </a:t>
            </a:r>
            <a:r>
              <a:rPr dirty="0" spc="-10" b="0">
                <a:latin typeface="Verdana"/>
                <a:cs typeface="Verdana"/>
              </a:rPr>
              <a:t>of </a:t>
            </a:r>
            <a:r>
              <a:rPr dirty="0" spc="-5" b="0">
                <a:latin typeface="Verdana"/>
                <a:cs typeface="Verdana"/>
              </a:rPr>
              <a:t>the</a:t>
            </a:r>
            <a:r>
              <a:rPr dirty="0" spc="-80" b="0">
                <a:latin typeface="Verdana"/>
                <a:cs typeface="Verdana"/>
              </a:rPr>
              <a:t> </a:t>
            </a:r>
            <a:r>
              <a:rPr dirty="0" spc="-15" b="0">
                <a:latin typeface="Verdana"/>
                <a:cs typeface="Verdana"/>
              </a:rPr>
              <a:t>base)</a:t>
            </a:r>
          </a:p>
          <a:p>
            <a:pPr marL="1069975" marR="5715" indent="-44450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1069975" algn="l"/>
                <a:tab pos="1070610" algn="l"/>
                <a:tab pos="1847214" algn="l"/>
                <a:tab pos="3023235" algn="l"/>
                <a:tab pos="3437254" algn="l"/>
                <a:tab pos="3763010" algn="l"/>
                <a:tab pos="4500880" algn="l"/>
                <a:tab pos="6019165" algn="l"/>
                <a:tab pos="6344920" algn="l"/>
              </a:tabLst>
            </a:pPr>
            <a:r>
              <a:rPr dirty="0" spc="-25" b="0">
                <a:latin typeface="Verdana"/>
                <a:cs typeface="Verdana"/>
              </a:rPr>
              <a:t>E</a:t>
            </a:r>
            <a:r>
              <a:rPr dirty="0" spc="-5" b="0">
                <a:latin typeface="Verdana"/>
                <a:cs typeface="Verdana"/>
              </a:rPr>
              <a:t>a</a:t>
            </a:r>
            <a:r>
              <a:rPr dirty="0" spc="-15" b="0">
                <a:latin typeface="Verdana"/>
                <a:cs typeface="Verdana"/>
              </a:rPr>
              <a:t>c</a:t>
            </a:r>
            <a:r>
              <a:rPr dirty="0" spc="-5" b="0">
                <a:latin typeface="Verdana"/>
                <a:cs typeface="Verdana"/>
              </a:rPr>
              <a:t>h</a:t>
            </a:r>
            <a:r>
              <a:rPr dirty="0" b="0">
                <a:latin typeface="Verdana"/>
                <a:cs typeface="Verdana"/>
              </a:rPr>
              <a:t>	</a:t>
            </a:r>
            <a:r>
              <a:rPr dirty="0" b="0">
                <a:latin typeface="Verdana"/>
                <a:cs typeface="Verdana"/>
              </a:rPr>
              <a:t>p</a:t>
            </a:r>
            <a:r>
              <a:rPr dirty="0" spc="5" b="0">
                <a:latin typeface="Verdana"/>
                <a:cs typeface="Verdana"/>
              </a:rPr>
              <a:t>o</a:t>
            </a:r>
            <a:r>
              <a:rPr dirty="0" spc="-15" b="0">
                <a:latin typeface="Verdana"/>
                <a:cs typeface="Verdana"/>
              </a:rPr>
              <a:t>s</a:t>
            </a:r>
            <a:r>
              <a:rPr dirty="0" spc="25" b="0">
                <a:latin typeface="Verdana"/>
                <a:cs typeface="Verdana"/>
              </a:rPr>
              <a:t>i</a:t>
            </a:r>
            <a:r>
              <a:rPr dirty="0" spc="-25" b="0">
                <a:latin typeface="Verdana"/>
                <a:cs typeface="Verdana"/>
              </a:rPr>
              <a:t>t</a:t>
            </a:r>
            <a:r>
              <a:rPr dirty="0" spc="25" b="0">
                <a:latin typeface="Verdana"/>
                <a:cs typeface="Verdana"/>
              </a:rPr>
              <a:t>i</a:t>
            </a:r>
            <a:r>
              <a:rPr dirty="0" spc="-15" b="0">
                <a:latin typeface="Verdana"/>
                <a:cs typeface="Verdana"/>
              </a:rPr>
              <a:t>o</a:t>
            </a:r>
            <a:r>
              <a:rPr dirty="0" spc="-5" b="0">
                <a:latin typeface="Verdana"/>
                <a:cs typeface="Verdana"/>
              </a:rPr>
              <a:t>n</a:t>
            </a:r>
            <a:r>
              <a:rPr dirty="0" b="0">
                <a:latin typeface="Verdana"/>
                <a:cs typeface="Verdana"/>
              </a:rPr>
              <a:t>	</a:t>
            </a:r>
            <a:r>
              <a:rPr dirty="0" spc="-15" b="0">
                <a:latin typeface="Verdana"/>
                <a:cs typeface="Verdana"/>
              </a:rPr>
              <a:t>o</a:t>
            </a:r>
            <a:r>
              <a:rPr dirty="0" spc="-5" b="0">
                <a:latin typeface="Verdana"/>
                <a:cs typeface="Verdana"/>
              </a:rPr>
              <a:t>f</a:t>
            </a:r>
            <a:r>
              <a:rPr dirty="0" b="0">
                <a:latin typeface="Verdana"/>
                <a:cs typeface="Verdana"/>
              </a:rPr>
              <a:t>	</a:t>
            </a:r>
            <a:r>
              <a:rPr dirty="0" spc="-5" b="0">
                <a:latin typeface="Verdana"/>
                <a:cs typeface="Verdana"/>
              </a:rPr>
              <a:t>a</a:t>
            </a:r>
            <a:r>
              <a:rPr dirty="0" b="0">
                <a:latin typeface="Verdana"/>
                <a:cs typeface="Verdana"/>
              </a:rPr>
              <a:t>	</a:t>
            </a:r>
            <a:r>
              <a:rPr dirty="0" b="0">
                <a:latin typeface="Verdana"/>
                <a:cs typeface="Verdana"/>
              </a:rPr>
              <a:t>d</a:t>
            </a:r>
            <a:r>
              <a:rPr dirty="0" spc="25" b="0">
                <a:latin typeface="Verdana"/>
                <a:cs typeface="Verdana"/>
              </a:rPr>
              <a:t>i</a:t>
            </a:r>
            <a:r>
              <a:rPr dirty="0" b="0">
                <a:latin typeface="Verdana"/>
                <a:cs typeface="Verdana"/>
              </a:rPr>
              <a:t>g</a:t>
            </a:r>
            <a:r>
              <a:rPr dirty="0" spc="25" b="0">
                <a:latin typeface="Verdana"/>
                <a:cs typeface="Verdana"/>
              </a:rPr>
              <a:t>i</a:t>
            </a:r>
            <a:r>
              <a:rPr dirty="0" spc="-5" b="0">
                <a:latin typeface="Verdana"/>
                <a:cs typeface="Verdana"/>
              </a:rPr>
              <a:t>t</a:t>
            </a:r>
            <a:r>
              <a:rPr dirty="0" b="0">
                <a:latin typeface="Verdana"/>
                <a:cs typeface="Verdana"/>
              </a:rPr>
              <a:t>	</a:t>
            </a:r>
            <a:r>
              <a:rPr dirty="0" spc="-20" b="0">
                <a:latin typeface="Verdana"/>
                <a:cs typeface="Verdana"/>
              </a:rPr>
              <a:t>r</a:t>
            </a:r>
            <a:r>
              <a:rPr dirty="0" spc="-15" b="0">
                <a:latin typeface="Verdana"/>
                <a:cs typeface="Verdana"/>
              </a:rPr>
              <a:t>e</a:t>
            </a:r>
            <a:r>
              <a:rPr dirty="0" b="0">
                <a:latin typeface="Verdana"/>
                <a:cs typeface="Verdana"/>
              </a:rPr>
              <a:t>p</a:t>
            </a:r>
            <a:r>
              <a:rPr dirty="0" spc="-20" b="0">
                <a:latin typeface="Verdana"/>
                <a:cs typeface="Verdana"/>
              </a:rPr>
              <a:t>res</a:t>
            </a:r>
            <a:r>
              <a:rPr dirty="0" spc="-15" b="0">
                <a:latin typeface="Verdana"/>
                <a:cs typeface="Verdana"/>
              </a:rPr>
              <a:t>e</a:t>
            </a:r>
            <a:r>
              <a:rPr dirty="0" spc="0" b="0">
                <a:latin typeface="Verdana"/>
                <a:cs typeface="Verdana"/>
              </a:rPr>
              <a:t>nt</a:t>
            </a:r>
            <a:r>
              <a:rPr dirty="0" spc="-5" b="0">
                <a:latin typeface="Verdana"/>
                <a:cs typeface="Verdana"/>
              </a:rPr>
              <a:t>s</a:t>
            </a:r>
            <a:r>
              <a:rPr dirty="0" b="0">
                <a:latin typeface="Verdana"/>
                <a:cs typeface="Verdana"/>
              </a:rPr>
              <a:t>	</a:t>
            </a:r>
            <a:r>
              <a:rPr dirty="0" spc="-5" b="0">
                <a:latin typeface="Verdana"/>
                <a:cs typeface="Verdana"/>
              </a:rPr>
              <a:t>a</a:t>
            </a:r>
            <a:r>
              <a:rPr dirty="0" b="0">
                <a:latin typeface="Verdana"/>
                <a:cs typeface="Verdana"/>
              </a:rPr>
              <a:t>	</a:t>
            </a:r>
            <a:r>
              <a:rPr dirty="0" spc="-15" b="0">
                <a:latin typeface="Verdana"/>
                <a:cs typeface="Verdana"/>
              </a:rPr>
              <a:t>s</a:t>
            </a:r>
            <a:r>
              <a:rPr dirty="0" b="0">
                <a:latin typeface="Verdana"/>
                <a:cs typeface="Verdana"/>
              </a:rPr>
              <a:t>p</a:t>
            </a:r>
            <a:r>
              <a:rPr dirty="0" spc="-20" b="0">
                <a:latin typeface="Verdana"/>
                <a:cs typeface="Verdana"/>
              </a:rPr>
              <a:t>e</a:t>
            </a:r>
            <a:r>
              <a:rPr dirty="0" spc="-15" b="0">
                <a:latin typeface="Verdana"/>
                <a:cs typeface="Verdana"/>
              </a:rPr>
              <a:t>c</a:t>
            </a:r>
            <a:r>
              <a:rPr dirty="0" spc="25" b="0">
                <a:latin typeface="Verdana"/>
                <a:cs typeface="Verdana"/>
              </a:rPr>
              <a:t>i</a:t>
            </a:r>
            <a:r>
              <a:rPr dirty="0" spc="-10" b="0">
                <a:latin typeface="Verdana"/>
                <a:cs typeface="Verdana"/>
              </a:rPr>
              <a:t>f</a:t>
            </a:r>
            <a:r>
              <a:rPr dirty="0" b="0">
                <a:latin typeface="Verdana"/>
                <a:cs typeface="Verdana"/>
              </a:rPr>
              <a:t>i</a:t>
            </a:r>
            <a:r>
              <a:rPr dirty="0" spc="-5" b="0">
                <a:latin typeface="Verdana"/>
                <a:cs typeface="Verdana"/>
              </a:rPr>
              <a:t>c  </a:t>
            </a:r>
            <a:r>
              <a:rPr dirty="0" spc="-5" b="0">
                <a:latin typeface="Verdana"/>
                <a:cs typeface="Verdana"/>
              </a:rPr>
              <a:t>power </a:t>
            </a:r>
            <a:r>
              <a:rPr dirty="0" b="0">
                <a:latin typeface="Verdana"/>
                <a:cs typeface="Verdana"/>
              </a:rPr>
              <a:t>of </a:t>
            </a:r>
            <a:r>
              <a:rPr dirty="0" spc="-5" b="0">
                <a:latin typeface="Verdana"/>
                <a:cs typeface="Verdana"/>
              </a:rPr>
              <a:t>the </a:t>
            </a:r>
            <a:r>
              <a:rPr dirty="0" b="0">
                <a:latin typeface="Verdana"/>
                <a:cs typeface="Verdana"/>
              </a:rPr>
              <a:t>base</a:t>
            </a:r>
            <a:r>
              <a:rPr dirty="0" spc="-140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(10)</a:t>
            </a:r>
          </a:p>
          <a:p>
            <a:pPr marL="1069975" marR="5080" indent="-44450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1069975" algn="l"/>
                <a:tab pos="1070610" algn="l"/>
                <a:tab pos="2183130" algn="l"/>
                <a:tab pos="4946650" algn="l"/>
                <a:tab pos="5315585" algn="l"/>
              </a:tabLst>
            </a:pPr>
            <a:r>
              <a:rPr dirty="0" spc="-10" b="0">
                <a:latin typeface="Verdana"/>
                <a:cs typeface="Verdana"/>
              </a:rPr>
              <a:t>We</a:t>
            </a:r>
            <a:r>
              <a:rPr dirty="0" spc="345" b="0">
                <a:latin typeface="Verdana"/>
                <a:cs typeface="Verdana"/>
              </a:rPr>
              <a:t> </a:t>
            </a:r>
            <a:r>
              <a:rPr dirty="0" spc="-5" b="0">
                <a:latin typeface="Verdana"/>
                <a:cs typeface="Verdana"/>
              </a:rPr>
              <a:t>use	</a:t>
            </a:r>
            <a:r>
              <a:rPr dirty="0" spc="5" b="0">
                <a:latin typeface="Verdana"/>
                <a:cs typeface="Verdana"/>
              </a:rPr>
              <a:t>this</a:t>
            </a:r>
            <a:r>
              <a:rPr dirty="0" spc="355" b="0">
                <a:latin typeface="Verdana"/>
                <a:cs typeface="Verdana"/>
              </a:rPr>
              <a:t> </a:t>
            </a:r>
            <a:r>
              <a:rPr dirty="0" spc="-5" b="0">
                <a:latin typeface="Verdana"/>
                <a:cs typeface="Verdana"/>
              </a:rPr>
              <a:t>number</a:t>
            </a:r>
            <a:r>
              <a:rPr dirty="0" spc="350" b="0">
                <a:latin typeface="Verdana"/>
                <a:cs typeface="Verdana"/>
              </a:rPr>
              <a:t> </a:t>
            </a:r>
            <a:r>
              <a:rPr dirty="0" spc="-10" b="0">
                <a:latin typeface="Verdana"/>
                <a:cs typeface="Verdana"/>
              </a:rPr>
              <a:t>system	</a:t>
            </a:r>
            <a:r>
              <a:rPr dirty="0" spc="10" b="0">
                <a:latin typeface="Verdana"/>
                <a:cs typeface="Verdana"/>
              </a:rPr>
              <a:t>in	</a:t>
            </a:r>
            <a:r>
              <a:rPr dirty="0" spc="-5" b="0">
                <a:latin typeface="Verdana"/>
                <a:cs typeface="Verdana"/>
              </a:rPr>
              <a:t>our</a:t>
            </a:r>
            <a:r>
              <a:rPr dirty="0" spc="285" b="0">
                <a:latin typeface="Verdana"/>
                <a:cs typeface="Verdana"/>
              </a:rPr>
              <a:t> </a:t>
            </a:r>
            <a:r>
              <a:rPr dirty="0" spc="-5" b="0">
                <a:latin typeface="Verdana"/>
                <a:cs typeface="Verdana"/>
              </a:rPr>
              <a:t>day-to-day </a:t>
            </a:r>
            <a:r>
              <a:rPr dirty="0" spc="-5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life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21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5"/>
              <a:t> </a:t>
            </a:r>
            <a:fld id="{81D60167-4931-47E6-BA6A-407CBD079E47}" type="slidenum">
              <a:rPr dirty="0" spc="-10"/>
              <a:t>7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ct val="100000"/>
              </a:lnSpc>
            </a:pPr>
            <a:r>
              <a:rPr dirty="0" spc="-5"/>
              <a:t>Decimal </a:t>
            </a:r>
            <a:r>
              <a:rPr dirty="0" spc="-5"/>
              <a:t>Number</a:t>
            </a:r>
            <a:r>
              <a:rPr dirty="0" spc="-15"/>
              <a:t> </a:t>
            </a:r>
            <a:r>
              <a:rPr dirty="0" spc="-10"/>
              <a:t>System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06131" y="6339840"/>
            <a:ext cx="17056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4D4D4D"/>
                </a:solidFill>
                <a:latin typeface="Arial"/>
                <a:cs typeface="Arial"/>
              </a:rPr>
              <a:t>(Continued on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next</a:t>
            </a:r>
            <a:r>
              <a:rPr dirty="0" sz="1200" spc="-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slide)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ct val="100000"/>
              </a:lnSpc>
            </a:pPr>
            <a:r>
              <a:rPr dirty="0" spc="-5"/>
              <a:t>Decimal </a:t>
            </a:r>
            <a:r>
              <a:rPr dirty="0" spc="-5"/>
              <a:t>Number</a:t>
            </a:r>
            <a:r>
              <a:rPr dirty="0" spc="-15"/>
              <a:t> </a:t>
            </a:r>
            <a:r>
              <a:rPr dirty="0" spc="-10"/>
              <a:t>System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21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5"/>
              <a:t> </a:t>
            </a:r>
            <a:fld id="{81D60167-4931-47E6-BA6A-407CBD079E47}" type="slidenum">
              <a:rPr dirty="0" spc="-10"/>
              <a:t>7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6044" y="1473200"/>
            <a:ext cx="8268334" cy="2255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800">
              <a:latin typeface="Times New Roman"/>
              <a:cs typeface="Times New Roman"/>
            </a:endParaRPr>
          </a:p>
          <a:p>
            <a:pPr marL="829310">
              <a:lnSpc>
                <a:spcPct val="100000"/>
              </a:lnSpc>
            </a:pPr>
            <a:r>
              <a:rPr dirty="0" sz="2400" spc="-5" b="1">
                <a:solidFill>
                  <a:srgbClr val="333333"/>
                </a:solidFill>
                <a:latin typeface="Arial"/>
                <a:cs typeface="Arial"/>
              </a:rPr>
              <a:t>Example</a:t>
            </a:r>
            <a:endParaRPr sz="2400">
              <a:latin typeface="Arial"/>
              <a:cs typeface="Arial"/>
            </a:endParaRPr>
          </a:p>
          <a:p>
            <a:pPr marL="1408430">
              <a:lnSpc>
                <a:spcPct val="100000"/>
              </a:lnSpc>
              <a:spcBef>
                <a:spcPts val="2014"/>
              </a:spcBef>
            </a:pPr>
            <a:r>
              <a:rPr dirty="0" sz="2400">
                <a:solidFill>
                  <a:srgbClr val="333333"/>
                </a:solidFill>
                <a:latin typeface="Arial"/>
                <a:cs typeface="Arial"/>
              </a:rPr>
              <a:t>2586</a:t>
            </a:r>
            <a:r>
              <a:rPr dirty="0" baseline="-20833" sz="2400">
                <a:solidFill>
                  <a:srgbClr val="333333"/>
                </a:solidFill>
                <a:latin typeface="Arial"/>
                <a:cs typeface="Arial"/>
              </a:rPr>
              <a:t>10 </a:t>
            </a:r>
            <a:r>
              <a:rPr dirty="0" sz="2400">
                <a:solidFill>
                  <a:srgbClr val="333333"/>
                </a:solidFill>
                <a:latin typeface="Arial"/>
                <a:cs typeface="Arial"/>
              </a:rPr>
              <a:t>= </a:t>
            </a:r>
            <a:r>
              <a:rPr dirty="0" sz="2400" spc="-10">
                <a:solidFill>
                  <a:srgbClr val="333333"/>
                </a:solidFill>
                <a:latin typeface="Arial"/>
                <a:cs typeface="Arial"/>
              </a:rPr>
              <a:t>(2 </a:t>
            </a:r>
            <a:r>
              <a:rPr dirty="0" sz="2400">
                <a:solidFill>
                  <a:srgbClr val="333333"/>
                </a:solidFill>
                <a:latin typeface="Arial"/>
                <a:cs typeface="Arial"/>
              </a:rPr>
              <a:t>x 10</a:t>
            </a:r>
            <a:r>
              <a:rPr dirty="0" baseline="24305" sz="2400">
                <a:solidFill>
                  <a:srgbClr val="333333"/>
                </a:solidFill>
                <a:latin typeface="Arial"/>
                <a:cs typeface="Arial"/>
              </a:rPr>
              <a:t>3</a:t>
            </a:r>
            <a:r>
              <a:rPr dirty="0" sz="2400">
                <a:solidFill>
                  <a:srgbClr val="333333"/>
                </a:solidFill>
                <a:latin typeface="Arial"/>
                <a:cs typeface="Arial"/>
              </a:rPr>
              <a:t>) + </a:t>
            </a:r>
            <a:r>
              <a:rPr dirty="0" sz="2400" spc="-10">
                <a:solidFill>
                  <a:srgbClr val="333333"/>
                </a:solidFill>
                <a:latin typeface="Arial"/>
                <a:cs typeface="Arial"/>
              </a:rPr>
              <a:t>(5 </a:t>
            </a:r>
            <a:r>
              <a:rPr dirty="0" sz="2400">
                <a:solidFill>
                  <a:srgbClr val="333333"/>
                </a:solidFill>
                <a:latin typeface="Arial"/>
                <a:cs typeface="Arial"/>
              </a:rPr>
              <a:t>x 10</a:t>
            </a:r>
            <a:r>
              <a:rPr dirty="0" baseline="24305" sz="2400">
                <a:solidFill>
                  <a:srgbClr val="333333"/>
                </a:solidFill>
                <a:latin typeface="Arial"/>
                <a:cs typeface="Arial"/>
              </a:rPr>
              <a:t>2</a:t>
            </a:r>
            <a:r>
              <a:rPr dirty="0" sz="2400">
                <a:solidFill>
                  <a:srgbClr val="333333"/>
                </a:solidFill>
                <a:latin typeface="Arial"/>
                <a:cs typeface="Arial"/>
              </a:rPr>
              <a:t>) + </a:t>
            </a:r>
            <a:r>
              <a:rPr dirty="0" sz="2400" spc="-10">
                <a:solidFill>
                  <a:srgbClr val="333333"/>
                </a:solidFill>
                <a:latin typeface="Arial"/>
                <a:cs typeface="Arial"/>
              </a:rPr>
              <a:t>(8 </a:t>
            </a:r>
            <a:r>
              <a:rPr dirty="0" sz="2400">
                <a:solidFill>
                  <a:srgbClr val="333333"/>
                </a:solidFill>
                <a:latin typeface="Arial"/>
                <a:cs typeface="Arial"/>
              </a:rPr>
              <a:t>x </a:t>
            </a:r>
            <a:r>
              <a:rPr dirty="0" sz="2400" spc="5">
                <a:solidFill>
                  <a:srgbClr val="333333"/>
                </a:solidFill>
                <a:latin typeface="Arial"/>
                <a:cs typeface="Arial"/>
              </a:rPr>
              <a:t>10</a:t>
            </a:r>
            <a:r>
              <a:rPr dirty="0" baseline="24305" sz="2400" spc="7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dirty="0" sz="2400" spc="5">
                <a:solidFill>
                  <a:srgbClr val="333333"/>
                </a:solidFill>
                <a:latin typeface="Arial"/>
                <a:cs typeface="Arial"/>
              </a:rPr>
              <a:t>) </a:t>
            </a:r>
            <a:r>
              <a:rPr dirty="0" sz="2400">
                <a:solidFill>
                  <a:srgbClr val="333333"/>
                </a:solidFill>
                <a:latin typeface="Arial"/>
                <a:cs typeface="Arial"/>
              </a:rPr>
              <a:t>+ </a:t>
            </a:r>
            <a:r>
              <a:rPr dirty="0" sz="2400" spc="-10">
                <a:solidFill>
                  <a:srgbClr val="333333"/>
                </a:solidFill>
                <a:latin typeface="Arial"/>
                <a:cs typeface="Arial"/>
              </a:rPr>
              <a:t>(6 </a:t>
            </a:r>
            <a:r>
              <a:rPr dirty="0" sz="2400">
                <a:solidFill>
                  <a:srgbClr val="333333"/>
                </a:solidFill>
                <a:latin typeface="Arial"/>
                <a:cs typeface="Arial"/>
              </a:rPr>
              <a:t>x</a:t>
            </a:r>
            <a:r>
              <a:rPr dirty="0" sz="2400" spc="-1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33333"/>
                </a:solidFill>
                <a:latin typeface="Arial"/>
                <a:cs typeface="Arial"/>
              </a:rPr>
              <a:t>10</a:t>
            </a:r>
            <a:r>
              <a:rPr dirty="0" baseline="24305" sz="2400">
                <a:solidFill>
                  <a:srgbClr val="333333"/>
                </a:solidFill>
                <a:latin typeface="Arial"/>
                <a:cs typeface="Arial"/>
              </a:rPr>
              <a:t>0</a:t>
            </a:r>
            <a:r>
              <a:rPr dirty="0" sz="2400">
                <a:solidFill>
                  <a:srgbClr val="333333"/>
                </a:solidFill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200">
              <a:latin typeface="Times New Roman"/>
              <a:cs typeface="Times New Roman"/>
            </a:endParaRPr>
          </a:p>
          <a:p>
            <a:pPr marL="2545080">
              <a:lnSpc>
                <a:spcPct val="100000"/>
              </a:lnSpc>
            </a:pPr>
            <a:r>
              <a:rPr dirty="0" sz="2400">
                <a:solidFill>
                  <a:srgbClr val="333333"/>
                </a:solidFill>
                <a:latin typeface="Arial"/>
                <a:cs typeface="Arial"/>
              </a:rPr>
              <a:t>= 2000 + 500 + 80 +</a:t>
            </a:r>
            <a:r>
              <a:rPr dirty="0" sz="2400" spc="-15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333333"/>
                </a:solidFill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16811" y="1745488"/>
            <a:ext cx="2155825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 b="1">
                <a:solidFill>
                  <a:srgbClr val="333333"/>
                </a:solidFill>
                <a:latin typeface="Verdana"/>
                <a:cs typeface="Verdana"/>
              </a:rPr>
              <a:t>Characteristics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21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10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05075" y="2601976"/>
            <a:ext cx="1227455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Hence</a:t>
            </a:r>
            <a:r>
              <a:rPr dirty="0" sz="2000" spc="8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its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5932" y="2175255"/>
            <a:ext cx="5619115" cy="1042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57200" indent="-4445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457200" algn="l"/>
                <a:tab pos="457834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A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positional number</a:t>
            </a:r>
            <a:r>
              <a:rPr dirty="0" sz="2000" spc="-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2000">
              <a:latin typeface="Verdana"/>
              <a:cs typeface="Verdana"/>
            </a:endParaRPr>
          </a:p>
          <a:p>
            <a:pPr marL="457200" marR="5080" indent="-44450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457200" algn="l"/>
                <a:tab pos="457834" algn="l"/>
              </a:tabLst>
            </a:pP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Has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only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symbols or digits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(0 and 1). 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base =</a:t>
            </a:r>
            <a:r>
              <a:rPr dirty="0" sz="2000" spc="-10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95932" y="3333496"/>
            <a:ext cx="7030084" cy="1778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57200" marR="5080" indent="-4445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457200" algn="l"/>
                <a:tab pos="457834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maximum value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single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digit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is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 (one less  than the value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2000" spc="-8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base)</a:t>
            </a:r>
            <a:endParaRPr sz="2000">
              <a:latin typeface="Verdana"/>
              <a:cs typeface="Verdana"/>
            </a:endParaRPr>
          </a:p>
          <a:p>
            <a:pPr marL="457200" marR="5080" indent="-44450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457200" algn="l"/>
                <a:tab pos="457834" algn="l"/>
              </a:tabLst>
            </a:pP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Each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position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digit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represents a specific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power  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r>
              <a:rPr dirty="0" sz="2000" spc="-1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(2)</a:t>
            </a:r>
            <a:endParaRPr sz="2000">
              <a:latin typeface="Verdana"/>
              <a:cs typeface="Verdana"/>
            </a:endParaRPr>
          </a:p>
          <a:p>
            <a:pPr marL="457200" indent="-44450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457200" algn="l"/>
                <a:tab pos="457834" algn="l"/>
              </a:tabLst>
            </a:pP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This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number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system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is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used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2000" spc="-8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computers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ct val="100000"/>
              </a:lnSpc>
            </a:pPr>
            <a:r>
              <a:rPr dirty="0" spc="-450"/>
              <a:t>B</a:t>
            </a:r>
            <a:r>
              <a:rPr dirty="0" baseline="-3472" sz="4800" spc="-675">
                <a:solidFill>
                  <a:srgbClr val="000000"/>
                </a:solidFill>
              </a:rPr>
              <a:t>B</a:t>
            </a:r>
            <a:r>
              <a:rPr dirty="0" sz="3200" spc="-450"/>
              <a:t>i</a:t>
            </a:r>
            <a:r>
              <a:rPr dirty="0" baseline="-3472" sz="4800" spc="-675">
                <a:solidFill>
                  <a:srgbClr val="000000"/>
                </a:solidFill>
              </a:rPr>
              <a:t>i</a:t>
            </a:r>
            <a:r>
              <a:rPr dirty="0" sz="3200" spc="-450"/>
              <a:t>nary  </a:t>
            </a:r>
            <a:r>
              <a:rPr dirty="0" sz="3200" spc="-5"/>
              <a:t>Number</a:t>
            </a:r>
            <a:r>
              <a:rPr dirty="0" sz="3200" spc="-235"/>
              <a:t> </a:t>
            </a:r>
            <a:r>
              <a:rPr dirty="0" sz="3200" spc="-5"/>
              <a:t>System</a:t>
            </a:r>
            <a:endParaRPr sz="3200"/>
          </a:p>
        </p:txBody>
      </p:sp>
      <p:sp>
        <p:nvSpPr>
          <p:cNvPr id="9" name="object 9"/>
          <p:cNvSpPr txBox="1"/>
          <p:nvPr/>
        </p:nvSpPr>
        <p:spPr>
          <a:xfrm>
            <a:off x="7406131" y="6339840"/>
            <a:ext cx="17056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4D4D4D"/>
                </a:solidFill>
                <a:latin typeface="Arial"/>
                <a:cs typeface="Arial"/>
              </a:rPr>
              <a:t>(Continued on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next</a:t>
            </a:r>
            <a:r>
              <a:rPr dirty="0" sz="1200" spc="-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slide)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ct val="100000"/>
              </a:lnSpc>
            </a:pPr>
            <a:r>
              <a:rPr dirty="0" spc="-450"/>
              <a:t>B</a:t>
            </a:r>
            <a:r>
              <a:rPr dirty="0" baseline="-3472" sz="4800" spc="-675">
                <a:solidFill>
                  <a:srgbClr val="000000"/>
                </a:solidFill>
              </a:rPr>
              <a:t>B</a:t>
            </a:r>
            <a:r>
              <a:rPr dirty="0" sz="3200" spc="-450"/>
              <a:t>i</a:t>
            </a:r>
            <a:r>
              <a:rPr dirty="0" baseline="-3472" sz="4800" spc="-675">
                <a:solidFill>
                  <a:srgbClr val="000000"/>
                </a:solidFill>
              </a:rPr>
              <a:t>i</a:t>
            </a:r>
            <a:r>
              <a:rPr dirty="0" sz="3200" spc="-450"/>
              <a:t>nary  </a:t>
            </a:r>
            <a:r>
              <a:rPr dirty="0" sz="3200" spc="-5"/>
              <a:t>Number</a:t>
            </a:r>
            <a:r>
              <a:rPr dirty="0" sz="3200" spc="-229"/>
              <a:t> </a:t>
            </a:r>
            <a:r>
              <a:rPr dirty="0" sz="3200" spc="-5"/>
              <a:t>System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21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10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6044" y="1473200"/>
            <a:ext cx="8051165" cy="2083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Times New Roman"/>
              <a:cs typeface="Times New Roman"/>
            </a:endParaRPr>
          </a:p>
          <a:p>
            <a:pPr marL="822960">
              <a:lnSpc>
                <a:spcPct val="100000"/>
              </a:lnSpc>
              <a:spcBef>
                <a:spcPts val="5"/>
              </a:spcBef>
            </a:pPr>
            <a:r>
              <a:rPr dirty="0" sz="2000" spc="-10" b="1">
                <a:solidFill>
                  <a:srgbClr val="333333"/>
                </a:solidFill>
                <a:latin typeface="Verdana"/>
                <a:cs typeface="Verdana"/>
              </a:rPr>
              <a:t>Example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Times New Roman"/>
              <a:cs typeface="Times New Roman"/>
            </a:endParaRPr>
          </a:p>
          <a:p>
            <a:pPr marL="108204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10101</a:t>
            </a:r>
            <a:r>
              <a:rPr dirty="0" baseline="-23148" sz="1800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(1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4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)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(0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3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)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(1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)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(0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) x (1 x</a:t>
            </a: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0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1737360">
              <a:lnSpc>
                <a:spcPct val="100000"/>
              </a:lnSpc>
              <a:spcBef>
                <a:spcPts val="1535"/>
              </a:spcBef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16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0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4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0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</a:t>
            </a:r>
            <a:r>
              <a:rPr dirty="0" sz="180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  <a:p>
            <a:pPr marL="1737360">
              <a:lnSpc>
                <a:spcPct val="100000"/>
              </a:lnSpc>
              <a:spcBef>
                <a:spcPts val="1510"/>
              </a:spcBef>
              <a:tabLst>
                <a:tab pos="2084705" algn="l"/>
              </a:tabLst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	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21</a:t>
            </a:r>
            <a:r>
              <a:rPr dirty="0" baseline="-23148" sz="1800">
                <a:solidFill>
                  <a:srgbClr val="333333"/>
                </a:solidFill>
                <a:latin typeface="Verdana"/>
                <a:cs typeface="Verdana"/>
              </a:rPr>
              <a:t>10</a:t>
            </a:r>
            <a:endParaRPr baseline="-23148"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16811" y="1757679"/>
            <a:ext cx="7459980" cy="1788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</a:pP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In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order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to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be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specific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about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which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number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system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we 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are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referring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to,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it is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 common practice to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indicate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base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as a subscript. 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Thus,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we</a:t>
            </a:r>
            <a:r>
              <a:rPr dirty="0" sz="2000" spc="-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write: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036319">
              <a:lnSpc>
                <a:spcPct val="100000"/>
              </a:lnSpc>
              <a:spcBef>
                <a:spcPts val="1755"/>
              </a:spcBef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10101</a:t>
            </a:r>
            <a:r>
              <a:rPr dirty="0" baseline="-21367" sz="1950" spc="-7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000" spc="-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21</a:t>
            </a:r>
            <a:r>
              <a:rPr dirty="0" baseline="-21367" sz="1950" spc="7">
                <a:solidFill>
                  <a:srgbClr val="333333"/>
                </a:solidFill>
                <a:latin typeface="Verdana"/>
                <a:cs typeface="Verdana"/>
              </a:rPr>
              <a:t>10</a:t>
            </a:r>
            <a:endParaRPr baseline="-21367" sz="19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21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10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 marR="5080">
              <a:lnSpc>
                <a:spcPct val="100000"/>
              </a:lnSpc>
            </a:pPr>
            <a:r>
              <a:rPr dirty="0" sz="2400" spc="-5"/>
              <a:t>Representing </a:t>
            </a:r>
            <a:r>
              <a:rPr dirty="0" sz="2400" spc="5"/>
              <a:t>Numbers </a:t>
            </a:r>
            <a:r>
              <a:rPr dirty="0" sz="2400" spc="-5"/>
              <a:t>in </a:t>
            </a:r>
            <a:r>
              <a:rPr dirty="0" sz="2400"/>
              <a:t>Different </a:t>
            </a:r>
            <a:r>
              <a:rPr dirty="0" sz="2400" spc="-5"/>
              <a:t>Number  </a:t>
            </a:r>
            <a:r>
              <a:rPr dirty="0" sz="2400" spc="-5"/>
              <a:t>Systems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5708" y="450088"/>
            <a:ext cx="8502650" cy="36283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438525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3200" spc="-15" b="1">
                <a:solidFill>
                  <a:srgbClr val="FFFFFF"/>
                </a:solidFill>
                <a:latin typeface="Verdana"/>
                <a:cs typeface="Verdana"/>
              </a:rPr>
              <a:t>Bit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850">
              <a:latin typeface="Times New Roman"/>
              <a:cs typeface="Times New Roman"/>
            </a:endParaRPr>
          </a:p>
          <a:p>
            <a:pPr marL="1371600" indent="-32893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1371600" algn="l"/>
                <a:tab pos="1372235" algn="l"/>
              </a:tabLst>
            </a:pPr>
            <a:r>
              <a:rPr dirty="0" sz="2000" spc="-10">
                <a:solidFill>
                  <a:srgbClr val="333333"/>
                </a:solidFill>
                <a:latin typeface="Arial"/>
                <a:cs typeface="Arial"/>
              </a:rPr>
              <a:t>Bit </a:t>
            </a:r>
            <a:r>
              <a:rPr dirty="0" sz="2000">
                <a:solidFill>
                  <a:srgbClr val="333333"/>
                </a:solidFill>
                <a:latin typeface="Arial"/>
                <a:cs typeface="Arial"/>
              </a:rPr>
              <a:t>stands for </a:t>
            </a:r>
            <a:r>
              <a:rPr dirty="0" sz="2000" b="1">
                <a:solidFill>
                  <a:srgbClr val="333333"/>
                </a:solidFill>
                <a:latin typeface="Arial"/>
                <a:cs typeface="Arial"/>
              </a:rPr>
              <a:t>bi</a:t>
            </a:r>
            <a:r>
              <a:rPr dirty="0" sz="2000">
                <a:solidFill>
                  <a:srgbClr val="333333"/>
                </a:solidFill>
                <a:latin typeface="Arial"/>
                <a:cs typeface="Arial"/>
              </a:rPr>
              <a:t>nary</a:t>
            </a:r>
            <a:r>
              <a:rPr dirty="0" sz="2000" spc="-10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Arial"/>
                <a:cs typeface="Arial"/>
              </a:rPr>
              <a:t>digi</a:t>
            </a:r>
            <a:r>
              <a:rPr dirty="0" sz="2000" spc="-10" b="1">
                <a:solidFill>
                  <a:srgbClr val="333333"/>
                </a:solidFill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FF3300"/>
              </a:buClr>
              <a:buFont typeface="Wingdings"/>
              <a:buChar char="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3300"/>
              </a:buClr>
              <a:buFont typeface="Wingdings"/>
              <a:buChar char=""/>
            </a:pPr>
            <a:endParaRPr sz="1750">
              <a:latin typeface="Times New Roman"/>
              <a:cs typeface="Times New Roman"/>
            </a:endParaRPr>
          </a:p>
          <a:p>
            <a:pPr marL="1371600" indent="-32893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1371600" algn="l"/>
                <a:tab pos="1372235" algn="l"/>
              </a:tabLst>
            </a:pPr>
            <a:r>
              <a:rPr dirty="0" sz="2000" spc="-10">
                <a:solidFill>
                  <a:srgbClr val="333333"/>
                </a:solidFill>
                <a:latin typeface="Arial"/>
                <a:cs typeface="Arial"/>
              </a:rPr>
              <a:t>A </a:t>
            </a:r>
            <a:r>
              <a:rPr dirty="0" sz="2000" spc="-5">
                <a:solidFill>
                  <a:srgbClr val="333333"/>
                </a:solidFill>
                <a:latin typeface="Arial"/>
                <a:cs typeface="Arial"/>
              </a:rPr>
              <a:t>bit </a:t>
            </a:r>
            <a:r>
              <a:rPr dirty="0" sz="2000">
                <a:solidFill>
                  <a:srgbClr val="333333"/>
                </a:solidFill>
                <a:latin typeface="Arial"/>
                <a:cs typeface="Arial"/>
              </a:rPr>
              <a:t>in computer </a:t>
            </a:r>
            <a:r>
              <a:rPr dirty="0" sz="2000" spc="-5">
                <a:solidFill>
                  <a:srgbClr val="333333"/>
                </a:solidFill>
                <a:latin typeface="Arial"/>
                <a:cs typeface="Arial"/>
              </a:rPr>
              <a:t>terminology </a:t>
            </a:r>
            <a:r>
              <a:rPr dirty="0" sz="2000">
                <a:solidFill>
                  <a:srgbClr val="333333"/>
                </a:solidFill>
                <a:latin typeface="Arial"/>
                <a:cs typeface="Arial"/>
              </a:rPr>
              <a:t>means </a:t>
            </a:r>
            <a:r>
              <a:rPr dirty="0" sz="2000" spc="-5">
                <a:solidFill>
                  <a:srgbClr val="333333"/>
                </a:solidFill>
                <a:latin typeface="Arial"/>
                <a:cs typeface="Arial"/>
              </a:rPr>
              <a:t>either a 0 or a</a:t>
            </a:r>
            <a:r>
              <a:rPr dirty="0" sz="200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FF3300"/>
              </a:buClr>
              <a:buFont typeface="Wingdings"/>
              <a:buChar char="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3300"/>
              </a:buClr>
              <a:buFont typeface="Wingdings"/>
              <a:buChar char=""/>
            </a:pPr>
            <a:endParaRPr sz="1750">
              <a:latin typeface="Times New Roman"/>
              <a:cs typeface="Times New Roman"/>
            </a:endParaRPr>
          </a:p>
          <a:p>
            <a:pPr marL="1371600" marR="1195705" indent="-32893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1371600" algn="l"/>
                <a:tab pos="1372235" algn="l"/>
              </a:tabLst>
            </a:pPr>
            <a:r>
              <a:rPr dirty="0" sz="2000" spc="-10">
                <a:solidFill>
                  <a:srgbClr val="333333"/>
                </a:solidFill>
                <a:latin typeface="Arial"/>
                <a:cs typeface="Arial"/>
              </a:rPr>
              <a:t>A </a:t>
            </a:r>
            <a:r>
              <a:rPr dirty="0" sz="2000" spc="5">
                <a:solidFill>
                  <a:srgbClr val="333333"/>
                </a:solidFill>
                <a:latin typeface="Arial"/>
                <a:cs typeface="Arial"/>
              </a:rPr>
              <a:t>binary </a:t>
            </a:r>
            <a:r>
              <a:rPr dirty="0" sz="2000">
                <a:solidFill>
                  <a:srgbClr val="333333"/>
                </a:solidFill>
                <a:latin typeface="Arial"/>
                <a:cs typeface="Arial"/>
              </a:rPr>
              <a:t>number </a:t>
            </a:r>
            <a:r>
              <a:rPr dirty="0" sz="2000" spc="-5">
                <a:solidFill>
                  <a:srgbClr val="333333"/>
                </a:solidFill>
                <a:latin typeface="Arial"/>
                <a:cs typeface="Arial"/>
              </a:rPr>
              <a:t>consisting of </a:t>
            </a:r>
            <a:r>
              <a:rPr dirty="0" sz="2000" spc="-5" i="1">
                <a:solidFill>
                  <a:srgbClr val="333333"/>
                </a:solidFill>
                <a:latin typeface="Arial"/>
                <a:cs typeface="Arial"/>
              </a:rPr>
              <a:t>n </a:t>
            </a:r>
            <a:r>
              <a:rPr dirty="0" sz="2000" spc="-10">
                <a:solidFill>
                  <a:srgbClr val="333333"/>
                </a:solidFill>
                <a:latin typeface="Arial"/>
                <a:cs typeface="Arial"/>
              </a:rPr>
              <a:t>bits </a:t>
            </a:r>
            <a:r>
              <a:rPr dirty="0" sz="2000" spc="-15">
                <a:solidFill>
                  <a:srgbClr val="333333"/>
                </a:solidFill>
                <a:latin typeface="Arial"/>
                <a:cs typeface="Arial"/>
              </a:rPr>
              <a:t>is </a:t>
            </a:r>
            <a:r>
              <a:rPr dirty="0" sz="2000">
                <a:solidFill>
                  <a:srgbClr val="333333"/>
                </a:solidFill>
                <a:latin typeface="Arial"/>
                <a:cs typeface="Arial"/>
              </a:rPr>
              <a:t>called </a:t>
            </a:r>
            <a:r>
              <a:rPr dirty="0" sz="2000" spc="-5">
                <a:solidFill>
                  <a:srgbClr val="333333"/>
                </a:solidFill>
                <a:latin typeface="Arial"/>
                <a:cs typeface="Arial"/>
              </a:rPr>
              <a:t>an n-bit  </a:t>
            </a:r>
            <a:r>
              <a:rPr dirty="0" sz="2000">
                <a:solidFill>
                  <a:srgbClr val="333333"/>
                </a:solidFill>
                <a:latin typeface="Arial"/>
                <a:cs typeface="Arial"/>
              </a:rPr>
              <a:t>number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22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13</a:t>
            </a:fld>
            <a:r>
              <a:rPr dirty="0" spc="-10"/>
              <a:t>/40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16811" y="1757679"/>
            <a:ext cx="7745095" cy="2931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 b="1">
                <a:solidFill>
                  <a:srgbClr val="333333"/>
                </a:solidFill>
                <a:latin typeface="Verdana"/>
                <a:cs typeface="Verdana"/>
              </a:rPr>
              <a:t>Characteristics</a:t>
            </a:r>
            <a:endParaRPr sz="2000">
              <a:latin typeface="Verdana"/>
              <a:cs typeface="Verdana"/>
            </a:endParaRPr>
          </a:p>
          <a:p>
            <a:pPr marL="92075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A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positional number</a:t>
            </a:r>
            <a:r>
              <a:rPr dirty="0" sz="2000" spc="-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2000">
              <a:latin typeface="Verdana"/>
              <a:cs typeface="Verdana"/>
            </a:endParaRPr>
          </a:p>
          <a:p>
            <a:pPr marL="920750" marR="191135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Has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total 8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symbols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or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digits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(0, 1, 2, 3,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4,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5,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6,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7). 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Hence,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its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base =</a:t>
            </a:r>
            <a:r>
              <a:rPr dirty="0" sz="2000" spc="-1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endParaRPr sz="2000">
              <a:latin typeface="Verdana"/>
              <a:cs typeface="Verdana"/>
            </a:endParaRPr>
          </a:p>
          <a:p>
            <a:pPr marL="920750" marR="37719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maximum value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single digit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is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7 (one</a:t>
            </a:r>
            <a:r>
              <a:rPr dirty="0" sz="2000" spc="-1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less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than the value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2000" spc="-8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endParaRPr sz="2000">
              <a:latin typeface="Verdana"/>
              <a:cs typeface="Verdana"/>
            </a:endParaRPr>
          </a:p>
          <a:p>
            <a:pPr marL="920750" marR="508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Each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position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digit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represents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specific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power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of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r>
              <a:rPr dirty="0" sz="2000" spc="-10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(8)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22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13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ct val="100000"/>
              </a:lnSpc>
            </a:pPr>
            <a:r>
              <a:rPr dirty="0"/>
              <a:t>Octal </a:t>
            </a:r>
            <a:r>
              <a:rPr dirty="0"/>
              <a:t>Number</a:t>
            </a:r>
            <a:r>
              <a:rPr dirty="0" spc="-55"/>
              <a:t> </a:t>
            </a:r>
            <a:r>
              <a:rPr dirty="0" spc="-5"/>
              <a:t>System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06131" y="6339840"/>
            <a:ext cx="17056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4D4D4D"/>
                </a:solidFill>
                <a:latin typeface="Arial"/>
                <a:cs typeface="Arial"/>
              </a:rPr>
              <a:t>(Continued on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next</a:t>
            </a:r>
            <a:r>
              <a:rPr dirty="0" sz="1200" spc="-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slide)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270251" y="3705352"/>
            <a:ext cx="776605" cy="3594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2057</a:t>
            </a:r>
            <a:r>
              <a:rPr dirty="0" baseline="-21367" sz="1950" spc="-7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endParaRPr baseline="-21367" sz="19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22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13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96844" y="3705352"/>
            <a:ext cx="5438140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(2 x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baseline="25641" sz="1950">
                <a:solidFill>
                  <a:srgbClr val="333333"/>
                </a:solidFill>
                <a:latin typeface="Verdana"/>
                <a:cs typeface="Verdana"/>
              </a:rPr>
              <a:t>3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)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(0 x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baseline="25641" sz="1950" spc="-15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) 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(5 x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baseline="25641" sz="1950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)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(7 x</a:t>
            </a:r>
            <a:r>
              <a:rPr dirty="0" sz="2000" spc="8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baseline="25641" sz="1950" spc="7">
                <a:solidFill>
                  <a:srgbClr val="333333"/>
                </a:solidFill>
                <a:latin typeface="Verdana"/>
                <a:cs typeface="Verdana"/>
              </a:rPr>
              <a:t>0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00604" y="4223511"/>
            <a:ext cx="2776220" cy="8775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1024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0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40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</a:t>
            </a:r>
            <a:r>
              <a:rPr dirty="0" sz="200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7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  <a:tabLst>
                <a:tab pos="399415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	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1071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10</a:t>
            </a:r>
            <a:endParaRPr baseline="-21367" sz="195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ct val="100000"/>
              </a:lnSpc>
            </a:pPr>
            <a:r>
              <a:rPr dirty="0"/>
              <a:t>Octal </a:t>
            </a:r>
            <a:r>
              <a:rPr dirty="0"/>
              <a:t>Number</a:t>
            </a:r>
            <a:r>
              <a:rPr dirty="0" spc="-55"/>
              <a:t> </a:t>
            </a:r>
            <a:r>
              <a:rPr dirty="0" spc="-5"/>
              <a:t>System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06044" y="1473200"/>
            <a:ext cx="8284845" cy="17202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00">
              <a:latin typeface="Times New Roman"/>
              <a:cs typeface="Times New Roman"/>
            </a:endParaRPr>
          </a:p>
          <a:p>
            <a:pPr marL="1088390" marR="5080" indent="-26543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1115695" algn="l"/>
                <a:tab pos="1116330" algn="l"/>
                <a:tab pos="1988185" algn="l"/>
                <a:tab pos="2837815" algn="l"/>
                <a:tab pos="3434715" algn="l"/>
                <a:tab pos="4154804" algn="l"/>
                <a:tab pos="4498975" algn="l"/>
                <a:tab pos="5465445" algn="l"/>
                <a:tab pos="5809615" algn="l"/>
                <a:tab pos="6452870" algn="l"/>
                <a:tab pos="7013575" algn="l"/>
                <a:tab pos="7403465" algn="l"/>
                <a:tab pos="7863205" algn="l"/>
              </a:tabLst>
            </a:pP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c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th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er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r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l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 spc="-25">
                <a:solidFill>
                  <a:srgbClr val="333333"/>
                </a:solidFill>
                <a:latin typeface="Verdana"/>
                <a:cs typeface="Verdana"/>
              </a:rPr>
              <a:t>g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t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,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3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25">
                <a:solidFill>
                  <a:srgbClr val="333333"/>
                </a:solidFill>
                <a:latin typeface="Verdana"/>
                <a:cs typeface="Verdana"/>
              </a:rPr>
              <a:t>b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t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(2</a:t>
            </a:r>
            <a:r>
              <a:rPr dirty="0" baseline="25641" sz="1950" spc="-7">
                <a:solidFill>
                  <a:srgbClr val="333333"/>
                </a:solidFill>
                <a:latin typeface="Verdana"/>
                <a:cs typeface="Verdana"/>
              </a:rPr>
              <a:t>3</a:t>
            </a:r>
            <a:r>
              <a:rPr dirty="0" baseline="25641" sz="195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)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re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sufficient to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represent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any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octal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number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200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binary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822960">
              <a:lnSpc>
                <a:spcPct val="100000"/>
              </a:lnSpc>
              <a:spcBef>
                <a:spcPts val="1755"/>
              </a:spcBef>
            </a:pPr>
            <a:r>
              <a:rPr dirty="0" sz="2000" spc="-10" b="1">
                <a:solidFill>
                  <a:srgbClr val="333333"/>
                </a:solidFill>
                <a:latin typeface="Verdana"/>
                <a:cs typeface="Verdana"/>
              </a:rPr>
              <a:t>Example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16811" y="1757679"/>
            <a:ext cx="7602855" cy="3236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 b="1">
                <a:solidFill>
                  <a:srgbClr val="333333"/>
                </a:solidFill>
                <a:latin typeface="Verdana"/>
                <a:cs typeface="Verdana"/>
              </a:rPr>
              <a:t>Characteristics</a:t>
            </a:r>
            <a:endParaRPr sz="2000">
              <a:latin typeface="Verdana"/>
              <a:cs typeface="Verdana"/>
            </a:endParaRPr>
          </a:p>
          <a:p>
            <a:pPr marL="92075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A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positional number</a:t>
            </a:r>
            <a:r>
              <a:rPr dirty="0" sz="2000" spc="-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2000">
              <a:latin typeface="Verdana"/>
              <a:cs typeface="Verdana"/>
            </a:endParaRPr>
          </a:p>
          <a:p>
            <a:pPr marL="920750" marR="508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  <a:tab pos="3922395" algn="l"/>
              </a:tabLst>
            </a:pP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Has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total 16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symbols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or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digits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(0, 1, 2, 3, 4, 5, 6, 7,  8, 9, A,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B,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C, D,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E,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F).	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Hence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its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base =</a:t>
            </a:r>
            <a:r>
              <a:rPr dirty="0" sz="2000" spc="-9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16</a:t>
            </a:r>
            <a:endParaRPr sz="2000">
              <a:latin typeface="Verdana"/>
              <a:cs typeface="Verdana"/>
            </a:endParaRPr>
          </a:p>
          <a:p>
            <a:pPr marL="920750" marR="77724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symbols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A, B, C, D,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and F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represent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 decimal values 10, 11, 12, 13,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14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and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15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respectively</a:t>
            </a:r>
            <a:endParaRPr sz="2000">
              <a:latin typeface="Verdana"/>
              <a:cs typeface="Verdana"/>
            </a:endParaRPr>
          </a:p>
          <a:p>
            <a:pPr marL="920750" marR="71120" indent="-328930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920750" algn="l"/>
                <a:tab pos="92138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maximum value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single digit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is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15 (one</a:t>
            </a:r>
            <a:r>
              <a:rPr dirty="0" sz="2000" spc="-1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less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than the value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2000" spc="-8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base)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22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13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ct val="100000"/>
              </a:lnSpc>
            </a:pPr>
            <a:r>
              <a:rPr dirty="0" spc="-375"/>
              <a:t>H</a:t>
            </a:r>
            <a:r>
              <a:rPr dirty="0" baseline="-3472" sz="4800" spc="-562">
                <a:solidFill>
                  <a:srgbClr val="000000"/>
                </a:solidFill>
              </a:rPr>
              <a:t>H</a:t>
            </a:r>
            <a:r>
              <a:rPr dirty="0" sz="3200" spc="-375"/>
              <a:t>e</a:t>
            </a:r>
            <a:r>
              <a:rPr dirty="0" baseline="-3472" sz="4800" spc="-562">
                <a:solidFill>
                  <a:srgbClr val="000000"/>
                </a:solidFill>
              </a:rPr>
              <a:t>e</a:t>
            </a:r>
            <a:r>
              <a:rPr dirty="0" sz="3200" spc="-375"/>
              <a:t>xadecimal  </a:t>
            </a:r>
            <a:r>
              <a:rPr dirty="0" sz="3200" spc="-5"/>
              <a:t>Number</a:t>
            </a:r>
            <a:r>
              <a:rPr dirty="0" sz="3200" spc="-360"/>
              <a:t> </a:t>
            </a:r>
            <a:r>
              <a:rPr dirty="0" sz="3200" spc="-5"/>
              <a:t>System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7406131" y="6339840"/>
            <a:ext cx="17056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4D4D4D"/>
                </a:solidFill>
                <a:latin typeface="Arial"/>
                <a:cs typeface="Arial"/>
              </a:rPr>
              <a:t>(Continued on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next</a:t>
            </a:r>
            <a:r>
              <a:rPr dirty="0" sz="1200" spc="-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slide)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95932" y="4284471"/>
            <a:ext cx="714375" cy="3594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1AF</a:t>
            </a:r>
            <a:r>
              <a:rPr dirty="0" baseline="-21367" sz="1950" spc="-22">
                <a:solidFill>
                  <a:srgbClr val="333333"/>
                </a:solidFill>
                <a:latin typeface="Verdana"/>
                <a:cs typeface="Verdana"/>
              </a:rPr>
              <a:t>16</a:t>
            </a:r>
            <a:endParaRPr baseline="-21367" sz="19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22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13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49955" y="4284471"/>
            <a:ext cx="4630420" cy="16427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99415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(1 x 16</a:t>
            </a:r>
            <a:r>
              <a:rPr dirty="0" baseline="25641" sz="1950" spc="-7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)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(A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x 16</a:t>
            </a:r>
            <a:r>
              <a:rPr dirty="0" baseline="25641" sz="1950" spc="-7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)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(F x 16</a:t>
            </a:r>
            <a:r>
              <a:rPr dirty="0" baseline="25641" sz="1950" spc="-7">
                <a:solidFill>
                  <a:srgbClr val="333333"/>
                </a:solidFill>
                <a:latin typeface="Verdana"/>
                <a:cs typeface="Verdana"/>
              </a:rPr>
              <a:t>0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  <a:p>
            <a:pPr marL="97790">
              <a:lnSpc>
                <a:spcPct val="100000"/>
              </a:lnSpc>
              <a:spcBef>
                <a:spcPts val="960"/>
              </a:spcBef>
              <a:tabLst>
                <a:tab pos="481330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 x 256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10 x 16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15 x</a:t>
            </a:r>
            <a:r>
              <a:rPr dirty="0" sz="200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  <a:p>
            <a:pPr marL="104139">
              <a:lnSpc>
                <a:spcPct val="100000"/>
              </a:lnSpc>
              <a:spcBef>
                <a:spcPts val="960"/>
              </a:spcBef>
              <a:tabLst>
                <a:tab pos="487680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256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160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</a:t>
            </a:r>
            <a:r>
              <a:rPr dirty="0" sz="200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20">
                <a:solidFill>
                  <a:srgbClr val="333333"/>
                </a:solidFill>
                <a:latin typeface="Verdana"/>
                <a:cs typeface="Verdana"/>
              </a:rPr>
              <a:t>15</a:t>
            </a:r>
            <a:endParaRPr sz="2000">
              <a:latin typeface="Verdana"/>
              <a:cs typeface="Verdana"/>
            </a:endParaRPr>
          </a:p>
          <a:p>
            <a:pPr marL="97790">
              <a:lnSpc>
                <a:spcPct val="100000"/>
              </a:lnSpc>
              <a:spcBef>
                <a:spcPts val="980"/>
              </a:spcBef>
              <a:tabLst>
                <a:tab pos="481330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	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431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10</a:t>
            </a:r>
            <a:endParaRPr baseline="-21367" sz="195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ct val="100000"/>
              </a:lnSpc>
            </a:pPr>
            <a:r>
              <a:rPr dirty="0" spc="-375"/>
              <a:t>H</a:t>
            </a:r>
            <a:r>
              <a:rPr dirty="0" baseline="-3472" sz="4800" spc="-562">
                <a:solidFill>
                  <a:srgbClr val="000000"/>
                </a:solidFill>
              </a:rPr>
              <a:t>H</a:t>
            </a:r>
            <a:r>
              <a:rPr dirty="0" sz="3200" spc="-375"/>
              <a:t>e</a:t>
            </a:r>
            <a:r>
              <a:rPr dirty="0" baseline="-3472" sz="4800" spc="-562">
                <a:solidFill>
                  <a:srgbClr val="000000"/>
                </a:solidFill>
              </a:rPr>
              <a:t>e</a:t>
            </a:r>
            <a:r>
              <a:rPr dirty="0" sz="3200" spc="-375"/>
              <a:t>xadecimal  </a:t>
            </a:r>
            <a:r>
              <a:rPr dirty="0" sz="3200" spc="-5"/>
              <a:t>Number</a:t>
            </a:r>
            <a:r>
              <a:rPr dirty="0" sz="3200" spc="-355"/>
              <a:t> </a:t>
            </a:r>
            <a:r>
              <a:rPr dirty="0" sz="3200" spc="-5"/>
              <a:t>System</a:t>
            </a:r>
            <a:endParaRPr sz="3200"/>
          </a:p>
        </p:txBody>
      </p:sp>
      <p:sp>
        <p:nvSpPr>
          <p:cNvPr id="7" name="object 7"/>
          <p:cNvSpPr txBox="1"/>
          <p:nvPr/>
        </p:nvSpPr>
        <p:spPr>
          <a:xfrm>
            <a:off x="606044" y="1473200"/>
            <a:ext cx="8223884" cy="269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731645" marR="5080" indent="-329565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1732280" algn="l"/>
              </a:tabLst>
            </a:pP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Each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position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digit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represents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specific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power  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r>
              <a:rPr dirty="0" sz="2000" spc="-114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(16)</a:t>
            </a:r>
            <a:endParaRPr sz="2000">
              <a:latin typeface="Verdana"/>
              <a:cs typeface="Verdana"/>
            </a:endParaRPr>
          </a:p>
          <a:p>
            <a:pPr algn="just" marL="1731645" marR="41275" indent="-329565">
              <a:lnSpc>
                <a:spcPct val="100000"/>
              </a:lnSpc>
              <a:spcBef>
                <a:spcPts val="960"/>
              </a:spcBef>
              <a:buClr>
                <a:srgbClr val="FF3300"/>
              </a:buClr>
              <a:buFont typeface="Wingdings"/>
              <a:buChar char=""/>
              <a:tabLst>
                <a:tab pos="1732280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Since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there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are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only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16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digits,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4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bits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(2</a:t>
            </a:r>
            <a:r>
              <a:rPr dirty="0" baseline="25641" sz="1950" spc="-7">
                <a:solidFill>
                  <a:srgbClr val="333333"/>
                </a:solidFill>
                <a:latin typeface="Verdana"/>
                <a:cs typeface="Verdana"/>
              </a:rPr>
              <a:t>4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16)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are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sufficient to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represent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any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hexadecimal number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in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binary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170940">
              <a:lnSpc>
                <a:spcPct val="100000"/>
              </a:lnSpc>
            </a:pPr>
            <a:r>
              <a:rPr dirty="0" sz="2000" spc="-10" b="1">
                <a:solidFill>
                  <a:srgbClr val="333333"/>
                </a:solidFill>
                <a:latin typeface="Verdana"/>
                <a:cs typeface="Verdana"/>
              </a:rPr>
              <a:t>Example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16811" y="1757679"/>
            <a:ext cx="1551940" cy="826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 b="1">
                <a:solidFill>
                  <a:srgbClr val="333333"/>
                </a:solidFill>
                <a:latin typeface="Verdana"/>
                <a:cs typeface="Verdana"/>
              </a:rPr>
              <a:t>Method</a:t>
            </a:r>
            <a:endParaRPr sz="2000">
              <a:latin typeface="Verdana"/>
              <a:cs typeface="Verdana"/>
            </a:endParaRPr>
          </a:p>
          <a:p>
            <a:pPr marL="591185">
              <a:lnSpc>
                <a:spcPct val="100000"/>
              </a:lnSpc>
              <a:spcBef>
                <a:spcPts val="1655"/>
              </a:spcBef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2000" spc="-9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23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18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20107" y="2272791"/>
            <a:ext cx="5518785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 marR="5080" indent="-13335">
              <a:lnSpc>
                <a:spcPct val="100000"/>
              </a:lnSpc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Determine the column (positional)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value of 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each</a:t>
            </a:r>
            <a:r>
              <a:rPr dirty="0" sz="2000" spc="-8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digit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5932" y="3095752"/>
            <a:ext cx="972819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2000" spc="-9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2: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0107" y="3095752"/>
            <a:ext cx="5533390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 marR="5080" indent="-13335">
              <a:lnSpc>
                <a:spcPct val="100000"/>
              </a:lnSpc>
            </a:pP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Multiply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obtained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column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values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by the 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digits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in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corresponding</a:t>
            </a:r>
            <a:r>
              <a:rPr dirty="0" sz="2000" spc="-9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columns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95932" y="3918711"/>
            <a:ext cx="972819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2000" spc="-9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3: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20107" y="3918711"/>
            <a:ext cx="4627880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Calculate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sum of these</a:t>
            </a:r>
            <a:r>
              <a:rPr dirty="0" sz="200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products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4765" marR="5080">
              <a:lnSpc>
                <a:spcPct val="100000"/>
              </a:lnSpc>
            </a:pPr>
            <a:r>
              <a:rPr dirty="0" sz="2400" spc="-5"/>
              <a:t>Converting </a:t>
            </a:r>
            <a:r>
              <a:rPr dirty="0" sz="2400"/>
              <a:t>a </a:t>
            </a:r>
            <a:r>
              <a:rPr dirty="0" sz="2400"/>
              <a:t>Number </a:t>
            </a:r>
            <a:r>
              <a:rPr dirty="0" sz="2400"/>
              <a:t>of </a:t>
            </a:r>
            <a:r>
              <a:rPr dirty="0" sz="2400"/>
              <a:t>Another </a:t>
            </a:r>
            <a:r>
              <a:rPr dirty="0" sz="2400" spc="-5"/>
              <a:t>Base </a:t>
            </a:r>
            <a:r>
              <a:rPr dirty="0" sz="2400" spc="5"/>
              <a:t>to </a:t>
            </a:r>
            <a:r>
              <a:rPr dirty="0" sz="2400"/>
              <a:t>a  </a:t>
            </a:r>
            <a:r>
              <a:rPr dirty="0" sz="2400" spc="-5"/>
              <a:t>Decimal</a:t>
            </a:r>
            <a:r>
              <a:rPr dirty="0" sz="2400" spc="-65"/>
              <a:t> </a:t>
            </a:r>
            <a:r>
              <a:rPr dirty="0" sz="2400" spc="-5"/>
              <a:t>Number</a:t>
            </a:r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7406131" y="6339840"/>
            <a:ext cx="17056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4D4D4D"/>
                </a:solidFill>
                <a:latin typeface="Arial"/>
                <a:cs typeface="Arial"/>
              </a:rPr>
              <a:t>(Continued on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next</a:t>
            </a:r>
            <a:r>
              <a:rPr dirty="0" sz="1200" spc="-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slide)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880107" y="3552952"/>
            <a:ext cx="5348605" cy="7677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4706</a:t>
            </a:r>
            <a:r>
              <a:rPr dirty="0" baseline="-21367" sz="1950" spc="-7">
                <a:solidFill>
                  <a:srgbClr val="333333"/>
                </a:solidFill>
                <a:latin typeface="Verdana"/>
                <a:cs typeface="Verdana"/>
              </a:rPr>
              <a:t>8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4 x 8</a:t>
            </a:r>
            <a:r>
              <a:rPr dirty="0" baseline="25641" sz="1950" spc="-7">
                <a:solidFill>
                  <a:srgbClr val="333333"/>
                </a:solidFill>
                <a:latin typeface="Verdana"/>
                <a:cs typeface="Verdana"/>
              </a:rPr>
              <a:t>3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7 x 8</a:t>
            </a:r>
            <a:r>
              <a:rPr dirty="0" baseline="25641" sz="1950" spc="-7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0 x 8</a:t>
            </a:r>
            <a:r>
              <a:rPr dirty="0" baseline="25641" sz="1950" spc="-7">
                <a:solidFill>
                  <a:srgbClr val="333333"/>
                </a:solidFill>
                <a:latin typeface="Verdana"/>
                <a:cs typeface="Verdana"/>
              </a:rPr>
              <a:t>1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6 x </a:t>
            </a:r>
            <a:r>
              <a:rPr dirty="0" sz="2000" spc="3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baseline="25641" sz="1950" spc="-7">
                <a:solidFill>
                  <a:srgbClr val="333333"/>
                </a:solidFill>
                <a:latin typeface="Verdana"/>
                <a:cs typeface="Verdana"/>
              </a:rPr>
              <a:t>0</a:t>
            </a:r>
            <a:endParaRPr baseline="25641" sz="1950">
              <a:latin typeface="Verdana"/>
              <a:cs typeface="Verdana"/>
            </a:endParaRPr>
          </a:p>
          <a:p>
            <a:pPr marL="911860">
              <a:lnSpc>
                <a:spcPct val="100000"/>
              </a:lnSpc>
              <a:spcBef>
                <a:spcPts val="1200"/>
              </a:spcBef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4 x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512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7 x 64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0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6 x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67076" y="4467352"/>
            <a:ext cx="2950210" cy="8166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765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2048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448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0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</a:t>
            </a:r>
            <a:r>
              <a:rPr dirty="0" sz="2000" spc="-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6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000" spc="-8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2502</a:t>
            </a:r>
            <a:r>
              <a:rPr dirty="0" baseline="-21367" sz="1950" spc="-7">
                <a:solidFill>
                  <a:srgbClr val="333333"/>
                </a:solidFill>
                <a:latin typeface="Verdana"/>
                <a:cs typeface="Verdana"/>
              </a:rPr>
              <a:t>10</a:t>
            </a:r>
            <a:endParaRPr baseline="-21367" sz="195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72255" y="3291840"/>
            <a:ext cx="76200" cy="250190"/>
          </a:xfrm>
          <a:custGeom>
            <a:avLst/>
            <a:gdLst/>
            <a:ahLst/>
            <a:cxnLst/>
            <a:rect l="l" t="t" r="r" b="b"/>
            <a:pathLst>
              <a:path w="76200" h="250189">
                <a:moveTo>
                  <a:pt x="33528" y="173736"/>
                </a:moveTo>
                <a:lnTo>
                  <a:pt x="0" y="173736"/>
                </a:lnTo>
                <a:lnTo>
                  <a:pt x="36576" y="249936"/>
                </a:lnTo>
                <a:lnTo>
                  <a:pt x="66690" y="192024"/>
                </a:lnTo>
                <a:lnTo>
                  <a:pt x="36576" y="192024"/>
                </a:lnTo>
                <a:lnTo>
                  <a:pt x="33528" y="188975"/>
                </a:lnTo>
                <a:lnTo>
                  <a:pt x="33528" y="173736"/>
                </a:lnTo>
                <a:close/>
              </a:path>
              <a:path w="76200" h="250189">
                <a:moveTo>
                  <a:pt x="36576" y="0"/>
                </a:moveTo>
                <a:lnTo>
                  <a:pt x="33528" y="3048"/>
                </a:lnTo>
                <a:lnTo>
                  <a:pt x="33528" y="188975"/>
                </a:lnTo>
                <a:lnTo>
                  <a:pt x="36576" y="192024"/>
                </a:lnTo>
                <a:lnTo>
                  <a:pt x="42672" y="188975"/>
                </a:lnTo>
                <a:lnTo>
                  <a:pt x="42672" y="3048"/>
                </a:lnTo>
                <a:lnTo>
                  <a:pt x="36576" y="0"/>
                </a:lnTo>
                <a:close/>
              </a:path>
              <a:path w="76200" h="250189">
                <a:moveTo>
                  <a:pt x="76200" y="173736"/>
                </a:moveTo>
                <a:lnTo>
                  <a:pt x="42672" y="173736"/>
                </a:lnTo>
                <a:lnTo>
                  <a:pt x="42672" y="188975"/>
                </a:lnTo>
                <a:lnTo>
                  <a:pt x="36576" y="192024"/>
                </a:lnTo>
                <a:lnTo>
                  <a:pt x="66690" y="192024"/>
                </a:lnTo>
                <a:lnTo>
                  <a:pt x="76200" y="1737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84776" y="3270503"/>
            <a:ext cx="76200" cy="253365"/>
          </a:xfrm>
          <a:custGeom>
            <a:avLst/>
            <a:gdLst/>
            <a:ahLst/>
            <a:cxnLst/>
            <a:rect l="l" t="t" r="r" b="b"/>
            <a:pathLst>
              <a:path w="76200" h="253364">
                <a:moveTo>
                  <a:pt x="33527" y="176784"/>
                </a:moveTo>
                <a:lnTo>
                  <a:pt x="0" y="176784"/>
                </a:lnTo>
                <a:lnTo>
                  <a:pt x="39624" y="252984"/>
                </a:lnTo>
                <a:lnTo>
                  <a:pt x="67421" y="195072"/>
                </a:lnTo>
                <a:lnTo>
                  <a:pt x="39624" y="195072"/>
                </a:lnTo>
                <a:lnTo>
                  <a:pt x="33527" y="188975"/>
                </a:lnTo>
                <a:lnTo>
                  <a:pt x="33527" y="176784"/>
                </a:lnTo>
                <a:close/>
              </a:path>
              <a:path w="76200" h="253364">
                <a:moveTo>
                  <a:pt x="39624" y="0"/>
                </a:moveTo>
                <a:lnTo>
                  <a:pt x="33527" y="6096"/>
                </a:lnTo>
                <a:lnTo>
                  <a:pt x="33527" y="188975"/>
                </a:lnTo>
                <a:lnTo>
                  <a:pt x="39624" y="195072"/>
                </a:lnTo>
                <a:lnTo>
                  <a:pt x="45720" y="188975"/>
                </a:lnTo>
                <a:lnTo>
                  <a:pt x="45720" y="6096"/>
                </a:lnTo>
                <a:lnTo>
                  <a:pt x="39624" y="0"/>
                </a:lnTo>
                <a:close/>
              </a:path>
              <a:path w="76200" h="253364">
                <a:moveTo>
                  <a:pt x="76200" y="176784"/>
                </a:moveTo>
                <a:lnTo>
                  <a:pt x="45720" y="176784"/>
                </a:lnTo>
                <a:lnTo>
                  <a:pt x="45720" y="188975"/>
                </a:lnTo>
                <a:lnTo>
                  <a:pt x="39624" y="195072"/>
                </a:lnTo>
                <a:lnTo>
                  <a:pt x="67421" y="195072"/>
                </a:lnTo>
                <a:lnTo>
                  <a:pt x="76200" y="1767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39967" y="3270503"/>
            <a:ext cx="76200" cy="253365"/>
          </a:xfrm>
          <a:custGeom>
            <a:avLst/>
            <a:gdLst/>
            <a:ahLst/>
            <a:cxnLst/>
            <a:rect l="l" t="t" r="r" b="b"/>
            <a:pathLst>
              <a:path w="76200" h="253364">
                <a:moveTo>
                  <a:pt x="33528" y="176784"/>
                </a:moveTo>
                <a:lnTo>
                  <a:pt x="0" y="176784"/>
                </a:lnTo>
                <a:lnTo>
                  <a:pt x="36576" y="252984"/>
                </a:lnTo>
                <a:lnTo>
                  <a:pt x="66690" y="195072"/>
                </a:lnTo>
                <a:lnTo>
                  <a:pt x="36576" y="195072"/>
                </a:lnTo>
                <a:lnTo>
                  <a:pt x="33528" y="188975"/>
                </a:lnTo>
                <a:lnTo>
                  <a:pt x="33528" y="176784"/>
                </a:lnTo>
                <a:close/>
              </a:path>
              <a:path w="76200" h="253364">
                <a:moveTo>
                  <a:pt x="36576" y="0"/>
                </a:moveTo>
                <a:lnTo>
                  <a:pt x="33528" y="6096"/>
                </a:lnTo>
                <a:lnTo>
                  <a:pt x="33528" y="188975"/>
                </a:lnTo>
                <a:lnTo>
                  <a:pt x="36576" y="195072"/>
                </a:lnTo>
                <a:lnTo>
                  <a:pt x="42672" y="188975"/>
                </a:lnTo>
                <a:lnTo>
                  <a:pt x="42672" y="6096"/>
                </a:lnTo>
                <a:lnTo>
                  <a:pt x="36576" y="0"/>
                </a:lnTo>
                <a:close/>
              </a:path>
              <a:path w="76200" h="253364">
                <a:moveTo>
                  <a:pt x="76200" y="176784"/>
                </a:moveTo>
                <a:lnTo>
                  <a:pt x="42672" y="176784"/>
                </a:lnTo>
                <a:lnTo>
                  <a:pt x="42672" y="188975"/>
                </a:lnTo>
                <a:lnTo>
                  <a:pt x="36576" y="195072"/>
                </a:lnTo>
                <a:lnTo>
                  <a:pt x="66690" y="195072"/>
                </a:lnTo>
                <a:lnTo>
                  <a:pt x="76200" y="1767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970776" y="3270503"/>
            <a:ext cx="76200" cy="253365"/>
          </a:xfrm>
          <a:custGeom>
            <a:avLst/>
            <a:gdLst/>
            <a:ahLst/>
            <a:cxnLst/>
            <a:rect l="l" t="t" r="r" b="b"/>
            <a:pathLst>
              <a:path w="76200" h="253364">
                <a:moveTo>
                  <a:pt x="33527" y="176784"/>
                </a:moveTo>
                <a:lnTo>
                  <a:pt x="0" y="176784"/>
                </a:lnTo>
                <a:lnTo>
                  <a:pt x="39624" y="252984"/>
                </a:lnTo>
                <a:lnTo>
                  <a:pt x="67421" y="195072"/>
                </a:lnTo>
                <a:lnTo>
                  <a:pt x="39624" y="195072"/>
                </a:lnTo>
                <a:lnTo>
                  <a:pt x="33527" y="188975"/>
                </a:lnTo>
                <a:lnTo>
                  <a:pt x="33527" y="176784"/>
                </a:lnTo>
                <a:close/>
              </a:path>
              <a:path w="76200" h="253364">
                <a:moveTo>
                  <a:pt x="39624" y="0"/>
                </a:moveTo>
                <a:lnTo>
                  <a:pt x="33527" y="6096"/>
                </a:lnTo>
                <a:lnTo>
                  <a:pt x="33527" y="188975"/>
                </a:lnTo>
                <a:lnTo>
                  <a:pt x="39624" y="195072"/>
                </a:lnTo>
                <a:lnTo>
                  <a:pt x="45720" y="188975"/>
                </a:lnTo>
                <a:lnTo>
                  <a:pt x="45720" y="6096"/>
                </a:lnTo>
                <a:lnTo>
                  <a:pt x="39624" y="0"/>
                </a:lnTo>
                <a:close/>
              </a:path>
              <a:path w="76200" h="253364">
                <a:moveTo>
                  <a:pt x="76200" y="176784"/>
                </a:moveTo>
                <a:lnTo>
                  <a:pt x="45720" y="176784"/>
                </a:lnTo>
                <a:lnTo>
                  <a:pt x="45720" y="188975"/>
                </a:lnTo>
                <a:lnTo>
                  <a:pt x="39624" y="195072"/>
                </a:lnTo>
                <a:lnTo>
                  <a:pt x="67421" y="195072"/>
                </a:lnTo>
                <a:lnTo>
                  <a:pt x="76200" y="1767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422908" y="1755647"/>
            <a:ext cx="5914390" cy="1512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 b="1">
                <a:solidFill>
                  <a:srgbClr val="333333"/>
                </a:solidFill>
                <a:latin typeface="Verdana"/>
                <a:cs typeface="Verdana"/>
              </a:rPr>
              <a:t>Example</a:t>
            </a:r>
            <a:endParaRPr sz="2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440"/>
              </a:spcBef>
            </a:pPr>
            <a:r>
              <a:rPr dirty="0" sz="2400" spc="-5">
                <a:solidFill>
                  <a:srgbClr val="333333"/>
                </a:solidFill>
                <a:latin typeface="Verdana"/>
                <a:cs typeface="Verdana"/>
              </a:rPr>
              <a:t>4706</a:t>
            </a:r>
            <a:r>
              <a:rPr dirty="0" baseline="-20833" sz="2400" spc="-7">
                <a:solidFill>
                  <a:srgbClr val="333333"/>
                </a:solidFill>
                <a:latin typeface="Verdana"/>
                <a:cs typeface="Verdana"/>
              </a:rPr>
              <a:t>8 </a:t>
            </a:r>
            <a:r>
              <a:rPr dirty="0" sz="2400" spc="-5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400" spc="-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400" spc="-15">
                <a:solidFill>
                  <a:srgbClr val="333333"/>
                </a:solidFill>
                <a:latin typeface="Verdana"/>
                <a:cs typeface="Verdana"/>
              </a:rPr>
              <a:t>?</a:t>
            </a:r>
            <a:r>
              <a:rPr dirty="0" baseline="-20833" sz="2400" spc="-22">
                <a:solidFill>
                  <a:srgbClr val="333333"/>
                </a:solidFill>
                <a:latin typeface="Verdana"/>
                <a:cs typeface="Verdana"/>
              </a:rPr>
              <a:t>10</a:t>
            </a:r>
            <a:endParaRPr baseline="-20833" sz="2400">
              <a:latin typeface="Verdana"/>
              <a:cs typeface="Verdana"/>
            </a:endParaRPr>
          </a:p>
          <a:p>
            <a:pPr marL="2185670">
              <a:lnSpc>
                <a:spcPct val="100000"/>
              </a:lnSpc>
              <a:spcBef>
                <a:spcPts val="2495"/>
              </a:spcBef>
              <a:tabLst>
                <a:tab pos="5901055" algn="l"/>
              </a:tabLst>
            </a:pPr>
            <a:r>
              <a:rPr dirty="0" sz="1800" u="sng">
                <a:solidFill>
                  <a:srgbClr val="333333"/>
                </a:solidFill>
                <a:latin typeface="Verdana"/>
                <a:cs typeface="Verdana"/>
              </a:rPr>
              <a:t> 	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45756" y="2711622"/>
            <a:ext cx="1652270" cy="16567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493395">
              <a:lnSpc>
                <a:spcPct val="1004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Common 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values 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m</a:t>
            </a:r>
            <a:r>
              <a:rPr dirty="0" sz="1800" spc="-15">
                <a:solidFill>
                  <a:srgbClr val="333333"/>
                </a:solidFill>
                <a:latin typeface="Verdana"/>
                <a:cs typeface="Verdana"/>
              </a:rPr>
              <a:t>u</a:t>
            </a:r>
            <a:r>
              <a:rPr dirty="0" sz="1800" spc="0">
                <a:solidFill>
                  <a:srgbClr val="333333"/>
                </a:solidFill>
                <a:latin typeface="Verdana"/>
                <a:cs typeface="Verdana"/>
              </a:rPr>
              <a:t>ltiplied  </a:t>
            </a: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by</a:t>
            </a:r>
            <a:r>
              <a:rPr dirty="0" sz="1800" spc="-114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c</a:t>
            </a:r>
            <a:r>
              <a:rPr dirty="0" sz="1800" spc="10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rr</a:t>
            </a: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1800" spc="-20">
                <a:solidFill>
                  <a:srgbClr val="333333"/>
                </a:solidFill>
                <a:latin typeface="Verdana"/>
                <a:cs typeface="Verdana"/>
              </a:rPr>
              <a:t>p</a:t>
            </a:r>
            <a:r>
              <a:rPr dirty="0" sz="1800" spc="10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1800" spc="-15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di</a:t>
            </a:r>
            <a:r>
              <a:rPr dirty="0" sz="1800" spc="-15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g  digits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17411" y="4492752"/>
            <a:ext cx="1461770" cy="559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800" b="1">
                <a:solidFill>
                  <a:srgbClr val="333333"/>
                </a:solidFill>
                <a:latin typeface="Arial"/>
                <a:cs typeface="Arial"/>
              </a:rPr>
              <a:t>Sum of</a:t>
            </a:r>
            <a:r>
              <a:rPr dirty="0" sz="1800" spc="-8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333333"/>
                </a:solidFill>
                <a:latin typeface="Arial"/>
                <a:cs typeface="Arial"/>
              </a:rPr>
              <a:t>these  </a:t>
            </a:r>
            <a:r>
              <a:rPr dirty="0" sz="1800" b="1">
                <a:solidFill>
                  <a:srgbClr val="333333"/>
                </a:solidFill>
                <a:latin typeface="Arial"/>
                <a:cs typeface="Arial"/>
              </a:rPr>
              <a:t>products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51576" y="4599432"/>
            <a:ext cx="426720" cy="76200"/>
          </a:xfrm>
          <a:custGeom>
            <a:avLst/>
            <a:gdLst/>
            <a:ahLst/>
            <a:cxnLst/>
            <a:rect l="l" t="t" r="r" b="b"/>
            <a:pathLst>
              <a:path w="426720" h="76200">
                <a:moveTo>
                  <a:pt x="76200" y="0"/>
                </a:moveTo>
                <a:lnTo>
                  <a:pt x="0" y="39624"/>
                </a:lnTo>
                <a:lnTo>
                  <a:pt x="76200" y="76200"/>
                </a:lnTo>
                <a:lnTo>
                  <a:pt x="76200" y="42672"/>
                </a:lnTo>
                <a:lnTo>
                  <a:pt x="64008" y="42672"/>
                </a:lnTo>
                <a:lnTo>
                  <a:pt x="60960" y="39624"/>
                </a:lnTo>
                <a:lnTo>
                  <a:pt x="64008" y="33528"/>
                </a:lnTo>
                <a:lnTo>
                  <a:pt x="76200" y="33528"/>
                </a:lnTo>
                <a:lnTo>
                  <a:pt x="76200" y="0"/>
                </a:lnTo>
                <a:close/>
              </a:path>
              <a:path w="426720" h="76200">
                <a:moveTo>
                  <a:pt x="76200" y="33528"/>
                </a:moveTo>
                <a:lnTo>
                  <a:pt x="64008" y="33528"/>
                </a:lnTo>
                <a:lnTo>
                  <a:pt x="60960" y="39624"/>
                </a:lnTo>
                <a:lnTo>
                  <a:pt x="64008" y="42672"/>
                </a:lnTo>
                <a:lnTo>
                  <a:pt x="76200" y="42672"/>
                </a:lnTo>
                <a:lnTo>
                  <a:pt x="76200" y="33528"/>
                </a:lnTo>
                <a:close/>
              </a:path>
              <a:path w="426720" h="76200">
                <a:moveTo>
                  <a:pt x="420624" y="33528"/>
                </a:moveTo>
                <a:lnTo>
                  <a:pt x="76200" y="33528"/>
                </a:lnTo>
                <a:lnTo>
                  <a:pt x="76200" y="42672"/>
                </a:lnTo>
                <a:lnTo>
                  <a:pt x="420624" y="42672"/>
                </a:lnTo>
                <a:lnTo>
                  <a:pt x="426720" y="39624"/>
                </a:lnTo>
                <a:lnTo>
                  <a:pt x="42062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06044" y="1473200"/>
            <a:ext cx="215646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23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18</a:t>
            </a:fld>
            <a:r>
              <a:rPr dirty="0" spc="-10"/>
              <a:t>/40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4765" marR="5080">
              <a:lnSpc>
                <a:spcPct val="100000"/>
              </a:lnSpc>
            </a:pPr>
            <a:r>
              <a:rPr dirty="0" sz="2400" spc="-5"/>
              <a:t>Converting </a:t>
            </a:r>
            <a:r>
              <a:rPr dirty="0" sz="2400"/>
              <a:t>a </a:t>
            </a:r>
            <a:r>
              <a:rPr dirty="0" sz="2400"/>
              <a:t>Number </a:t>
            </a:r>
            <a:r>
              <a:rPr dirty="0" sz="2400"/>
              <a:t>of </a:t>
            </a:r>
            <a:r>
              <a:rPr dirty="0" sz="2400"/>
              <a:t>Another </a:t>
            </a:r>
            <a:r>
              <a:rPr dirty="0" sz="2400" spc="-5"/>
              <a:t>Base </a:t>
            </a:r>
            <a:r>
              <a:rPr dirty="0" sz="2400" spc="5"/>
              <a:t>to </a:t>
            </a:r>
            <a:r>
              <a:rPr dirty="0" sz="2400"/>
              <a:t>a  </a:t>
            </a:r>
            <a:r>
              <a:rPr dirty="0" sz="2400" spc="-5"/>
              <a:t>Decimal</a:t>
            </a:r>
            <a:r>
              <a:rPr dirty="0" sz="2400" spc="-65"/>
              <a:t> </a:t>
            </a:r>
            <a:r>
              <a:rPr dirty="0" sz="2400" spc="-5"/>
              <a:t>Number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93596" y="1758696"/>
            <a:ext cx="4779010" cy="370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333333"/>
                </a:solidFill>
                <a:latin typeface="Verdana"/>
                <a:cs typeface="Verdana"/>
              </a:rPr>
              <a:t>Division-Remainder</a:t>
            </a:r>
            <a:r>
              <a:rPr dirty="0" sz="2400" spc="-7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400" b="1">
                <a:solidFill>
                  <a:srgbClr val="333333"/>
                </a:solidFill>
                <a:latin typeface="Verdana"/>
                <a:cs typeface="Verdana"/>
              </a:rPr>
              <a:t>Method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25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20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93596" y="2336800"/>
            <a:ext cx="1007110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2000" spc="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94507" y="2336800"/>
            <a:ext cx="6229350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24130">
              <a:lnSpc>
                <a:spcPct val="100000"/>
              </a:lnSpc>
            </a:pP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Divide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decimal number to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be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converted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by </a:t>
            </a:r>
            <a:r>
              <a:rPr dirty="0" sz="2000" spc="7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value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new</a:t>
            </a:r>
            <a:r>
              <a:rPr dirty="0" sz="2000" spc="-1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84071" y="3140981"/>
          <a:ext cx="7449184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0416"/>
                <a:gridCol w="490848"/>
                <a:gridCol w="3114428"/>
                <a:gridCol w="2615488"/>
                <a:gridCol w="517893"/>
              </a:tblGrid>
              <a:tr h="342391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00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Step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0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2: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45"/>
                        </a:spcBef>
                        <a:tabLst>
                          <a:tab pos="1195705" algn="l"/>
                          <a:tab pos="1819910" algn="l"/>
                        </a:tabLst>
                      </a:pPr>
                      <a:r>
                        <a:rPr dirty="0" sz="200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2000" spc="-1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200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cor</a:t>
                      </a:r>
                      <a:r>
                        <a:rPr dirty="0" sz="20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dirty="0" sz="20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200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th</a:t>
                      </a:r>
                      <a:r>
                        <a:rPr dirty="0" sz="20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20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2000" spc="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2000" spc="-1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200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20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2000" spc="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2000" spc="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nd</a:t>
                      </a:r>
                      <a:r>
                        <a:rPr dirty="0" sz="2000" spc="-1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er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45"/>
                        </a:spcBef>
                        <a:tabLst>
                          <a:tab pos="1033780" algn="l"/>
                          <a:tab pos="1832610" algn="l"/>
                          <a:tab pos="2204085" algn="l"/>
                        </a:tabLst>
                      </a:pPr>
                      <a:r>
                        <a:rPr dirty="0" sz="2000" spc="-1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from	</a:t>
                      </a:r>
                      <a:r>
                        <a:rPr dirty="0" sz="200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Step	</a:t>
                      </a:r>
                      <a:r>
                        <a:rPr dirty="0" sz="2000" spc="-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	as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69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0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the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</a:tr>
              <a:tr h="305308">
                <a:tc>
                  <a:txBody>
                    <a:bodyPr/>
                    <a:lstStyle/>
                    <a:p>
                      <a:pPr/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2250"/>
                        </a:lnSpc>
                        <a:tabLst>
                          <a:tab pos="1504950" algn="l"/>
                          <a:tab pos="2230755" algn="l"/>
                        </a:tabLst>
                      </a:pPr>
                      <a:r>
                        <a:rPr dirty="0" sz="2000" spc="-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rightmost	</a:t>
                      </a:r>
                      <a:r>
                        <a:rPr dirty="0" sz="200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digit	</a:t>
                      </a:r>
                      <a:r>
                        <a:rPr dirty="0" sz="200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(least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250"/>
                        </a:lnSpc>
                        <a:tabLst>
                          <a:tab pos="1459230" algn="l"/>
                          <a:tab pos="2294255" algn="l"/>
                        </a:tabLst>
                      </a:pPr>
                      <a:r>
                        <a:rPr dirty="0" sz="2000" spc="-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significant	</a:t>
                      </a:r>
                      <a:r>
                        <a:rPr dirty="0" sz="20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digit)	</a:t>
                      </a:r>
                      <a:r>
                        <a:rPr dirty="0" sz="2000" spc="-1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of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6515">
                        <a:lnSpc>
                          <a:spcPts val="2250"/>
                        </a:lnSpc>
                      </a:pPr>
                      <a:r>
                        <a:rPr dirty="0" sz="20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the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2882900" y="3769359"/>
            <a:ext cx="2298065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new base</a:t>
            </a:r>
            <a:r>
              <a:rPr dirty="0" sz="2000" spc="-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93596" y="4287520"/>
            <a:ext cx="972819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2000" spc="-9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3: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06163" y="4287520"/>
            <a:ext cx="6219190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8900" marR="5080" indent="-76835">
              <a:lnSpc>
                <a:spcPct val="100000"/>
              </a:lnSpc>
            </a:pP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Divide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quotient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previous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divide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by</a:t>
            </a:r>
            <a:r>
              <a:rPr dirty="0" sz="2000" spc="-9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the 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new</a:t>
            </a:r>
            <a:r>
              <a:rPr dirty="0" sz="2000" spc="-10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4765" marR="5080">
              <a:lnSpc>
                <a:spcPts val="2860"/>
              </a:lnSpc>
            </a:pPr>
            <a:r>
              <a:rPr dirty="0" sz="2400" spc="-5"/>
              <a:t>Converting </a:t>
            </a:r>
            <a:r>
              <a:rPr dirty="0" sz="2400"/>
              <a:t>a </a:t>
            </a:r>
            <a:r>
              <a:rPr dirty="0" sz="2400"/>
              <a:t>Decimal </a:t>
            </a:r>
            <a:r>
              <a:rPr dirty="0" sz="2400" spc="-5"/>
              <a:t>Number </a:t>
            </a:r>
            <a:r>
              <a:rPr dirty="0" sz="2400"/>
              <a:t>to </a:t>
            </a:r>
            <a:r>
              <a:rPr dirty="0" sz="2400" spc="-5"/>
              <a:t>a </a:t>
            </a:r>
            <a:r>
              <a:rPr dirty="0" sz="2400" spc="-5"/>
              <a:t>Number </a:t>
            </a:r>
            <a:r>
              <a:rPr dirty="0" sz="2400"/>
              <a:t>of  </a:t>
            </a:r>
            <a:r>
              <a:rPr dirty="0" sz="2400"/>
              <a:t>Another</a:t>
            </a:r>
            <a:r>
              <a:rPr dirty="0" sz="2400" spc="-75"/>
              <a:t> </a:t>
            </a:r>
            <a:r>
              <a:rPr dirty="0" sz="2400" spc="-10"/>
              <a:t>Base</a:t>
            </a:r>
            <a:endParaRPr sz="2400"/>
          </a:p>
        </p:txBody>
      </p:sp>
      <p:sp>
        <p:nvSpPr>
          <p:cNvPr id="12" name="object 12"/>
          <p:cNvSpPr txBox="1"/>
          <p:nvPr/>
        </p:nvSpPr>
        <p:spPr>
          <a:xfrm>
            <a:off x="7406131" y="6339840"/>
            <a:ext cx="17056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4D4D4D"/>
                </a:solidFill>
                <a:latin typeface="Arial"/>
                <a:cs typeface="Arial"/>
              </a:rPr>
              <a:t>(Continued on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next</a:t>
            </a:r>
            <a:r>
              <a:rPr dirty="0" sz="1200" spc="-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slide)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19732" y="1989328"/>
            <a:ext cx="983615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200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4: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25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20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72583" y="1989328"/>
            <a:ext cx="6001385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0325" marR="5080" indent="-48260">
              <a:lnSpc>
                <a:spcPct val="100000"/>
              </a:lnSpc>
            </a:pP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Record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remainder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from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Step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3 as the next 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digit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(to the left)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new base</a:t>
            </a:r>
            <a:r>
              <a:rPr dirty="0" sz="2000" spc="-6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2908" y="3114040"/>
            <a:ext cx="7689215" cy="15297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Repeat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Steps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3 and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4,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recording remainders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from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right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to  left, until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quotient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becomes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zero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in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 marR="1143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Note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that the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last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remainder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thus obtained will be the most  significant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digit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(MSD)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new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r>
              <a:rPr dirty="0" sz="2000" spc="-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6044" y="718312"/>
            <a:ext cx="8210550" cy="90741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93700" marR="5080">
              <a:lnSpc>
                <a:spcPts val="2860"/>
              </a:lnSpc>
            </a:pPr>
            <a:r>
              <a:rPr dirty="0" sz="2400" spc="-5"/>
              <a:t>Converting </a:t>
            </a:r>
            <a:r>
              <a:rPr dirty="0" sz="2400"/>
              <a:t>a </a:t>
            </a:r>
            <a:r>
              <a:rPr dirty="0" sz="2400"/>
              <a:t>Decimal </a:t>
            </a:r>
            <a:r>
              <a:rPr dirty="0" sz="2400" spc="-5"/>
              <a:t>Number </a:t>
            </a:r>
            <a:r>
              <a:rPr dirty="0" sz="2400"/>
              <a:t>to </a:t>
            </a:r>
            <a:r>
              <a:rPr dirty="0" sz="2400" spc="-5"/>
              <a:t>a </a:t>
            </a:r>
            <a:r>
              <a:rPr dirty="0" sz="2400" spc="-5"/>
              <a:t>Number </a:t>
            </a:r>
            <a:r>
              <a:rPr dirty="0" sz="2400"/>
              <a:t>of  </a:t>
            </a:r>
            <a:r>
              <a:rPr dirty="0" sz="2400"/>
              <a:t>Another</a:t>
            </a:r>
            <a:r>
              <a:rPr dirty="0" sz="2400" spc="-75"/>
              <a:t> </a:t>
            </a:r>
            <a:r>
              <a:rPr dirty="0" sz="2400" spc="-10"/>
              <a:t>Base</a:t>
            </a:r>
            <a:endParaRPr sz="2400"/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000" b="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b="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b="0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06131" y="6339840"/>
            <a:ext cx="17056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4D4D4D"/>
                </a:solidFill>
                <a:latin typeface="Arial"/>
                <a:cs typeface="Arial"/>
              </a:rPr>
              <a:t>(Continued on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next</a:t>
            </a:r>
            <a:r>
              <a:rPr dirty="0" sz="1200" spc="-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slide)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980944" y="4693920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759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80944" y="5105400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759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660014" y="3435096"/>
          <a:ext cx="3093085" cy="2122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929"/>
                <a:gridCol w="783375"/>
                <a:gridCol w="1988376"/>
              </a:tblGrid>
              <a:tr h="374903">
                <a:tc>
                  <a:txBody>
                    <a:bodyPr/>
                    <a:lstStyle/>
                    <a:p>
                      <a:pPr marL="22225">
                        <a:lnSpc>
                          <a:spcPts val="2855"/>
                        </a:lnSpc>
                      </a:pPr>
                      <a:r>
                        <a:rPr dirty="0" sz="24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R w="9144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60"/>
                        </a:lnSpc>
                      </a:pPr>
                      <a:r>
                        <a:rPr dirty="0" sz="2400" spc="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952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144">
                      <a:solidFill>
                        <a:srgbClr val="000000"/>
                      </a:solidFill>
                      <a:prstDash val="solid"/>
                    </a:lnL>
                    <a:lnB w="914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3690">
                        <a:lnSpc>
                          <a:spcPts val="2830"/>
                        </a:lnSpc>
                      </a:pPr>
                      <a:r>
                        <a:rPr dirty="0" sz="2400" spc="-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Remainder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</a:tr>
              <a:tr h="466344">
                <a:tc>
                  <a:txBody>
                    <a:bodyPr/>
                    <a:lstStyle/>
                    <a:p>
                      <a:pPr/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R w="9144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2400" spc="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119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144">
                      <a:solidFill>
                        <a:srgbClr val="000000"/>
                      </a:solidFill>
                      <a:prstDash val="solid"/>
                    </a:lnL>
                    <a:lnT w="9144">
                      <a:solidFill>
                        <a:srgbClr val="000000"/>
                      </a:solidFill>
                      <a:prstDash val="solid"/>
                    </a:lnT>
                    <a:lnB w="914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3690">
                        <a:lnSpc>
                          <a:spcPts val="2760"/>
                        </a:lnSpc>
                        <a:tabLst>
                          <a:tab pos="911225" algn="l"/>
                        </a:tabLst>
                      </a:pPr>
                      <a:r>
                        <a:rPr dirty="0" sz="24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	</a:t>
                      </a:r>
                      <a:r>
                        <a:rPr dirty="0" baseline="-20833" sz="36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baseline="-20833" sz="36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</a:tr>
              <a:tr h="496141">
                <a:tc>
                  <a:txBody>
                    <a:bodyPr/>
                    <a:lstStyle/>
                    <a:p>
                      <a:pPr/>
                      <a:endParaRPr baseline="-20833" sz="36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R w="9144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2400" spc="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144">
                      <a:solidFill>
                        <a:srgbClr val="000000"/>
                      </a:solidFill>
                      <a:prstDash val="solid"/>
                    </a:lnL>
                    <a:lnT w="914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24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7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</a:tr>
              <a:tr h="416052">
                <a:tc>
                  <a:txBody>
                    <a:bodyPr/>
                    <a:lstStyle/>
                    <a:p>
                      <a:pPr/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R w="9144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ts val="2860"/>
                        </a:lnSpc>
                      </a:pPr>
                      <a:r>
                        <a:rPr dirty="0" sz="24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144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6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</a:tr>
              <a:tr h="368808">
                <a:tc>
                  <a:txBody>
                    <a:bodyPr/>
                    <a:lstStyle/>
                    <a:p>
                      <a:pPr/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R w="9144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67359">
                        <a:lnSpc>
                          <a:spcPts val="2850"/>
                        </a:lnSpc>
                      </a:pPr>
                      <a:r>
                        <a:rPr dirty="0" sz="24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144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4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26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22</a:t>
            </a:fld>
            <a:r>
              <a:rPr dirty="0" spc="-10"/>
              <a:t>/40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96060" y="5934455"/>
            <a:ext cx="3395345" cy="429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>
                <a:solidFill>
                  <a:srgbClr val="333333"/>
                </a:solidFill>
                <a:latin typeface="Verdana"/>
                <a:cs typeface="Verdana"/>
              </a:rPr>
              <a:t>Hence, </a:t>
            </a:r>
            <a:r>
              <a:rPr dirty="0" sz="2400" spc="-5">
                <a:solidFill>
                  <a:srgbClr val="333333"/>
                </a:solidFill>
                <a:latin typeface="Verdana"/>
                <a:cs typeface="Verdana"/>
              </a:rPr>
              <a:t>952</a:t>
            </a:r>
            <a:r>
              <a:rPr dirty="0" baseline="-20833" sz="2400" spc="-7">
                <a:solidFill>
                  <a:srgbClr val="333333"/>
                </a:solidFill>
                <a:latin typeface="Verdana"/>
                <a:cs typeface="Verdana"/>
              </a:rPr>
              <a:t>10 </a:t>
            </a:r>
            <a:r>
              <a:rPr dirty="0" sz="2400" spc="-5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400" spc="229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400" spc="-5">
                <a:solidFill>
                  <a:srgbClr val="333333"/>
                </a:solidFill>
                <a:latin typeface="Verdana"/>
                <a:cs typeface="Verdana"/>
              </a:rPr>
              <a:t>1670</a:t>
            </a:r>
            <a:r>
              <a:rPr dirty="0" baseline="-20833" sz="2400" spc="-7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endParaRPr baseline="-20833"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6044" y="1473200"/>
            <a:ext cx="3066415" cy="18535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  <a:p>
            <a:pPr marL="841375">
              <a:lnSpc>
                <a:spcPct val="100000"/>
              </a:lnSpc>
              <a:spcBef>
                <a:spcPts val="640"/>
              </a:spcBef>
            </a:pPr>
            <a:r>
              <a:rPr dirty="0" sz="2400" spc="-5" b="1">
                <a:solidFill>
                  <a:srgbClr val="333333"/>
                </a:solidFill>
                <a:latin typeface="Verdana"/>
                <a:cs typeface="Verdana"/>
              </a:rPr>
              <a:t>Example</a:t>
            </a:r>
            <a:endParaRPr sz="2400">
              <a:latin typeface="Verdana"/>
              <a:cs typeface="Verdana"/>
            </a:endParaRPr>
          </a:p>
          <a:p>
            <a:pPr marL="1487805">
              <a:lnSpc>
                <a:spcPct val="100000"/>
              </a:lnSpc>
              <a:spcBef>
                <a:spcPts val="1200"/>
              </a:spcBef>
            </a:pPr>
            <a:r>
              <a:rPr dirty="0" sz="2400" spc="5">
                <a:solidFill>
                  <a:srgbClr val="333333"/>
                </a:solidFill>
                <a:latin typeface="Verdana"/>
                <a:cs typeface="Verdana"/>
              </a:rPr>
              <a:t>952</a:t>
            </a:r>
            <a:r>
              <a:rPr dirty="0" baseline="-20833" sz="2400" spc="7">
                <a:solidFill>
                  <a:srgbClr val="333333"/>
                </a:solidFill>
                <a:latin typeface="Verdana"/>
                <a:cs typeface="Verdana"/>
              </a:rPr>
              <a:t>10 </a:t>
            </a:r>
            <a:r>
              <a:rPr dirty="0" sz="2400" spc="-5" i="1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400" spc="-100" i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400" spc="-10">
                <a:solidFill>
                  <a:srgbClr val="333333"/>
                </a:solidFill>
                <a:latin typeface="Verdana"/>
                <a:cs typeface="Verdana"/>
              </a:rPr>
              <a:t>?</a:t>
            </a:r>
            <a:r>
              <a:rPr dirty="0" baseline="-20833" sz="2400" spc="-15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endParaRPr baseline="-20833"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841375">
              <a:lnSpc>
                <a:spcPct val="100000"/>
              </a:lnSpc>
            </a:pPr>
            <a:r>
              <a:rPr dirty="0" sz="2400" b="1">
                <a:solidFill>
                  <a:srgbClr val="333333"/>
                </a:solidFill>
                <a:latin typeface="Verdana"/>
                <a:cs typeface="Verdana"/>
              </a:rPr>
              <a:t>Solution: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4765" marR="5080">
              <a:lnSpc>
                <a:spcPts val="2860"/>
              </a:lnSpc>
            </a:pPr>
            <a:r>
              <a:rPr dirty="0" sz="2400" spc="-5"/>
              <a:t>Converting </a:t>
            </a:r>
            <a:r>
              <a:rPr dirty="0" sz="2400"/>
              <a:t>a </a:t>
            </a:r>
            <a:r>
              <a:rPr dirty="0" sz="2400"/>
              <a:t>Decimal </a:t>
            </a:r>
            <a:r>
              <a:rPr dirty="0" sz="2400" spc="-5"/>
              <a:t>Number </a:t>
            </a:r>
            <a:r>
              <a:rPr dirty="0" sz="2400"/>
              <a:t>to </a:t>
            </a:r>
            <a:r>
              <a:rPr dirty="0" sz="2400" spc="-5"/>
              <a:t>a </a:t>
            </a:r>
            <a:r>
              <a:rPr dirty="0" sz="2400" spc="-5"/>
              <a:t>Number </a:t>
            </a:r>
            <a:r>
              <a:rPr dirty="0" sz="2400"/>
              <a:t>of  </a:t>
            </a:r>
            <a:r>
              <a:rPr dirty="0" sz="2400"/>
              <a:t>Another</a:t>
            </a:r>
            <a:r>
              <a:rPr dirty="0" sz="2400" spc="-75"/>
              <a:t> </a:t>
            </a:r>
            <a:r>
              <a:rPr dirty="0" sz="2400" spc="-10"/>
              <a:t>Base</a:t>
            </a:r>
            <a:endParaRPr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22908" y="1760728"/>
            <a:ext cx="1080770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333333"/>
                </a:solidFill>
                <a:latin typeface="Verdana"/>
                <a:cs typeface="Verdana"/>
              </a:rPr>
              <a:t>M</a:t>
            </a:r>
            <a:r>
              <a:rPr dirty="0" sz="2000" spc="-10" b="1">
                <a:solidFill>
                  <a:srgbClr val="333333"/>
                </a:solidFill>
                <a:latin typeface="Verdana"/>
                <a:cs typeface="Verdana"/>
              </a:rPr>
              <a:t>ethod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27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23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41651" y="2275840"/>
            <a:ext cx="607060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St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p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49502" y="2275840"/>
            <a:ext cx="1007110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u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mb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7508" y="2275840"/>
            <a:ext cx="1764664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445134" algn="l"/>
                <a:tab pos="77406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to	a	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decimal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03438" y="2275840"/>
            <a:ext cx="3190875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60375" marR="5080" indent="-448309">
              <a:lnSpc>
                <a:spcPct val="100000"/>
              </a:lnSpc>
              <a:tabLst>
                <a:tab pos="466090" algn="l"/>
                <a:tab pos="1645920" algn="l"/>
                <a:tab pos="223710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: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	</a:t>
            </a:r>
            <a:r>
              <a:rPr dirty="0" sz="2000" spc="15">
                <a:solidFill>
                  <a:srgbClr val="333333"/>
                </a:solidFill>
                <a:latin typeface="Verdana"/>
                <a:cs typeface="Verdana"/>
              </a:rPr>
              <a:t>C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v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er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t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h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original</a:t>
            </a:r>
            <a:r>
              <a:rPr dirty="0" sz="2000" spc="-8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number 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(base</a:t>
            </a:r>
            <a:r>
              <a:rPr dirty="0" sz="2000" spc="-9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10)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1651" y="3098800"/>
            <a:ext cx="1009015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2000" spc="204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2: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51708" y="3098800"/>
            <a:ext cx="5822315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23495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Convert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decimal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so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obtained to  the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new base</a:t>
            </a:r>
            <a:r>
              <a:rPr dirty="0" sz="2000" spc="-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87044" y="691895"/>
            <a:ext cx="8439785" cy="7315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tabLst>
                <a:tab pos="6299200" algn="l"/>
              </a:tabLst>
            </a:pPr>
            <a:r>
              <a:rPr dirty="0" sz="2400" spc="-5"/>
              <a:t>Converting </a:t>
            </a:r>
            <a:r>
              <a:rPr dirty="0" sz="2400"/>
              <a:t>a </a:t>
            </a:r>
            <a:r>
              <a:rPr dirty="0" sz="2400"/>
              <a:t>Number </a:t>
            </a:r>
            <a:r>
              <a:rPr dirty="0" sz="2400"/>
              <a:t>of</a:t>
            </a:r>
            <a:r>
              <a:rPr dirty="0" sz="2400" spc="50"/>
              <a:t> </a:t>
            </a:r>
            <a:r>
              <a:rPr dirty="0" sz="2400"/>
              <a:t>Some </a:t>
            </a:r>
            <a:r>
              <a:rPr dirty="0" sz="2400"/>
              <a:t>Base</a:t>
            </a:r>
            <a:r>
              <a:rPr dirty="0" sz="2400"/>
              <a:t>	</a:t>
            </a:r>
            <a:r>
              <a:rPr dirty="0" sz="2400"/>
              <a:t>to</a:t>
            </a:r>
            <a:r>
              <a:rPr dirty="0" sz="2400" spc="-35"/>
              <a:t> </a:t>
            </a:r>
            <a:r>
              <a:rPr dirty="0" sz="2400" spc="-5"/>
              <a:t>a</a:t>
            </a:r>
            <a:r>
              <a:rPr dirty="0" sz="2400" spc="-35"/>
              <a:t> </a:t>
            </a:r>
            <a:r>
              <a:rPr dirty="0" sz="2400" spc="-5"/>
              <a:t>Number </a:t>
            </a:r>
            <a:r>
              <a:rPr dirty="0" sz="2400"/>
              <a:t> </a:t>
            </a:r>
            <a:r>
              <a:rPr dirty="0" sz="2400"/>
              <a:t>of </a:t>
            </a:r>
            <a:r>
              <a:rPr dirty="0" sz="2400"/>
              <a:t>Another</a:t>
            </a:r>
            <a:r>
              <a:rPr dirty="0" sz="2400" spc="-75"/>
              <a:t> </a:t>
            </a:r>
            <a:r>
              <a:rPr dirty="0" sz="2400" spc="-10"/>
              <a:t>Base</a:t>
            </a:r>
            <a:endParaRPr sz="2400"/>
          </a:p>
        </p:txBody>
      </p:sp>
      <p:sp>
        <p:nvSpPr>
          <p:cNvPr id="12" name="object 12"/>
          <p:cNvSpPr txBox="1"/>
          <p:nvPr/>
        </p:nvSpPr>
        <p:spPr>
          <a:xfrm>
            <a:off x="7406131" y="6339840"/>
            <a:ext cx="17056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4D4D4D"/>
                </a:solidFill>
                <a:latin typeface="Arial"/>
                <a:cs typeface="Arial"/>
              </a:rPr>
              <a:t>(Continued on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next</a:t>
            </a:r>
            <a:r>
              <a:rPr dirty="0" sz="1200" spc="-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slide)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216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06044" y="1473200"/>
            <a:ext cx="7684770" cy="3847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Times New Roman"/>
              <a:cs typeface="Times New Roman"/>
            </a:endParaRPr>
          </a:p>
          <a:p>
            <a:pPr marL="826135">
              <a:lnSpc>
                <a:spcPct val="100000"/>
              </a:lnSpc>
              <a:spcBef>
                <a:spcPts val="5"/>
              </a:spcBef>
            </a:pPr>
            <a:r>
              <a:rPr dirty="0" sz="2000" spc="-10" b="1">
                <a:solidFill>
                  <a:srgbClr val="333333"/>
                </a:solidFill>
                <a:latin typeface="Verdana"/>
                <a:cs typeface="Verdana"/>
              </a:rPr>
              <a:t>Example</a:t>
            </a:r>
            <a:endParaRPr sz="2000">
              <a:latin typeface="Verdana"/>
              <a:cs typeface="Verdana"/>
            </a:endParaRPr>
          </a:p>
          <a:p>
            <a:pPr marL="1740535">
              <a:lnSpc>
                <a:spcPct val="100000"/>
              </a:lnSpc>
              <a:spcBef>
                <a:spcPts val="1200"/>
              </a:spcBef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545</a:t>
            </a:r>
            <a:r>
              <a:rPr dirty="0" baseline="-21367" sz="1950" spc="-7">
                <a:solidFill>
                  <a:srgbClr val="333333"/>
                </a:solidFill>
                <a:latin typeface="Verdana"/>
                <a:cs typeface="Verdana"/>
              </a:rPr>
              <a:t>6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000" spc="17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?</a:t>
            </a:r>
            <a:r>
              <a:rPr dirty="0" baseline="-21367" sz="1950" spc="-15">
                <a:solidFill>
                  <a:srgbClr val="333333"/>
                </a:solidFill>
                <a:latin typeface="Verdana"/>
                <a:cs typeface="Verdana"/>
              </a:rPr>
              <a:t>4</a:t>
            </a:r>
            <a:endParaRPr baseline="-21367" sz="1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Times New Roman"/>
              <a:cs typeface="Times New Roman"/>
            </a:endParaRPr>
          </a:p>
          <a:p>
            <a:pPr marL="826135">
              <a:lnSpc>
                <a:spcPct val="100000"/>
              </a:lnSpc>
            </a:pP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Solution:</a:t>
            </a:r>
            <a:endParaRPr sz="2000">
              <a:latin typeface="Verdana"/>
              <a:cs typeface="Verdana"/>
            </a:endParaRPr>
          </a:p>
          <a:p>
            <a:pPr marL="1740535">
              <a:lnSpc>
                <a:spcPct val="100000"/>
              </a:lnSpc>
              <a:spcBef>
                <a:spcPts val="1200"/>
              </a:spcBef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Step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1: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Convert from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base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6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to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10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2892425">
              <a:lnSpc>
                <a:spcPct val="100000"/>
              </a:lnSpc>
            </a:pP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545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6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5 x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6</a:t>
            </a:r>
            <a:r>
              <a:rPr dirty="0" baseline="25641" sz="1950" spc="7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4 x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6</a:t>
            </a:r>
            <a:r>
              <a:rPr dirty="0" baseline="25641" sz="1950" spc="7">
                <a:solidFill>
                  <a:srgbClr val="333333"/>
                </a:solidFill>
                <a:latin typeface="Verdana"/>
                <a:cs typeface="Verdana"/>
              </a:rPr>
              <a:t>1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5 x</a:t>
            </a:r>
            <a:r>
              <a:rPr dirty="0" sz="2000" spc="6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6</a:t>
            </a:r>
            <a:r>
              <a:rPr dirty="0" baseline="25641" sz="1950" spc="-7">
                <a:solidFill>
                  <a:srgbClr val="333333"/>
                </a:solidFill>
                <a:latin typeface="Verdana"/>
                <a:cs typeface="Verdana"/>
              </a:rPr>
              <a:t>0</a:t>
            </a:r>
            <a:endParaRPr baseline="25641" sz="1950">
              <a:latin typeface="Verdana"/>
              <a:cs typeface="Verdana"/>
            </a:endParaRPr>
          </a:p>
          <a:p>
            <a:pPr marL="4483735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5 x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36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4 x 6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5 x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  <a:p>
            <a:pPr marL="4483735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180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24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</a:t>
            </a:r>
            <a:r>
              <a:rPr dirty="0" sz="2000" spc="-1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5</a:t>
            </a:r>
            <a:endParaRPr sz="2000">
              <a:latin typeface="Verdana"/>
              <a:cs typeface="Verdana"/>
            </a:endParaRPr>
          </a:p>
          <a:p>
            <a:pPr marL="4483735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000" spc="-1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209</a:t>
            </a:r>
            <a:r>
              <a:rPr dirty="0" baseline="-21367" sz="1950" spc="7">
                <a:solidFill>
                  <a:srgbClr val="333333"/>
                </a:solidFill>
                <a:latin typeface="Verdana"/>
                <a:cs typeface="Verdana"/>
              </a:rPr>
              <a:t>10</a:t>
            </a:r>
            <a:endParaRPr baseline="-21367" sz="19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27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23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06131" y="6339840"/>
            <a:ext cx="17056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4D4D4D"/>
                </a:solidFill>
                <a:latin typeface="Arial"/>
                <a:cs typeface="Arial"/>
              </a:rPr>
              <a:t>(Continued on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next</a:t>
            </a:r>
            <a:r>
              <a:rPr dirty="0" sz="1200" spc="-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slide)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73849" y="691895"/>
            <a:ext cx="2152650" cy="370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5" b="1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dirty="0" sz="2400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-8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Verdana"/>
                <a:cs typeface="Verdana"/>
              </a:rPr>
              <a:t>Number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87044" y="691895"/>
            <a:ext cx="6102985" cy="7315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2400" spc="-5"/>
              <a:t>Converting </a:t>
            </a:r>
            <a:r>
              <a:rPr dirty="0" sz="2400"/>
              <a:t>a </a:t>
            </a:r>
            <a:r>
              <a:rPr dirty="0" sz="2400"/>
              <a:t>Number </a:t>
            </a:r>
            <a:r>
              <a:rPr dirty="0" sz="2400"/>
              <a:t>of </a:t>
            </a:r>
            <a:r>
              <a:rPr dirty="0" sz="2400"/>
              <a:t>Some </a:t>
            </a:r>
            <a:r>
              <a:rPr dirty="0" sz="2400"/>
              <a:t>Base  </a:t>
            </a:r>
            <a:r>
              <a:rPr dirty="0" sz="2400"/>
              <a:t>of </a:t>
            </a:r>
            <a:r>
              <a:rPr dirty="0" sz="2400"/>
              <a:t>Another</a:t>
            </a:r>
            <a:r>
              <a:rPr dirty="0" sz="2400" spc="-75"/>
              <a:t> </a:t>
            </a:r>
            <a:r>
              <a:rPr dirty="0" sz="2400" spc="-10"/>
              <a:t>Base</a:t>
            </a: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216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19860" y="1760728"/>
            <a:ext cx="974090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2000" spc="-1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2: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45279" y="1760728"/>
            <a:ext cx="3086735" cy="3594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Convert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209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10 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to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r>
              <a:rPr dirty="0" sz="2000" spc="1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4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9860" y="4808728"/>
            <a:ext cx="3312160" cy="15786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Hence,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209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10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000" spc="1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3101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4</a:t>
            </a:r>
            <a:endParaRPr baseline="-21367" sz="1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So,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545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6 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209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10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000" spc="-26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3101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4</a:t>
            </a:r>
            <a:endParaRPr baseline="-21367" sz="1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Thus, 545</a:t>
            </a:r>
            <a:r>
              <a:rPr dirty="0" baseline="-21367" sz="1950" spc="-7">
                <a:solidFill>
                  <a:srgbClr val="333333"/>
                </a:solidFill>
                <a:latin typeface="Verdana"/>
                <a:cs typeface="Verdana"/>
              </a:rPr>
              <a:t>6 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000" spc="-27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3101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4</a:t>
            </a:r>
            <a:endParaRPr baseline="-21367" sz="19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33344" y="2316479"/>
            <a:ext cx="0" cy="2356485"/>
          </a:xfrm>
          <a:custGeom>
            <a:avLst/>
            <a:gdLst/>
            <a:ahLst/>
            <a:cxnLst/>
            <a:rect l="l" t="t" r="r" b="b"/>
            <a:pathLst>
              <a:path w="0" h="2356485">
                <a:moveTo>
                  <a:pt x="0" y="0"/>
                </a:moveTo>
                <a:lnTo>
                  <a:pt x="0" y="235610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33344" y="2773679"/>
            <a:ext cx="744220" cy="0"/>
          </a:xfrm>
          <a:custGeom>
            <a:avLst/>
            <a:gdLst/>
            <a:ahLst/>
            <a:cxnLst/>
            <a:rect l="l" t="t" r="r" b="b"/>
            <a:pathLst>
              <a:path w="744220" h="0">
                <a:moveTo>
                  <a:pt x="0" y="0"/>
                </a:moveTo>
                <a:lnTo>
                  <a:pt x="743711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33344" y="3233927"/>
            <a:ext cx="744220" cy="0"/>
          </a:xfrm>
          <a:custGeom>
            <a:avLst/>
            <a:gdLst/>
            <a:ahLst/>
            <a:cxnLst/>
            <a:rect l="l" t="t" r="r" b="b"/>
            <a:pathLst>
              <a:path w="744220" h="0">
                <a:moveTo>
                  <a:pt x="0" y="0"/>
                </a:moveTo>
                <a:lnTo>
                  <a:pt x="743711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33344" y="3691128"/>
            <a:ext cx="744220" cy="0"/>
          </a:xfrm>
          <a:custGeom>
            <a:avLst/>
            <a:gdLst/>
            <a:ahLst/>
            <a:cxnLst/>
            <a:rect l="l" t="t" r="r" b="b"/>
            <a:pathLst>
              <a:path w="744220" h="0">
                <a:moveTo>
                  <a:pt x="0" y="0"/>
                </a:moveTo>
                <a:lnTo>
                  <a:pt x="743711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437635" y="2848864"/>
            <a:ext cx="348615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52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58388" y="3309111"/>
            <a:ext cx="348615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35171" y="3781552"/>
            <a:ext cx="186690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33344" y="4157471"/>
            <a:ext cx="744220" cy="0"/>
          </a:xfrm>
          <a:custGeom>
            <a:avLst/>
            <a:gdLst/>
            <a:ahLst/>
            <a:cxnLst/>
            <a:rect l="l" t="t" r="r" b="b"/>
            <a:pathLst>
              <a:path w="744220" h="0">
                <a:moveTo>
                  <a:pt x="0" y="0"/>
                </a:moveTo>
                <a:lnTo>
                  <a:pt x="743711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535171" y="4183888"/>
            <a:ext cx="186690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0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28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25</a:t>
            </a:fld>
            <a:r>
              <a:rPr dirty="0" spc="-10"/>
              <a:t>/40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67276" y="2370328"/>
            <a:ext cx="1530350" cy="2020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R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m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nd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ers</a:t>
            </a:r>
            <a:endParaRPr sz="2000">
              <a:latin typeface="Verdana"/>
              <a:cs typeface="Verdana"/>
            </a:endParaRPr>
          </a:p>
          <a:p>
            <a:pPr algn="ctr" marR="189865">
              <a:lnSpc>
                <a:spcPct val="100000"/>
              </a:lnSpc>
              <a:spcBef>
                <a:spcPts val="1630"/>
              </a:spcBef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  <a:p>
            <a:pPr algn="ctr" marR="189865">
              <a:lnSpc>
                <a:spcPct val="100000"/>
              </a:lnSpc>
              <a:spcBef>
                <a:spcPts val="865"/>
              </a:spcBef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0</a:t>
            </a:r>
            <a:endParaRPr sz="2000">
              <a:latin typeface="Verdana"/>
              <a:cs typeface="Verdana"/>
            </a:endParaRPr>
          </a:p>
          <a:p>
            <a:pPr algn="ctr" marR="189865">
              <a:lnSpc>
                <a:spcPct val="100000"/>
              </a:lnSpc>
              <a:spcBef>
                <a:spcPts val="860"/>
              </a:spcBef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  <a:p>
            <a:pPr algn="ctr" marR="189865">
              <a:lnSpc>
                <a:spcPct val="100000"/>
              </a:lnSpc>
              <a:spcBef>
                <a:spcPts val="505"/>
              </a:spcBef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26867" y="2355088"/>
            <a:ext cx="1150620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65214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4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209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6044" y="1473200"/>
            <a:ext cx="215646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73849" y="691895"/>
            <a:ext cx="2152650" cy="370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5" b="1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dirty="0" sz="2400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-8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Verdana"/>
                <a:cs typeface="Verdana"/>
              </a:rPr>
              <a:t>Number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987044" y="691895"/>
            <a:ext cx="6102985" cy="7315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2400" spc="-5"/>
              <a:t>Converting </a:t>
            </a:r>
            <a:r>
              <a:rPr dirty="0" sz="2400"/>
              <a:t>a </a:t>
            </a:r>
            <a:r>
              <a:rPr dirty="0" sz="2400"/>
              <a:t>Number </a:t>
            </a:r>
            <a:r>
              <a:rPr dirty="0" sz="2400"/>
              <a:t>of </a:t>
            </a:r>
            <a:r>
              <a:rPr dirty="0" sz="2400"/>
              <a:t>Some </a:t>
            </a:r>
            <a:r>
              <a:rPr dirty="0" sz="2400"/>
              <a:t>Base  </a:t>
            </a:r>
            <a:r>
              <a:rPr dirty="0" sz="2400"/>
              <a:t>of </a:t>
            </a:r>
            <a:r>
              <a:rPr dirty="0" sz="2400"/>
              <a:t>Another</a:t>
            </a:r>
            <a:r>
              <a:rPr dirty="0" sz="2400" spc="-75"/>
              <a:t> </a:t>
            </a:r>
            <a:r>
              <a:rPr dirty="0" sz="2400" spc="-10"/>
              <a:t>Base</a:t>
            </a:r>
            <a:endParaRPr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32052" y="1758696"/>
            <a:ext cx="1595120" cy="889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333333"/>
                </a:solidFill>
                <a:latin typeface="Verdana"/>
                <a:cs typeface="Verdana"/>
              </a:rPr>
              <a:t>Method</a:t>
            </a:r>
            <a:endParaRPr sz="2400">
              <a:latin typeface="Verdana"/>
              <a:cs typeface="Verdana"/>
            </a:endParaRPr>
          </a:p>
          <a:p>
            <a:pPr marL="631190">
              <a:lnSpc>
                <a:spcPct val="100000"/>
              </a:lnSpc>
              <a:spcBef>
                <a:spcPts val="1670"/>
              </a:spcBef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2000" spc="-6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29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26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78458" y="2336800"/>
            <a:ext cx="5798820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0485" marR="5080" indent="-58419">
              <a:lnSpc>
                <a:spcPct val="100000"/>
              </a:lnSpc>
            </a:pP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Divide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digits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into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groups 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three</a:t>
            </a:r>
            <a:r>
              <a:rPr dirty="0" sz="2000" spc="-1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starting 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from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2000" spc="-8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right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0795" y="3159759"/>
            <a:ext cx="1031240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741045" algn="l"/>
              </a:tabLst>
            </a:pP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St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p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2: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5835" y="3159759"/>
            <a:ext cx="6031230" cy="920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43180" marR="5080" indent="-31115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Convert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each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group 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three binary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digits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to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one octal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digit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using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the method of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binary to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decimal</a:t>
            </a:r>
            <a:r>
              <a:rPr dirty="0" sz="2000" spc="-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conversion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87044" y="691895"/>
            <a:ext cx="8432800" cy="7315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2400" spc="-5"/>
              <a:t>Shortcut </a:t>
            </a:r>
            <a:r>
              <a:rPr dirty="0" sz="2400"/>
              <a:t>Method </a:t>
            </a:r>
            <a:r>
              <a:rPr dirty="0" sz="2400"/>
              <a:t>for </a:t>
            </a:r>
            <a:r>
              <a:rPr dirty="0" sz="2400" spc="-5"/>
              <a:t>Converting </a:t>
            </a:r>
            <a:r>
              <a:rPr dirty="0" sz="2400"/>
              <a:t>a </a:t>
            </a:r>
            <a:r>
              <a:rPr dirty="0" sz="2400"/>
              <a:t>Binary </a:t>
            </a:r>
            <a:r>
              <a:rPr dirty="0" sz="2400" spc="-5"/>
              <a:t>Number  </a:t>
            </a:r>
            <a:r>
              <a:rPr dirty="0" sz="2400"/>
              <a:t>to </a:t>
            </a:r>
            <a:r>
              <a:rPr dirty="0" sz="2400"/>
              <a:t>its </a:t>
            </a:r>
            <a:r>
              <a:rPr dirty="0" sz="2400" spc="-5"/>
              <a:t>Equivalent </a:t>
            </a:r>
            <a:r>
              <a:rPr dirty="0" sz="2400"/>
              <a:t>Octal</a:t>
            </a:r>
            <a:r>
              <a:rPr dirty="0" sz="2400" spc="-15"/>
              <a:t> </a:t>
            </a:r>
            <a:r>
              <a:rPr dirty="0" sz="2400" spc="-5"/>
              <a:t>Number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7406131" y="6339840"/>
            <a:ext cx="17056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4D4D4D"/>
                </a:solidFill>
                <a:latin typeface="Arial"/>
                <a:cs typeface="Arial"/>
              </a:rPr>
              <a:t>(Continued on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next</a:t>
            </a:r>
            <a:r>
              <a:rPr dirty="0" sz="1200" spc="-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slide)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334260" y="2764535"/>
            <a:ext cx="88328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1800" spc="-9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1: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29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26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55595" y="4157471"/>
            <a:ext cx="88328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1800" spc="-9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2: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0234" y="2764535"/>
            <a:ext cx="5577840" cy="1673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1280" marR="5080" indent="-69215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Divide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the binary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digits into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groups </a:t>
            </a: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3 starting  from</a:t>
            </a:r>
            <a:r>
              <a:rPr dirty="0" sz="1800" spc="-1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right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tabLst>
                <a:tab pos="1169670" algn="l"/>
                <a:tab pos="2254885" algn="l"/>
              </a:tabLst>
            </a:pPr>
            <a:r>
              <a:rPr dirty="0" sz="1800" u="sng">
                <a:solidFill>
                  <a:srgbClr val="333333"/>
                </a:solidFill>
                <a:latin typeface="Verdana"/>
                <a:cs typeface="Verdana"/>
              </a:rPr>
              <a:t>001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1800" u="sng">
                <a:solidFill>
                  <a:srgbClr val="333333"/>
                </a:solidFill>
                <a:latin typeface="Verdana"/>
                <a:cs typeface="Verdana"/>
              </a:rPr>
              <a:t>101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1800" spc="5" u="sng">
                <a:solidFill>
                  <a:srgbClr val="333333"/>
                </a:solidFill>
                <a:latin typeface="Verdana"/>
                <a:cs typeface="Verdana"/>
              </a:rPr>
              <a:t>010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Times New Roman"/>
              <a:cs typeface="Times New Roman"/>
            </a:endParaRPr>
          </a:p>
          <a:p>
            <a:pPr marL="33655">
              <a:lnSpc>
                <a:spcPct val="100000"/>
              </a:lnSpc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Convert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each group into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one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octal</a:t>
            </a:r>
            <a:r>
              <a:rPr dirty="0" sz="180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digit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55595" y="4764023"/>
            <a:ext cx="5243195" cy="154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9728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001</a:t>
            </a:r>
            <a:r>
              <a:rPr dirty="0" baseline="-23148" sz="1800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0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0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1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0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1800" spc="19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  <a:p>
            <a:pPr marL="1097280">
              <a:lnSpc>
                <a:spcPct val="100000"/>
              </a:lnSpc>
              <a:spcBef>
                <a:spcPts val="455"/>
              </a:spcBef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101</a:t>
            </a:r>
            <a:r>
              <a:rPr dirty="0" baseline="-23148" sz="1800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0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1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0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1800" spc="19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5</a:t>
            </a:r>
            <a:endParaRPr sz="1800">
              <a:latin typeface="Verdana"/>
              <a:cs typeface="Verdana"/>
            </a:endParaRPr>
          </a:p>
          <a:p>
            <a:pPr marL="1097280">
              <a:lnSpc>
                <a:spcPct val="100000"/>
              </a:lnSpc>
              <a:spcBef>
                <a:spcPts val="430"/>
              </a:spcBef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010</a:t>
            </a:r>
            <a:r>
              <a:rPr dirty="0" baseline="-23148" sz="1800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0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1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0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0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1800" spc="19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Hence,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1101010</a:t>
            </a:r>
            <a:r>
              <a:rPr dirty="0" baseline="-23148" sz="1800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1800" spc="-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152</a:t>
            </a:r>
            <a:r>
              <a:rPr dirty="0" baseline="-23148" sz="1800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endParaRPr baseline="-23148"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6044" y="1473200"/>
            <a:ext cx="3441700" cy="1074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Times New Roman"/>
              <a:cs typeface="Times New Roman"/>
            </a:endParaRPr>
          </a:p>
          <a:p>
            <a:pPr marL="826135">
              <a:lnSpc>
                <a:spcPct val="100000"/>
              </a:lnSpc>
              <a:spcBef>
                <a:spcPts val="5"/>
              </a:spcBef>
            </a:pPr>
            <a:r>
              <a:rPr dirty="0" sz="2000" spc="-10" b="1">
                <a:solidFill>
                  <a:srgbClr val="333333"/>
                </a:solidFill>
                <a:latin typeface="Verdana"/>
                <a:cs typeface="Verdana"/>
              </a:rPr>
              <a:t>Example</a:t>
            </a:r>
            <a:endParaRPr sz="2000">
              <a:latin typeface="Verdana"/>
              <a:cs typeface="Verdana"/>
            </a:endParaRPr>
          </a:p>
          <a:p>
            <a:pPr marL="1740535">
              <a:lnSpc>
                <a:spcPct val="100000"/>
              </a:lnSpc>
              <a:spcBef>
                <a:spcPts val="1180"/>
              </a:spcBef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1101010</a:t>
            </a:r>
            <a:r>
              <a:rPr dirty="0" baseline="-23148" sz="1800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1800" spc="1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?</a:t>
            </a:r>
            <a:r>
              <a:rPr dirty="0" baseline="-23148" sz="1800" spc="-7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endParaRPr baseline="-23148"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87044" y="691895"/>
            <a:ext cx="8432800" cy="7315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2400" spc="-5"/>
              <a:t>Shortcut </a:t>
            </a:r>
            <a:r>
              <a:rPr dirty="0" sz="2400"/>
              <a:t>Method </a:t>
            </a:r>
            <a:r>
              <a:rPr dirty="0" sz="2400"/>
              <a:t>for </a:t>
            </a:r>
            <a:r>
              <a:rPr dirty="0" sz="2400" spc="-5"/>
              <a:t>Converting </a:t>
            </a:r>
            <a:r>
              <a:rPr dirty="0" sz="2400"/>
              <a:t>a </a:t>
            </a:r>
            <a:r>
              <a:rPr dirty="0" sz="2400"/>
              <a:t>Binary </a:t>
            </a:r>
            <a:r>
              <a:rPr dirty="0" sz="2400" spc="-5"/>
              <a:t>Number  </a:t>
            </a:r>
            <a:r>
              <a:rPr dirty="0" sz="2400"/>
              <a:t>to </a:t>
            </a:r>
            <a:r>
              <a:rPr dirty="0" sz="2400"/>
              <a:t>its </a:t>
            </a:r>
            <a:r>
              <a:rPr dirty="0" sz="2400" spc="-5"/>
              <a:t>Equivalent </a:t>
            </a:r>
            <a:r>
              <a:rPr dirty="0" sz="2400"/>
              <a:t>Octal</a:t>
            </a:r>
            <a:r>
              <a:rPr dirty="0" sz="2400" spc="-15"/>
              <a:t> </a:t>
            </a:r>
            <a:r>
              <a:rPr dirty="0" sz="2400" spc="-5"/>
              <a:t>Number</a:t>
            </a:r>
            <a:endParaRPr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22908" y="1749552"/>
            <a:ext cx="1708150" cy="889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333333"/>
                </a:solidFill>
                <a:latin typeface="Verdana"/>
                <a:cs typeface="Verdana"/>
              </a:rPr>
              <a:t>Method</a:t>
            </a:r>
            <a:endParaRPr sz="2400">
              <a:latin typeface="Verdana"/>
              <a:cs typeface="Verdana"/>
            </a:endParaRPr>
          </a:p>
          <a:p>
            <a:pPr marL="698500">
              <a:lnSpc>
                <a:spcPct val="100000"/>
              </a:lnSpc>
              <a:spcBef>
                <a:spcPts val="1670"/>
              </a:spcBef>
              <a:tabLst>
                <a:tab pos="1417955" algn="l"/>
              </a:tabLst>
            </a:pP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St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p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30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28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76578" y="2327655"/>
            <a:ext cx="5795010" cy="920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33655" marR="5080" indent="-2159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Convert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each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octal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digit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to a 3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digit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binary  number (the octal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digits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may be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treated </a:t>
            </a:r>
            <a:r>
              <a:rPr dirty="0" sz="2000" spc="20">
                <a:solidFill>
                  <a:srgbClr val="333333"/>
                </a:solidFill>
                <a:latin typeface="Verdana"/>
                <a:cs typeface="Verdana"/>
              </a:rPr>
              <a:t>as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decimal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for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this</a:t>
            </a:r>
            <a:r>
              <a:rPr dirty="0" sz="2000" spc="-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conversion)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8707" y="3455415"/>
            <a:ext cx="607060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St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p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49462" y="3455415"/>
            <a:ext cx="894080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39065" marR="5080" indent="-127000">
              <a:lnSpc>
                <a:spcPct val="100000"/>
              </a:lnSpc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binary  </a:t>
            </a:r>
            <a:r>
              <a:rPr dirty="0" sz="2000" spc="-35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2000" spc="-25">
                <a:solidFill>
                  <a:srgbClr val="333333"/>
                </a:solidFill>
                <a:latin typeface="Verdana"/>
                <a:cs typeface="Verdana"/>
              </a:rPr>
              <a:t>g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l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70600" y="3455415"/>
            <a:ext cx="897255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3820" marR="5080" indent="-71755">
              <a:lnSpc>
                <a:spcPct val="100000"/>
              </a:lnSpc>
            </a:pP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g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ro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up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s 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6215" y="3455415"/>
            <a:ext cx="4256405" cy="920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36575" marR="5080" indent="-524510">
              <a:lnSpc>
                <a:spcPct val="100000"/>
              </a:lnSpc>
              <a:tabLst>
                <a:tab pos="514984" algn="l"/>
                <a:tab pos="1125220" algn="l"/>
                <a:tab pos="1515110" algn="l"/>
                <a:tab pos="1858645" algn="l"/>
                <a:tab pos="2373630" algn="l"/>
                <a:tab pos="2435860" algn="l"/>
                <a:tab pos="3006725" algn="l"/>
                <a:tab pos="3374390" algn="l"/>
                <a:tab pos="4091304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2:	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Combine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all	the	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resulting 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(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f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3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g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t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	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c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h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)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nt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 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2400" spc="-5"/>
              <a:t>Shortcut </a:t>
            </a:r>
            <a:r>
              <a:rPr dirty="0" sz="2400"/>
              <a:t>Method </a:t>
            </a:r>
            <a:r>
              <a:rPr dirty="0" sz="2400"/>
              <a:t>for </a:t>
            </a:r>
            <a:r>
              <a:rPr dirty="0" sz="2400" spc="-5"/>
              <a:t>Converting </a:t>
            </a:r>
            <a:r>
              <a:rPr dirty="0" sz="2400" spc="-5"/>
              <a:t>an </a:t>
            </a:r>
            <a:r>
              <a:rPr dirty="0" sz="2400"/>
              <a:t>Octal  </a:t>
            </a:r>
            <a:r>
              <a:rPr dirty="0" sz="2400" spc="-5"/>
              <a:t>Number </a:t>
            </a:r>
            <a:r>
              <a:rPr dirty="0" sz="2400"/>
              <a:t>to </a:t>
            </a:r>
            <a:r>
              <a:rPr dirty="0" sz="2400"/>
              <a:t>Its </a:t>
            </a:r>
            <a:r>
              <a:rPr dirty="0" sz="2400" spc="-5"/>
              <a:t>Equivalent </a:t>
            </a:r>
            <a:r>
              <a:rPr dirty="0" sz="2400"/>
              <a:t>Binary</a:t>
            </a:r>
            <a:r>
              <a:rPr dirty="0" sz="2400" spc="15"/>
              <a:t> </a:t>
            </a:r>
            <a:r>
              <a:rPr dirty="0" sz="2400"/>
              <a:t>Number</a:t>
            </a:r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7406131" y="6339840"/>
            <a:ext cx="17056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4D4D4D"/>
                </a:solidFill>
                <a:latin typeface="Arial"/>
                <a:cs typeface="Arial"/>
              </a:rPr>
              <a:t>(Continued on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next</a:t>
            </a:r>
            <a:r>
              <a:rPr dirty="0" sz="1200" spc="-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slide)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108707" y="2864103"/>
            <a:ext cx="972819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2000" spc="-9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30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28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08707" y="3748023"/>
            <a:ext cx="972819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2000" spc="-9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2: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32786" y="2803143"/>
            <a:ext cx="5349240" cy="12553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8900" marR="5080" indent="-76835">
              <a:lnSpc>
                <a:spcPct val="120000"/>
              </a:lnSpc>
              <a:tabLst>
                <a:tab pos="530860" algn="l"/>
                <a:tab pos="2042795" algn="l"/>
                <a:tab pos="2487930" algn="l"/>
                <a:tab pos="4003040" algn="l"/>
                <a:tab pos="4447540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Convert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each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octal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digit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to 3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binary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digits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5</a:t>
            </a:r>
            <a:r>
              <a:rPr dirty="0" baseline="-21367" sz="1950" spc="-7">
                <a:solidFill>
                  <a:srgbClr val="333333"/>
                </a:solidFill>
                <a:latin typeface="Verdana"/>
                <a:cs typeface="Verdana"/>
              </a:rPr>
              <a:t>8	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101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,	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6</a:t>
            </a:r>
            <a:r>
              <a:rPr dirty="0" baseline="-21367" sz="1950" spc="7">
                <a:solidFill>
                  <a:srgbClr val="333333"/>
                </a:solidFill>
                <a:latin typeface="Verdana"/>
                <a:cs typeface="Verdana"/>
              </a:rPr>
              <a:t>8	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00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110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,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r>
              <a:rPr dirty="0" baseline="-21367" sz="1950" spc="-7">
                <a:solidFill>
                  <a:srgbClr val="333333"/>
                </a:solidFill>
                <a:latin typeface="Verdana"/>
                <a:cs typeface="Verdana"/>
              </a:rPr>
              <a:t>8	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000" spc="-1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010</a:t>
            </a:r>
            <a:r>
              <a:rPr dirty="0" baseline="-21367" sz="1950" spc="7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endParaRPr baseline="-21367" sz="1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Combine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binary</a:t>
            </a:r>
            <a:r>
              <a:rPr dirty="0" sz="2000" spc="-9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groups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00095" y="4091957"/>
          <a:ext cx="3442970" cy="746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9384"/>
                <a:gridCol w="1096566"/>
                <a:gridCol w="925229"/>
                <a:gridCol w="721692"/>
              </a:tblGrid>
              <a:tr h="39724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000" spc="-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562</a:t>
                      </a:r>
                      <a:r>
                        <a:rPr dirty="0" baseline="-21367" sz="1950" spc="-7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baseline="-21367" sz="195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00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2000" spc="-8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2000" u="sng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101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000" u="sng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110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000" u="sng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010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</a:tr>
              <a:tr h="348503">
                <a:tc>
                  <a:txBody>
                    <a:bodyPr/>
                    <a:lstStyle/>
                    <a:p>
                      <a:pPr/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11760">
                        <a:lnSpc>
                          <a:spcPts val="2300"/>
                        </a:lnSpc>
                      </a:pPr>
                      <a:r>
                        <a:rPr dirty="0" sz="20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44145">
                        <a:lnSpc>
                          <a:spcPts val="2300"/>
                        </a:lnSpc>
                      </a:pPr>
                      <a:r>
                        <a:rPr dirty="0" sz="20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6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43230">
                        <a:lnSpc>
                          <a:spcPts val="2300"/>
                        </a:lnSpc>
                      </a:pPr>
                      <a:r>
                        <a:rPr dirty="0" sz="20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2108707" y="5208016"/>
            <a:ext cx="3528695" cy="3594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Hence,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562</a:t>
            </a:r>
            <a:r>
              <a:rPr dirty="0" baseline="-21367" sz="1950" spc="-7">
                <a:solidFill>
                  <a:srgbClr val="333333"/>
                </a:solidFill>
                <a:latin typeface="Verdana"/>
                <a:cs typeface="Verdana"/>
              </a:rPr>
              <a:t>8 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000" spc="-2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101110010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endParaRPr baseline="-21367" sz="19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6044" y="1473200"/>
            <a:ext cx="2745740" cy="1231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/>
              <a:cs typeface="Times New Roman"/>
            </a:endParaRPr>
          </a:p>
          <a:p>
            <a:pPr marL="829310">
              <a:lnSpc>
                <a:spcPct val="100000"/>
              </a:lnSpc>
            </a:pPr>
            <a:r>
              <a:rPr dirty="0" sz="2400" spc="-5" b="1">
                <a:solidFill>
                  <a:srgbClr val="333333"/>
                </a:solidFill>
                <a:latin typeface="Verdana"/>
                <a:cs typeface="Verdana"/>
              </a:rPr>
              <a:t>Example</a:t>
            </a:r>
            <a:endParaRPr sz="2400">
              <a:latin typeface="Verdana"/>
              <a:cs typeface="Verdana"/>
            </a:endParaRPr>
          </a:p>
          <a:p>
            <a:pPr marL="1515110">
              <a:lnSpc>
                <a:spcPct val="100000"/>
              </a:lnSpc>
              <a:spcBef>
                <a:spcPts val="1645"/>
              </a:spcBef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562</a:t>
            </a:r>
            <a:r>
              <a:rPr dirty="0" baseline="-21367" sz="1950" spc="-7">
                <a:solidFill>
                  <a:srgbClr val="333333"/>
                </a:solidFill>
                <a:latin typeface="Verdana"/>
                <a:cs typeface="Verdana"/>
              </a:rPr>
              <a:t>8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000" spc="17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?</a:t>
            </a:r>
            <a:r>
              <a:rPr dirty="0" baseline="-21367" sz="1950" spc="-15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endParaRPr baseline="-21367" sz="195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2400" spc="-5"/>
              <a:t>Shortcut </a:t>
            </a:r>
            <a:r>
              <a:rPr dirty="0" sz="2400"/>
              <a:t>Method </a:t>
            </a:r>
            <a:r>
              <a:rPr dirty="0" sz="2400"/>
              <a:t>for </a:t>
            </a:r>
            <a:r>
              <a:rPr dirty="0" sz="2400" spc="-5"/>
              <a:t>Converting </a:t>
            </a:r>
            <a:r>
              <a:rPr dirty="0" sz="2400" spc="-5"/>
              <a:t>an </a:t>
            </a:r>
            <a:r>
              <a:rPr dirty="0" sz="2400"/>
              <a:t>Octal  </a:t>
            </a:r>
            <a:r>
              <a:rPr dirty="0" sz="2400" spc="-5"/>
              <a:t>Number </a:t>
            </a:r>
            <a:r>
              <a:rPr dirty="0" sz="2400"/>
              <a:t>to </a:t>
            </a:r>
            <a:r>
              <a:rPr dirty="0" sz="2400"/>
              <a:t>Its </a:t>
            </a:r>
            <a:r>
              <a:rPr dirty="0" sz="2400" spc="-5"/>
              <a:t>Equivalent </a:t>
            </a:r>
            <a:r>
              <a:rPr dirty="0" sz="2400"/>
              <a:t>Binary</a:t>
            </a:r>
            <a:r>
              <a:rPr dirty="0" sz="2400" spc="15"/>
              <a:t> </a:t>
            </a:r>
            <a:r>
              <a:rPr dirty="0" sz="2400"/>
              <a:t>Number</a:t>
            </a:r>
            <a:endParaRPr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22908" y="1749552"/>
            <a:ext cx="1297305" cy="370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333333"/>
                </a:solidFill>
                <a:latin typeface="Verdana"/>
                <a:cs typeface="Verdana"/>
              </a:rPr>
              <a:t>M</a:t>
            </a:r>
            <a:r>
              <a:rPr dirty="0" sz="2400" spc="-10" b="1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400" spc="10" b="1">
                <a:solidFill>
                  <a:srgbClr val="333333"/>
                </a:solidFill>
                <a:latin typeface="Verdana"/>
                <a:cs typeface="Verdana"/>
              </a:rPr>
              <a:t>t</a:t>
            </a:r>
            <a:r>
              <a:rPr dirty="0" sz="2400" spc="-5" b="1">
                <a:solidFill>
                  <a:srgbClr val="333333"/>
                </a:solidFill>
                <a:latin typeface="Verdana"/>
                <a:cs typeface="Verdana"/>
              </a:rPr>
              <a:t>h</a:t>
            </a:r>
            <a:r>
              <a:rPr dirty="0" sz="2400" b="1">
                <a:solidFill>
                  <a:srgbClr val="333333"/>
                </a:solidFill>
                <a:latin typeface="Verdana"/>
                <a:cs typeface="Verdana"/>
              </a:rPr>
              <a:t>od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30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30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08707" y="2422144"/>
            <a:ext cx="1013460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2000" spc="2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8707" y="3254247"/>
            <a:ext cx="973455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2000" spc="-9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2: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63900" y="2413000"/>
            <a:ext cx="5814060" cy="14566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8419" marR="5080" indent="42545">
              <a:lnSpc>
                <a:spcPct val="103000"/>
              </a:lnSpc>
            </a:pP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Divide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binary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digits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into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groups 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four  starting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from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2000" spc="-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right</a:t>
            </a:r>
            <a:endParaRPr sz="2000">
              <a:latin typeface="Verdana"/>
              <a:cs typeface="Verdana"/>
            </a:endParaRPr>
          </a:p>
          <a:p>
            <a:pPr marL="12700" marR="64135" indent="57150">
              <a:lnSpc>
                <a:spcPct val="100000"/>
              </a:lnSpc>
              <a:spcBef>
                <a:spcPts val="1680"/>
              </a:spcBef>
              <a:tabLst>
                <a:tab pos="5486400" algn="l"/>
              </a:tabLst>
            </a:pPr>
            <a:r>
              <a:rPr dirty="0" sz="2000" spc="15">
                <a:solidFill>
                  <a:srgbClr val="333333"/>
                </a:solidFill>
                <a:latin typeface="Verdana"/>
                <a:cs typeface="Verdana"/>
              </a:rPr>
              <a:t>C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mb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c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h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g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ro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u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p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f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fo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u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r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r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 spc="-25">
                <a:solidFill>
                  <a:srgbClr val="333333"/>
                </a:solidFill>
                <a:latin typeface="Verdana"/>
                <a:cs typeface="Verdana"/>
              </a:rPr>
              <a:t>g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it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to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one hexadecimal</a:t>
            </a:r>
            <a:r>
              <a:rPr dirty="0" sz="2000" spc="-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digit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2400" spc="-5"/>
              <a:t>Shortcut </a:t>
            </a:r>
            <a:r>
              <a:rPr dirty="0" sz="2400"/>
              <a:t>Method </a:t>
            </a:r>
            <a:r>
              <a:rPr dirty="0" sz="2400"/>
              <a:t>for </a:t>
            </a:r>
            <a:r>
              <a:rPr dirty="0" sz="2400" spc="-5"/>
              <a:t>Converting </a:t>
            </a:r>
            <a:r>
              <a:rPr dirty="0" sz="2400"/>
              <a:t>a </a:t>
            </a:r>
            <a:r>
              <a:rPr dirty="0" sz="2400"/>
              <a:t>Binary  </a:t>
            </a:r>
            <a:r>
              <a:rPr dirty="0" sz="2400" spc="-5"/>
              <a:t>Number </a:t>
            </a:r>
            <a:r>
              <a:rPr dirty="0" sz="2400"/>
              <a:t>to </a:t>
            </a:r>
            <a:r>
              <a:rPr dirty="0" sz="2400"/>
              <a:t>its </a:t>
            </a:r>
            <a:r>
              <a:rPr dirty="0" sz="2400"/>
              <a:t>Equivalent </a:t>
            </a:r>
            <a:r>
              <a:rPr dirty="0" sz="2400" spc="-5"/>
              <a:t>Hexadecimal</a:t>
            </a:r>
            <a:r>
              <a:rPr dirty="0" sz="2400" spc="25"/>
              <a:t> </a:t>
            </a:r>
            <a:r>
              <a:rPr dirty="0" sz="2400" spc="-5"/>
              <a:t>Number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7406131" y="6339840"/>
            <a:ext cx="17056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4D4D4D"/>
                </a:solidFill>
                <a:latin typeface="Arial"/>
                <a:cs typeface="Arial"/>
              </a:rPr>
              <a:t>(Continued on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next</a:t>
            </a:r>
            <a:r>
              <a:rPr dirty="0" sz="1200" spc="-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slide)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51507" y="2935223"/>
            <a:ext cx="88328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1800" spc="-9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1: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31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31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46883" y="2935223"/>
            <a:ext cx="4925695" cy="555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7625" marR="5080" indent="-3556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Divide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the binary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digits into groups </a:t>
            </a: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four 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starting from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1800" spc="-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right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1507" y="4474464"/>
            <a:ext cx="88328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1800" spc="-9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2: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7635" y="4008120"/>
            <a:ext cx="6440805" cy="14598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0">
              <a:lnSpc>
                <a:spcPct val="100000"/>
              </a:lnSpc>
              <a:tabLst>
                <a:tab pos="1681480" algn="l"/>
              </a:tabLst>
            </a:pPr>
            <a:r>
              <a:rPr dirty="0" sz="1800" u="sng">
                <a:solidFill>
                  <a:srgbClr val="333333"/>
                </a:solidFill>
                <a:latin typeface="Verdana"/>
                <a:cs typeface="Verdana"/>
              </a:rPr>
              <a:t>0011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1800" spc="5" u="sng">
                <a:solidFill>
                  <a:srgbClr val="333333"/>
                </a:solidFill>
                <a:latin typeface="Verdana"/>
                <a:cs typeface="Verdana"/>
              </a:rPr>
              <a:t>1101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Convert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each group into a hexadecimal</a:t>
            </a:r>
            <a:r>
              <a:rPr dirty="0" sz="1800" spc="-6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digit</a:t>
            </a:r>
            <a:endParaRPr sz="1800">
              <a:latin typeface="Verdana"/>
              <a:cs typeface="Verdana"/>
            </a:endParaRPr>
          </a:p>
          <a:p>
            <a:pPr marL="127000">
              <a:lnSpc>
                <a:spcPct val="100000"/>
              </a:lnSpc>
              <a:spcBef>
                <a:spcPts val="430"/>
              </a:spcBef>
              <a:tabLst>
                <a:tab pos="971550" algn="l"/>
              </a:tabLst>
            </a:pP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0011</a:t>
            </a:r>
            <a:r>
              <a:rPr dirty="0" baseline="-23148" sz="1800" spc="7">
                <a:solidFill>
                  <a:srgbClr val="333333"/>
                </a:solidFill>
                <a:latin typeface="Verdana"/>
                <a:cs typeface="Verdana"/>
              </a:rPr>
              <a:t>2	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0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3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0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1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0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3</a:t>
            </a:r>
            <a:r>
              <a:rPr dirty="0" baseline="-23148" sz="1800">
                <a:solidFill>
                  <a:srgbClr val="333333"/>
                </a:solidFill>
                <a:latin typeface="Verdana"/>
                <a:cs typeface="Verdana"/>
              </a:rPr>
              <a:t>10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1800" spc="2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3</a:t>
            </a:r>
            <a:r>
              <a:rPr dirty="0" baseline="-23148" sz="1800">
                <a:solidFill>
                  <a:srgbClr val="333333"/>
                </a:solidFill>
                <a:latin typeface="Verdana"/>
                <a:cs typeface="Verdana"/>
              </a:rPr>
              <a:t>16</a:t>
            </a:r>
            <a:endParaRPr baseline="-23148" sz="1800">
              <a:latin typeface="Verdana"/>
              <a:cs typeface="Verdana"/>
            </a:endParaRPr>
          </a:p>
          <a:p>
            <a:pPr marL="139065">
              <a:lnSpc>
                <a:spcPct val="100000"/>
              </a:lnSpc>
              <a:spcBef>
                <a:spcPts val="455"/>
              </a:spcBef>
              <a:tabLst>
                <a:tab pos="980440" algn="l"/>
              </a:tabLst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1101</a:t>
            </a:r>
            <a:r>
              <a:rPr dirty="0" baseline="-23148" sz="1800">
                <a:solidFill>
                  <a:srgbClr val="333333"/>
                </a:solidFill>
                <a:latin typeface="Verdana"/>
                <a:cs typeface="Verdana"/>
              </a:rPr>
              <a:t>2	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3 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2 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0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1 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0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3</a:t>
            </a:r>
            <a:r>
              <a:rPr dirty="0" baseline="-23148" sz="1800">
                <a:solidFill>
                  <a:srgbClr val="333333"/>
                </a:solidFill>
                <a:latin typeface="Verdana"/>
                <a:cs typeface="Verdana"/>
              </a:rPr>
              <a:t>10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1800" spc="-39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 spc="15">
                <a:solidFill>
                  <a:srgbClr val="333333"/>
                </a:solidFill>
                <a:latin typeface="Verdana"/>
                <a:cs typeface="Verdana"/>
              </a:rPr>
              <a:t>D</a:t>
            </a:r>
            <a:r>
              <a:rPr dirty="0" baseline="-23148" sz="1800" spc="22">
                <a:solidFill>
                  <a:srgbClr val="333333"/>
                </a:solidFill>
                <a:latin typeface="Verdana"/>
                <a:cs typeface="Verdana"/>
              </a:rPr>
              <a:t>16</a:t>
            </a:r>
            <a:endParaRPr baseline="-23148"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51507" y="5794247"/>
            <a:ext cx="2706370" cy="332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Hence,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111101</a:t>
            </a:r>
            <a:r>
              <a:rPr dirty="0" baseline="-23148" sz="1800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1800" spc="-7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3D</a:t>
            </a:r>
            <a:r>
              <a:rPr dirty="0" baseline="-23148" sz="1800">
                <a:solidFill>
                  <a:srgbClr val="333333"/>
                </a:solidFill>
                <a:latin typeface="Verdana"/>
                <a:cs typeface="Verdana"/>
              </a:rPr>
              <a:t>16</a:t>
            </a:r>
            <a:endParaRPr baseline="-23148"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6044" y="1473200"/>
            <a:ext cx="2709545" cy="1315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Times New Roman"/>
              <a:cs typeface="Times New Roman"/>
            </a:endParaRPr>
          </a:p>
          <a:p>
            <a:pPr marL="829310">
              <a:lnSpc>
                <a:spcPct val="100000"/>
              </a:lnSpc>
            </a:pPr>
            <a:r>
              <a:rPr dirty="0" sz="2400" spc="-5" b="1">
                <a:solidFill>
                  <a:srgbClr val="333333"/>
                </a:solidFill>
                <a:latin typeface="Verdana"/>
                <a:cs typeface="Verdana"/>
              </a:rPr>
              <a:t>Example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imes New Roman"/>
              <a:cs typeface="Times New Roman"/>
            </a:endParaRPr>
          </a:p>
          <a:p>
            <a:pPr marL="105791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111101</a:t>
            </a:r>
            <a:r>
              <a:rPr dirty="0" baseline="-23148" sz="1800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1800" spc="1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?</a:t>
            </a:r>
            <a:r>
              <a:rPr dirty="0" baseline="-23148" sz="1800" spc="-7">
                <a:solidFill>
                  <a:srgbClr val="333333"/>
                </a:solidFill>
                <a:latin typeface="Verdana"/>
                <a:cs typeface="Verdana"/>
              </a:rPr>
              <a:t>16</a:t>
            </a:r>
            <a:endParaRPr baseline="-23148"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2400" spc="-5"/>
              <a:t>Shortcut </a:t>
            </a:r>
            <a:r>
              <a:rPr dirty="0" sz="2400"/>
              <a:t>Method </a:t>
            </a:r>
            <a:r>
              <a:rPr dirty="0" sz="2400"/>
              <a:t>for </a:t>
            </a:r>
            <a:r>
              <a:rPr dirty="0" sz="2400" spc="-5"/>
              <a:t>Converting </a:t>
            </a:r>
            <a:r>
              <a:rPr dirty="0" sz="2400"/>
              <a:t>a </a:t>
            </a:r>
            <a:r>
              <a:rPr dirty="0" sz="2400"/>
              <a:t>Binary  </a:t>
            </a:r>
            <a:r>
              <a:rPr dirty="0" sz="2400" spc="-5"/>
              <a:t>Number </a:t>
            </a:r>
            <a:r>
              <a:rPr dirty="0" sz="2400"/>
              <a:t>to </a:t>
            </a:r>
            <a:r>
              <a:rPr dirty="0" sz="2400"/>
              <a:t>its </a:t>
            </a:r>
            <a:r>
              <a:rPr dirty="0" sz="2400"/>
              <a:t>Equivalent </a:t>
            </a:r>
            <a:r>
              <a:rPr dirty="0" sz="2400" spc="-5"/>
              <a:t>Hexadecimal</a:t>
            </a:r>
            <a:r>
              <a:rPr dirty="0" sz="2400" spc="25"/>
              <a:t> </a:t>
            </a:r>
            <a:r>
              <a:rPr dirty="0" sz="2400" spc="-5"/>
              <a:t>Number</a:t>
            </a:r>
            <a:endParaRPr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22908" y="1758696"/>
            <a:ext cx="7280275" cy="24250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333333"/>
                </a:solidFill>
                <a:latin typeface="Verdana"/>
                <a:cs typeface="Verdana"/>
              </a:rPr>
              <a:t>Method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Times New Roman"/>
              <a:cs typeface="Times New Roman"/>
            </a:endParaRPr>
          </a:p>
          <a:p>
            <a:pPr marL="1728470" marR="536575" indent="-1030605">
              <a:lnSpc>
                <a:spcPct val="101499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Step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1: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Convert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the decimal equivalent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each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hexadecimal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digit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to a 4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digit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binary 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  <a:p>
            <a:pPr marL="698500">
              <a:lnSpc>
                <a:spcPct val="100000"/>
              </a:lnSpc>
              <a:spcBef>
                <a:spcPts val="1680"/>
              </a:spcBef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Step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2: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Combine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all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the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resulting binary</a:t>
            </a:r>
            <a:r>
              <a:rPr dirty="0" sz="200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groups</a:t>
            </a:r>
            <a:endParaRPr sz="2000">
              <a:latin typeface="Verdana"/>
              <a:cs typeface="Verdana"/>
            </a:endParaRPr>
          </a:p>
          <a:p>
            <a:pPr marL="172847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(of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4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digits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each)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in a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single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binary</a:t>
            </a:r>
            <a:r>
              <a:rPr dirty="0" sz="2000" spc="-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31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31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 marR="5080">
              <a:lnSpc>
                <a:spcPct val="100000"/>
              </a:lnSpc>
            </a:pPr>
            <a:r>
              <a:rPr dirty="0" sz="2400" spc="-5"/>
              <a:t>Shortcut </a:t>
            </a:r>
            <a:r>
              <a:rPr dirty="0" sz="2400"/>
              <a:t>Method </a:t>
            </a:r>
            <a:r>
              <a:rPr dirty="0" sz="2400"/>
              <a:t>for </a:t>
            </a:r>
            <a:r>
              <a:rPr dirty="0" sz="2400" spc="-5"/>
              <a:t>Converting </a:t>
            </a:r>
            <a:r>
              <a:rPr dirty="0" sz="2400"/>
              <a:t>a </a:t>
            </a:r>
            <a:r>
              <a:rPr dirty="0" sz="2400" spc="-5"/>
              <a:t>Hexadecimal  </a:t>
            </a:r>
            <a:r>
              <a:rPr dirty="0" sz="2400" spc="-5"/>
              <a:t>Number </a:t>
            </a:r>
            <a:r>
              <a:rPr dirty="0" sz="2400"/>
              <a:t>to </a:t>
            </a:r>
            <a:r>
              <a:rPr dirty="0" sz="2400"/>
              <a:t>its </a:t>
            </a:r>
            <a:r>
              <a:rPr dirty="0" sz="2400"/>
              <a:t>Equivalent </a:t>
            </a:r>
            <a:r>
              <a:rPr dirty="0" sz="2400"/>
              <a:t>Binary</a:t>
            </a:r>
            <a:r>
              <a:rPr dirty="0" sz="2400" spc="-5"/>
              <a:t> </a:t>
            </a:r>
            <a:r>
              <a:rPr dirty="0" sz="2400" spc="-5"/>
              <a:t>Number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7406131" y="6339840"/>
            <a:ext cx="17056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4D4D4D"/>
                </a:solidFill>
                <a:latin typeface="Arial"/>
                <a:cs typeface="Arial"/>
              </a:rPr>
              <a:t>(Continued on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next</a:t>
            </a:r>
            <a:r>
              <a:rPr dirty="0" sz="1200" spc="-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slide)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93795" y="4144264"/>
            <a:ext cx="689610" cy="3594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r>
              <a:rPr dirty="0" baseline="-21367" sz="1950" spc="-15">
                <a:solidFill>
                  <a:srgbClr val="333333"/>
                </a:solidFill>
                <a:latin typeface="Verdana"/>
                <a:cs typeface="Verdana"/>
              </a:rPr>
              <a:t>16</a:t>
            </a:r>
            <a:r>
              <a:rPr dirty="0" baseline="-21367" sz="1950" spc="209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32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33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37769" y="4208271"/>
            <a:ext cx="395605" cy="295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25"/>
              </a:lnSpc>
            </a:pPr>
            <a:r>
              <a:rPr dirty="0" baseline="13888" sz="3000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r>
              <a:rPr dirty="0" sz="1300" spc="-10">
                <a:solidFill>
                  <a:srgbClr val="333333"/>
                </a:solidFill>
                <a:latin typeface="Verdana"/>
                <a:cs typeface="Verdana"/>
              </a:rPr>
              <a:t>10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86732" y="4144264"/>
            <a:ext cx="1075055" cy="3594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000" spc="-9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0010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endParaRPr baseline="-21367" sz="19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93795" y="4510023"/>
            <a:ext cx="2465070" cy="725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baseline="-21367" sz="1950" spc="-15">
                <a:solidFill>
                  <a:srgbClr val="333333"/>
                </a:solidFill>
                <a:latin typeface="Verdana"/>
                <a:cs typeface="Verdana"/>
              </a:rPr>
              <a:t>16 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10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10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1010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endParaRPr baseline="-21367" sz="1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B</a:t>
            </a:r>
            <a:r>
              <a:rPr dirty="0" baseline="-21367" sz="1950" spc="-15">
                <a:solidFill>
                  <a:srgbClr val="333333"/>
                </a:solidFill>
                <a:latin typeface="Verdana"/>
                <a:cs typeface="Verdana"/>
              </a:rPr>
              <a:t>16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11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10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000" spc="4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1011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endParaRPr baseline="-21367" sz="19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6044" y="1473200"/>
            <a:ext cx="8155305" cy="2101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Times New Roman"/>
              <a:cs typeface="Times New Roman"/>
            </a:endParaRPr>
          </a:p>
          <a:p>
            <a:pPr marL="829310">
              <a:lnSpc>
                <a:spcPct val="100000"/>
              </a:lnSpc>
            </a:pPr>
            <a:r>
              <a:rPr dirty="0" sz="2400" spc="-5" b="1">
                <a:solidFill>
                  <a:srgbClr val="333333"/>
                </a:solidFill>
                <a:latin typeface="Verdana"/>
                <a:cs typeface="Verdana"/>
              </a:rPr>
              <a:t>Example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 marL="1515110">
              <a:lnSpc>
                <a:spcPct val="100000"/>
              </a:lnSpc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2AB</a:t>
            </a:r>
            <a:r>
              <a:rPr dirty="0" baseline="-21367" sz="1950" spc="-7">
                <a:solidFill>
                  <a:srgbClr val="333333"/>
                </a:solidFill>
                <a:latin typeface="Verdana"/>
                <a:cs typeface="Verdana"/>
              </a:rPr>
              <a:t>16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000" spc="1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?</a:t>
            </a:r>
            <a:r>
              <a:rPr dirty="0" baseline="-21367" sz="1950" spc="-15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endParaRPr baseline="-21367" sz="1950">
              <a:latin typeface="Verdana"/>
              <a:cs typeface="Verdana"/>
            </a:endParaRPr>
          </a:p>
          <a:p>
            <a:pPr marL="2600325" marR="5080" indent="-1085215">
              <a:lnSpc>
                <a:spcPct val="100000"/>
              </a:lnSpc>
              <a:spcBef>
                <a:spcPts val="1750"/>
              </a:spcBef>
              <a:tabLst>
                <a:tab pos="2639060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Step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1:		Convert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each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hexadecimal digit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to a</a:t>
            </a:r>
            <a:r>
              <a:rPr dirty="0" sz="200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4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digit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binary</a:t>
            </a:r>
            <a:r>
              <a:rPr dirty="0" sz="2000" spc="-8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 marR="5080">
              <a:lnSpc>
                <a:spcPct val="100000"/>
              </a:lnSpc>
            </a:pPr>
            <a:r>
              <a:rPr dirty="0" sz="2400" spc="-5"/>
              <a:t>Shortcut </a:t>
            </a:r>
            <a:r>
              <a:rPr dirty="0" sz="2400"/>
              <a:t>Method </a:t>
            </a:r>
            <a:r>
              <a:rPr dirty="0" sz="2400"/>
              <a:t>for </a:t>
            </a:r>
            <a:r>
              <a:rPr dirty="0" sz="2400" spc="-5"/>
              <a:t>Converting </a:t>
            </a:r>
            <a:r>
              <a:rPr dirty="0" sz="2400"/>
              <a:t>a </a:t>
            </a:r>
            <a:r>
              <a:rPr dirty="0" sz="2400" spc="-5"/>
              <a:t>Hexadecimal  </a:t>
            </a:r>
            <a:r>
              <a:rPr dirty="0" sz="2400" spc="-5"/>
              <a:t>Number </a:t>
            </a:r>
            <a:r>
              <a:rPr dirty="0" sz="2400"/>
              <a:t>to </a:t>
            </a:r>
            <a:r>
              <a:rPr dirty="0" sz="2400"/>
              <a:t>its </a:t>
            </a:r>
            <a:r>
              <a:rPr dirty="0" sz="2400"/>
              <a:t>Equivalent </a:t>
            </a:r>
            <a:r>
              <a:rPr dirty="0" sz="2400"/>
              <a:t>Binary</a:t>
            </a:r>
            <a:r>
              <a:rPr dirty="0" sz="2400" spc="-5"/>
              <a:t> </a:t>
            </a:r>
            <a:r>
              <a:rPr dirty="0" sz="2400" spc="-5"/>
              <a:t>Number</a:t>
            </a:r>
            <a:endParaRPr sz="2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108707" y="1978152"/>
            <a:ext cx="5557520" cy="365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367155" algn="l"/>
              </a:tabLst>
            </a:pPr>
            <a:r>
              <a:rPr dirty="0" sz="2400" spc="-5">
                <a:solidFill>
                  <a:srgbClr val="333333"/>
                </a:solidFill>
                <a:latin typeface="Verdana"/>
                <a:cs typeface="Verdana"/>
              </a:rPr>
              <a:t>Step </a:t>
            </a:r>
            <a:r>
              <a:rPr dirty="0" sz="2400">
                <a:solidFill>
                  <a:srgbClr val="333333"/>
                </a:solidFill>
                <a:latin typeface="Verdana"/>
                <a:cs typeface="Verdana"/>
              </a:rPr>
              <a:t>2:	Combine the </a:t>
            </a:r>
            <a:r>
              <a:rPr dirty="0" sz="2400" spc="-5">
                <a:solidFill>
                  <a:srgbClr val="333333"/>
                </a:solidFill>
                <a:latin typeface="Verdana"/>
                <a:cs typeface="Verdana"/>
              </a:rPr>
              <a:t>binary</a:t>
            </a:r>
            <a:r>
              <a:rPr dirty="0" sz="24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400" spc="-5">
                <a:solidFill>
                  <a:srgbClr val="333333"/>
                </a:solidFill>
                <a:latin typeface="Verdana"/>
                <a:cs typeface="Verdana"/>
              </a:rPr>
              <a:t>groups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32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33</a:t>
            </a:fld>
            <a:r>
              <a:rPr dirty="0" spc="-10"/>
              <a:t>/40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184270" y="2406221"/>
          <a:ext cx="4534535" cy="871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2569"/>
                <a:gridCol w="1191728"/>
                <a:gridCol w="1009777"/>
              </a:tblGrid>
              <a:tr h="464767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4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2AB</a:t>
                      </a:r>
                      <a:r>
                        <a:rPr dirty="0" baseline="-20833" sz="24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16 </a:t>
                      </a:r>
                      <a:r>
                        <a:rPr dirty="0" sz="2400" spc="-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2400" spc="2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2400" u="heavy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0010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6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400" spc="10" u="heavy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1010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400" spc="-5" u="heavy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1011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</a:tr>
              <a:tr h="405944">
                <a:tc>
                  <a:txBody>
                    <a:bodyPr/>
                    <a:lstStyle/>
                    <a:p>
                      <a:pPr algn="r" marR="563245">
                        <a:lnSpc>
                          <a:spcPts val="2760"/>
                        </a:lnSpc>
                      </a:pPr>
                      <a:r>
                        <a:rPr dirty="0" sz="24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</a:pPr>
                      <a:r>
                        <a:rPr dirty="0" sz="24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57530">
                        <a:lnSpc>
                          <a:spcPts val="2760"/>
                        </a:lnSpc>
                      </a:pPr>
                      <a:r>
                        <a:rPr dirty="0" sz="24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24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193795" y="3730752"/>
            <a:ext cx="4974590" cy="429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>
                <a:solidFill>
                  <a:srgbClr val="333333"/>
                </a:solidFill>
                <a:latin typeface="Verdana"/>
                <a:cs typeface="Verdana"/>
              </a:rPr>
              <a:t>Hence, </a:t>
            </a:r>
            <a:r>
              <a:rPr dirty="0" sz="2400" spc="-5">
                <a:solidFill>
                  <a:srgbClr val="333333"/>
                </a:solidFill>
                <a:latin typeface="Verdana"/>
                <a:cs typeface="Verdana"/>
              </a:rPr>
              <a:t>2AB</a:t>
            </a:r>
            <a:r>
              <a:rPr dirty="0" baseline="-20833" sz="2400" spc="-7">
                <a:solidFill>
                  <a:srgbClr val="333333"/>
                </a:solidFill>
                <a:latin typeface="Verdana"/>
                <a:cs typeface="Verdana"/>
              </a:rPr>
              <a:t>16  </a:t>
            </a:r>
            <a:r>
              <a:rPr dirty="0" sz="2400" spc="-5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400" spc="-30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400" spc="-5">
                <a:solidFill>
                  <a:srgbClr val="333333"/>
                </a:solidFill>
                <a:latin typeface="Verdana"/>
                <a:cs typeface="Verdana"/>
              </a:rPr>
              <a:t>001010101011</a:t>
            </a:r>
            <a:r>
              <a:rPr dirty="0" baseline="-20833" sz="2400" spc="-7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endParaRPr baseline="-20833"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6044" y="691895"/>
            <a:ext cx="8406130" cy="93408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2110" marR="5080">
              <a:lnSpc>
                <a:spcPct val="100000"/>
              </a:lnSpc>
            </a:pPr>
            <a:r>
              <a:rPr dirty="0" sz="2400" spc="-5"/>
              <a:t>Shortcut </a:t>
            </a:r>
            <a:r>
              <a:rPr dirty="0" sz="2400"/>
              <a:t>Method </a:t>
            </a:r>
            <a:r>
              <a:rPr dirty="0" sz="2400"/>
              <a:t>for </a:t>
            </a:r>
            <a:r>
              <a:rPr dirty="0" sz="2400" spc="-5"/>
              <a:t>Converting </a:t>
            </a:r>
            <a:r>
              <a:rPr dirty="0" sz="2400"/>
              <a:t>a </a:t>
            </a:r>
            <a:r>
              <a:rPr dirty="0" sz="2400" spc="-5"/>
              <a:t>Hexadecimal  </a:t>
            </a:r>
            <a:r>
              <a:rPr dirty="0" sz="2400" spc="-5"/>
              <a:t>Number </a:t>
            </a:r>
            <a:r>
              <a:rPr dirty="0" sz="2400"/>
              <a:t>to </a:t>
            </a:r>
            <a:r>
              <a:rPr dirty="0" sz="2400"/>
              <a:t>its </a:t>
            </a:r>
            <a:r>
              <a:rPr dirty="0" sz="2400"/>
              <a:t>Equivalent </a:t>
            </a:r>
            <a:r>
              <a:rPr dirty="0" sz="2400"/>
              <a:t>Binary</a:t>
            </a:r>
            <a:r>
              <a:rPr dirty="0" sz="2400" spc="-5"/>
              <a:t> </a:t>
            </a:r>
            <a:r>
              <a:rPr dirty="0" sz="2400" spc="-5"/>
              <a:t>Number</a:t>
            </a:r>
            <a:endParaRPr sz="2400"/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00" b="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b="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b="0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ct val="100000"/>
              </a:lnSpc>
            </a:pPr>
            <a:r>
              <a:rPr dirty="0" spc="-5"/>
              <a:t>Fractional</a:t>
            </a:r>
            <a:r>
              <a:rPr dirty="0" spc="-40"/>
              <a:t> </a:t>
            </a:r>
            <a:r>
              <a:rPr dirty="0" spc="-5"/>
              <a:t>Numbers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33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35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22908" y="1760728"/>
            <a:ext cx="7507605" cy="29502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6350">
              <a:lnSpc>
                <a:spcPct val="100000"/>
              </a:lnSpc>
              <a:tabLst>
                <a:tab pos="1447165" algn="l"/>
                <a:tab pos="2755265" algn="l"/>
                <a:tab pos="3358515" algn="l"/>
                <a:tab pos="4458970" algn="l"/>
                <a:tab pos="5333365" algn="l"/>
                <a:tab pos="6036945" algn="l"/>
                <a:tab pos="6509384" algn="l"/>
              </a:tabLst>
            </a:pPr>
            <a:r>
              <a:rPr dirty="0" sz="2000" i="1">
                <a:solidFill>
                  <a:srgbClr val="333333"/>
                </a:solidFill>
                <a:latin typeface="Verdana"/>
                <a:cs typeface="Verdana"/>
              </a:rPr>
              <a:t>F</a:t>
            </a:r>
            <a:r>
              <a:rPr dirty="0" sz="2000" spc="-20" i="1">
                <a:solidFill>
                  <a:srgbClr val="333333"/>
                </a:solidFill>
                <a:latin typeface="Verdana"/>
                <a:cs typeface="Verdana"/>
              </a:rPr>
              <a:t>r</a:t>
            </a:r>
            <a:r>
              <a:rPr dirty="0" sz="2000" spc="-5" i="1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 spc="-15" i="1">
                <a:solidFill>
                  <a:srgbClr val="333333"/>
                </a:solidFill>
                <a:latin typeface="Verdana"/>
                <a:cs typeface="Verdana"/>
              </a:rPr>
              <a:t>c</a:t>
            </a:r>
            <a:r>
              <a:rPr dirty="0" sz="2000" i="1">
                <a:solidFill>
                  <a:srgbClr val="333333"/>
                </a:solidFill>
                <a:latin typeface="Verdana"/>
                <a:cs typeface="Verdana"/>
              </a:rPr>
              <a:t>ti</a:t>
            </a:r>
            <a:r>
              <a:rPr dirty="0" sz="2000" spc="-15" i="1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2000" spc="0" i="1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2000" spc="-5" i="1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 spc="-5" i="1">
                <a:solidFill>
                  <a:srgbClr val="333333"/>
                </a:solidFill>
                <a:latin typeface="Verdana"/>
                <a:cs typeface="Verdana"/>
              </a:rPr>
              <a:t>l</a:t>
            </a:r>
            <a:r>
              <a:rPr dirty="0" sz="2000" i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0" i="1">
                <a:solidFill>
                  <a:srgbClr val="333333"/>
                </a:solidFill>
                <a:latin typeface="Verdana"/>
                <a:cs typeface="Verdana"/>
              </a:rPr>
              <a:t>nu</a:t>
            </a:r>
            <a:r>
              <a:rPr dirty="0" sz="2000" spc="-5" i="1">
                <a:solidFill>
                  <a:srgbClr val="333333"/>
                </a:solidFill>
                <a:latin typeface="Verdana"/>
                <a:cs typeface="Verdana"/>
              </a:rPr>
              <a:t>mb</a:t>
            </a:r>
            <a:r>
              <a:rPr dirty="0" sz="2000" spc="-20" i="1">
                <a:solidFill>
                  <a:srgbClr val="333333"/>
                </a:solidFill>
                <a:latin typeface="Verdana"/>
                <a:cs typeface="Verdana"/>
              </a:rPr>
              <a:t>er</a:t>
            </a:r>
            <a:r>
              <a:rPr dirty="0" sz="2000" spc="-5" i="1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2000" i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r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f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r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m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d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m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way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as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d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c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m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l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r>
              <a:rPr dirty="0" sz="2000" spc="-1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423545" algn="l"/>
                <a:tab pos="1615440" algn="l"/>
                <a:tab pos="1913255" algn="l"/>
                <a:tab pos="3044190" algn="l"/>
                <a:tab pos="3425190" algn="l"/>
                <a:tab pos="3723640" algn="l"/>
                <a:tab pos="4853940" algn="l"/>
                <a:tab pos="5909310" algn="l"/>
                <a:tab pos="6597015" algn="l"/>
                <a:tab pos="7336790" algn="l"/>
              </a:tabLst>
            </a:pPr>
            <a:r>
              <a:rPr dirty="0" sz="2000" spc="-30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g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er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l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,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nu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mb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r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nu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mb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r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t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m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w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t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h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5" i="1">
                <a:solidFill>
                  <a:srgbClr val="333333"/>
                </a:solidFill>
                <a:latin typeface="Verdana"/>
                <a:cs typeface="Verdana"/>
              </a:rPr>
              <a:t>b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would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be written</a:t>
            </a:r>
            <a:r>
              <a:rPr dirty="0" sz="2000" spc="-9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as: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baseline="13888" sz="3000" spc="-7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1300" spc="-5">
                <a:solidFill>
                  <a:srgbClr val="333333"/>
                </a:solidFill>
                <a:latin typeface="Verdana"/>
                <a:cs typeface="Verdana"/>
              </a:rPr>
              <a:t>n </a:t>
            </a:r>
            <a:r>
              <a:rPr dirty="0" baseline="13888" sz="3000" spc="-7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1300" spc="-5">
                <a:solidFill>
                  <a:srgbClr val="333333"/>
                </a:solidFill>
                <a:latin typeface="Verdana"/>
                <a:cs typeface="Verdana"/>
              </a:rPr>
              <a:t>n-1</a:t>
            </a:r>
            <a:r>
              <a:rPr dirty="0" baseline="13888" sz="3000" spc="-7">
                <a:solidFill>
                  <a:srgbClr val="333333"/>
                </a:solidFill>
                <a:latin typeface="Verdana"/>
                <a:cs typeface="Verdana"/>
              </a:rPr>
              <a:t>… </a:t>
            </a:r>
            <a:r>
              <a:rPr dirty="0" baseline="13888" sz="3000" spc="7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1300" spc="5">
                <a:solidFill>
                  <a:srgbClr val="333333"/>
                </a:solidFill>
                <a:latin typeface="Verdana"/>
                <a:cs typeface="Verdana"/>
              </a:rPr>
              <a:t>0 </a:t>
            </a:r>
            <a:r>
              <a:rPr dirty="0" baseline="13888" sz="3000" spc="-7">
                <a:solidFill>
                  <a:srgbClr val="333333"/>
                </a:solidFill>
                <a:latin typeface="Verdana"/>
                <a:cs typeface="Verdana"/>
              </a:rPr>
              <a:t>. </a:t>
            </a:r>
            <a:r>
              <a:rPr dirty="0" baseline="13888" sz="300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1300">
                <a:solidFill>
                  <a:srgbClr val="333333"/>
                </a:solidFill>
                <a:latin typeface="Verdana"/>
                <a:cs typeface="Verdana"/>
              </a:rPr>
              <a:t>-1 </a:t>
            </a:r>
            <a:r>
              <a:rPr dirty="0" baseline="13888" sz="300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1300">
                <a:solidFill>
                  <a:srgbClr val="333333"/>
                </a:solidFill>
                <a:latin typeface="Verdana"/>
                <a:cs typeface="Verdana"/>
              </a:rPr>
              <a:t>-2 </a:t>
            </a:r>
            <a:r>
              <a:rPr dirty="0" baseline="13888" sz="3000" spc="-15">
                <a:solidFill>
                  <a:srgbClr val="333333"/>
                </a:solidFill>
                <a:latin typeface="Verdana"/>
                <a:cs typeface="Verdana"/>
              </a:rPr>
              <a:t>…</a:t>
            </a:r>
            <a:r>
              <a:rPr dirty="0" baseline="13888" sz="3000" spc="-157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baseline="13888" sz="300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1300">
                <a:solidFill>
                  <a:srgbClr val="333333"/>
                </a:solidFill>
                <a:latin typeface="Verdana"/>
                <a:cs typeface="Verdana"/>
              </a:rPr>
              <a:t>-m</a:t>
            </a: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And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would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be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interpreted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2000" spc="-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mean: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baseline="-21367" sz="1950" spc="-7">
                <a:solidFill>
                  <a:srgbClr val="333333"/>
                </a:solidFill>
                <a:latin typeface="Verdana"/>
                <a:cs typeface="Verdana"/>
              </a:rPr>
              <a:t>n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x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b</a:t>
            </a:r>
            <a:r>
              <a:rPr dirty="0" baseline="25641" sz="1950" spc="7">
                <a:solidFill>
                  <a:srgbClr val="333333"/>
                </a:solidFill>
                <a:latin typeface="Verdana"/>
                <a:cs typeface="Verdana"/>
              </a:rPr>
              <a:t>n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baseline="-21367" sz="1950" spc="7">
                <a:solidFill>
                  <a:srgbClr val="333333"/>
                </a:solidFill>
                <a:latin typeface="Verdana"/>
                <a:cs typeface="Verdana"/>
              </a:rPr>
              <a:t>n-1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x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b</a:t>
            </a:r>
            <a:r>
              <a:rPr dirty="0" baseline="25641" sz="1950" spc="7">
                <a:solidFill>
                  <a:srgbClr val="333333"/>
                </a:solidFill>
                <a:latin typeface="Verdana"/>
                <a:cs typeface="Verdana"/>
              </a:rPr>
              <a:t>n-1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… 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baseline="-21367" sz="1950" spc="-7">
                <a:solidFill>
                  <a:srgbClr val="333333"/>
                </a:solidFill>
                <a:latin typeface="Verdana"/>
                <a:cs typeface="Verdana"/>
              </a:rPr>
              <a:t>0 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x b</a:t>
            </a:r>
            <a:r>
              <a:rPr dirty="0" baseline="25641" sz="1950" spc="-7">
                <a:solidFill>
                  <a:srgbClr val="333333"/>
                </a:solidFill>
                <a:latin typeface="Verdana"/>
                <a:cs typeface="Verdana"/>
              </a:rPr>
              <a:t>0 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-1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x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</a:t>
            </a:r>
            <a:r>
              <a:rPr dirty="0" baseline="25641" sz="1950">
                <a:solidFill>
                  <a:srgbClr val="333333"/>
                </a:solidFill>
                <a:latin typeface="Verdana"/>
                <a:cs typeface="Verdana"/>
              </a:rPr>
              <a:t>-1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-2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x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</a:t>
            </a:r>
            <a:r>
              <a:rPr dirty="0" baseline="25641" sz="1950">
                <a:solidFill>
                  <a:srgbClr val="333333"/>
                </a:solidFill>
                <a:latin typeface="Verdana"/>
                <a:cs typeface="Verdana"/>
              </a:rPr>
              <a:t>-2  </a:t>
            </a:r>
            <a:r>
              <a:rPr dirty="0" baseline="25641" sz="1950" spc="104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… +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baseline="-21367" sz="1950">
                <a:solidFill>
                  <a:srgbClr val="333333"/>
                </a:solidFill>
                <a:latin typeface="Verdana"/>
                <a:cs typeface="Verdana"/>
              </a:rPr>
              <a:t>-m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x</a:t>
            </a:r>
            <a:r>
              <a:rPr dirty="0" sz="2000" spc="1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</a:t>
            </a:r>
            <a:r>
              <a:rPr dirty="0" baseline="25641" sz="1950">
                <a:solidFill>
                  <a:srgbClr val="333333"/>
                </a:solidFill>
                <a:latin typeface="Verdana"/>
                <a:cs typeface="Verdana"/>
              </a:rPr>
              <a:t>-m</a:t>
            </a:r>
            <a:endParaRPr baseline="25641" sz="19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2908" y="4961128"/>
            <a:ext cx="2275840" cy="3594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674370" algn="l"/>
                <a:tab pos="1914525" algn="l"/>
              </a:tabLst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T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h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mb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l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baseline="-21367" sz="1950" spc="-15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,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67403" y="5025135"/>
            <a:ext cx="1631950" cy="295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25"/>
              </a:lnSpc>
              <a:tabLst>
                <a:tab pos="1228090" algn="l"/>
              </a:tabLst>
            </a:pPr>
            <a:r>
              <a:rPr dirty="0" baseline="13888" sz="3000" spc="-7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1300" spc="-5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1300" spc="0">
                <a:solidFill>
                  <a:srgbClr val="333333"/>
                </a:solidFill>
                <a:latin typeface="Verdana"/>
                <a:cs typeface="Verdana"/>
              </a:rPr>
              <a:t>-</a:t>
            </a:r>
            <a:r>
              <a:rPr dirty="0" sz="1300" spc="-20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r>
              <a:rPr dirty="0" baseline="13888" sz="3000" spc="-7">
                <a:solidFill>
                  <a:srgbClr val="333333"/>
                </a:solidFill>
                <a:latin typeface="Verdana"/>
                <a:cs typeface="Verdana"/>
              </a:rPr>
              <a:t>,</a:t>
            </a:r>
            <a:r>
              <a:rPr dirty="0" baseline="13888" sz="3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baseline="13888" sz="300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1300" spc="0">
                <a:solidFill>
                  <a:srgbClr val="333333"/>
                </a:solidFill>
                <a:latin typeface="Verdana"/>
                <a:cs typeface="Verdana"/>
              </a:rPr>
              <a:t>-m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89779" y="4961128"/>
            <a:ext cx="4342765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088390" algn="l"/>
                <a:tab pos="1515110" algn="l"/>
                <a:tab pos="2472055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…,	</a:t>
            </a:r>
            <a:r>
              <a:rPr dirty="0" sz="2000" spc="10">
                <a:solidFill>
                  <a:srgbClr val="333333"/>
                </a:solidFill>
                <a:latin typeface="Verdana"/>
                <a:cs typeface="Verdana"/>
              </a:rPr>
              <a:t>in	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above	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representation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2908" y="5265928"/>
            <a:ext cx="7506970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tabLst>
                <a:tab pos="993140" algn="l"/>
                <a:tab pos="1444625" algn="l"/>
                <a:tab pos="2051050" algn="l"/>
                <a:tab pos="2434590" algn="l"/>
                <a:tab pos="2990215" algn="l"/>
                <a:tab pos="3291840" algn="l"/>
                <a:tab pos="4481195" algn="l"/>
                <a:tab pos="5584190" algn="l"/>
                <a:tab pos="5958840" algn="l"/>
                <a:tab pos="6507480" algn="l"/>
              </a:tabLst>
            </a:pP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h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u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l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d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b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f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th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5" i="1">
                <a:solidFill>
                  <a:srgbClr val="333333"/>
                </a:solidFill>
                <a:latin typeface="Verdana"/>
                <a:cs typeface="Verdana"/>
              </a:rPr>
              <a:t>b</a:t>
            </a:r>
            <a:r>
              <a:rPr dirty="0" sz="2000" i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m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b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l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3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l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l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w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d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25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-25">
                <a:solidFill>
                  <a:srgbClr val="333333"/>
                </a:solidFill>
                <a:latin typeface="Verdana"/>
                <a:cs typeface="Verdana"/>
              </a:rPr>
              <a:t>t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h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2000" spc="0">
                <a:solidFill>
                  <a:srgbClr val="333333"/>
                </a:solidFill>
                <a:latin typeface="Verdana"/>
                <a:cs typeface="Verdana"/>
              </a:rPr>
              <a:t>nu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mb</a:t>
            </a:r>
            <a:r>
              <a:rPr dirty="0" sz="2000" spc="-20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r  </a:t>
            </a:r>
            <a:r>
              <a:rPr dirty="0" sz="2000" spc="-15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74852" y="682752"/>
            <a:ext cx="6119495" cy="7315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2400"/>
              <a:t>Formation </a:t>
            </a:r>
            <a:r>
              <a:rPr dirty="0" sz="2400"/>
              <a:t>of </a:t>
            </a:r>
            <a:r>
              <a:rPr dirty="0" sz="2400" spc="-5"/>
              <a:t>Fractional </a:t>
            </a:r>
            <a:r>
              <a:rPr dirty="0" sz="2400" spc="-5"/>
              <a:t>Numbers </a:t>
            </a:r>
            <a:r>
              <a:rPr dirty="0" sz="2400" spc="10"/>
              <a:t>in  </a:t>
            </a:r>
            <a:r>
              <a:rPr dirty="0" sz="2400"/>
              <a:t>Binary </a:t>
            </a:r>
            <a:r>
              <a:rPr dirty="0" sz="2400" spc="-5"/>
              <a:t>Number </a:t>
            </a:r>
            <a:r>
              <a:rPr dirty="0" sz="2400"/>
              <a:t>System</a:t>
            </a:r>
            <a:r>
              <a:rPr dirty="0" sz="2400" spc="-55"/>
              <a:t> </a:t>
            </a:r>
            <a:r>
              <a:rPr dirty="0" sz="2400" spc="-5"/>
              <a:t>(Example)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087627" y="2740152"/>
            <a:ext cx="92265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10">
                <a:solidFill>
                  <a:srgbClr val="333333"/>
                </a:solidFill>
                <a:latin typeface="Verdana"/>
                <a:cs typeface="Verdana"/>
              </a:rPr>
              <a:t>P</a:t>
            </a:r>
            <a:r>
              <a:rPr dirty="0" sz="1800" spc="10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1800" spc="0">
                <a:solidFill>
                  <a:srgbClr val="333333"/>
                </a:solidFill>
                <a:latin typeface="Verdana"/>
                <a:cs typeface="Verdana"/>
              </a:rPr>
              <a:t>it</a:t>
            </a:r>
            <a:r>
              <a:rPr dirty="0" sz="1800" spc="-20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1800" spc="10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7627" y="3313176"/>
            <a:ext cx="1637030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Position</a:t>
            </a:r>
            <a:r>
              <a:rPr dirty="0" sz="1800" spc="-1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Value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63798" y="2779645"/>
          <a:ext cx="5793740" cy="865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589"/>
                <a:gridCol w="598931"/>
                <a:gridCol w="630783"/>
                <a:gridCol w="658368"/>
                <a:gridCol w="743864"/>
                <a:gridCol w="835609"/>
                <a:gridCol w="742187"/>
                <a:gridCol w="659891"/>
                <a:gridCol w="496321"/>
              </a:tblGrid>
              <a:tr h="400325">
                <a:tc>
                  <a:txBody>
                    <a:bodyPr/>
                    <a:lstStyle/>
                    <a:p>
                      <a:pPr marL="22225">
                        <a:lnSpc>
                          <a:spcPts val="1850"/>
                        </a:lnSpc>
                      </a:pPr>
                      <a:r>
                        <a:rPr dirty="0" sz="18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4765">
                        <a:lnSpc>
                          <a:spcPts val="1850"/>
                        </a:lnSpc>
                      </a:pPr>
                      <a:r>
                        <a:rPr dirty="0" sz="18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1910">
                        <a:lnSpc>
                          <a:spcPts val="1850"/>
                        </a:lnSpc>
                      </a:pPr>
                      <a:r>
                        <a:rPr dirty="0" sz="18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ts val="1850"/>
                        </a:lnSpc>
                      </a:pPr>
                      <a:r>
                        <a:rPr dirty="0" sz="18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1850"/>
                        </a:lnSpc>
                      </a:pPr>
                      <a:r>
                        <a:rPr dirty="0" sz="18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ts val="1970"/>
                        </a:lnSpc>
                        <a:tabLst>
                          <a:tab pos="278765" algn="l"/>
                        </a:tabLst>
                      </a:pPr>
                      <a:r>
                        <a:rPr dirty="0" sz="2400" b="1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.	</a:t>
                      </a:r>
                      <a:r>
                        <a:rPr dirty="0" sz="18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1935">
                        <a:lnSpc>
                          <a:spcPts val="1850"/>
                        </a:lnSpc>
                      </a:pPr>
                      <a:r>
                        <a:rPr dirty="0" sz="18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1850"/>
                        </a:lnSpc>
                      </a:pPr>
                      <a:r>
                        <a:rPr dirty="0" sz="18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ts val="1850"/>
                        </a:lnSpc>
                      </a:pPr>
                      <a:r>
                        <a:rPr dirty="0" sz="18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-4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</a:tr>
              <a:tr h="464798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baseline="-15432" sz="2700" spc="7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</a:t>
                      </a:r>
                      <a:r>
                        <a:rPr dirty="0" sz="120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413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baseline="-15432" sz="27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baseline="-15432" sz="27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baseline="-15432" sz="27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baseline="-15432" sz="27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baseline="-15432" sz="2700" spc="7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</a:t>
                      </a:r>
                      <a:r>
                        <a:rPr dirty="0" sz="120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193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baseline="-15432" sz="2700" spc="7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</a:t>
                      </a:r>
                      <a:r>
                        <a:rPr dirty="0" sz="120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baseline="-15432" sz="2700" spc="7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</a:t>
                      </a:r>
                      <a:r>
                        <a:rPr dirty="0" sz="120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-3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baseline="-15432" sz="2700" spc="7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</a:t>
                      </a:r>
                      <a:r>
                        <a:rPr dirty="0" sz="120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-4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373932" y="3861815"/>
            <a:ext cx="78676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628015" algn="l"/>
              </a:tabLst>
            </a:pP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6	8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96180" y="3861815"/>
            <a:ext cx="17081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4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02732" y="3861815"/>
            <a:ext cx="17081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88532" y="3861815"/>
            <a:ext cx="17081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89852" y="3797808"/>
            <a:ext cx="1807845" cy="396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810895" algn="l"/>
                <a:tab pos="1496695" algn="l"/>
              </a:tabLst>
            </a:pPr>
            <a:r>
              <a:rPr dirty="0" sz="1200" spc="5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r>
              <a:rPr dirty="0" baseline="-15432" sz="2700" spc="-15">
                <a:solidFill>
                  <a:srgbClr val="333333"/>
                </a:solidFill>
                <a:latin typeface="Verdana"/>
                <a:cs typeface="Verdana"/>
              </a:rPr>
              <a:t>/</a:t>
            </a:r>
            <a:r>
              <a:rPr dirty="0" baseline="-46296" sz="1800">
                <a:solidFill>
                  <a:srgbClr val="333333"/>
                </a:solidFill>
                <a:latin typeface="Verdana"/>
                <a:cs typeface="Verdana"/>
              </a:rPr>
              <a:t>2	</a:t>
            </a:r>
            <a:r>
              <a:rPr dirty="0" sz="1200" spc="5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r>
              <a:rPr dirty="0" baseline="-15432" sz="2700" spc="-15">
                <a:solidFill>
                  <a:srgbClr val="333333"/>
                </a:solidFill>
                <a:latin typeface="Verdana"/>
                <a:cs typeface="Verdana"/>
              </a:rPr>
              <a:t>/</a:t>
            </a:r>
            <a:r>
              <a:rPr dirty="0" baseline="-46296" sz="1800">
                <a:solidFill>
                  <a:srgbClr val="333333"/>
                </a:solidFill>
                <a:latin typeface="Verdana"/>
                <a:cs typeface="Verdana"/>
              </a:rPr>
              <a:t>4	</a:t>
            </a:r>
            <a:r>
              <a:rPr dirty="0" sz="1200" spc="5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r>
              <a:rPr dirty="0" baseline="-15432" sz="2700" spc="-15">
                <a:solidFill>
                  <a:srgbClr val="333333"/>
                </a:solidFill>
                <a:latin typeface="Verdana"/>
                <a:cs typeface="Verdana"/>
              </a:rPr>
              <a:t>/</a:t>
            </a:r>
            <a:r>
              <a:rPr dirty="0" baseline="-46296" sz="1800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endParaRPr baseline="-46296"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08211" y="3925823"/>
            <a:ext cx="420370" cy="267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05"/>
              </a:lnSpc>
            </a:pPr>
            <a:r>
              <a:rPr dirty="0" baseline="46296" sz="1800" spc="7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r>
              <a:rPr dirty="0" baseline="15432" sz="2700" spc="-15">
                <a:solidFill>
                  <a:srgbClr val="333333"/>
                </a:solidFill>
                <a:latin typeface="Verdana"/>
                <a:cs typeface="Verdana"/>
              </a:rPr>
              <a:t>/</a:t>
            </a:r>
            <a:r>
              <a:rPr dirty="0" sz="1200">
                <a:solidFill>
                  <a:srgbClr val="333333"/>
                </a:solidFill>
                <a:latin typeface="Verdana"/>
                <a:cs typeface="Verdana"/>
              </a:rPr>
              <a:t>16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7627" y="3861815"/>
            <a:ext cx="1471930" cy="555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Quantity 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R</a:t>
            </a: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ep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r</a:t>
            </a: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1800" spc="-15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1800" spc="10">
                <a:solidFill>
                  <a:srgbClr val="333333"/>
                </a:solidFill>
                <a:latin typeface="Verdana"/>
                <a:cs typeface="Verdana"/>
              </a:rPr>
              <a:t>ted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99835" y="2145791"/>
            <a:ext cx="141287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Binary</a:t>
            </a:r>
            <a:r>
              <a:rPr dirty="0" sz="1800" spc="-8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Point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12991" y="2520695"/>
            <a:ext cx="76200" cy="250190"/>
          </a:xfrm>
          <a:custGeom>
            <a:avLst/>
            <a:gdLst/>
            <a:ahLst/>
            <a:cxnLst/>
            <a:rect l="l" t="t" r="r" b="b"/>
            <a:pathLst>
              <a:path w="76200" h="250189">
                <a:moveTo>
                  <a:pt x="33528" y="201167"/>
                </a:moveTo>
                <a:lnTo>
                  <a:pt x="0" y="201167"/>
                </a:lnTo>
                <a:lnTo>
                  <a:pt x="39624" y="249936"/>
                </a:lnTo>
                <a:lnTo>
                  <a:pt x="64770" y="216407"/>
                </a:lnTo>
                <a:lnTo>
                  <a:pt x="39624" y="216407"/>
                </a:lnTo>
                <a:lnTo>
                  <a:pt x="33528" y="213359"/>
                </a:lnTo>
                <a:lnTo>
                  <a:pt x="33528" y="201167"/>
                </a:lnTo>
                <a:close/>
              </a:path>
              <a:path w="76200" h="250189">
                <a:moveTo>
                  <a:pt x="39624" y="0"/>
                </a:moveTo>
                <a:lnTo>
                  <a:pt x="33528" y="3048"/>
                </a:lnTo>
                <a:lnTo>
                  <a:pt x="33528" y="213359"/>
                </a:lnTo>
                <a:lnTo>
                  <a:pt x="39624" y="216407"/>
                </a:lnTo>
                <a:lnTo>
                  <a:pt x="42672" y="213359"/>
                </a:lnTo>
                <a:lnTo>
                  <a:pt x="42672" y="3048"/>
                </a:lnTo>
                <a:lnTo>
                  <a:pt x="39624" y="0"/>
                </a:lnTo>
                <a:close/>
              </a:path>
              <a:path w="76200" h="250189">
                <a:moveTo>
                  <a:pt x="76200" y="201167"/>
                </a:moveTo>
                <a:lnTo>
                  <a:pt x="42672" y="201167"/>
                </a:lnTo>
                <a:lnTo>
                  <a:pt x="42672" y="213359"/>
                </a:lnTo>
                <a:lnTo>
                  <a:pt x="39624" y="216407"/>
                </a:lnTo>
                <a:lnTo>
                  <a:pt x="64770" y="216407"/>
                </a:lnTo>
                <a:lnTo>
                  <a:pt x="76200" y="2011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406131" y="6339840"/>
            <a:ext cx="17056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4D4D4D"/>
                </a:solidFill>
                <a:latin typeface="Arial"/>
                <a:cs typeface="Arial"/>
              </a:rPr>
              <a:t>(Continued on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next</a:t>
            </a:r>
            <a:r>
              <a:rPr dirty="0" sz="1200" spc="-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slide)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33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35</a:t>
            </a:fld>
            <a:r>
              <a:rPr dirty="0" spc="-10"/>
              <a:t>/40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25955" y="1858264"/>
            <a:ext cx="1234440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333333"/>
                </a:solidFill>
                <a:latin typeface="Verdana"/>
                <a:cs typeface="Verdana"/>
              </a:rPr>
              <a:t>Ex</a:t>
            </a:r>
            <a:r>
              <a:rPr dirty="0" sz="2000" spc="-25" b="1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2000" spc="-10" b="1">
                <a:solidFill>
                  <a:srgbClr val="333333"/>
                </a:solidFill>
                <a:latin typeface="Verdana"/>
                <a:cs typeface="Verdana"/>
              </a:rPr>
              <a:t>mp</a:t>
            </a:r>
            <a:r>
              <a:rPr dirty="0" sz="2000" spc="-15" b="1">
                <a:solidFill>
                  <a:srgbClr val="333333"/>
                </a:solidFill>
                <a:latin typeface="Verdana"/>
                <a:cs typeface="Verdana"/>
              </a:rPr>
              <a:t>le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33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35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25955" y="2621279"/>
            <a:ext cx="1082675" cy="332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110.101</a:t>
            </a:r>
            <a:r>
              <a:rPr dirty="0" baseline="-23148" sz="1800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endParaRPr baseline="-23148"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42107" y="2621279"/>
            <a:ext cx="6338570" cy="880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2 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 x </a:t>
            </a:r>
            <a:r>
              <a:rPr dirty="0" sz="1800" spc="15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r>
              <a:rPr dirty="0" baseline="23148" sz="1800" spc="22">
                <a:solidFill>
                  <a:srgbClr val="333333"/>
                </a:solidFill>
                <a:latin typeface="Verdana"/>
                <a:cs typeface="Verdana"/>
              </a:rPr>
              <a:t>1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0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0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-1 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0 x 2</a:t>
            </a:r>
            <a:r>
              <a:rPr dirty="0" baseline="23148" sz="1800">
                <a:solidFill>
                  <a:srgbClr val="333333"/>
                </a:solidFill>
                <a:latin typeface="Verdana"/>
                <a:cs typeface="Verdana"/>
              </a:rPr>
              <a:t>-2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 x</a:t>
            </a:r>
            <a:r>
              <a:rPr dirty="0" sz="180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r>
              <a:rPr dirty="0" baseline="23148" sz="1800" spc="7">
                <a:solidFill>
                  <a:srgbClr val="333333"/>
                </a:solidFill>
                <a:latin typeface="Verdana"/>
                <a:cs typeface="Verdana"/>
              </a:rPr>
              <a:t>-3</a:t>
            </a:r>
            <a:endParaRPr baseline="23148" sz="1800">
              <a:latin typeface="Verdana"/>
              <a:cs typeface="Verdana"/>
            </a:endParaRPr>
          </a:p>
          <a:p>
            <a:pPr marL="167640">
              <a:lnSpc>
                <a:spcPct val="100000"/>
              </a:lnSpc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4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0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+ 0.5 +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0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+</a:t>
            </a:r>
            <a:r>
              <a:rPr dirty="0" sz="180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0.125</a:t>
            </a:r>
            <a:endParaRPr sz="1800">
              <a:latin typeface="Verdana"/>
              <a:cs typeface="Verdana"/>
            </a:endParaRPr>
          </a:p>
          <a:p>
            <a:pPr marL="167640">
              <a:lnSpc>
                <a:spcPct val="100000"/>
              </a:lnSpc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1800" spc="-1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6.625</a:t>
            </a:r>
            <a:r>
              <a:rPr dirty="0" baseline="-23148" sz="1800">
                <a:solidFill>
                  <a:srgbClr val="333333"/>
                </a:solidFill>
                <a:latin typeface="Verdana"/>
                <a:cs typeface="Verdana"/>
              </a:rPr>
              <a:t>10</a:t>
            </a:r>
            <a:endParaRPr baseline="-23148"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6044" y="682752"/>
            <a:ext cx="6488430" cy="94297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0" marR="5080">
              <a:lnSpc>
                <a:spcPct val="100000"/>
              </a:lnSpc>
            </a:pPr>
            <a:r>
              <a:rPr dirty="0" sz="2400"/>
              <a:t>Formation </a:t>
            </a:r>
            <a:r>
              <a:rPr dirty="0" sz="2400"/>
              <a:t>of </a:t>
            </a:r>
            <a:r>
              <a:rPr dirty="0" sz="2400" spc="-5"/>
              <a:t>Fractional </a:t>
            </a:r>
            <a:r>
              <a:rPr dirty="0" sz="2400" spc="-5"/>
              <a:t>Numbers </a:t>
            </a:r>
            <a:r>
              <a:rPr dirty="0" sz="2400" spc="10"/>
              <a:t>in  </a:t>
            </a:r>
            <a:r>
              <a:rPr dirty="0" sz="2400"/>
              <a:t>Binary </a:t>
            </a:r>
            <a:r>
              <a:rPr dirty="0" sz="2400" spc="-5"/>
              <a:t>Number </a:t>
            </a:r>
            <a:r>
              <a:rPr dirty="0" sz="2400"/>
              <a:t>System</a:t>
            </a:r>
            <a:r>
              <a:rPr dirty="0" sz="2400" spc="-55"/>
              <a:t> </a:t>
            </a:r>
            <a:r>
              <a:rPr dirty="0" sz="2400" spc="-5"/>
              <a:t>(Example)</a:t>
            </a:r>
            <a:endParaRPr sz="2400"/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dirty="0" sz="1000" b="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b="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b="0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37563" y="2724911"/>
            <a:ext cx="923290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10">
                <a:solidFill>
                  <a:srgbClr val="333333"/>
                </a:solidFill>
                <a:latin typeface="Verdana"/>
                <a:cs typeface="Verdana"/>
              </a:rPr>
              <a:t>P</a:t>
            </a:r>
            <a:r>
              <a:rPr dirty="0" sz="1800" spc="10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1800" spc="0">
                <a:solidFill>
                  <a:srgbClr val="333333"/>
                </a:solidFill>
                <a:latin typeface="Verdana"/>
                <a:cs typeface="Verdana"/>
              </a:rPr>
              <a:t>it</a:t>
            </a:r>
            <a:r>
              <a:rPr dirty="0" sz="1800" spc="-20">
                <a:solidFill>
                  <a:srgbClr val="333333"/>
                </a:solidFill>
                <a:latin typeface="Verdana"/>
                <a:cs typeface="Verdana"/>
              </a:rPr>
              <a:t>i</a:t>
            </a:r>
            <a:r>
              <a:rPr dirty="0" sz="1800" spc="10">
                <a:solidFill>
                  <a:srgbClr val="333333"/>
                </a:solidFill>
                <a:latin typeface="Verdana"/>
                <a:cs typeface="Verdana"/>
              </a:rPr>
              <a:t>o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3688" y="2724911"/>
            <a:ext cx="17081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3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21784" y="2597911"/>
            <a:ext cx="3051175" cy="438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615950" algn="l"/>
                <a:tab pos="1222375" algn="l"/>
                <a:tab pos="1673225" algn="l"/>
                <a:tab pos="2057400" algn="l"/>
                <a:tab pos="2788920" algn="l"/>
              </a:tabLst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2	1	0	</a:t>
            </a:r>
            <a:r>
              <a:rPr dirty="0" sz="2800" b="1">
                <a:solidFill>
                  <a:srgbClr val="333333"/>
                </a:solidFill>
                <a:latin typeface="Times New Roman"/>
                <a:cs typeface="Times New Roman"/>
              </a:rPr>
              <a:t>.</a:t>
            </a:r>
            <a:r>
              <a:rPr dirty="0" sz="2800" b="1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-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1	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-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97164" y="2724911"/>
            <a:ext cx="27495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-3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7563" y="3307079"/>
            <a:ext cx="1637030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Position</a:t>
            </a:r>
            <a:r>
              <a:rPr dirty="0" sz="1800" spc="-1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Value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53155" y="3243071"/>
            <a:ext cx="269240" cy="344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-15432" sz="2700" spc="15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sz="1200">
                <a:solidFill>
                  <a:srgbClr val="333333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00220" y="3243071"/>
            <a:ext cx="1475740" cy="344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88645" algn="l"/>
                <a:tab pos="1219200" algn="l"/>
              </a:tabLst>
            </a:pPr>
            <a:r>
              <a:rPr dirty="0" baseline="-15432" sz="2700" spc="7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sz="1200">
                <a:solidFill>
                  <a:srgbClr val="333333"/>
                </a:solidFill>
                <a:latin typeface="Verdana"/>
                <a:cs typeface="Verdana"/>
              </a:rPr>
              <a:t>2	</a:t>
            </a:r>
            <a:r>
              <a:rPr dirty="0" baseline="-15432" sz="2700" spc="7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sz="1200">
                <a:solidFill>
                  <a:srgbClr val="333333"/>
                </a:solidFill>
                <a:latin typeface="Verdana"/>
                <a:cs typeface="Verdana"/>
              </a:rPr>
              <a:t>1	</a:t>
            </a:r>
            <a:r>
              <a:rPr dirty="0" baseline="-15432" sz="2700" spc="7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sz="1200">
                <a:solidFill>
                  <a:srgbClr val="333333"/>
                </a:solidFill>
                <a:latin typeface="Verdana"/>
                <a:cs typeface="Verdana"/>
              </a:rPr>
              <a:t>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2755" y="3243071"/>
            <a:ext cx="339725" cy="344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-15432" sz="2700" spc="7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sz="1200" spc="5">
                <a:solidFill>
                  <a:srgbClr val="333333"/>
                </a:solidFill>
                <a:latin typeface="Verdana"/>
                <a:cs typeface="Verdana"/>
              </a:rPr>
              <a:t>-1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04380" y="3243071"/>
            <a:ext cx="339725" cy="344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-15432" sz="2700" spc="7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sz="1200" spc="5">
                <a:solidFill>
                  <a:srgbClr val="333333"/>
                </a:solidFill>
                <a:latin typeface="Verdana"/>
                <a:cs typeface="Verdana"/>
              </a:rPr>
              <a:t>-2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57819" y="3243071"/>
            <a:ext cx="334010" cy="344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-15432" sz="2700" spc="7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sz="1200" spc="-20">
                <a:solidFill>
                  <a:srgbClr val="333333"/>
                </a:solidFill>
                <a:latin typeface="Verdana"/>
                <a:cs typeface="Verdana"/>
              </a:rPr>
              <a:t>-3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95268" y="3855720"/>
            <a:ext cx="108267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777240" algn="l"/>
              </a:tabLst>
            </a:pP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51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2	</a:t>
            </a: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6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4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25364" y="3855720"/>
            <a:ext cx="17081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31916" y="3855720"/>
            <a:ext cx="17081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78955" y="3791711"/>
            <a:ext cx="323850" cy="396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5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r>
              <a:rPr dirty="0" baseline="-15432" sz="2700" spc="-15">
                <a:solidFill>
                  <a:srgbClr val="333333"/>
                </a:solidFill>
                <a:latin typeface="Verdana"/>
                <a:cs typeface="Verdana"/>
              </a:rPr>
              <a:t>/</a:t>
            </a:r>
            <a:r>
              <a:rPr dirty="0" baseline="-46296" sz="1800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endParaRPr baseline="-46296"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04380" y="3919728"/>
            <a:ext cx="415925" cy="267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05"/>
              </a:lnSpc>
            </a:pPr>
            <a:r>
              <a:rPr dirty="0" baseline="46296" sz="1800" spc="7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r>
              <a:rPr dirty="0" baseline="15432" sz="2700" spc="-15">
                <a:solidFill>
                  <a:srgbClr val="333333"/>
                </a:solidFill>
                <a:latin typeface="Verdana"/>
                <a:cs typeface="Verdana"/>
              </a:rPr>
              <a:t>/</a:t>
            </a:r>
            <a:r>
              <a:rPr dirty="0" sz="1200" spc="-20">
                <a:solidFill>
                  <a:srgbClr val="333333"/>
                </a:solidFill>
                <a:latin typeface="Verdana"/>
                <a:cs typeface="Verdana"/>
              </a:rPr>
              <a:t>64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09635" y="3919728"/>
            <a:ext cx="512445" cy="267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05"/>
              </a:lnSpc>
            </a:pPr>
            <a:r>
              <a:rPr dirty="0" baseline="46296" sz="1800" spc="7">
                <a:solidFill>
                  <a:srgbClr val="333333"/>
                </a:solidFill>
                <a:latin typeface="Verdana"/>
                <a:cs typeface="Verdana"/>
              </a:rPr>
              <a:t>1</a:t>
            </a:r>
            <a:r>
              <a:rPr dirty="0" baseline="15432" sz="2700" spc="-15">
                <a:solidFill>
                  <a:srgbClr val="333333"/>
                </a:solidFill>
                <a:latin typeface="Verdana"/>
                <a:cs typeface="Verdana"/>
              </a:rPr>
              <a:t>/</a:t>
            </a:r>
            <a:r>
              <a:rPr dirty="0" sz="1200">
                <a:solidFill>
                  <a:srgbClr val="333333"/>
                </a:solidFill>
                <a:latin typeface="Verdana"/>
                <a:cs typeface="Verdana"/>
              </a:rPr>
              <a:t>5</a:t>
            </a:r>
            <a:r>
              <a:rPr dirty="0" sz="1200" spc="-20">
                <a:solidFill>
                  <a:srgbClr val="333333"/>
                </a:solidFill>
                <a:latin typeface="Verdana"/>
                <a:cs typeface="Verdana"/>
              </a:rPr>
              <a:t>12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37563" y="3855720"/>
            <a:ext cx="1471930" cy="555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Quantity 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R</a:t>
            </a: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ep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r</a:t>
            </a: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s</a:t>
            </a: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1800" spc="-15">
                <a:solidFill>
                  <a:srgbClr val="333333"/>
                </a:solidFill>
                <a:latin typeface="Verdana"/>
                <a:cs typeface="Verdana"/>
              </a:rPr>
              <a:t>n</a:t>
            </a:r>
            <a:r>
              <a:rPr dirty="0" sz="1800" spc="10">
                <a:solidFill>
                  <a:srgbClr val="333333"/>
                </a:solidFill>
                <a:latin typeface="Verdana"/>
                <a:cs typeface="Verdana"/>
              </a:rPr>
              <a:t>ted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88355" y="2080767"/>
            <a:ext cx="1409700" cy="310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Octal</a:t>
            </a:r>
            <a:r>
              <a:rPr dirty="0" sz="2000" spc="-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Point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001511" y="2395727"/>
            <a:ext cx="76200" cy="253365"/>
          </a:xfrm>
          <a:custGeom>
            <a:avLst/>
            <a:gdLst/>
            <a:ahLst/>
            <a:cxnLst/>
            <a:rect l="l" t="t" r="r" b="b"/>
            <a:pathLst>
              <a:path w="76200" h="253364">
                <a:moveTo>
                  <a:pt x="33527" y="201168"/>
                </a:moveTo>
                <a:lnTo>
                  <a:pt x="0" y="201168"/>
                </a:lnTo>
                <a:lnTo>
                  <a:pt x="36575" y="252984"/>
                </a:lnTo>
                <a:lnTo>
                  <a:pt x="62215" y="219456"/>
                </a:lnTo>
                <a:lnTo>
                  <a:pt x="36575" y="219456"/>
                </a:lnTo>
                <a:lnTo>
                  <a:pt x="33527" y="213360"/>
                </a:lnTo>
                <a:lnTo>
                  <a:pt x="33527" y="201168"/>
                </a:lnTo>
                <a:close/>
              </a:path>
              <a:path w="76200" h="253364">
                <a:moveTo>
                  <a:pt x="36575" y="0"/>
                </a:moveTo>
                <a:lnTo>
                  <a:pt x="33527" y="3048"/>
                </a:lnTo>
                <a:lnTo>
                  <a:pt x="33527" y="213360"/>
                </a:lnTo>
                <a:lnTo>
                  <a:pt x="36575" y="219456"/>
                </a:lnTo>
                <a:lnTo>
                  <a:pt x="42672" y="213360"/>
                </a:lnTo>
                <a:lnTo>
                  <a:pt x="42672" y="3048"/>
                </a:lnTo>
                <a:lnTo>
                  <a:pt x="36575" y="0"/>
                </a:lnTo>
                <a:close/>
              </a:path>
              <a:path w="76200" h="253364">
                <a:moveTo>
                  <a:pt x="76200" y="201168"/>
                </a:moveTo>
                <a:lnTo>
                  <a:pt x="42672" y="201168"/>
                </a:lnTo>
                <a:lnTo>
                  <a:pt x="42672" y="213360"/>
                </a:lnTo>
                <a:lnTo>
                  <a:pt x="36575" y="219456"/>
                </a:lnTo>
                <a:lnTo>
                  <a:pt x="62215" y="219456"/>
                </a:lnTo>
                <a:lnTo>
                  <a:pt x="76200" y="2011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74852" y="682752"/>
            <a:ext cx="6119495" cy="7315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2400"/>
              <a:t>Formation </a:t>
            </a:r>
            <a:r>
              <a:rPr dirty="0" sz="2400"/>
              <a:t>of </a:t>
            </a:r>
            <a:r>
              <a:rPr dirty="0" sz="2400" spc="-5"/>
              <a:t>Fractional </a:t>
            </a:r>
            <a:r>
              <a:rPr dirty="0" sz="2400" spc="-5"/>
              <a:t>Numbers </a:t>
            </a:r>
            <a:r>
              <a:rPr dirty="0" sz="2400" spc="10"/>
              <a:t>in  </a:t>
            </a:r>
            <a:r>
              <a:rPr dirty="0" sz="2400"/>
              <a:t>Octal </a:t>
            </a:r>
            <a:r>
              <a:rPr dirty="0" sz="2400" spc="-5"/>
              <a:t>Number </a:t>
            </a:r>
            <a:r>
              <a:rPr dirty="0" sz="2400" spc="-5"/>
              <a:t>System</a:t>
            </a:r>
            <a:r>
              <a:rPr dirty="0" sz="2400" spc="-40"/>
              <a:t> </a:t>
            </a:r>
            <a:r>
              <a:rPr dirty="0" sz="2400" spc="-5"/>
              <a:t>(Example)</a:t>
            </a:r>
            <a:endParaRPr sz="2400"/>
          </a:p>
        </p:txBody>
      </p:sp>
      <p:sp>
        <p:nvSpPr>
          <p:cNvPr id="25" name="object 25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33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35</a:t>
            </a:fld>
            <a:r>
              <a:rPr dirty="0" spc="-10"/>
              <a:t>/40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406131" y="6339840"/>
            <a:ext cx="17056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solidFill>
                  <a:srgbClr val="4D4D4D"/>
                </a:solidFill>
                <a:latin typeface="Arial"/>
                <a:cs typeface="Arial"/>
              </a:rPr>
              <a:t>(Continued on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next</a:t>
            </a:r>
            <a:r>
              <a:rPr dirty="0" sz="1200" spc="-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D4D4D"/>
                </a:solidFill>
                <a:latin typeface="Arial"/>
                <a:cs typeface="Arial"/>
              </a:rPr>
              <a:t>slide)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06044" y="1473200"/>
            <a:ext cx="7894955" cy="2557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i="1">
                <a:solidFill>
                  <a:srgbClr val="4D4D4D"/>
                </a:solidFill>
                <a:latin typeface="Verdana"/>
                <a:cs typeface="Verdana"/>
              </a:rPr>
              <a:t>(Continued from previous</a:t>
            </a:r>
            <a:r>
              <a:rPr dirty="0" sz="1000" spc="-30" i="1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dirty="0" sz="1000" spc="-5" i="1">
                <a:solidFill>
                  <a:srgbClr val="4D4D4D"/>
                </a:solidFill>
                <a:latin typeface="Verdana"/>
                <a:cs typeface="Verdana"/>
              </a:rPr>
              <a:t>slide..)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Times New Roman"/>
              <a:cs typeface="Times New Roman"/>
            </a:endParaRPr>
          </a:p>
          <a:p>
            <a:pPr marL="832485">
              <a:lnSpc>
                <a:spcPct val="100000"/>
              </a:lnSpc>
            </a:pPr>
            <a:r>
              <a:rPr dirty="0" sz="2000" spc="-10" b="1">
                <a:solidFill>
                  <a:srgbClr val="333333"/>
                </a:solidFill>
                <a:latin typeface="Verdana"/>
                <a:cs typeface="Verdana"/>
              </a:rPr>
              <a:t>Example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832485">
              <a:lnSpc>
                <a:spcPct val="100000"/>
              </a:lnSpc>
              <a:spcBef>
                <a:spcPts val="1300"/>
              </a:spcBef>
              <a:tabLst>
                <a:tab pos="2103120" algn="l"/>
              </a:tabLst>
            </a:pP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127.54</a:t>
            </a:r>
            <a:r>
              <a:rPr dirty="0" baseline="-25641" sz="1950" spc="-7">
                <a:solidFill>
                  <a:srgbClr val="333333"/>
                </a:solidFill>
                <a:latin typeface="Verdana"/>
                <a:cs typeface="Verdana"/>
              </a:rPr>
              <a:t>8	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 x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baseline="25641" sz="1950" spc="7">
                <a:solidFill>
                  <a:srgbClr val="333333"/>
                </a:solidFill>
                <a:latin typeface="Verdana"/>
                <a:cs typeface="Verdana"/>
              </a:rPr>
              <a:t>2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2 x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baseline="25641" sz="1950">
                <a:solidFill>
                  <a:srgbClr val="333333"/>
                </a:solidFill>
                <a:latin typeface="Verdana"/>
                <a:cs typeface="Verdana"/>
              </a:rPr>
              <a:t>1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7 x </a:t>
            </a:r>
            <a:r>
              <a:rPr dirty="0" sz="2000" spc="5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baseline="25641" sz="1950" spc="7">
                <a:solidFill>
                  <a:srgbClr val="333333"/>
                </a:solidFill>
                <a:latin typeface="Verdana"/>
                <a:cs typeface="Verdana"/>
              </a:rPr>
              <a:t>0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5 x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baseline="25641" sz="1950">
                <a:solidFill>
                  <a:srgbClr val="333333"/>
                </a:solidFill>
                <a:latin typeface="Verdana"/>
                <a:cs typeface="Verdana"/>
              </a:rPr>
              <a:t>-1 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4 x</a:t>
            </a:r>
            <a:r>
              <a:rPr dirty="0" sz="2000" spc="5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8</a:t>
            </a:r>
            <a:r>
              <a:rPr dirty="0" baseline="25641" sz="1950">
                <a:solidFill>
                  <a:srgbClr val="333333"/>
                </a:solidFill>
                <a:latin typeface="Verdana"/>
                <a:cs typeface="Verdana"/>
              </a:rPr>
              <a:t>-2</a:t>
            </a:r>
            <a:endParaRPr baseline="25641" sz="1950">
              <a:latin typeface="Verdana"/>
              <a:cs typeface="Verdana"/>
            </a:endParaRPr>
          </a:p>
          <a:p>
            <a:pPr marL="2145665">
              <a:lnSpc>
                <a:spcPct val="100000"/>
              </a:lnSpc>
              <a:spcBef>
                <a:spcPts val="600"/>
              </a:spcBef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64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16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7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baseline="25641" sz="1950" spc="-7">
                <a:solidFill>
                  <a:srgbClr val="333333"/>
                </a:solidFill>
                <a:latin typeface="Verdana"/>
                <a:cs typeface="Verdana"/>
              </a:rPr>
              <a:t>5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/</a:t>
            </a:r>
            <a:r>
              <a:rPr dirty="0" baseline="-21367" sz="1950" spc="-7">
                <a:solidFill>
                  <a:srgbClr val="333333"/>
                </a:solidFill>
                <a:latin typeface="Verdana"/>
                <a:cs typeface="Verdana"/>
              </a:rPr>
              <a:t>8 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</a:t>
            </a:r>
            <a:r>
              <a:rPr dirty="0" sz="2000" spc="-2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baseline="25641" sz="1950" spc="-7">
                <a:solidFill>
                  <a:srgbClr val="333333"/>
                </a:solidFill>
                <a:latin typeface="Verdana"/>
                <a:cs typeface="Verdana"/>
              </a:rPr>
              <a:t>4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/</a:t>
            </a:r>
            <a:r>
              <a:rPr dirty="0" baseline="-21367" sz="1950" spc="-7">
                <a:solidFill>
                  <a:srgbClr val="333333"/>
                </a:solidFill>
                <a:latin typeface="Verdana"/>
                <a:cs typeface="Verdana"/>
              </a:rPr>
              <a:t>64</a:t>
            </a:r>
            <a:endParaRPr baseline="-21367" sz="1950">
              <a:latin typeface="Verdana"/>
              <a:cs typeface="Verdana"/>
            </a:endParaRPr>
          </a:p>
          <a:p>
            <a:pPr marL="2146300">
              <a:lnSpc>
                <a:spcPct val="100000"/>
              </a:lnSpc>
              <a:spcBef>
                <a:spcPts val="600"/>
              </a:spcBef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87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 </a:t>
            </a:r>
            <a:r>
              <a:rPr dirty="0" sz="2000">
                <a:solidFill>
                  <a:srgbClr val="333333"/>
                </a:solidFill>
                <a:latin typeface="Verdana"/>
                <a:cs typeface="Verdana"/>
              </a:rPr>
              <a:t>0.625 </a:t>
            </a: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+</a:t>
            </a:r>
            <a:r>
              <a:rPr dirty="0" sz="2000" spc="-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0.0625</a:t>
            </a:r>
            <a:endParaRPr sz="2000">
              <a:latin typeface="Verdana"/>
              <a:cs typeface="Verdana"/>
            </a:endParaRPr>
          </a:p>
          <a:p>
            <a:pPr marL="2146300">
              <a:lnSpc>
                <a:spcPct val="100000"/>
              </a:lnSpc>
              <a:spcBef>
                <a:spcPts val="600"/>
              </a:spcBef>
            </a:pPr>
            <a:r>
              <a:rPr dirty="0" sz="2000" spc="-10">
                <a:solidFill>
                  <a:srgbClr val="333333"/>
                </a:solidFill>
                <a:latin typeface="Verdana"/>
                <a:cs typeface="Verdana"/>
              </a:rPr>
              <a:t>=</a:t>
            </a:r>
            <a:r>
              <a:rPr dirty="0" sz="2000" spc="-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2000" spc="-5">
                <a:solidFill>
                  <a:srgbClr val="333333"/>
                </a:solidFill>
                <a:latin typeface="Verdana"/>
                <a:cs typeface="Verdana"/>
              </a:rPr>
              <a:t>87.6875</a:t>
            </a:r>
            <a:r>
              <a:rPr dirty="0" baseline="-25641" sz="1950" spc="-7">
                <a:solidFill>
                  <a:srgbClr val="333333"/>
                </a:solidFill>
                <a:latin typeface="Verdana"/>
                <a:cs typeface="Verdana"/>
              </a:rPr>
              <a:t>10</a:t>
            </a:r>
            <a:endParaRPr baseline="-25641" sz="19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33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35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74852" y="682752"/>
            <a:ext cx="6119495" cy="7315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2400"/>
              <a:t>Formation </a:t>
            </a:r>
            <a:r>
              <a:rPr dirty="0" sz="2400"/>
              <a:t>of </a:t>
            </a:r>
            <a:r>
              <a:rPr dirty="0" sz="2400" spc="-5"/>
              <a:t>Fractional </a:t>
            </a:r>
            <a:r>
              <a:rPr dirty="0" sz="2400" spc="-5"/>
              <a:t>Numbers </a:t>
            </a:r>
            <a:r>
              <a:rPr dirty="0" sz="2400" spc="10"/>
              <a:t>in  </a:t>
            </a:r>
            <a:r>
              <a:rPr dirty="0" sz="2400"/>
              <a:t>Octal </a:t>
            </a:r>
            <a:r>
              <a:rPr dirty="0" sz="2400" spc="-5"/>
              <a:t>Number </a:t>
            </a:r>
            <a:r>
              <a:rPr dirty="0" sz="2400" spc="-5"/>
              <a:t>System</a:t>
            </a:r>
            <a:r>
              <a:rPr dirty="0" sz="2400" spc="-40"/>
              <a:t> </a:t>
            </a:r>
            <a:r>
              <a:rPr dirty="0" sz="2400" spc="-5"/>
              <a:t>(Example)</a:t>
            </a:r>
            <a:endParaRPr sz="2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59" y="450088"/>
            <a:ext cx="5076825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5">
                <a:latin typeface="Verdana"/>
                <a:cs typeface="Verdana"/>
              </a:rPr>
              <a:t>Computer </a:t>
            </a:r>
            <a:r>
              <a:rPr dirty="0" sz="1400" spc="-5">
                <a:latin typeface="Verdana"/>
                <a:cs typeface="Verdana"/>
              </a:rPr>
              <a:t>Fundamentals: </a:t>
            </a:r>
            <a:r>
              <a:rPr dirty="0" sz="1400">
                <a:latin typeface="Verdana"/>
                <a:cs typeface="Verdana"/>
              </a:rPr>
              <a:t>Pradeep </a:t>
            </a:r>
            <a:r>
              <a:rPr dirty="0" sz="1400" spc="-5">
                <a:latin typeface="Verdana"/>
                <a:cs typeface="Verdana"/>
              </a:rPr>
              <a:t>K. </a:t>
            </a:r>
            <a:r>
              <a:rPr dirty="0" sz="1400" spc="-5">
                <a:latin typeface="Verdana"/>
                <a:cs typeface="Verdana"/>
              </a:rPr>
              <a:t>Sinha </a:t>
            </a:r>
            <a:r>
              <a:rPr dirty="0" sz="1400" spc="-10">
                <a:latin typeface="Verdana"/>
                <a:cs typeface="Verdana"/>
              </a:rPr>
              <a:t>&amp; </a:t>
            </a:r>
            <a:r>
              <a:rPr dirty="0" sz="1400">
                <a:latin typeface="Verdana"/>
                <a:cs typeface="Verdana"/>
              </a:rPr>
              <a:t>Priti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Sinha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6312408"/>
            <a:ext cx="9144000" cy="1002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pc="-10"/>
              <a:t>Key</a:t>
            </a:r>
            <a:r>
              <a:rPr dirty="0" spc="-50"/>
              <a:t> </a:t>
            </a:r>
            <a:r>
              <a:rPr dirty="0" spc="-5"/>
              <a:t>Words/Phrases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76731" y="7083104"/>
            <a:ext cx="1180465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  <a:tabLst>
                <a:tab pos="941705" algn="l"/>
              </a:tabLst>
            </a:pPr>
            <a:r>
              <a:rPr dirty="0" sz="1400" spc="-20">
                <a:solidFill>
                  <a:srgbClr val="FFFF00"/>
                </a:solidFill>
                <a:latin typeface="Verdana"/>
                <a:cs typeface="Verdana"/>
              </a:rPr>
              <a:t>R</a:t>
            </a:r>
            <a:r>
              <a:rPr dirty="0" sz="1400" spc="0">
                <a:solidFill>
                  <a:srgbClr val="FFFF00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f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Page</a:t>
            </a:r>
            <a:r>
              <a:rPr dirty="0" sz="1400">
                <a:solidFill>
                  <a:srgbClr val="FFFF00"/>
                </a:solidFill>
                <a:latin typeface="Verdana"/>
                <a:cs typeface="Verdana"/>
              </a:rPr>
              <a:t>	</a:t>
            </a:r>
            <a:r>
              <a:rPr dirty="0" sz="1400" spc="-5">
                <a:solidFill>
                  <a:srgbClr val="FFFF00"/>
                </a:solidFill>
                <a:latin typeface="Verdana"/>
                <a:cs typeface="Verdana"/>
              </a:rPr>
              <a:t>34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Chapter 3: Number</a:t>
            </a:r>
            <a:r>
              <a:rPr dirty="0" spc="-55"/>
              <a:t> </a:t>
            </a:r>
            <a:r>
              <a:rPr dirty="0"/>
              <a:t>Systems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0"/>
              </a:lnSpc>
            </a:pPr>
            <a:r>
              <a:rPr dirty="0" spc="-5"/>
              <a:t>Slide</a:t>
            </a:r>
            <a:r>
              <a:rPr dirty="0" spc="-80"/>
              <a:t> </a:t>
            </a:r>
            <a:fld id="{81D60167-4931-47E6-BA6A-407CBD079E47}" type="slidenum">
              <a:rPr dirty="0" spc="-10"/>
              <a:t>40</a:t>
            </a:fld>
            <a:r>
              <a:rPr dirty="0" spc="-10"/>
              <a:t>/40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22908" y="1749552"/>
            <a:ext cx="3700779" cy="22053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241300" algn="l"/>
              </a:tabLst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endParaRPr sz="18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241300" algn="l"/>
              </a:tabLst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Binary number</a:t>
            </a:r>
            <a:r>
              <a:rPr dirty="0" sz="1800" spc="-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18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241300" algn="l"/>
              </a:tabLst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Binary</a:t>
            </a:r>
            <a:r>
              <a:rPr dirty="0" sz="1800" spc="-1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point</a:t>
            </a:r>
            <a:endParaRPr sz="18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241300" algn="l"/>
              </a:tabLst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Bit</a:t>
            </a:r>
            <a:endParaRPr sz="18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241300" algn="l"/>
              </a:tabLst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Decimal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r>
              <a:rPr dirty="0" sz="1800" spc="-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18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241300" algn="l"/>
              </a:tabLst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Division-Remainder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technique</a:t>
            </a:r>
            <a:endParaRPr sz="18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241300" algn="l"/>
              </a:tabLst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Fractional</a:t>
            </a:r>
            <a:r>
              <a:rPr dirty="0" sz="1800" spc="-6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numbers</a:t>
            </a:r>
            <a:endParaRPr sz="18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241300" algn="l"/>
              </a:tabLst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Hexadecimal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r>
              <a:rPr dirty="0" sz="1800" spc="-7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08396" y="1767840"/>
            <a:ext cx="3516629" cy="2208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241300" algn="l"/>
              </a:tabLst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Least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Significant </a:t>
            </a: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Digit</a:t>
            </a:r>
            <a:r>
              <a:rPr dirty="0" sz="180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(LSD)</a:t>
            </a:r>
            <a:endParaRPr sz="18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241300" algn="l"/>
              </a:tabLst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Memory</a:t>
            </a:r>
            <a:r>
              <a:rPr dirty="0" sz="1800" spc="-1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dump</a:t>
            </a:r>
            <a:endParaRPr sz="18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241300" algn="l"/>
              </a:tabLst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Most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Significant </a:t>
            </a:r>
            <a:r>
              <a:rPr dirty="0" sz="1800" spc="5">
                <a:solidFill>
                  <a:srgbClr val="333333"/>
                </a:solidFill>
                <a:latin typeface="Verdana"/>
                <a:cs typeface="Verdana"/>
              </a:rPr>
              <a:t>Digit</a:t>
            </a:r>
            <a:r>
              <a:rPr dirty="0" sz="1800" spc="-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(MSD)</a:t>
            </a:r>
            <a:endParaRPr sz="1800">
              <a:latin typeface="Verdana"/>
              <a:cs typeface="Verdana"/>
            </a:endParaRPr>
          </a:p>
          <a:p>
            <a:pPr marL="241300" marR="638810" indent="-2286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241300" algn="l"/>
              </a:tabLst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Non-positional</a:t>
            </a:r>
            <a:r>
              <a:rPr dirty="0" sz="1800" spc="-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number 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18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241300" algn="l"/>
              </a:tabLst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r>
              <a:rPr dirty="0" sz="1800" spc="-6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18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lr>
                <a:srgbClr val="FF3300"/>
              </a:buClr>
              <a:buFont typeface="Wingdings"/>
              <a:buChar char=""/>
              <a:tabLst>
                <a:tab pos="241300" algn="l"/>
              </a:tabLst>
            </a:pP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Octal </a:t>
            </a: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r>
              <a:rPr dirty="0" sz="1800" spc="-6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18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Clr>
                <a:srgbClr val="FF3300"/>
              </a:buClr>
              <a:buFont typeface="Wingdings"/>
              <a:buChar char=""/>
              <a:tabLst>
                <a:tab pos="241300" algn="l"/>
              </a:tabLst>
            </a:pPr>
            <a:r>
              <a:rPr dirty="0" sz="1800" spc="-5">
                <a:solidFill>
                  <a:srgbClr val="333333"/>
                </a:solidFill>
                <a:latin typeface="Verdana"/>
                <a:cs typeface="Verdana"/>
              </a:rPr>
              <a:t>Positional number</a:t>
            </a:r>
            <a:r>
              <a:rPr dirty="0" sz="180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Pradeep K. Sinha &amp; Priti Sinha</dc:creator>
  <dc:title>Chapter 3-Number System.ppt</dc:title>
  <dcterms:created xsi:type="dcterms:W3CDTF">2016-10-18T03:35:47Z</dcterms:created>
  <dcterms:modified xsi:type="dcterms:W3CDTF">2016-10-18T03:35:47Z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2007-06-10T00:00:00Z</vt:filetime>
  </property>
  <property fmtid="{D5CDD505-2E9C-101B-9397-08002B2CF9AE}" pid="3" name="Creator">
    <vt:lpwstr>pdfFactory Pro www.pdffactory.com</vt:lpwstr>
  </property>
  <property fmtid="{D5CDD505-2E9C-101B-9397-08002B2CF9AE}" pid="4" name="LastSaved">
    <vt:filetime>2016-10-18T00:00:00Z</vt:filetime>
  </property>
</Properties>
</file>