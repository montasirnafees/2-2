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<Relationship Id="rId3" Type="http://schemas.openxmlformats.org/package/2006/relationships/metadata/core-properties" Target="docProps/core.xml" />
 <Relationship Id="rId1" Type="http://schemas.openxmlformats.org/officeDocument/2006/relationships/officeDocument" Target="ppt/presentation.xml" />
 <Relationship Id="rId4" Type="http://schemas.openxmlformats.org/officeDocument/2006/relationships/extended-properties" Target="docProps/app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0058400" cy="7772400"/>
  <p:notesSz cx="6858000" cy="9144000"/>
  <p:defaultTextStyle>
    <a:defPPr>
      <a:defRPr lang="en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14" y="-72"/>
      </p:cViewPr>
      <p:guideLst>
        <p:guide orient="horz" pos="3016"/>
        <p:guide pos="2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Master" Target="slideMasters/slideMaster1.xml" />
 <Relationship Id="rId2" Type="http://schemas.openxmlformats.org/officeDocument/2006/relationships/slide" Target="slides/slide1.xml" />
 <Relationship Id="rId3" Type="http://schemas.openxmlformats.org/officeDocument/2006/relationships/slide" Target="slides/slide2.xml" />
 <Relationship Id="rId4" Type="http://schemas.openxmlformats.org/officeDocument/2006/relationships/slide" Target="slides/slide3.xml" />
 <Relationship Id="rId5" Type="http://schemas.openxmlformats.org/officeDocument/2006/relationships/slide" Target="slides/slide4.xml" />
 <Relationship Id="rId6" Type="http://schemas.openxmlformats.org/officeDocument/2006/relationships/slide" Target="slides/slide5.xml" />
 <Relationship Id="rId7" Type="http://schemas.openxmlformats.org/officeDocument/2006/relationships/slide" Target="slides/slide6.xml" />
 <Relationship Id="rId8" Type="http://schemas.openxmlformats.org/officeDocument/2006/relationships/slide" Target="slides/slide7.xml" />
 <Relationship Id="rId9" Type="http://schemas.openxmlformats.org/officeDocument/2006/relationships/slide" Target="slides/slide8.xml" />
 <Relationship Id="rId10" Type="http://schemas.openxmlformats.org/officeDocument/2006/relationships/slide" Target="slides/slide9.xml" />
 <Relationship Id="rId11" Type="http://schemas.openxmlformats.org/officeDocument/2006/relationships/slide" Target="slides/slide10.xml" />
 <Relationship Id="rId12" Type="http://schemas.openxmlformats.org/officeDocument/2006/relationships/slide" Target="slides/slide11.xml" />
 <Relationship Id="rId13" Type="http://schemas.openxmlformats.org/officeDocument/2006/relationships/slide" Target="slides/slide12.xml" />
 <Relationship Id="rId14" Type="http://schemas.openxmlformats.org/officeDocument/2006/relationships/slide" Target="slides/slide13.xml" />
 <Relationship Id="rId15" Type="http://schemas.openxmlformats.org/officeDocument/2006/relationships/slide" Target="slides/slide14.xml" />
 <Relationship Id="rId16" Type="http://schemas.openxmlformats.org/officeDocument/2006/relationships/slide" Target="slides/slide15.xml" />
 <Relationship Id="rId17" Type="http://schemas.openxmlformats.org/officeDocument/2006/relationships/slide" Target="slides/slide16.xml" />
 <Relationship Id="rId18" Type="http://schemas.openxmlformats.org/officeDocument/2006/relationships/presProps" Target="presProps.xml" />
 <Relationship Id="rId19" Type="http://schemas.openxmlformats.org/officeDocument/2006/relationships/viewProps" Target="viewProps.xml" />
 <Relationship Id="rId20" Type="http://schemas.openxmlformats.org/officeDocument/2006/relationships/theme" Target="theme/theme1.xml" />
 <Relationship Id="rId21" Type="http://schemas.openxmlformats.org/officeDocument/2006/relationships/tableStyles" Target="tableStyles.xml" 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2450" y="2974705"/>
            <a:ext cx="6261100" cy="20525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5426288"/>
            <a:ext cx="5156200" cy="24471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3" y="6153339"/>
            <a:ext cx="6261100" cy="19018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863" y="4058633"/>
            <a:ext cx="6261100" cy="209470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300" y="2234355"/>
            <a:ext cx="3253317" cy="63195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44383" y="2234355"/>
            <a:ext cx="3253317" cy="63195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143474"/>
            <a:ext cx="3254596" cy="8932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300" y="3036771"/>
            <a:ext cx="3254596" cy="5517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41827" y="2143474"/>
            <a:ext cx="3255874" cy="8932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41827" y="3036771"/>
            <a:ext cx="3255874" cy="5517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1" y="381259"/>
            <a:ext cx="2423363" cy="16225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9901" y="381259"/>
            <a:ext cx="4117799" cy="81726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301" y="2003825"/>
            <a:ext cx="2423363" cy="65501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788" y="6703060"/>
            <a:ext cx="4419600" cy="7913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43788" y="855615"/>
            <a:ext cx="4419600" cy="57454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788" y="7494394"/>
            <a:ext cx="4419600" cy="11238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40350" y="536423"/>
            <a:ext cx="1657350" cy="114067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8300" y="536423"/>
            <a:ext cx="4849283" cy="1140672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234355"/>
            <a:ext cx="6629400" cy="6319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8523B-E035-4CAE-A96A-58211FC229D1}" type="datetimeFigureOut">
              <a:rPr lang="en-US" smtClean="0"/>
              <a:t>3/1/2011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DFF54-6BA4-4515-87CA-28703F844993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.jpeg" />
</Relationships>

</file>

<file path=ppt/slides/_rels/slide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2.jpeg" />
</Relationships>

</file>

<file path=ppt/slides/_rels/slide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3.jpeg" />
</Relationships>

</file>

<file path=ppt/slides/_rels/slide4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4.jpeg" />
</Relationships>

</file>

<file path=ppt/slides/_rels/slide5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5.jpeg" />
</Relationships>

</file>

<file path=ppt/slides/_rels/slide6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6.jpeg" />
</Relationships>

</file>

<file path=ppt/slides/_rels/slide7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7.jpeg" />
</Relationships>

</file>

<file path=ppt/slides/_rels/slide8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8.jpeg" />
</Relationships>

</file>

<file path=ppt/slides/_rels/slide9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9.jpeg" />
</Relationships>

</file>

<file path=ppt/slides/_rels/slide10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0.jpeg" />
</Relationships>

</file>

<file path=ppt/slides/_rels/slide1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1.jpeg" />
</Relationships>

</file>

<file path=ppt/slides/_rels/slide1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2.jpeg" />
</Relationships>

</file>

<file path=ppt/slides/_rels/slide1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3.jpeg" />
</Relationships>

</file>

<file path=ppt/slides/_rels/slide14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4.jpeg" />
</Relationships>

</file>

<file path=ppt/slides/_rels/slide15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5.jpeg" />
</Relationships>

</file>

<file path=ppt/slides/_rels/slide16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 />
 <Relationship Id="rId2" Type="http://schemas.openxmlformats.org/officeDocument/2006/relationships/image" Target="../media/image16.jpeg" 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0600" y="736600"/>
            <a:ext cx="90678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Learning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Objectives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1765300"/>
            <a:ext cx="8991600" cy="419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30"/>
              </a:lnSpc>
            </a:pPr>
            <a:r>
              <a:rPr lang="en-CA" sz="2217" b="1" smtClean="0">
                <a:solidFill>
                  <a:srgbClr val="333333"/>
                </a:solidFill>
                <a:latin typeface="Verdana Bold"/>
                <a:cs typeface="Verdana Bold"/>
              </a:rPr>
              <a:t>In this chapter you will learn about:</a:t>
            </a:r>
          </a:p>
          <a:p>
            <a:pPr>
              <a:lnSpc>
                <a:spcPts val="2530"/>
              </a:lnSpc>
            </a:pPr>
            <a:endParaRPr lang="en-CA" sz="2207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51000" y="2209800"/>
            <a:ext cx="84074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30200" algn="l"/>
              </a:tabLst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Basic operations performed by all types of computer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systems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51000" y="2844800"/>
            <a:ext cx="8407400" cy="876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Basic organization of a computer system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Input unit and its functions</a:t>
            </a:r>
          </a:p>
          <a:p>
            <a:pPr>
              <a:lnSpc>
                <a:spcPts val="3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51000" y="3695700"/>
            <a:ext cx="8407400" cy="876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Output unit and its functions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Storage unit and its functions</a:t>
            </a:r>
          </a:p>
          <a:p>
            <a:pPr>
              <a:lnSpc>
                <a:spcPts val="3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51000" y="4660900"/>
            <a:ext cx="84074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Types of storage used in a computer system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16800" y="6337300"/>
            <a:ext cx="2641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lang="en-CA" sz="1200" i="1" smtClean="0">
                <a:solidFill>
                  <a:srgbClr val="4D4D4D"/>
                </a:solidFill>
                <a:latin typeface="Arial Italic"/>
                <a:cs typeface="Arial Italic"/>
              </a:rPr>
              <a:t>(Continued on next slide)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15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204200" y="7073900"/>
            <a:ext cx="11684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2/16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19939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0600" y="736600"/>
            <a:ext cx="5397500" cy="660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70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Learning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Objectives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1473200"/>
            <a:ext cx="5778500" cy="215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lang="en-CA" sz="1007" i="1" smtClean="0">
                <a:solidFill>
                  <a:srgbClr val="4D4D4D"/>
                </a:solidFill>
                <a:latin typeface="Verdana Italic"/>
                <a:cs typeface="Verdana Italic"/>
              </a:rPr>
              <a:t>(Continued from previous slide..)</a:t>
            </a:r>
          </a:p>
          <a:p>
            <a:pPr>
              <a:lnSpc>
                <a:spcPts val="1150"/>
              </a:lnSpc>
            </a:pPr>
            <a:endParaRPr lang="en-CA" sz="1007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93900" y="2197100"/>
            <a:ext cx="43942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Arithmetic Logic Unit (ALU)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93900" y="3048000"/>
            <a:ext cx="43942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Control Unit (CU)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93900" y="3898900"/>
            <a:ext cx="43942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Central Processing Unit (CPU)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93900" y="4749800"/>
            <a:ext cx="43942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Computer as a system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26200" y="444500"/>
            <a:ext cx="35179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15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204200" y="7073900"/>
            <a:ext cx="11684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3/16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6000" y="787400"/>
            <a:ext cx="90424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The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Five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Basic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Operations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of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a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Computer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System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22400" y="1752600"/>
            <a:ext cx="86360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</a:tabLst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  Inputting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. The process of entering data and instructions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into the computer system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22400" y="2908300"/>
            <a:ext cx="8636000" cy="1003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  <a:tab pos="342900" algn="l"/>
              </a:tabLst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  Storing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. Saving data and instructions to make them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readily available for initial or additional processing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whenever required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2400" y="4381500"/>
            <a:ext cx="8636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  Processing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. Performing arithmetic operations (add,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65300" y="4686300"/>
            <a:ext cx="82931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subtract, multiply, divide, etc.) or logical operations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65300" y="4978400"/>
            <a:ext cx="82931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(comparisons like equal to, less than, greater than, etc.)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on data to convert them into useful information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16800" y="6337300"/>
            <a:ext cx="2641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lang="en-CA" sz="1200" i="1" smtClean="0">
                <a:solidFill>
                  <a:srgbClr val="4D4D4D"/>
                </a:solidFill>
                <a:latin typeface="Arial Italic"/>
                <a:cs typeface="Arial Italic"/>
              </a:rPr>
              <a:t>(Continued on next slide)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15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204200" y="7073900"/>
            <a:ext cx="11684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4/16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6000" y="787400"/>
            <a:ext cx="90424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The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Five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Basic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Operations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of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a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Computer</a:t>
            </a:r>
            <a:r>
              <a:rPr lang="en-CA" sz="2410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410" b="1" smtClean="0">
                <a:solidFill>
                  <a:srgbClr val="FFFFFF"/>
                </a:solidFill>
                <a:latin typeface="Verdana Bold"/>
                <a:cs typeface="Verdana Bold"/>
              </a:rPr>
              <a:t>System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22400" y="1752600"/>
            <a:ext cx="8636000" cy="1003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  <a:tab pos="342900" algn="l"/>
              </a:tabLst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  Outputting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. The process of producing useful information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or results for the user such as a printed report or visual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display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22400" y="3213100"/>
            <a:ext cx="86360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</a:tabLst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  Controlling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. Directing the manner and sequence in which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all of the above operations are performed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15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8204200" y="7073900"/>
            <a:ext cx="11684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5/16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0600" y="774700"/>
            <a:ext cx="90678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Basic</a:t>
            </a:r>
            <a:r>
              <a:rPr lang="en-CA" sz="2817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Organization</a:t>
            </a:r>
            <a:r>
              <a:rPr lang="en-CA" sz="2817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of</a:t>
            </a:r>
            <a:r>
              <a:rPr lang="en-CA" sz="2817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a</a:t>
            </a:r>
            <a:r>
              <a:rPr lang="en-CA" sz="2817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Computer</a:t>
            </a:r>
            <a:r>
              <a:rPr lang="en-CA" sz="2817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System</a:t>
            </a:r>
          </a:p>
          <a:p>
            <a:pPr>
              <a:lnSpc>
                <a:spcPts val="3220"/>
              </a:lnSpc>
            </a:pPr>
            <a:endParaRPr lang="en-CA" sz="2807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445000" y="1727200"/>
            <a:ext cx="56134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Storage Unit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495800" y="2133600"/>
            <a:ext cx="5562600" cy="419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Secondary</a:t>
            </a:r>
            <a:br>
              <a:rPr lang="en-CA" sz="1200" smtClean="0">
                <a:solidFill>
                  <a:srgbClr val="000000"/>
                </a:solidFill>
                <a:latin typeface="Times New Roman"/>
              </a:rPr>
            </a:b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Storage</a:t>
            </a:r>
          </a:p>
          <a:p>
            <a:pPr>
              <a:lnSpc>
                <a:spcPts val="140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47800" y="26416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Program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51000" y="2819400"/>
            <a:ext cx="10795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and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2900" y="3009900"/>
            <a:ext cx="11176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Data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7400" y="7061200"/>
            <a:ext cx="1943100" cy="317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16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844800" y="2679700"/>
            <a:ext cx="4559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  <a:tabLst>
                <a:tab pos="3517900" algn="l"/>
              </a:tabLst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Input</a:t>
            </a: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	Output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95600" y="2857500"/>
            <a:ext cx="45085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  <a:tabLst>
                <a:tab pos="3581400" algn="l"/>
              </a:tabLst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Unit</a:t>
            </a: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	Unit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610100" y="3035300"/>
            <a:ext cx="27940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Primary</a:t>
            </a:r>
          </a:p>
          <a:p>
            <a:pPr>
              <a:lnSpc>
                <a:spcPts val="1215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10100" y="3200400"/>
            <a:ext cx="27940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Storage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35500" y="4318000"/>
            <a:ext cx="27686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Control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62500" y="4495800"/>
            <a:ext cx="26416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Unit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495800" y="5207000"/>
            <a:ext cx="2908300" cy="431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Arithmetic</a:t>
            </a:r>
            <a:br>
              <a:rPr lang="en-CA" sz="1200" smtClean="0">
                <a:solidFill>
                  <a:srgbClr val="000000"/>
                </a:solidFill>
                <a:latin typeface="Times New Roman"/>
              </a:rPr>
            </a:b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Logic Unit</a:t>
            </a:r>
          </a:p>
          <a:p>
            <a:pPr>
              <a:lnSpc>
                <a:spcPts val="1435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594100" y="5905500"/>
            <a:ext cx="38100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Central Processing Unit (CPU)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695700" y="7086600"/>
            <a:ext cx="37084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620000" y="2603500"/>
            <a:ext cx="2324100" cy="431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  <a:tabLst>
                <a:tab pos="114300" algn="l"/>
              </a:tabLst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Information</a:t>
            </a:r>
            <a:br>
              <a:rPr lang="en-CA" sz="1200" smtClean="0">
                <a:solidFill>
                  <a:srgbClr val="000000"/>
                </a:solidFill>
                <a:latin typeface="Times New Roman"/>
              </a:rPr>
            </a:b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	(Results)</a:t>
            </a:r>
          </a:p>
          <a:p>
            <a:pPr>
              <a:lnSpc>
                <a:spcPts val="1435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31100" y="4724400"/>
            <a:ext cx="2413000" cy="431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Indicates flow of</a:t>
            </a:r>
            <a:br>
              <a:rPr lang="en-CA" sz="1200" smtClean="0">
                <a:solidFill>
                  <a:srgbClr val="000000"/>
                </a:solidFill>
                <a:latin typeface="Times New Roman"/>
              </a:rPr>
            </a:b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instructions and data</a:t>
            </a:r>
          </a:p>
          <a:p>
            <a:pPr>
              <a:lnSpc>
                <a:spcPts val="1435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531100" y="5283200"/>
            <a:ext cx="2413000" cy="431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Indicates the control</a:t>
            </a:r>
            <a:br>
              <a:rPr lang="en-CA" sz="1200" smtClean="0">
                <a:solidFill>
                  <a:srgbClr val="000000"/>
                </a:solidFill>
                <a:latin typeface="Times New Roman"/>
              </a:rPr>
            </a:b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exercised by the</a:t>
            </a:r>
          </a:p>
          <a:p>
            <a:pPr>
              <a:lnSpc>
                <a:spcPts val="1435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531100" y="5651500"/>
            <a:ext cx="24130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210" b="1" smtClean="0">
                <a:solidFill>
                  <a:srgbClr val="333333"/>
                </a:solidFill>
                <a:latin typeface="Verdana Bold"/>
                <a:cs typeface="Verdana Bold"/>
              </a:rPr>
              <a:t>control unit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204200" y="7086600"/>
            <a:ext cx="17399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6/16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0600" y="774700"/>
            <a:ext cx="90678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Input</a:t>
            </a:r>
            <a:r>
              <a:rPr lang="en-CA" sz="2817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2817" b="1" smtClean="0">
                <a:solidFill>
                  <a:srgbClr val="FFFFFF"/>
                </a:solidFill>
                <a:latin typeface="Verdana Bold"/>
                <a:cs typeface="Verdana Bold"/>
              </a:rPr>
              <a:t>Unit</a:t>
            </a:r>
          </a:p>
          <a:p>
            <a:pPr>
              <a:lnSpc>
                <a:spcPts val="3220"/>
              </a:lnSpc>
            </a:pPr>
            <a:endParaRPr lang="en-CA" sz="2807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1651000"/>
            <a:ext cx="8991600" cy="889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An input unit of a computer system performs the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following functions:</a:t>
            </a:r>
          </a:p>
          <a:p>
            <a:pPr>
              <a:lnSpc>
                <a:spcPts val="3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38300" y="2921000"/>
            <a:ext cx="84201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1.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accepts (or reads) instructions and data from outside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world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38300" y="3644900"/>
            <a:ext cx="84201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2.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converts these instructions and data in computer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acceptable form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38300" y="4381500"/>
            <a:ext cx="84201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3.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supplies the converted instructions and data to the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computer system for further processing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16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8204200" y="7073900"/>
            <a:ext cx="11684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7/16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0600" y="711200"/>
            <a:ext cx="90678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Output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Unit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1651000"/>
            <a:ext cx="8991600" cy="889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An output unit of a computer system performs the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following functions:</a:t>
            </a:r>
          </a:p>
          <a:p>
            <a:pPr>
              <a:lnSpc>
                <a:spcPts val="3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89100" y="2921000"/>
            <a:ext cx="8369300" cy="1003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1.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accepts the results produced by the computer, which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are in coded form and hence, cannot be easily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understood by us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89100" y="3949700"/>
            <a:ext cx="83693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2.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converts these coded results to human acceptable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(readable) form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89100" y="4699000"/>
            <a:ext cx="83693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3.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supplies the converted results to outside world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16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8204200" y="7073900"/>
            <a:ext cx="11684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8/16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03300" y="711200"/>
            <a:ext cx="90551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Storage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Unit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1651000"/>
            <a:ext cx="8991600" cy="889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The storage unit of a computer system holds (or stores)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the following :</a:t>
            </a:r>
          </a:p>
          <a:p>
            <a:pPr>
              <a:lnSpc>
                <a:spcPts val="3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38300" y="3035300"/>
            <a:ext cx="84201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1.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Data and instructions required for processing (received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from input devices)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38300" y="3784600"/>
            <a:ext cx="84201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2.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Intermediate results of processing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38300" y="4203700"/>
            <a:ext cx="84201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3.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Final results of processing, before they are released to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an output device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17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8204200" y="7073900"/>
            <a:ext cx="11684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9/16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6000" y="723900"/>
            <a:ext cx="90424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Two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Types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of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Storage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22400" y="1752600"/>
            <a:ext cx="8636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  Primary storage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06600" y="2425700"/>
            <a:ext cx="8051800" cy="1155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850"/>
              </a:lnSpc>
              <a:tabLst>
                <a:tab pos="330200" algn="l"/>
              </a:tabLst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Used to hold running program instructions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Used to hold data, intermediate results, and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results of ongoing processing of job(s)</a:t>
            </a:r>
          </a:p>
          <a:p>
            <a:pPr>
              <a:lnSpc>
                <a:spcPts val="285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06600" y="3644900"/>
            <a:ext cx="80518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Fast in operation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006600" y="3962400"/>
            <a:ext cx="8051800" cy="876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Small Capacity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Expensive</a:t>
            </a:r>
          </a:p>
          <a:p>
            <a:pPr>
              <a:lnSpc>
                <a:spcPts val="3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06600" y="4927600"/>
            <a:ext cx="80518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Volatile (looses data on power dissipation)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16800" y="6337300"/>
            <a:ext cx="2641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lang="en-CA" sz="1200" i="1" smtClean="0">
                <a:solidFill>
                  <a:srgbClr val="4D4D4D"/>
                </a:solidFill>
                <a:latin typeface="Arial Italic"/>
                <a:cs typeface="Arial Italic"/>
              </a:rPr>
              <a:t>(Continued on next slide)</a:t>
            </a:r>
          </a:p>
          <a:p>
            <a:pPr>
              <a:lnSpc>
                <a:spcPts val="1380"/>
              </a:lnSpc>
            </a:pPr>
            <a:endParaRPr lang="en-CA" sz="1200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17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204200" y="70739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10/16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6000" y="723900"/>
            <a:ext cx="90424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Two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Types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of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Storage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1473200"/>
            <a:ext cx="94488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150"/>
              </a:lnSpc>
            </a:pPr>
            <a:r>
              <a:rPr lang="en-CA" sz="1007" i="1" smtClean="0">
                <a:solidFill>
                  <a:srgbClr val="4D4D4D"/>
                </a:solidFill>
                <a:latin typeface="Verdana Italic"/>
                <a:cs typeface="Verdana Italic"/>
              </a:rPr>
              <a:t>(Continued from previous slide..)</a:t>
            </a:r>
          </a:p>
          <a:p>
            <a:pPr>
              <a:lnSpc>
                <a:spcPts val="1150"/>
              </a:lnSpc>
            </a:pPr>
            <a:endParaRPr lang="en-CA" sz="1007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35100" y="1765300"/>
            <a:ext cx="86233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  Secondary storage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92300" y="2565400"/>
            <a:ext cx="81661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Used to hold stored program instructions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92300" y="2870200"/>
            <a:ext cx="8166100" cy="889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Used to hold data and information of stored jobs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Slower than primary storage</a:t>
            </a:r>
          </a:p>
          <a:p>
            <a:pPr>
              <a:lnSpc>
                <a:spcPts val="3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92300" y="3835400"/>
            <a:ext cx="81661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Large Capacity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892300" y="4152900"/>
            <a:ext cx="8166100" cy="889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Lot cheaper that primary storage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Retains data even without power</a:t>
            </a:r>
          </a:p>
          <a:p>
            <a:pPr>
              <a:lnSpc>
                <a:spcPts val="3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17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204200" y="70739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11/16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03300" y="723900"/>
            <a:ext cx="90551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Arithmetic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Logic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Unit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(ALU)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09700" y="1752600"/>
            <a:ext cx="8648700" cy="1003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Arithmetic  Logic  Unit of  a  computer  system  is the place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where the actual executions of instructions takes place during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processing operation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18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8204200" y="70739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12/16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03300" y="723900"/>
            <a:ext cx="90551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Control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Unit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(CU)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22400" y="1752600"/>
            <a:ext cx="8636000" cy="1003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Control Unit of a computer system manages and coordinates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the  operations  of  all  other  components  of  the  computer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18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8204200" y="70739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13/16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6000" y="723900"/>
            <a:ext cx="90424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Central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Processing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Unit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(CPU)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93900" y="2197100"/>
            <a:ext cx="1460500" cy="647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Arithmetic</a:t>
            </a:r>
            <a:br>
              <a:rPr lang="en-CA" sz="1800" smtClean="0">
                <a:solidFill>
                  <a:srgbClr val="000000"/>
                </a:solidFill>
                <a:latin typeface="Times New Roman"/>
              </a:rPr>
            </a:b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Logic Unit</a:t>
            </a:r>
          </a:p>
          <a:p>
            <a:pPr>
              <a:lnSpc>
                <a:spcPts val="215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60600" y="2755900"/>
            <a:ext cx="1193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(ALU)</a:t>
            </a:r>
          </a:p>
          <a:p>
            <a:pPr>
              <a:lnSpc>
                <a:spcPts val="2070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56000" y="2540000"/>
            <a:ext cx="4445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+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114800" y="2400300"/>
            <a:ext cx="18669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Control Unit</a:t>
            </a:r>
          </a:p>
          <a:p>
            <a:pPr>
              <a:lnSpc>
                <a:spcPts val="2070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33900" y="2667000"/>
            <a:ext cx="14478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(CU)</a:t>
            </a:r>
          </a:p>
          <a:p>
            <a:pPr>
              <a:lnSpc>
                <a:spcPts val="2070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96000" y="2489200"/>
            <a:ext cx="7874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=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188200" y="2159000"/>
            <a:ext cx="27686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Central</a:t>
            </a:r>
          </a:p>
          <a:p>
            <a:pPr>
              <a:lnSpc>
                <a:spcPts val="2070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997700" y="2425700"/>
            <a:ext cx="2959100" cy="647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Processing</a:t>
            </a:r>
            <a:br>
              <a:rPr lang="en-CA" sz="1800" smtClean="0">
                <a:solidFill>
                  <a:srgbClr val="000000"/>
                </a:solidFill>
                <a:latin typeface="Times New Roman"/>
              </a:rPr>
            </a:br>
            <a:r>
              <a:rPr lang="en-CA" sz="1800" smtClean="0">
                <a:solidFill>
                  <a:srgbClr val="333333"/>
                </a:solidFill>
                <a:latin typeface="Verdana"/>
                <a:cs typeface="Verdana"/>
              </a:rPr>
              <a:t>Unit (CPU)</a:t>
            </a:r>
          </a:p>
          <a:p>
            <a:pPr>
              <a:lnSpc>
                <a:spcPts val="2160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63700" y="3606800"/>
            <a:ext cx="83947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is the brain of a computer system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63700" y="4330700"/>
            <a:ext cx="83947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</a:tabLst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It is responsible for controlling the operations of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all other units of a computer system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18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6" name="TextBox 16"/>
          <p:cNvSpPr txBox="1"/>
          <p:nvPr/>
        </p:nvSpPr>
        <p:spPr>
          <a:xfrm>
            <a:off x="8204200" y="70739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14/16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6000" y="723900"/>
            <a:ext cx="90424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The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System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Concept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22400" y="1765300"/>
            <a:ext cx="8636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2002" b="1" smtClean="0">
                <a:solidFill>
                  <a:srgbClr val="333333"/>
                </a:solidFill>
                <a:latin typeface="Verdana Bold"/>
                <a:cs typeface="Verdana Bold"/>
              </a:rPr>
              <a:t>A system has following three characteristics: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52600" y="2476500"/>
            <a:ext cx="83058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1.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A system has more than one element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52600" y="2908300"/>
            <a:ext cx="83058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2.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All elements of a system are logically related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52600" y="3327400"/>
            <a:ext cx="8305800" cy="698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457200" algn="l"/>
              </a:tabLst>
            </a:pPr>
            <a:r>
              <a:rPr lang="en-CA" sz="1992" smtClean="0">
                <a:solidFill>
                  <a:srgbClr val="FF3300"/>
                </a:solidFill>
                <a:latin typeface="Verdana"/>
                <a:cs typeface="Verdana"/>
              </a:rPr>
              <a:t>3.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 All elements of a system are controlled in a manner to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	achieve the system goal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84300" y="4381500"/>
            <a:ext cx="86741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A computer is a system as it comprises of integrated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84300" y="4673600"/>
            <a:ext cx="8674100" cy="10033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components (input unit, output unit, storage unit, and CPU)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that work together to perform the steps called for in the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executing program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18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8204200" y="70739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15/16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58400" cy="77597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4394200" y="457200"/>
            <a:ext cx="5664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2032000" algn="l"/>
              </a:tabLst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Computer</a:t>
            </a:r>
            <a:r>
              <a:rPr lang="en-CA" sz="1392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Fundament</a:t>
            </a: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	ls: Pradeep K. Sinha &amp; Priti Sinha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6000" y="736600"/>
            <a:ext cx="90424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Key</a:t>
            </a:r>
            <a:r>
              <a:rPr lang="en-CA" sz="3202" b="1" smtClean="0">
                <a:solidFill>
                  <a:srgbClr val="000000"/>
                </a:solidFill>
                <a:latin typeface="Verdana Bold"/>
                <a:cs typeface="Verdana Bold"/>
              </a:rPr>
              <a:t> </a:t>
            </a:r>
            <a:r>
              <a:rPr lang="en-CA" sz="3202" b="1" smtClean="0">
                <a:solidFill>
                  <a:srgbClr val="FFFFFF"/>
                </a:solidFill>
                <a:latin typeface="Verdana Bold"/>
                <a:cs typeface="Verdana Bold"/>
              </a:rPr>
              <a:t>Words/Phrases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04900" y="1752600"/>
            <a:ext cx="44958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Arithmetic Logic Unit (ALU)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Auxiliary storage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04900" y="2362200"/>
            <a:ext cx="44958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Central Processing Unit (CPU)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Computer system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4900" y="2971800"/>
            <a:ext cx="44958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Control Unit (CU)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Controlling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04900" y="3581400"/>
            <a:ext cx="44958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Input interface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Input unit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04900" y="4191000"/>
            <a:ext cx="44958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Inputting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Main memory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715000" y="1739900"/>
            <a:ext cx="42291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Output interface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Output unit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15000" y="2349500"/>
            <a:ext cx="42291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Outputting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715000" y="2654300"/>
            <a:ext cx="42291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Primate storage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Processing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15000" y="3263900"/>
            <a:ext cx="4229100" cy="711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Secondary storage</a:t>
            </a:r>
            <a:br>
              <a:rPr lang="en-CA" sz="1992" smtClean="0">
                <a:solidFill>
                  <a:srgbClr val="000000"/>
                </a:solidFill>
                <a:latin typeface="Times New Roman"/>
              </a:rPr>
            </a:b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Storage unit</a:t>
            </a:r>
          </a:p>
          <a:p>
            <a:pPr>
              <a:lnSpc>
                <a:spcPts val="24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715000" y="3873500"/>
            <a:ext cx="42291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Storing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15000" y="4178300"/>
            <a:ext cx="42291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1992" smtClean="0">
                <a:solidFill>
                  <a:srgbClr val="FF3300"/>
                </a:solidFill>
                <a:latin typeface="Arial Unicode MS"/>
                <a:cs typeface="Arial Unicode MS"/>
              </a:rPr>
              <a:t>§</a:t>
            </a:r>
            <a:r>
              <a:rPr lang="en-CA" sz="1992" smtClean="0">
                <a:solidFill>
                  <a:srgbClr val="333333"/>
                </a:solidFill>
                <a:latin typeface="Verdana"/>
                <a:cs typeface="Verdana"/>
              </a:rPr>
              <a:t> System</a:t>
            </a:r>
          </a:p>
          <a:p>
            <a:pPr>
              <a:lnSpc>
                <a:spcPts val="2300"/>
              </a:lnSpc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7400" y="7035800"/>
            <a:ext cx="1435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Ref. Page 19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6" name="TextBox 16"/>
          <p:cNvSpPr txBox="1"/>
          <p:nvPr/>
        </p:nvSpPr>
        <p:spPr>
          <a:xfrm>
            <a:off x="3695700" y="7073900"/>
            <a:ext cx="39243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Chapter 2:  Basic Computer Organization</a:t>
            </a:r>
          </a:p>
          <a:p>
            <a:pPr>
              <a:lnSpc>
                <a:spcPts val="1610"/>
              </a:lnSpc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8204200" y="7073900"/>
            <a:ext cx="12827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lang="en-CA" sz="1392" smtClean="0">
                <a:solidFill>
                  <a:srgbClr val="FFFF00"/>
                </a:solidFill>
                <a:latin typeface="Verdana"/>
                <a:cs typeface="Verdana"/>
              </a:rPr>
              <a:t>Slide 16/16</a:t>
            </a:r>
          </a:p>
          <a:p>
            <a:pPr>
              <a:lnSpc>
                <a:spcPts val="161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Privet1</vt:lpstr>
    </vt:vector>
  </TitlesOfParts>
  <Company>Investintech.com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A2E_Engine</dc:creator>
  <cp:lastModifiedBy>A2E_Engine</cp:lastModifiedBy>
  <dcterms:created xsi:type="dcterms:W3CDTF">2016-10-17T23:26:14Z</dcterms:created>
  <dcterms:modified xsi:type="dcterms:W3CDTF">2016-10-17T23:26:14Z</dcterms:modified>
</cp:coreProperties>
</file>