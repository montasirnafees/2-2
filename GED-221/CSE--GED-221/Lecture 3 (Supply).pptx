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6d8RBZ2JXygWBJhTaiCtl6k3W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7FC"/>
            </a:gs>
            <a:gs pos="74000">
              <a:srgbClr val="A9BEE4"/>
            </a:gs>
            <a:gs pos="83000">
              <a:srgbClr val="A9BEE4"/>
            </a:gs>
            <a:gs pos="100000">
              <a:srgbClr val="C5D3ED"/>
            </a:gs>
          </a:gsLst>
          <a:lin ang="5400000" scaled="0"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-135131"/>
            <a:ext cx="12192000" cy="3309257"/>
          </a:xfrm>
          <a:prstGeom prst="rect">
            <a:avLst/>
          </a:prstGeom>
          <a:solidFill>
            <a:srgbClr val="2B38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>
            <a:off x="441583" y="1148704"/>
            <a:ext cx="10710267" cy="5070341"/>
            <a:chOff x="570541" y="900896"/>
            <a:chExt cx="10710267" cy="5070341"/>
          </a:xfrm>
        </p:grpSpPr>
        <p:sp>
          <p:nvSpPr>
            <p:cNvPr id="88" name="Google Shape;88;p1"/>
            <p:cNvSpPr/>
            <p:nvPr/>
          </p:nvSpPr>
          <p:spPr>
            <a:xfrm>
              <a:off x="911192" y="900896"/>
              <a:ext cx="10369616" cy="507034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1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1"/>
            <p:cNvGrpSpPr/>
            <p:nvPr/>
          </p:nvGrpSpPr>
          <p:grpSpPr>
            <a:xfrm>
              <a:off x="570541" y="1488376"/>
              <a:ext cx="5011516" cy="4289748"/>
              <a:chOff x="570541" y="1340974"/>
              <a:chExt cx="5011516" cy="4289748"/>
            </a:xfrm>
          </p:grpSpPr>
          <p:sp>
            <p:nvSpPr>
              <p:cNvPr id="90" name="Google Shape;90;p1"/>
              <p:cNvSpPr/>
              <p:nvPr/>
            </p:nvSpPr>
            <p:spPr>
              <a:xfrm>
                <a:off x="1802131" y="1340974"/>
                <a:ext cx="2297221" cy="2362131"/>
              </a:xfrm>
              <a:prstGeom prst="ellipse">
                <a:avLst/>
              </a:prstGeom>
              <a:gradFill>
                <a:gsLst>
                  <a:gs pos="0">
                    <a:srgbClr val="FF1872"/>
                  </a:gs>
                  <a:gs pos="100000">
                    <a:srgbClr val="7C3F90"/>
                  </a:gs>
                </a:gsLst>
                <a:lin ang="81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82"/>
                  <a:buFont typeface="Calibri"/>
                  <a:buNone/>
                </a:pPr>
                <a:r>
                  <a:t/>
                </a:r>
                <a:endParaRPr b="0" i="0" sz="482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" name="Google Shape;91;p1"/>
              <p:cNvCxnSpPr/>
              <p:nvPr/>
            </p:nvCxnSpPr>
            <p:spPr>
              <a:xfrm>
                <a:off x="2338966" y="5630722"/>
                <a:ext cx="1014783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FFC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92" name="Google Shape;92;p1"/>
              <p:cNvSpPr txBox="1"/>
              <p:nvPr/>
            </p:nvSpPr>
            <p:spPr>
              <a:xfrm>
                <a:off x="570541" y="4647856"/>
                <a:ext cx="5011516" cy="861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B3890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rgbClr val="2B389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MD Abdullah Al Noman</a:t>
                </a:r>
                <a:endParaRPr b="1" i="0" sz="2400" u="none" cap="none" strike="noStrike">
                  <a:solidFill>
                    <a:srgbClr val="2B389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Times New Roman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Lecturer , DBA,  BAIUST</a:t>
                </a:r>
                <a:endParaRPr/>
              </a:p>
            </p:txBody>
          </p:sp>
        </p:grpSp>
      </p:grpSp>
      <p:sp>
        <p:nvSpPr>
          <p:cNvPr id="93" name="Google Shape;93;p1"/>
          <p:cNvSpPr txBox="1"/>
          <p:nvPr/>
        </p:nvSpPr>
        <p:spPr>
          <a:xfrm>
            <a:off x="4591769" y="259413"/>
            <a:ext cx="2736304" cy="792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WELCOME</a:t>
            </a:r>
            <a:endParaRPr b="1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048723" y="2009308"/>
            <a:ext cx="70248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Welcome to the Presentation</a:t>
            </a:r>
            <a:br>
              <a:rPr b="0" i="0" lang="en-US" sz="18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E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conomics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GED 221</a:t>
            </a:r>
            <a:br>
              <a:rPr b="0" i="0" lang="en-US" sz="18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000" u="none" cap="none" strike="noStrike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967390" y="2048570"/>
            <a:ext cx="1737360" cy="1737360"/>
          </a:xfrm>
          <a:prstGeom prst="ellipse">
            <a:avLst/>
          </a:prstGeom>
          <a:noFill/>
          <a:ln>
            <a:noFill/>
          </a:ln>
          <a:effectLst>
            <a:outerShdw blurRad="381000" sx="-80000" rotWithShape="0" dir="5400000" dist="292100" sy="-18000">
              <a:srgbClr val="000000">
                <a:alpha val="21961"/>
              </a:srgbClr>
            </a:outerShdw>
          </a:effectLst>
        </p:spPr>
      </p:pic>
      <p:sp>
        <p:nvSpPr>
          <p:cNvPr id="96" name="Google Shape;96;p1"/>
          <p:cNvSpPr/>
          <p:nvPr/>
        </p:nvSpPr>
        <p:spPr>
          <a:xfrm>
            <a:off x="4727957" y="5600810"/>
            <a:ext cx="642389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Bangladesh Army International University of Science and Technology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1631" y="4585865"/>
            <a:ext cx="971551" cy="91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4318341" y="174136"/>
            <a:ext cx="5627077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CONSTITUENTS OF THE PRESENTATION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2364828" y="1497724"/>
            <a:ext cx="91277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2371942" y="1860093"/>
            <a:ext cx="9127712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 of Supply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Factors affecting Supply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function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Equilibrium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examples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544128" y="158370"/>
            <a:ext cx="279049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2251115" y="558845"/>
            <a:ext cx="9376523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refers to the quantity of a commodity that producers are willing and able to sell at a given price in a market during a specific time period.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 of Supply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fundamental principle in economics that describes the relationship between the price of a good or service and the quantity that producers are willing to supply, assuming all other factors remain constant (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ceteris paribus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states that, other things being equal, the quantity of a good supplied increases as the price of the good increases, and decreases as the price decreases. So this reflects a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(positive) relationship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price and quantity supplied.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1942" y="4045357"/>
            <a:ext cx="4839375" cy="2553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7009" y="4045357"/>
            <a:ext cx="4602353" cy="264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5544128" y="158370"/>
            <a:ext cx="279049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2251115" y="558845"/>
            <a:ext cx="9376523" cy="2831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supply: Individual supply refers to the quantity of a good or service that a single producer or seller is willing and able to offer for sale at different prices over a specific time period.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Supply: Market supply refers to the total quantity of a good or service that all producers in a market are willing and able to offer for sale at different prices over a specific time period.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6869" y="3753788"/>
            <a:ext cx="9013015" cy="304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6049947" y="46183"/>
            <a:ext cx="279049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3402" y="545526"/>
            <a:ext cx="8952245" cy="267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2544" y="3291747"/>
            <a:ext cx="8789996" cy="3658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6049946" y="46183"/>
            <a:ext cx="4071515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Factors affecting Supply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2074640" y="1828562"/>
            <a:ext cx="8584722" cy="160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Costs of Production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cost of inputs (e.g., labor, raw materials, machinery) directly impacts supply.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in Production Costs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Reduces profitability and decreases supply.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in Production Costs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Enhances profitability and increases supply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092710" y="3303164"/>
            <a:ext cx="9851287" cy="1292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Technology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Advances in technology improve production efficiency, reducing costs and increasing supply.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Automation in manufacturing can lead to higher output at lower costs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132346" y="4438170"/>
            <a:ext cx="10051245" cy="2215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Prices of Related Goods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Substitutes in Production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If the price of a substitute good rises, producers may switch to producing that good, reducing the supply of the original good.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A farmer might switch from growing wheat to corn if corn prices rise.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Complentary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Products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Goods produced together may have supply linked to one another.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An increase in beef production can also increase leather supply.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2070539" y="491097"/>
            <a:ext cx="985128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Price of the Good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price of a good directly affects the quantity supplied.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 of Supply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As the price of a good increases, the quantity supplied increases, and vice versa (ceteris paribus).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6049946" y="46183"/>
            <a:ext cx="4071515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Factors affecting Supply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132347" y="781910"/>
            <a:ext cx="9907841" cy="1631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Government Policies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Higher taxes on goods increase production costs and reduce supply.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Subsidies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Government financial support lowers production costs, encouraging higher supply.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Regulations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Strict regulations may increase production costs, reducing supply.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2092710" y="2215923"/>
            <a:ext cx="9869357" cy="1631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Expectations of Future Prices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producers expect prices to rise in the future, they may reduce current supply to sell more later at higher prices.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Conversely, if they expect prices to fall, they may increase current supply.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168982" y="3952185"/>
            <a:ext cx="888191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Number of Producers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increase in the number of producers in the market leads to higher overall supply.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Conversely, fewer producers result in a lower supply.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6049946" y="46183"/>
            <a:ext cx="4071515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2265557" y="370739"/>
            <a:ext cx="969651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function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economics is a mathematical expression that represents the relationship between the quantity of a good or service supplied and the various factors affecting it.</a:t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2265557" y="1548838"/>
            <a:ext cx="8957404" cy="52629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49" r="0" t="-5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5544128" y="158370"/>
            <a:ext cx="279049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2092710" y="1130735"/>
            <a:ext cx="9080960" cy="31700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03" l="-671" r="0" t="-9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5544128" y="158370"/>
            <a:ext cx="279049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3029" y="1024527"/>
            <a:ext cx="8720279" cy="151591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 txBox="1"/>
          <p:nvPr/>
        </p:nvSpPr>
        <p:spPr>
          <a:xfrm>
            <a:off x="2925835" y="2889986"/>
            <a:ext cx="90362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out Equilibrium price and output.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5544128" y="158370"/>
            <a:ext cx="279049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120" y="592226"/>
            <a:ext cx="7956154" cy="5873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5544128" y="158370"/>
            <a:ext cx="279049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860" y="638783"/>
            <a:ext cx="8939680" cy="4569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/>
          <p:nvPr/>
        </p:nvSpPr>
        <p:spPr>
          <a:xfrm>
            <a:off x="978692" y="0"/>
            <a:ext cx="1114018" cy="6858000"/>
          </a:xfrm>
          <a:custGeom>
            <a:rect b="b" l="l" r="r" t="t"/>
            <a:pathLst>
              <a:path extrusionOk="0" h="6858000" w="2943225">
                <a:moveTo>
                  <a:pt x="0" y="0"/>
                </a:moveTo>
                <a:lnTo>
                  <a:pt x="2438400" y="0"/>
                </a:lnTo>
                <a:lnTo>
                  <a:pt x="2438400" y="423698"/>
                </a:lnTo>
                <a:lnTo>
                  <a:pt x="2943225" y="876300"/>
                </a:lnTo>
                <a:lnTo>
                  <a:pt x="2438400" y="1328902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22A3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699460" y="0"/>
            <a:ext cx="1153655" cy="6858000"/>
          </a:xfrm>
          <a:custGeom>
            <a:rect b="b" l="l" r="r" t="t"/>
            <a:pathLst>
              <a:path extrusionOk="0" h="6858000" w="2981324">
                <a:moveTo>
                  <a:pt x="0" y="0"/>
                </a:moveTo>
                <a:lnTo>
                  <a:pt x="2438400" y="0"/>
                </a:lnTo>
                <a:lnTo>
                  <a:pt x="2438400" y="389541"/>
                </a:lnTo>
                <a:lnTo>
                  <a:pt x="2981324" y="876300"/>
                </a:lnTo>
                <a:lnTo>
                  <a:pt x="2438400" y="136306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459865" y="0"/>
            <a:ext cx="1163318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229933" y="0"/>
            <a:ext cx="1152664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-10652" y="0"/>
            <a:ext cx="1153652" cy="6858000"/>
          </a:xfrm>
          <a:custGeom>
            <a:rect b="b" l="l" r="r" t="t"/>
            <a:pathLst>
              <a:path extrusionOk="0" h="6858000" w="2990850">
                <a:moveTo>
                  <a:pt x="0" y="0"/>
                </a:moveTo>
                <a:lnTo>
                  <a:pt x="2438400" y="0"/>
                </a:lnTo>
                <a:lnTo>
                  <a:pt x="2438400" y="381000"/>
                </a:lnTo>
                <a:lnTo>
                  <a:pt x="2990850" y="876300"/>
                </a:lnTo>
                <a:lnTo>
                  <a:pt x="2438400" y="1371600"/>
                </a:lnTo>
                <a:lnTo>
                  <a:pt x="2438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1270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 txBox="1"/>
          <p:nvPr/>
        </p:nvSpPr>
        <p:spPr>
          <a:xfrm>
            <a:off x="5544128" y="158370"/>
            <a:ext cx="279049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8748" y="1077329"/>
            <a:ext cx="6987404" cy="354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2024-01-22T10:30:11Z</dcterms:created>
  <dc:creator>Abdullah Al Noman_7</dc:creator>
</cp:coreProperties>
</file>