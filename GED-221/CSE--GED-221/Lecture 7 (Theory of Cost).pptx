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9144000"/>
  <p:notesSz cx="7010400" cy="9296400"/>
  <p:embeddedFontLst>
    <p:embeddedFont>
      <p:font typeface="Constantia"/>
      <p:regular r:id="rId30"/>
      <p:bold r:id="rId31"/>
      <p:italic r:id="rId32"/>
      <p:boldItalic r:id="rId33"/>
    </p:embeddedFont>
    <p:embeddedFont>
      <p:font typeface="Libre Franklin Medium"/>
      <p:regular r:id="rId34"/>
      <p:bold r:id="rId35"/>
      <p:italic r:id="rId36"/>
      <p:boldItalic r:id="rId37"/>
    </p:embeddedFont>
    <p:embeddedFont>
      <p:font typeface="Arial Black"/>
      <p:regular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9" roundtripDataSignature="AMtx7mhBF/x21UH3/41iKwmBu2B4r+Gf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onstantia-bold.fntdata"/><Relationship Id="rId30" Type="http://schemas.openxmlformats.org/officeDocument/2006/relationships/font" Target="fonts/Constantia-regular.fntdata"/><Relationship Id="rId11" Type="http://schemas.openxmlformats.org/officeDocument/2006/relationships/slide" Target="slides/slide6.xml"/><Relationship Id="rId33" Type="http://schemas.openxmlformats.org/officeDocument/2006/relationships/font" Target="fonts/Constantia-boldItalic.fntdata"/><Relationship Id="rId10" Type="http://schemas.openxmlformats.org/officeDocument/2006/relationships/slide" Target="slides/slide5.xml"/><Relationship Id="rId32" Type="http://schemas.openxmlformats.org/officeDocument/2006/relationships/font" Target="fonts/Constantia-italic.fntdata"/><Relationship Id="rId13" Type="http://schemas.openxmlformats.org/officeDocument/2006/relationships/slide" Target="slides/slide8.xml"/><Relationship Id="rId35" Type="http://schemas.openxmlformats.org/officeDocument/2006/relationships/font" Target="fonts/LibreFranklinMedium-bold.fntdata"/><Relationship Id="rId12" Type="http://schemas.openxmlformats.org/officeDocument/2006/relationships/slide" Target="slides/slide7.xml"/><Relationship Id="rId34" Type="http://schemas.openxmlformats.org/officeDocument/2006/relationships/font" Target="fonts/LibreFranklinMedium-regular.fntdata"/><Relationship Id="rId15" Type="http://schemas.openxmlformats.org/officeDocument/2006/relationships/slide" Target="slides/slide10.xml"/><Relationship Id="rId37" Type="http://schemas.openxmlformats.org/officeDocument/2006/relationships/font" Target="fonts/LibreFranklinMedium-boldItalic.fntdata"/><Relationship Id="rId14" Type="http://schemas.openxmlformats.org/officeDocument/2006/relationships/slide" Target="slides/slide9.xml"/><Relationship Id="rId36" Type="http://schemas.openxmlformats.org/officeDocument/2006/relationships/font" Target="fonts/LibreFranklinMedium-italic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ArialBlack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1925" y="0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8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1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2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3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4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5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6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8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9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0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0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1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2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3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4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5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40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check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7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7"/>
          <p:cNvSpPr txBox="1"/>
          <p:nvPr>
            <p:ph idx="1" type="body"/>
          </p:nvPr>
        </p:nvSpPr>
        <p:spPr>
          <a:xfrm>
            <a:off x="457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5445" lvl="0" marL="457200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5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40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27"/>
          <p:cNvSpPr txBox="1"/>
          <p:nvPr>
            <p:ph idx="2" type="body"/>
          </p:nvPr>
        </p:nvSpPr>
        <p:spPr>
          <a:xfrm>
            <a:off x="4648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5445" lvl="0" marL="457200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5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40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check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8"/>
          <p:cNvSpPr txBox="1"/>
          <p:nvPr>
            <p:ph idx="1" type="body"/>
          </p:nvPr>
        </p:nvSpPr>
        <p:spPr>
          <a:xfrm>
            <a:off x="457200" y="1855248"/>
            <a:ext cx="4040188" cy="659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40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8"/>
          <p:cNvSpPr txBox="1"/>
          <p:nvPr>
            <p:ph idx="2" type="body"/>
          </p:nvPr>
        </p:nvSpPr>
        <p:spPr>
          <a:xfrm>
            <a:off x="4645025" y="1859757"/>
            <a:ext cx="4041775" cy="654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40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8"/>
          <p:cNvSpPr txBox="1"/>
          <p:nvPr>
            <p:ph idx="3" type="body"/>
          </p:nvPr>
        </p:nvSpPr>
        <p:spPr>
          <a:xfrm>
            <a:off x="457200" y="2514600"/>
            <a:ext cx="4040188" cy="38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361315" lvl="0" marL="457200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40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40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40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8"/>
          <p:cNvSpPr txBox="1"/>
          <p:nvPr>
            <p:ph idx="4" type="body"/>
          </p:nvPr>
        </p:nvSpPr>
        <p:spPr>
          <a:xfrm>
            <a:off x="4645025" y="2514600"/>
            <a:ext cx="4041775" cy="38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361315" lvl="0" marL="457200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40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40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40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check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9"/>
          <p:cNvSpPr txBox="1"/>
          <p:nvPr>
            <p:ph type="title"/>
          </p:nvPr>
        </p:nvSpPr>
        <p:spPr>
          <a:xfrm>
            <a:off x="457200" y="7040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>
    <p:check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check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1"/>
          <p:cNvSpPr txBox="1"/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 txBox="1"/>
          <p:nvPr>
            <p:ph idx="1" type="body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320040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1"/>
          <p:cNvSpPr txBox="1"/>
          <p:nvPr>
            <p:ph idx="2" type="body"/>
          </p:nvPr>
        </p:nvSpPr>
        <p:spPr>
          <a:xfrm>
            <a:off x="3575050" y="1676400"/>
            <a:ext cx="511175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397510" lvl="0" marL="457200" algn="l"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40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check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5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40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check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/>
          <p:nvPr>
            <p:ph type="title"/>
          </p:nvPr>
        </p:nvSpPr>
        <p:spPr>
          <a:xfrm rot="5400000">
            <a:off x="5052219" y="2491582"/>
            <a:ext cx="521176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3"/>
          <p:cNvSpPr txBox="1"/>
          <p:nvPr>
            <p:ph idx="1" type="body"/>
          </p:nvPr>
        </p:nvSpPr>
        <p:spPr>
          <a:xfrm rot="5400000">
            <a:off x="861219" y="510382"/>
            <a:ext cx="5211763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5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40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checker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0" ty="0" sy="65000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/>
          <p:nvPr/>
        </p:nvSpPr>
        <p:spPr>
          <a:xfrm>
            <a:off x="-9525" y="-7938"/>
            <a:ext cx="9163050" cy="1041401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5098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1" name="Google Shape;11;p25"/>
          <p:cNvSpPr/>
          <p:nvPr/>
        </p:nvSpPr>
        <p:spPr>
          <a:xfrm>
            <a:off x="4381500" y="-7938"/>
            <a:ext cx="4762500" cy="638176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30196"/>
                </a:srgbClr>
              </a:gs>
              <a:gs pos="80000">
                <a:srgbClr val="0099E4">
                  <a:alpha val="45098"/>
                </a:srgbClr>
              </a:gs>
              <a:gs pos="100000">
                <a:srgbClr val="0099E4">
                  <a:alpha val="45098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grpSp>
        <p:nvGrpSpPr>
          <p:cNvPr id="12" name="Google Shape;12;p25"/>
          <p:cNvGrpSpPr/>
          <p:nvPr/>
        </p:nvGrpSpPr>
        <p:grpSpPr>
          <a:xfrm>
            <a:off x="-29327" y="-14808"/>
            <a:ext cx="9198220" cy="1083716"/>
            <a:chOff x="-29322" y="-1971"/>
            <a:chExt cx="9198255" cy="1086266"/>
          </a:xfrm>
        </p:grpSpPr>
        <p:sp>
          <p:nvSpPr>
            <p:cNvPr id="13" name="Google Shape;13;p25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rect b="b" l="l" r="r" t="t"/>
              <a:pathLst>
                <a:path extrusionOk="0" h="1055" w="5772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cap="flat" cmpd="sng" w="10775">
              <a:solidFill>
                <a:srgbClr val="09B6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" name="Google Shape;14;p25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rect b="b" l="l" r="r" t="t"/>
              <a:pathLst>
                <a:path extrusionOk="0" h="854" w="5766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5" name="Google Shape;15;p25"/>
          <p:cNvSpPr/>
          <p:nvPr/>
        </p:nvSpPr>
        <p:spPr>
          <a:xfrm>
            <a:off x="6934200" y="62484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99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Rights Reserved</a:t>
            </a:r>
            <a:endParaRPr b="0" i="0" sz="1800" u="none" cap="none" strike="noStrike">
              <a:solidFill>
                <a:srgbClr val="0099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Google Shape;16;p25"/>
          <p:cNvCxnSpPr/>
          <p:nvPr/>
        </p:nvCxnSpPr>
        <p:spPr>
          <a:xfrm>
            <a:off x="457200" y="6172200"/>
            <a:ext cx="8229600" cy="0"/>
          </a:xfrm>
          <a:prstGeom prst="straightConnector1">
            <a:avLst/>
          </a:prstGeom>
          <a:noFill/>
          <a:ln cap="flat" cmpd="sng" w="15875">
            <a:solidFill>
              <a:srgbClr val="0099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" name="Google Shape;17;p25"/>
          <p:cNvSpPr/>
          <p:nvPr/>
        </p:nvSpPr>
        <p:spPr>
          <a:xfrm>
            <a:off x="381000" y="6248400"/>
            <a:ext cx="563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99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Microeconomics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99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Oxford University Press Malaysia, 2008</a:t>
            </a:r>
            <a:endParaRPr/>
          </a:p>
        </p:txBody>
      </p:sp>
      <p:sp>
        <p:nvSpPr>
          <p:cNvPr id="18" name="Google Shape;18;p25"/>
          <p:cNvSpPr/>
          <p:nvPr/>
        </p:nvSpPr>
        <p:spPr>
          <a:xfrm>
            <a:off x="8210550" y="6553200"/>
            <a:ext cx="55245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8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6– </a:t>
            </a:r>
            <a:fld id="{00000000-1234-1234-1234-123412341234}" type="slidenum">
              <a:rPr b="1" i="0" lang="en-US" sz="1200" u="none" cap="none" strike="noStrike">
                <a:solidFill>
                  <a:srgbClr val="008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i="0" sz="1200" u="none" cap="none" strike="noStrike">
              <a:solidFill>
                <a:srgbClr val="0083B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Google Shape;1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9575" lvl="0" marL="457200" marR="0" rtl="0" algn="l">
              <a:spcBef>
                <a:spcPts val="600"/>
              </a:spcBef>
              <a:spcAft>
                <a:spcPts val="0"/>
              </a:spcAft>
              <a:buClr>
                <a:srgbClr val="0BD0D9"/>
              </a:buClr>
              <a:buSzPts val="2850"/>
              <a:buFont typeface="Noto Sans Symbols"/>
              <a:buChar char="⚫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0525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50"/>
              <a:buFont typeface="Noto Sans Symbols"/>
              <a:buChar char="⚫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195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⚫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2425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0BD0D9"/>
              </a:buClr>
              <a:buSzPts val="1950"/>
              <a:buFont typeface="Noto Sans Symbols"/>
              <a:buChar char="⚫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2425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10CF9B"/>
              </a:buClr>
              <a:buSzPts val="1950"/>
              <a:buFont typeface="Noto Sans Symbols"/>
              <a:buChar char="⚫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004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8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transition>
    <p:checker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Relationship Id="rId4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jp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Relationship Id="rId4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mic Open2" id="51" name="Google Shape;51;p1"/>
          <p:cNvSpPr/>
          <p:nvPr/>
        </p:nvSpPr>
        <p:spPr>
          <a:xfrm>
            <a:off x="0" y="0"/>
            <a:ext cx="9144000" cy="266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 txBox="1"/>
          <p:nvPr>
            <p:ph type="title"/>
          </p:nvPr>
        </p:nvSpPr>
        <p:spPr>
          <a:xfrm>
            <a:off x="2057400" y="3581400"/>
            <a:ext cx="6629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en-US"/>
            </a:br>
            <a:r>
              <a:rPr lang="en-US" sz="5000">
                <a:solidFill>
                  <a:schemeClr val="accent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Theory of cost</a:t>
            </a:r>
            <a:endParaRPr/>
          </a:p>
        </p:txBody>
      </p:sp>
      <p:sp>
        <p:nvSpPr>
          <p:cNvPr id="53" name="Google Shape;53;p1"/>
          <p:cNvSpPr/>
          <p:nvPr/>
        </p:nvSpPr>
        <p:spPr>
          <a:xfrm>
            <a:off x="76200" y="2667000"/>
            <a:ext cx="17526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33CC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cxnSp>
        <p:nvCxnSpPr>
          <p:cNvPr id="54" name="Google Shape;54;p1"/>
          <p:cNvCxnSpPr/>
          <p:nvPr/>
        </p:nvCxnSpPr>
        <p:spPr>
          <a:xfrm>
            <a:off x="1905000" y="2209800"/>
            <a:ext cx="0" cy="24384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/>
          <p:nvPr/>
        </p:nvSpPr>
        <p:spPr>
          <a:xfrm>
            <a:off x="3276600" y="403412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 Function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83024"/>
            <a:ext cx="9144000" cy="5931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/>
          <p:nvPr/>
        </p:nvSpPr>
        <p:spPr>
          <a:xfrm>
            <a:off x="2590800" y="373588"/>
            <a:ext cx="4419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Determinants of Cost Function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 txBox="1"/>
          <p:nvPr/>
        </p:nvSpPr>
        <p:spPr>
          <a:xfrm>
            <a:off x="152400" y="990600"/>
            <a:ext cx="8686800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Several factors influence the shape and behavior of the cost function: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Level of Output (Q):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production increases, costs generally increase due to higher input usage. Economies of scale may lower the cost per unit for large-scale production.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Input Prices (P_L, P_K, etc.):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cost of labor, capital, and raw materials directly affects total costs. Higher input prices increase production costs and shift the cost function upward.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Technology (T):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Technological improvements can increase efficiency, reducing the amount of inputs needed for production, thereby lowering costs.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 txBox="1"/>
          <p:nvPr/>
        </p:nvSpPr>
        <p:spPr>
          <a:xfrm>
            <a:off x="2590800" y="373588"/>
            <a:ext cx="4419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Determinants of Cost Function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"/>
          <p:cNvSpPr txBox="1"/>
          <p:nvPr/>
        </p:nvSpPr>
        <p:spPr>
          <a:xfrm>
            <a:off x="152400" y="990600"/>
            <a:ext cx="8686800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Several factors influence the shape and behavior of the cost function: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Level of Output (Q):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production increases, costs generally increase due to higher input usage. Economies of scale may lower the cost per unit for large-scale production.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Input Prices (P_L, P_K, etc.):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cost of labor, capital, and raw materials directly affects total costs. Higher input prices increase production costs and shift the cost function upward.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Technology (T):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Technological improvements can increase efficiency, reducing the amount of inputs needed for production, thereby lowering costs.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"/>
          <p:cNvSpPr txBox="1"/>
          <p:nvPr/>
        </p:nvSpPr>
        <p:spPr>
          <a:xfrm>
            <a:off x="2590800" y="373588"/>
            <a:ext cx="4419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Cost Function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35253"/>
            <a:ext cx="9144000" cy="6001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17324"/>
            <a:ext cx="9144000" cy="6040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"/>
          <p:cNvSpPr txBox="1"/>
          <p:nvPr/>
        </p:nvSpPr>
        <p:spPr>
          <a:xfrm>
            <a:off x="2590800" y="373588"/>
            <a:ext cx="4419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 run Cost Function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89041"/>
            <a:ext cx="9144000" cy="6003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"/>
          <p:cNvSpPr txBox="1"/>
          <p:nvPr/>
        </p:nvSpPr>
        <p:spPr>
          <a:xfrm>
            <a:off x="2590800" y="373588"/>
            <a:ext cx="4419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 run Cost Function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64418" y="1981200"/>
            <a:ext cx="3691964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9941" y="1985682"/>
            <a:ext cx="4182059" cy="2967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"/>
          <p:cNvSpPr txBox="1"/>
          <p:nvPr/>
        </p:nvSpPr>
        <p:spPr>
          <a:xfrm>
            <a:off x="2590800" y="373588"/>
            <a:ext cx="4419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 run Cost Function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35252"/>
            <a:ext cx="9144000" cy="6000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 txBox="1"/>
          <p:nvPr/>
        </p:nvSpPr>
        <p:spPr>
          <a:xfrm>
            <a:off x="2590800" y="373588"/>
            <a:ext cx="4419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 run Cost Function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3727" y="1676400"/>
            <a:ext cx="3975954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399" y="1676400"/>
            <a:ext cx="3702755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"/>
          <p:cNvSpPr txBox="1"/>
          <p:nvPr/>
        </p:nvSpPr>
        <p:spPr>
          <a:xfrm>
            <a:off x="2590800" y="373588"/>
            <a:ext cx="4419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 run Cost Function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66628"/>
            <a:ext cx="9144000" cy="59913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 txBox="1"/>
          <p:nvPr/>
        </p:nvSpPr>
        <p:spPr>
          <a:xfrm>
            <a:off x="2590800" y="373588"/>
            <a:ext cx="4419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 run Cost Function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62000"/>
            <a:ext cx="9144000" cy="60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"/>
          <p:cNvSpPr txBox="1"/>
          <p:nvPr/>
        </p:nvSpPr>
        <p:spPr>
          <a:xfrm>
            <a:off x="2590800" y="373588"/>
            <a:ext cx="4419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 run Cost Function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2" y="835252"/>
            <a:ext cx="9139518" cy="6022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 txBox="1"/>
          <p:nvPr/>
        </p:nvSpPr>
        <p:spPr>
          <a:xfrm>
            <a:off x="2590800" y="373588"/>
            <a:ext cx="4419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 run Cost Function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17323"/>
            <a:ext cx="9144000" cy="6023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 txBox="1"/>
          <p:nvPr/>
        </p:nvSpPr>
        <p:spPr>
          <a:xfrm>
            <a:off x="2590800" y="373588"/>
            <a:ext cx="4419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 run Cost Function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0200" y="1866900"/>
            <a:ext cx="3733800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" y="1637179"/>
            <a:ext cx="5391902" cy="3583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/>
          <p:nvPr/>
        </p:nvSpPr>
        <p:spPr>
          <a:xfrm>
            <a:off x="2590800" y="373588"/>
            <a:ext cx="4419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 run Cost Function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35252"/>
            <a:ext cx="9144000" cy="6022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 txBox="1"/>
          <p:nvPr/>
        </p:nvSpPr>
        <p:spPr>
          <a:xfrm>
            <a:off x="2590800" y="373588"/>
            <a:ext cx="4419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 run Cost Function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047682"/>
            <a:ext cx="5801535" cy="2762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2202" y="2157235"/>
            <a:ext cx="2695951" cy="2543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/>
        </p:nvSpPr>
        <p:spPr>
          <a:xfrm>
            <a:off x="2590800" y="373588"/>
            <a:ext cx="4419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 run Cost Function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76201" y="1248327"/>
            <a:ext cx="9067799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Reason for the U shaped AVC: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Law of Diminishing Marginal Returns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explains why AVC increases at higher levels of output.</a:t>
            </a:r>
            <a:endParaRPr/>
          </a:p>
          <a:p>
            <a:pPr indent="-1524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Early Stages of Production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Initially, adding more variable inputs (e.g., labor) to a fixed input (e.g., machinery) increases productivity. As a result, variable costs rise slowly, and AVC decreases.</a:t>
            </a:r>
            <a:endParaRPr/>
          </a:p>
          <a:p>
            <a:pPr indent="-1524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Later Stages of Production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more units of variable input are added, the fixed input becomes overused or inefficient.</a:t>
            </a:r>
            <a:endParaRPr/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additional output produced by each extra unit of input (marginal product) declines.</a:t>
            </a:r>
            <a:endParaRPr/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 costs increase faster than output, causing AVC to rise.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/>
        </p:nvSpPr>
        <p:spPr>
          <a:xfrm>
            <a:off x="2590800" y="373588"/>
            <a:ext cx="4419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 run Cost Function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803876"/>
            <a:ext cx="9144001" cy="6054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/>
          <p:nvPr/>
        </p:nvSpPr>
        <p:spPr>
          <a:xfrm>
            <a:off x="2590800" y="373588"/>
            <a:ext cx="4419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 run Cost Function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21805"/>
            <a:ext cx="5219596" cy="4664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9596" y="1600200"/>
            <a:ext cx="3830188" cy="3597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/>
        </p:nvSpPr>
        <p:spPr>
          <a:xfrm>
            <a:off x="2590800" y="373588"/>
            <a:ext cx="4419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 run Cost Function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1066800"/>
            <a:ext cx="6839905" cy="2524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71799" y="3591277"/>
            <a:ext cx="2999571" cy="281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/>
          <p:nvPr/>
        </p:nvSpPr>
        <p:spPr>
          <a:xfrm>
            <a:off x="1905000" y="457200"/>
            <a:ext cx="5943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Mathematical problems on Cost Function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2"/>
          <p:cNvSpPr txBox="1"/>
          <p:nvPr/>
        </p:nvSpPr>
        <p:spPr>
          <a:xfrm>
            <a:off x="228600" y="1447800"/>
            <a:ext cx="8763000" cy="341632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74" r="0" t="-142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3"/>
          <p:cNvSpPr txBox="1"/>
          <p:nvPr/>
        </p:nvSpPr>
        <p:spPr>
          <a:xfrm>
            <a:off x="1905000" y="457200"/>
            <a:ext cx="5943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Mathematical problems on Cost Function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468" y="2268835"/>
            <a:ext cx="6704663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05000" y="1143000"/>
            <a:ext cx="541020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05000" y="4205229"/>
            <a:ext cx="5867400" cy="1760219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3"/>
          <p:cNvSpPr txBox="1"/>
          <p:nvPr/>
        </p:nvSpPr>
        <p:spPr>
          <a:xfrm>
            <a:off x="762000" y="1143000"/>
            <a:ext cx="7624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 txBox="1"/>
          <p:nvPr/>
        </p:nvSpPr>
        <p:spPr>
          <a:xfrm>
            <a:off x="1905000" y="457200"/>
            <a:ext cx="5943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Mathematical problems on Cost Function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0653" y="1582271"/>
            <a:ext cx="6982694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2007-01-16T02:28:48Z</dcterms:created>
  <dc:creator>UiTM</dc:creator>
</cp:coreProperties>
</file>