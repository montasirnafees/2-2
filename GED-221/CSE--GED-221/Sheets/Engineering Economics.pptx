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sldIdLst>
    <p:sldId id="257" r:id="rId2"/>
    <p:sldId id="435" r:id="rId3"/>
    <p:sldId id="458" r:id="rId4"/>
    <p:sldId id="459" r:id="rId5"/>
    <p:sldId id="460" r:id="rId6"/>
    <p:sldId id="258" r:id="rId7"/>
    <p:sldId id="259" r:id="rId8"/>
    <p:sldId id="260" r:id="rId9"/>
    <p:sldId id="261" r:id="rId10"/>
    <p:sldId id="407" r:id="rId11"/>
    <p:sldId id="408" r:id="rId12"/>
    <p:sldId id="463" r:id="rId13"/>
    <p:sldId id="464" r:id="rId14"/>
    <p:sldId id="462" r:id="rId15"/>
    <p:sldId id="461" r:id="rId16"/>
    <p:sldId id="263" r:id="rId17"/>
    <p:sldId id="264" r:id="rId18"/>
    <p:sldId id="267" r:id="rId19"/>
    <p:sldId id="268" r:id="rId20"/>
    <p:sldId id="266" r:id="rId21"/>
    <p:sldId id="436" r:id="rId22"/>
    <p:sldId id="269" r:id="rId23"/>
    <p:sldId id="270" r:id="rId24"/>
    <p:sldId id="271" r:id="rId25"/>
    <p:sldId id="272" r:id="rId26"/>
    <p:sldId id="273" r:id="rId27"/>
    <p:sldId id="277" r:id="rId28"/>
    <p:sldId id="274" r:id="rId29"/>
    <p:sldId id="275" r:id="rId30"/>
    <p:sldId id="276" r:id="rId31"/>
    <p:sldId id="278" r:id="rId32"/>
    <p:sldId id="311" r:id="rId33"/>
    <p:sldId id="446" r:id="rId34"/>
    <p:sldId id="282" r:id="rId35"/>
    <p:sldId id="279" r:id="rId36"/>
    <p:sldId id="283" r:id="rId37"/>
    <p:sldId id="280" r:id="rId38"/>
    <p:sldId id="281" r:id="rId39"/>
    <p:sldId id="287" r:id="rId40"/>
    <p:sldId id="294" r:id="rId41"/>
    <p:sldId id="447" r:id="rId42"/>
    <p:sldId id="449" r:id="rId43"/>
    <p:sldId id="448" r:id="rId44"/>
    <p:sldId id="286" r:id="rId45"/>
    <p:sldId id="289" r:id="rId46"/>
    <p:sldId id="290" r:id="rId47"/>
    <p:sldId id="291" r:id="rId48"/>
    <p:sldId id="450" r:id="rId49"/>
    <p:sldId id="292" r:id="rId50"/>
    <p:sldId id="293" r:id="rId51"/>
    <p:sldId id="409" r:id="rId52"/>
    <p:sldId id="434" r:id="rId53"/>
    <p:sldId id="410" r:id="rId54"/>
    <p:sldId id="412" r:id="rId55"/>
    <p:sldId id="413" r:id="rId56"/>
    <p:sldId id="420" r:id="rId57"/>
    <p:sldId id="424" r:id="rId58"/>
    <p:sldId id="423" r:id="rId59"/>
    <p:sldId id="451" r:id="rId60"/>
    <p:sldId id="422" r:id="rId61"/>
    <p:sldId id="421" r:id="rId62"/>
    <p:sldId id="425" r:id="rId63"/>
    <p:sldId id="426" r:id="rId64"/>
    <p:sldId id="427" r:id="rId65"/>
    <p:sldId id="428" r:id="rId66"/>
    <p:sldId id="431" r:id="rId67"/>
    <p:sldId id="430" r:id="rId68"/>
    <p:sldId id="429" r:id="rId69"/>
    <p:sldId id="433" r:id="rId70"/>
    <p:sldId id="432" r:id="rId71"/>
    <p:sldId id="303" r:id="rId72"/>
    <p:sldId id="452" r:id="rId73"/>
    <p:sldId id="300" r:id="rId74"/>
    <p:sldId id="301" r:id="rId75"/>
    <p:sldId id="302" r:id="rId76"/>
    <p:sldId id="295" r:id="rId77"/>
    <p:sldId id="296" r:id="rId78"/>
    <p:sldId id="297" r:id="rId79"/>
    <p:sldId id="298" r:id="rId80"/>
    <p:sldId id="299" r:id="rId81"/>
    <p:sldId id="304" r:id="rId82"/>
    <p:sldId id="305" r:id="rId83"/>
    <p:sldId id="306" r:id="rId84"/>
    <p:sldId id="307" r:id="rId85"/>
    <p:sldId id="308" r:id="rId86"/>
    <p:sldId id="309" r:id="rId87"/>
    <p:sldId id="310" r:id="rId88"/>
    <p:sldId id="312" r:id="rId89"/>
    <p:sldId id="313" r:id="rId90"/>
    <p:sldId id="314" r:id="rId91"/>
    <p:sldId id="315" r:id="rId92"/>
    <p:sldId id="316" r:id="rId93"/>
    <p:sldId id="317" r:id="rId94"/>
    <p:sldId id="318" r:id="rId95"/>
    <p:sldId id="319" r:id="rId96"/>
    <p:sldId id="320" r:id="rId97"/>
    <p:sldId id="321" r:id="rId98"/>
    <p:sldId id="322" r:id="rId99"/>
    <p:sldId id="323" r:id="rId100"/>
    <p:sldId id="453" r:id="rId101"/>
    <p:sldId id="456" r:id="rId102"/>
    <p:sldId id="454" r:id="rId103"/>
    <p:sldId id="455" r:id="rId104"/>
    <p:sldId id="414" r:id="rId105"/>
    <p:sldId id="415" r:id="rId106"/>
    <p:sldId id="416" r:id="rId107"/>
    <p:sldId id="417" r:id="rId108"/>
    <p:sldId id="418" r:id="rId109"/>
    <p:sldId id="419" r:id="rId110"/>
    <p:sldId id="337" r:id="rId111"/>
    <p:sldId id="324" r:id="rId112"/>
    <p:sldId id="325" r:id="rId113"/>
    <p:sldId id="326" r:id="rId114"/>
    <p:sldId id="327" r:id="rId115"/>
    <p:sldId id="328" r:id="rId116"/>
    <p:sldId id="329" r:id="rId117"/>
    <p:sldId id="330" r:id="rId118"/>
    <p:sldId id="331" r:id="rId119"/>
    <p:sldId id="332" r:id="rId120"/>
    <p:sldId id="333" r:id="rId121"/>
    <p:sldId id="334" r:id="rId122"/>
    <p:sldId id="335" r:id="rId123"/>
    <p:sldId id="336" r:id="rId124"/>
    <p:sldId id="338" r:id="rId125"/>
    <p:sldId id="339" r:id="rId126"/>
    <p:sldId id="457" r:id="rId127"/>
    <p:sldId id="340" r:id="rId128"/>
    <p:sldId id="341" r:id="rId129"/>
    <p:sldId id="342" r:id="rId130"/>
    <p:sldId id="344" r:id="rId131"/>
    <p:sldId id="345" r:id="rId132"/>
    <p:sldId id="346" r:id="rId133"/>
    <p:sldId id="347" r:id="rId134"/>
    <p:sldId id="348" r:id="rId135"/>
    <p:sldId id="357" r:id="rId136"/>
    <p:sldId id="349" r:id="rId137"/>
    <p:sldId id="353" r:id="rId138"/>
    <p:sldId id="354" r:id="rId139"/>
    <p:sldId id="350" r:id="rId140"/>
    <p:sldId id="351" r:id="rId141"/>
    <p:sldId id="352" r:id="rId142"/>
    <p:sldId id="356" r:id="rId143"/>
    <p:sldId id="387" r:id="rId144"/>
    <p:sldId id="388" r:id="rId145"/>
    <p:sldId id="437" r:id="rId146"/>
    <p:sldId id="390" r:id="rId147"/>
    <p:sldId id="389" r:id="rId148"/>
    <p:sldId id="391" r:id="rId149"/>
    <p:sldId id="394" r:id="rId150"/>
    <p:sldId id="392" r:id="rId151"/>
    <p:sldId id="393" r:id="rId152"/>
    <p:sldId id="396" r:id="rId153"/>
    <p:sldId id="358" r:id="rId154"/>
    <p:sldId id="359" r:id="rId155"/>
    <p:sldId id="360" r:id="rId156"/>
    <p:sldId id="361" r:id="rId157"/>
    <p:sldId id="362" r:id="rId158"/>
    <p:sldId id="363" r:id="rId159"/>
    <p:sldId id="369" r:id="rId160"/>
    <p:sldId id="364" r:id="rId161"/>
    <p:sldId id="365" r:id="rId162"/>
    <p:sldId id="368" r:id="rId163"/>
    <p:sldId id="366" r:id="rId164"/>
    <p:sldId id="367" r:id="rId165"/>
    <p:sldId id="370" r:id="rId166"/>
    <p:sldId id="371" r:id="rId167"/>
    <p:sldId id="372" r:id="rId168"/>
    <p:sldId id="373" r:id="rId169"/>
    <p:sldId id="374" r:id="rId170"/>
    <p:sldId id="375" r:id="rId171"/>
    <p:sldId id="376" r:id="rId172"/>
    <p:sldId id="377" r:id="rId173"/>
    <p:sldId id="378" r:id="rId174"/>
    <p:sldId id="379" r:id="rId175"/>
    <p:sldId id="380" r:id="rId176"/>
    <p:sldId id="381" r:id="rId177"/>
    <p:sldId id="382" r:id="rId178"/>
    <p:sldId id="383" r:id="rId179"/>
    <p:sldId id="384" r:id="rId180"/>
    <p:sldId id="385" r:id="rId181"/>
    <p:sldId id="386" r:id="rId182"/>
    <p:sldId id="406" r:id="rId183"/>
    <p:sldId id="438" r:id="rId184"/>
    <p:sldId id="439" r:id="rId185"/>
    <p:sldId id="440" r:id="rId186"/>
    <p:sldId id="442" r:id="rId187"/>
    <p:sldId id="441" r:id="rId188"/>
    <p:sldId id="443" r:id="rId189"/>
    <p:sldId id="444" r:id="rId190"/>
    <p:sldId id="445" r:id="rId191"/>
    <p:sldId id="399" r:id="rId192"/>
    <p:sldId id="400" r:id="rId193"/>
    <p:sldId id="401" r:id="rId194"/>
    <p:sldId id="402" r:id="rId195"/>
    <p:sldId id="403" r:id="rId196"/>
    <p:sldId id="405" r:id="rId197"/>
    <p:sldId id="404" r:id="rId198"/>
    <p:sldId id="397" r:id="rId199"/>
    <p:sldId id="398"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184DA70-C731-4C70-880D-CCD4705E623C}" type="datetime1">
              <a:rPr lang="en-US" smtClean="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34949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E1D723-8F53-4F53-90B0-1982A396982E}" type="datetime1">
              <a:rPr lang="en-US" smtClean="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7005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689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AAC38D-0552-4C82-B593-E6124DFADBE2}" type="datetime1">
              <a:rPr lang="en-US" smtClean="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06792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9DF0F1C-5577-4ACB-BB62-DF8F3C494C7E}" type="datetime1">
              <a:rPr lang="en-US" smtClean="0"/>
              <a:t>4/7/2025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6741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75B394-D9F9-4F0C-B15D-605F45CB9E9F}" type="datetime1">
              <a:rPr lang="en-US" smtClean="0"/>
              <a:t>4/7/2025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89162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4/7/2025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49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10499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4/7/2025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50529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2A279-0833-481D-8C56-F67FD0AC6C50}" type="datetime1">
              <a:rPr lang="en-US" smtClean="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90556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3"/>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3"/>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87DA83-5663-4C9C-B9AA-0B40A3DAFF81}" type="datetime1">
              <a:rPr lang="en-US" smtClean="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2156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6E202-B606-4609-B914-27C9371A1F6D}" type="datetime1">
              <a:rPr lang="en-US" smtClean="0"/>
              <a:t>4/7/2025</a:t>
            </a:fld>
            <a:endParaRPr lang="en-US" dirty="0"/>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732213731"/>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pediaa.com/difference-between-opportunity-cost-and-trade-of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investopedia.com/terms/m/marketshare.asp" TargetMode="External"/><Relationship Id="rId2" Type="http://schemas.openxmlformats.org/officeDocument/2006/relationships/hyperlink" Target="https://www.investopedia.com/terms/c/capitalism.asp"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thoughtco.com/free-trade-definition-theories-4571024"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investopedia.com/ask/answers/042115/what-goods-and-services-do-command-economies-produce.asp" TargetMode="External"/><Relationship Id="rId2" Type="http://schemas.openxmlformats.org/officeDocument/2006/relationships/hyperlink" Target="https://www.investopedia.com/terms/f/freemarket.asp" TargetMode="External"/><Relationship Id="rId1" Type="http://schemas.openxmlformats.org/officeDocument/2006/relationships/slideLayout" Target="../slideLayouts/slideLayout2.xml"/><Relationship Id="rId4" Type="http://schemas.openxmlformats.org/officeDocument/2006/relationships/hyperlink" Target="https://www.investopedia.com/terms/c/communism.asp"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investopedia.com/terms/p/private-sector.asp" TargetMode="External"/><Relationship Id="rId2" Type="http://schemas.openxmlformats.org/officeDocument/2006/relationships/hyperlink" Target="https://www.investopedia.com/ask/answers/100314/whats-difference-between-market-economy-and-command-economy.asp"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economicsonline.co.uk/Managing_the_economy/The_public_sector.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www.economicsonline.co.uk/Competitive_markets/Producer_supply.html#Supply_and_price"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economicsonline.co.uk/Business_economics/Costs.html"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www.economicsonline.co.uk/Competitive_markets/Primary_markets.html"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s://www.investopedia.com/terms/m/microeconomics.asp"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www.toppr.com/guides/quantitative-aptitude/permutation-and-combination/combination/"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www.toppr.com/guides/economics/open-economy-macroeconomics/exchange-rate/" TargetMode="External"/><Relationship Id="rId2" Type="http://schemas.openxmlformats.org/officeDocument/2006/relationships/hyperlink" Target="https://www.toppr.com/guides/physics/units-and-measurements/" TargetMode="External"/><Relationship Id="rId1" Type="http://schemas.openxmlformats.org/officeDocument/2006/relationships/slideLayout" Target="../slideLayouts/slideLayout2.xml"/><Relationship Id="rId4" Type="http://schemas.openxmlformats.org/officeDocument/2006/relationships/hyperlink" Target="https://www.toppr.com/guides/science/food-where-does-it-comes-from/sources-of-food/"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hyperlink" Target="https://www.masterclass.com/articles/what-is-gdp" TargetMode="Externa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hyperlink" Target="https://www.masterclass.com/articles/learn-about-unemployment" TargetMode="Externa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6" y="639101"/>
            <a:ext cx="6253317" cy="3686015"/>
          </a:xfrm>
        </p:spPr>
        <p:txBody>
          <a:bodyPr>
            <a:normAutofit/>
          </a:bodyPr>
          <a:lstStyle/>
          <a:p>
            <a:r>
              <a:rPr lang="en-US" sz="8000" dirty="0"/>
              <a:t>Engineering</a:t>
            </a:r>
            <a:br>
              <a:rPr lang="en-US" sz="8000" dirty="0"/>
            </a:br>
            <a:r>
              <a:rPr lang="en-US" sz="8000" dirty="0"/>
              <a:t>Economics</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4000" dirty="0">
                <a:solidFill>
                  <a:schemeClr val="tx1">
                    <a:lumMod val="85000"/>
                    <a:lumOff val="15000"/>
                  </a:schemeClr>
                </a:solidFill>
              </a:rPr>
              <a:t>Lecture-1</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 y="4"/>
            <a:ext cx="4635315" cy="6857999"/>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Need- Basic issues for survival.</a:t>
            </a:r>
          </a:p>
          <a:p>
            <a:r>
              <a:rPr lang="en-US" dirty="0"/>
              <a:t>Want</a:t>
            </a:r>
          </a:p>
          <a:p>
            <a:r>
              <a:rPr lang="en-US" dirty="0"/>
              <a:t> Demand=Willingness to purchase+ Purchasing power</a:t>
            </a:r>
          </a:p>
          <a:p>
            <a:r>
              <a:rPr lang="en-US" dirty="0"/>
              <a:t>Unlimited Needs </a:t>
            </a:r>
          </a:p>
          <a:p>
            <a:r>
              <a:rPr lang="en-US" dirty="0"/>
              <a:t>Scarcity</a:t>
            </a:r>
          </a:p>
        </p:txBody>
      </p:sp>
      <p:pic>
        <p:nvPicPr>
          <p:cNvPr id="5" name="Picture 4">
            <a:extLst>
              <a:ext uri="{FF2B5EF4-FFF2-40B4-BE49-F238E27FC236}">
                <a16:creationId xmlns:a16="http://schemas.microsoft.com/office/drawing/2014/main" id="{17EE3440-8C5E-4CDD-893F-00B07E3E9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4" y="-1"/>
            <a:ext cx="12173799" cy="6851025"/>
          </a:xfrm>
          <a:prstGeom prst="rect">
            <a:avLst/>
          </a:prstGeom>
        </p:spPr>
      </p:pic>
    </p:spTree>
    <p:extLst>
      <p:ext uri="{BB962C8B-B14F-4D97-AF65-F5344CB8AC3E}">
        <p14:creationId xmlns:p14="http://schemas.microsoft.com/office/powerpoint/2010/main" val="3746466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CF0C-45D1-40F2-86F1-9B10F6DF6AC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AC3B8A7-450A-46BE-9FB2-4D92EA5627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46" y="0"/>
            <a:ext cx="12178553" cy="6858000"/>
          </a:xfrm>
        </p:spPr>
      </p:pic>
    </p:spTree>
    <p:extLst>
      <p:ext uri="{BB962C8B-B14F-4D97-AF65-F5344CB8AC3E}">
        <p14:creationId xmlns:p14="http://schemas.microsoft.com/office/powerpoint/2010/main" val="2498264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EB44-F91B-45B2-88BF-AD2AF2BF739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548B01E-EF29-4C00-858D-EBC1688EA0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
            <a:ext cx="12192001" cy="6867231"/>
          </a:xfrm>
        </p:spPr>
      </p:pic>
    </p:spTree>
    <p:extLst>
      <p:ext uri="{BB962C8B-B14F-4D97-AF65-F5344CB8AC3E}">
        <p14:creationId xmlns:p14="http://schemas.microsoft.com/office/powerpoint/2010/main" val="1498288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D15D-2943-402C-B8A5-9C9949A320C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D1C3AF0-794B-433D-97F9-E921249EEC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62198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248FD-1E64-41B1-9347-787F5D7F42B6}"/>
              </a:ext>
            </a:extLst>
          </p:cNvPr>
          <p:cNvSpPr>
            <a:spLocks noGrp="1"/>
          </p:cNvSpPr>
          <p:nvPr>
            <p:ph type="title"/>
          </p:nvPr>
        </p:nvSpPr>
        <p:spPr/>
        <p:txBody>
          <a:bodyPr/>
          <a:lstStyle/>
          <a:p>
            <a:r>
              <a:rPr lang="en-US" sz="4400" dirty="0">
                <a:solidFill>
                  <a:srgbClr val="000000"/>
                </a:solidFill>
                <a:effectLst/>
                <a:latin typeface="Times New Roman" panose="02020603050405020304" pitchFamily="18" charset="0"/>
                <a:ea typeface="Times New Roman" panose="02020603050405020304" pitchFamily="18" charset="0"/>
              </a:rPr>
              <a:t>Definition of Economics</a:t>
            </a:r>
            <a:endParaRPr lang="en-US" dirty="0"/>
          </a:p>
        </p:txBody>
      </p:sp>
      <p:sp>
        <p:nvSpPr>
          <p:cNvPr id="3" name="Content Placeholder 2">
            <a:extLst>
              <a:ext uri="{FF2B5EF4-FFF2-40B4-BE49-F238E27FC236}">
                <a16:creationId xmlns:a16="http://schemas.microsoft.com/office/drawing/2014/main" id="{DB25BCCD-AC20-48D2-BCF2-8247662A0CCB}"/>
              </a:ext>
            </a:extLst>
          </p:cNvPr>
          <p:cNvSpPr>
            <a:spLocks noGrp="1"/>
          </p:cNvSpPr>
          <p:nvPr>
            <p:ph idx="1"/>
          </p:nvPr>
        </p:nvSpPr>
        <p:spPr/>
        <p:txBody>
          <a:bodyPr>
            <a:normAutofit fontScale="92500" lnSpcReduction="20000"/>
          </a:bodyPr>
          <a:lstStyle/>
          <a:p>
            <a:pPr algn="just"/>
            <a:r>
              <a:rPr lang="en-US" sz="4000" dirty="0"/>
              <a:t>Economics is the science which studies human behavior as a relationship between given ends and scarce means which have alternative uses.</a:t>
            </a:r>
          </a:p>
          <a:p>
            <a:pPr algn="just"/>
            <a:r>
              <a:rPr lang="en-US" sz="4000" dirty="0"/>
              <a:t>Economics is a social science concerned with the production, distribution, and consumption of goods and services. </a:t>
            </a:r>
          </a:p>
          <a:p>
            <a:pPr algn="just"/>
            <a:r>
              <a:rPr lang="en-US" sz="4000" dirty="0"/>
              <a:t>It studies how individuals, businesses, governments, and nations make choices about how to allocate resources.</a:t>
            </a:r>
          </a:p>
        </p:txBody>
      </p:sp>
    </p:spTree>
    <p:extLst>
      <p:ext uri="{BB962C8B-B14F-4D97-AF65-F5344CB8AC3E}">
        <p14:creationId xmlns:p14="http://schemas.microsoft.com/office/powerpoint/2010/main" val="386772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443C-ABAA-427B-8D82-02ABDE54B77D}"/>
              </a:ext>
            </a:extLst>
          </p:cNvPr>
          <p:cNvSpPr>
            <a:spLocks noGrp="1"/>
          </p:cNvSpPr>
          <p:nvPr>
            <p:ph type="title"/>
          </p:nvPr>
        </p:nvSpPr>
        <p:spPr/>
        <p:txBody>
          <a:bodyPr/>
          <a:lstStyle/>
          <a:p>
            <a:r>
              <a:rPr lang="en-US" sz="4400" dirty="0">
                <a:solidFill>
                  <a:srgbClr val="000000"/>
                </a:solidFill>
                <a:effectLst/>
                <a:latin typeface="Times New Roman" panose="02020603050405020304" pitchFamily="18" charset="0"/>
                <a:ea typeface="Times New Roman" panose="02020603050405020304" pitchFamily="18" charset="0"/>
              </a:rPr>
              <a:t>Two branches of Economics</a:t>
            </a:r>
            <a:endParaRPr lang="en-US" dirty="0"/>
          </a:p>
        </p:txBody>
      </p:sp>
      <p:sp>
        <p:nvSpPr>
          <p:cNvPr id="3" name="Content Placeholder 2">
            <a:extLst>
              <a:ext uri="{FF2B5EF4-FFF2-40B4-BE49-F238E27FC236}">
                <a16:creationId xmlns:a16="http://schemas.microsoft.com/office/drawing/2014/main" id="{EE431FA9-C924-4164-9CE2-3091636C1E30}"/>
              </a:ext>
            </a:extLst>
          </p:cNvPr>
          <p:cNvSpPr>
            <a:spLocks noGrp="1"/>
          </p:cNvSpPr>
          <p:nvPr>
            <p:ph idx="1"/>
          </p:nvPr>
        </p:nvSpPr>
        <p:spPr/>
        <p:txBody>
          <a:bodyPr>
            <a:normAutofit fontScale="85000" lnSpcReduction="10000"/>
          </a:bodyPr>
          <a:lstStyle/>
          <a:p>
            <a:pPr algn="just"/>
            <a:r>
              <a:rPr lang="en-US" dirty="0"/>
              <a:t>Two major types of economics are Microeconomics and Macroeconomics.</a:t>
            </a:r>
          </a:p>
          <a:p>
            <a:pPr algn="just"/>
            <a:endParaRPr lang="en-US" dirty="0"/>
          </a:p>
          <a:p>
            <a:pPr algn="just"/>
            <a:r>
              <a:rPr lang="en-US" b="1" dirty="0"/>
              <a:t>Microeconomics</a:t>
            </a:r>
            <a:r>
              <a:rPr lang="en-US" dirty="0"/>
              <a:t> focuses on individual consumers and businesses. And Macroeconomics deals with the behavior of the aggregate economy- overall economies on a regional, national, or international scale.</a:t>
            </a:r>
          </a:p>
          <a:p>
            <a:pPr algn="just"/>
            <a:r>
              <a:rPr lang="en-US" b="1" dirty="0"/>
              <a:t>Macroeconomics</a:t>
            </a:r>
            <a:r>
              <a:rPr lang="en-US" dirty="0"/>
              <a:t> is the branch of economics that looks at economy in a broad sense and deals with factors affecting the national, regional, or global economy as a whole. </a:t>
            </a:r>
            <a:r>
              <a:rPr lang="en-US" b="1" dirty="0"/>
              <a:t>Microeconomics</a:t>
            </a:r>
            <a:r>
              <a:rPr lang="en-US" dirty="0"/>
              <a:t> looks at the economy on a smaller scale and deals with specific entities like businesses, households and individuals.</a:t>
            </a:r>
          </a:p>
        </p:txBody>
      </p:sp>
    </p:spTree>
    <p:extLst>
      <p:ext uri="{BB962C8B-B14F-4D97-AF65-F5344CB8AC3E}">
        <p14:creationId xmlns:p14="http://schemas.microsoft.com/office/powerpoint/2010/main" val="2412602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0E6E3-FC58-4DC0-BB64-21C02821A1CF}"/>
              </a:ext>
            </a:extLst>
          </p:cNvPr>
          <p:cNvSpPr>
            <a:spLocks noGrp="1"/>
          </p:cNvSpPr>
          <p:nvPr>
            <p:ph type="title"/>
          </p:nvPr>
        </p:nvSpPr>
        <p:spPr/>
        <p:txBody>
          <a:bodyPr>
            <a:normAutofit fontScale="90000"/>
          </a:bodyPr>
          <a:lstStyle/>
          <a:p>
            <a:r>
              <a:rPr lang="en-US" b="1" i="0" dirty="0">
                <a:solidFill>
                  <a:srgbClr val="111111"/>
                </a:solidFill>
                <a:effectLst/>
                <a:latin typeface="+mn-lt"/>
              </a:rPr>
              <a:t>Micro-economics</a:t>
            </a:r>
            <a:br>
              <a:rPr lang="en-US" b="0" i="0" dirty="0">
                <a:solidFill>
                  <a:srgbClr val="111111"/>
                </a:solidFill>
                <a:effectLst/>
                <a:latin typeface="SourceSansPro"/>
              </a:rPr>
            </a:br>
            <a:endParaRPr lang="en-US" dirty="0"/>
          </a:p>
        </p:txBody>
      </p:sp>
      <p:sp>
        <p:nvSpPr>
          <p:cNvPr id="3" name="Content Placeholder 2">
            <a:extLst>
              <a:ext uri="{FF2B5EF4-FFF2-40B4-BE49-F238E27FC236}">
                <a16:creationId xmlns:a16="http://schemas.microsoft.com/office/drawing/2014/main" id="{2B58337E-8BE5-4A3C-8944-0B786C8823E0}"/>
              </a:ext>
            </a:extLst>
          </p:cNvPr>
          <p:cNvSpPr>
            <a:spLocks noGrp="1"/>
          </p:cNvSpPr>
          <p:nvPr>
            <p:ph idx="1"/>
          </p:nvPr>
        </p:nvSpPr>
        <p:spPr/>
        <p:txBody>
          <a:bodyPr>
            <a:normAutofit fontScale="70000" lnSpcReduction="20000"/>
          </a:bodyPr>
          <a:lstStyle/>
          <a:p>
            <a:pPr algn="just"/>
            <a:r>
              <a:rPr lang="en-US" dirty="0">
                <a:solidFill>
                  <a:srgbClr val="000000"/>
                </a:solidFill>
              </a:rPr>
              <a:t>Micro, as its name implies, focuses on smaller (albeit just as important) concerns that involve individual people, families, or entities.</a:t>
            </a:r>
          </a:p>
          <a:p>
            <a:pPr algn="just"/>
            <a:endParaRPr lang="en-US" b="1" i="0" dirty="0">
              <a:solidFill>
                <a:srgbClr val="111111"/>
              </a:solidFill>
              <a:effectLst/>
            </a:endParaRPr>
          </a:p>
          <a:p>
            <a:pPr algn="just">
              <a:buFont typeface="Arial" panose="020B0604020202020204" pitchFamily="34" charset="0"/>
              <a:buChar char="•"/>
            </a:pPr>
            <a:r>
              <a:rPr lang="en-US" i="0" dirty="0">
                <a:solidFill>
                  <a:srgbClr val="111111"/>
                </a:solidFill>
                <a:effectLst/>
              </a:rPr>
              <a:t>Microeconomics</a:t>
            </a:r>
            <a:r>
              <a:rPr lang="en-US" b="0" i="0" dirty="0">
                <a:solidFill>
                  <a:srgbClr val="111111"/>
                </a:solidFill>
                <a:effectLst/>
              </a:rPr>
              <a:t> focuses on how individual consumers and firm make decisions; these individuals can be a single person, a household, a business/organization or a government agency.</a:t>
            </a:r>
          </a:p>
          <a:p>
            <a:pPr algn="just">
              <a:buFont typeface="Arial" panose="020B0604020202020204" pitchFamily="34" charset="0"/>
              <a:buChar char="•"/>
            </a:pPr>
            <a:endParaRPr lang="en-US" b="0" i="0" dirty="0">
              <a:solidFill>
                <a:srgbClr val="111111"/>
              </a:solidFill>
              <a:effectLst/>
            </a:endParaRPr>
          </a:p>
          <a:p>
            <a:pPr algn="just"/>
            <a:r>
              <a:rPr lang="en-US" dirty="0">
                <a:solidFill>
                  <a:srgbClr val="111111"/>
                </a:solidFill>
              </a:rPr>
              <a:t>The key role of microeconomics is to examine how a company could maximize its production and capacity, so that it could lower the prices and compete in its industry. A lot of microeconomics information can be obtained from the financial statements.</a:t>
            </a:r>
          </a:p>
          <a:p>
            <a:pPr algn="just"/>
            <a:endParaRPr lang="en-US" dirty="0">
              <a:solidFill>
                <a:srgbClr val="111111"/>
              </a:solidFill>
            </a:endParaRPr>
          </a:p>
          <a:p>
            <a:pPr algn="just"/>
            <a:r>
              <a:rPr lang="en-US" dirty="0">
                <a:solidFill>
                  <a:srgbClr val="111111"/>
                </a:solidFill>
              </a:rPr>
              <a:t>The key factors of microeconomics are as follows: Demand, supply and equilibrium, Production theory, Costs of production.</a:t>
            </a:r>
            <a:endParaRPr lang="en-US" b="0" i="0" dirty="0">
              <a:solidFill>
                <a:srgbClr val="111111"/>
              </a:solidFill>
              <a:effectLst/>
            </a:endParaRPr>
          </a:p>
          <a:p>
            <a:pPr algn="just"/>
            <a:endParaRPr lang="en-US" dirty="0"/>
          </a:p>
        </p:txBody>
      </p:sp>
    </p:spTree>
    <p:extLst>
      <p:ext uri="{BB962C8B-B14F-4D97-AF65-F5344CB8AC3E}">
        <p14:creationId xmlns:p14="http://schemas.microsoft.com/office/powerpoint/2010/main" val="1396578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62F7-CCC7-46C6-A224-7CFB119183A8}"/>
              </a:ext>
            </a:extLst>
          </p:cNvPr>
          <p:cNvSpPr>
            <a:spLocks noGrp="1"/>
          </p:cNvSpPr>
          <p:nvPr>
            <p:ph type="title"/>
          </p:nvPr>
        </p:nvSpPr>
        <p:spPr>
          <a:xfrm>
            <a:off x="609600" y="0"/>
            <a:ext cx="10972800" cy="1143000"/>
          </a:xfrm>
        </p:spPr>
        <p:txBody>
          <a:bodyPr>
            <a:normAutofit/>
          </a:bodyPr>
          <a:lstStyle/>
          <a:p>
            <a:r>
              <a:rPr lang="en-US" sz="3200" b="1" dirty="0">
                <a:solidFill>
                  <a:srgbClr val="111111"/>
                </a:solidFill>
                <a:latin typeface="+mn-lt"/>
              </a:rPr>
              <a:t>Macroeconomics</a:t>
            </a:r>
            <a:endParaRPr lang="en-US" sz="3200" b="1" dirty="0">
              <a:latin typeface="+mn-lt"/>
            </a:endParaRPr>
          </a:p>
        </p:txBody>
      </p:sp>
      <p:sp>
        <p:nvSpPr>
          <p:cNvPr id="3" name="Content Placeholder 2">
            <a:extLst>
              <a:ext uri="{FF2B5EF4-FFF2-40B4-BE49-F238E27FC236}">
                <a16:creationId xmlns:a16="http://schemas.microsoft.com/office/drawing/2014/main" id="{3E1A8B60-69E5-4DA9-BA6A-4BCE91AD3D5F}"/>
              </a:ext>
            </a:extLst>
          </p:cNvPr>
          <p:cNvSpPr>
            <a:spLocks noGrp="1"/>
          </p:cNvSpPr>
          <p:nvPr>
            <p:ph idx="1"/>
          </p:nvPr>
        </p:nvSpPr>
        <p:spPr>
          <a:xfrm>
            <a:off x="609600" y="1143000"/>
            <a:ext cx="10515600" cy="4351338"/>
          </a:xfrm>
        </p:spPr>
        <p:txBody>
          <a:bodyPr>
            <a:normAutofit fontScale="25000" lnSpcReduction="20000"/>
          </a:bodyPr>
          <a:lstStyle/>
          <a:p>
            <a:pPr algn="just"/>
            <a:r>
              <a:rPr lang="en-US" sz="9600" dirty="0">
                <a:solidFill>
                  <a:srgbClr val="000000"/>
                </a:solidFill>
              </a:rPr>
              <a:t>'Macro' refers to the big picture.</a:t>
            </a:r>
          </a:p>
          <a:p>
            <a:pPr algn="just"/>
            <a:endParaRPr lang="en-US" sz="9600" b="1" i="0" dirty="0">
              <a:solidFill>
                <a:srgbClr val="111111"/>
              </a:solidFill>
              <a:effectLst/>
            </a:endParaRPr>
          </a:p>
          <a:p>
            <a:pPr algn="just">
              <a:buFont typeface="Arial" panose="020B0604020202020204" pitchFamily="34" charset="0"/>
              <a:buChar char="•"/>
            </a:pPr>
            <a:r>
              <a:rPr lang="en-US" sz="9600" i="0" dirty="0">
                <a:solidFill>
                  <a:srgbClr val="111111"/>
                </a:solidFill>
                <a:effectLst/>
              </a:rPr>
              <a:t>Macroeconomics</a:t>
            </a:r>
            <a:r>
              <a:rPr lang="en-US" sz="9600" b="0" i="0" dirty="0">
                <a:solidFill>
                  <a:srgbClr val="111111"/>
                </a:solidFill>
                <a:effectLst/>
              </a:rPr>
              <a:t> studies an overall economy on both a national and international level.</a:t>
            </a:r>
          </a:p>
          <a:p>
            <a:pPr algn="just">
              <a:buFont typeface="Arial" panose="020B0604020202020204" pitchFamily="34" charset="0"/>
              <a:buChar char="•"/>
            </a:pPr>
            <a:endParaRPr lang="en-US" sz="9600" b="0" i="0" dirty="0">
              <a:solidFill>
                <a:srgbClr val="111111"/>
              </a:solidFill>
              <a:effectLst/>
            </a:endParaRPr>
          </a:p>
          <a:p>
            <a:pPr algn="just">
              <a:buFont typeface="Arial" panose="020B0604020202020204" pitchFamily="34" charset="0"/>
              <a:buChar char="•"/>
            </a:pPr>
            <a:r>
              <a:rPr lang="en-US" sz="9600" b="0" i="0" dirty="0">
                <a:solidFill>
                  <a:srgbClr val="111111"/>
                </a:solidFill>
                <a:effectLst/>
              </a:rPr>
              <a:t>Its focus can include a distinct geographical region, a country, a continent, or even the whole world.</a:t>
            </a:r>
          </a:p>
          <a:p>
            <a:pPr algn="just">
              <a:buFont typeface="Arial" panose="020B0604020202020204" pitchFamily="34" charset="0"/>
              <a:buChar char="•"/>
            </a:pPr>
            <a:endParaRPr lang="en-US" sz="9600" b="0" i="0" dirty="0">
              <a:solidFill>
                <a:srgbClr val="111111"/>
              </a:solidFill>
              <a:effectLst/>
            </a:endParaRPr>
          </a:p>
          <a:p>
            <a:pPr algn="just">
              <a:buFont typeface="Arial" panose="020B0604020202020204" pitchFamily="34" charset="0"/>
              <a:buChar char="•"/>
            </a:pPr>
            <a:r>
              <a:rPr lang="en-US" sz="9600" b="0" i="0" dirty="0">
                <a:solidFill>
                  <a:srgbClr val="111111"/>
                </a:solidFill>
                <a:effectLst/>
              </a:rPr>
              <a:t>Topics studied include foreign trade, government fiscal and monetary policy, unemployment rates, the level of inflation and interest rates, the growth of total production output as reflected by changes in the Gross Domestic Product (GDP), and </a:t>
            </a:r>
            <a:r>
              <a:rPr lang="en-US" sz="9600" b="0" i="0" dirty="0">
                <a:effectLst/>
              </a:rPr>
              <a:t>business cycles (</a:t>
            </a:r>
            <a:r>
              <a:rPr lang="en-US" sz="9600" b="0" i="0" dirty="0">
                <a:solidFill>
                  <a:srgbClr val="111111"/>
                </a:solidFill>
                <a:effectLst/>
              </a:rPr>
              <a:t>Business cycles are comprised of concerted cyclical upswings and downswings in the broad measures of economic activity—output, employment, income, and sales). </a:t>
            </a:r>
          </a:p>
          <a:p>
            <a:endParaRPr lang="en-US" dirty="0"/>
          </a:p>
        </p:txBody>
      </p:sp>
    </p:spTree>
    <p:extLst>
      <p:ext uri="{BB962C8B-B14F-4D97-AF65-F5344CB8AC3E}">
        <p14:creationId xmlns:p14="http://schemas.microsoft.com/office/powerpoint/2010/main" val="878509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D6F06-429A-4CD4-854B-5C5B9F74C5C2}"/>
              </a:ext>
            </a:extLst>
          </p:cNvPr>
          <p:cNvSpPr>
            <a:spLocks noGrp="1"/>
          </p:cNvSpPr>
          <p:nvPr>
            <p:ph type="title"/>
          </p:nvPr>
        </p:nvSpPr>
        <p:spPr/>
        <p:txBody>
          <a:bodyPr>
            <a:normAutofit/>
          </a:bodyPr>
          <a:lstStyle/>
          <a:p>
            <a:r>
              <a:rPr lang="en-US" sz="3200" b="1" i="0" dirty="0">
                <a:solidFill>
                  <a:srgbClr val="222222"/>
                </a:solidFill>
                <a:effectLst/>
                <a:latin typeface="Times New Roman" panose="02020603050405020304" pitchFamily="18" charset="0"/>
                <a:cs typeface="Times New Roman" panose="02020603050405020304" pitchFamily="18" charset="0"/>
              </a:rPr>
              <a:t>Why is Economics Important?</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FCC4CB-B957-4CC5-A71A-4E4EA933F6D9}"/>
              </a:ext>
            </a:extLst>
          </p:cNvPr>
          <p:cNvSpPr>
            <a:spLocks noGrp="1"/>
          </p:cNvSpPr>
          <p:nvPr>
            <p:ph idx="1"/>
          </p:nvPr>
        </p:nvSpPr>
        <p:spPr/>
        <p:txBody>
          <a:bodyPr/>
          <a:lstStyle/>
          <a:p>
            <a:pPr algn="just"/>
            <a:r>
              <a:rPr lang="en-US" dirty="0"/>
              <a:t>Economists provide information and forecasting to inform decisions within companies and governments. </a:t>
            </a:r>
          </a:p>
          <a:p>
            <a:pPr algn="just"/>
            <a:r>
              <a:rPr lang="en-US" dirty="0"/>
              <a:t>Economic issues influence our daily lives. This includes issues such as tax and inflation, interest rates and wealth, inequality and emerging markets, and energy and the environment.</a:t>
            </a:r>
          </a:p>
          <a:p>
            <a:pPr algn="just"/>
            <a:r>
              <a:rPr lang="en-US" dirty="0"/>
              <a:t>Firms of all sizes and industries have to rely on economics, whether that’s for product research and development, pricing strategies or how to advertise.</a:t>
            </a:r>
          </a:p>
          <a:p>
            <a:endParaRPr lang="en-US" dirty="0"/>
          </a:p>
        </p:txBody>
      </p:sp>
    </p:spTree>
    <p:extLst>
      <p:ext uri="{BB962C8B-B14F-4D97-AF65-F5344CB8AC3E}">
        <p14:creationId xmlns:p14="http://schemas.microsoft.com/office/powerpoint/2010/main" val="160873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1C41-FC45-4D20-AFE5-36AAECCE7D4E}"/>
              </a:ext>
            </a:extLst>
          </p:cNvPr>
          <p:cNvSpPr>
            <a:spLocks noGrp="1"/>
          </p:cNvSpPr>
          <p:nvPr>
            <p:ph type="title"/>
          </p:nvPr>
        </p:nvSpPr>
        <p:spPr/>
        <p:txBody>
          <a:bodyPr>
            <a:normAutofit/>
          </a:bodyPr>
          <a:lstStyle/>
          <a:p>
            <a:r>
              <a:rPr lang="en-US" sz="3200" b="1" dirty="0">
                <a:latin typeface="+mn-lt"/>
              </a:rPr>
              <a:t>Why studying Economics is Important?</a:t>
            </a:r>
          </a:p>
        </p:txBody>
      </p:sp>
      <p:sp>
        <p:nvSpPr>
          <p:cNvPr id="3" name="Content Placeholder 2">
            <a:extLst>
              <a:ext uri="{FF2B5EF4-FFF2-40B4-BE49-F238E27FC236}">
                <a16:creationId xmlns:a16="http://schemas.microsoft.com/office/drawing/2014/main" id="{6CE70404-DE12-4F25-BCB9-93C44E06C0BC}"/>
              </a:ext>
            </a:extLst>
          </p:cNvPr>
          <p:cNvSpPr>
            <a:spLocks noGrp="1"/>
          </p:cNvSpPr>
          <p:nvPr>
            <p:ph idx="1"/>
          </p:nvPr>
        </p:nvSpPr>
        <p:spPr/>
        <p:txBody>
          <a:bodyPr>
            <a:normAutofit fontScale="92500" lnSpcReduction="10000"/>
          </a:bodyPr>
          <a:lstStyle/>
          <a:p>
            <a:pPr algn="just"/>
            <a:r>
              <a:rPr lang="en-US" dirty="0"/>
              <a:t>Economics helps to bring about development and minimize poverty in a country. The reason many African and Asian countries are finding it difficult to develop like Europe and America is mainly due to the fact many of these nations aren’t fully using Economics to solve certain problems such as high unemployment rate, low production etc.</a:t>
            </a:r>
          </a:p>
          <a:p>
            <a:pPr algn="just"/>
            <a:r>
              <a:rPr lang="en-US" dirty="0"/>
              <a:t>Economics is very vital for the businessman or businesswoman in the sense that a thorough understanding in Economics can help him or her to minimize the cost of production and make more profit at the end of the day.</a:t>
            </a:r>
          </a:p>
        </p:txBody>
      </p:sp>
    </p:spTree>
    <p:extLst>
      <p:ext uri="{BB962C8B-B14F-4D97-AF65-F5344CB8AC3E}">
        <p14:creationId xmlns:p14="http://schemas.microsoft.com/office/powerpoint/2010/main" val="2861524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1C41-FC45-4D20-AFE5-36AAECCE7D4E}"/>
              </a:ext>
            </a:extLst>
          </p:cNvPr>
          <p:cNvSpPr>
            <a:spLocks noGrp="1"/>
          </p:cNvSpPr>
          <p:nvPr>
            <p:ph type="title"/>
          </p:nvPr>
        </p:nvSpPr>
        <p:spPr>
          <a:xfrm>
            <a:off x="609600" y="0"/>
            <a:ext cx="10972800" cy="1143000"/>
          </a:xfrm>
        </p:spPr>
        <p:txBody>
          <a:bodyPr>
            <a:normAutofit/>
          </a:bodyPr>
          <a:lstStyle/>
          <a:p>
            <a:r>
              <a:rPr lang="en-US" sz="3200" b="1" dirty="0">
                <a:latin typeface="+mn-lt"/>
              </a:rPr>
              <a:t>Engineering economics as a distinct branch</a:t>
            </a:r>
          </a:p>
        </p:txBody>
      </p:sp>
      <p:sp>
        <p:nvSpPr>
          <p:cNvPr id="4" name="TextBox 3">
            <a:extLst>
              <a:ext uri="{FF2B5EF4-FFF2-40B4-BE49-F238E27FC236}">
                <a16:creationId xmlns:a16="http://schemas.microsoft.com/office/drawing/2014/main" id="{E49908FA-6E35-4CE4-B454-99AFBDE9FD56}"/>
              </a:ext>
            </a:extLst>
          </p:cNvPr>
          <p:cNvSpPr txBox="1"/>
          <p:nvPr/>
        </p:nvSpPr>
        <p:spPr>
          <a:xfrm>
            <a:off x="609600" y="1158454"/>
            <a:ext cx="11237259" cy="5632311"/>
          </a:xfrm>
          <a:prstGeom prst="rect">
            <a:avLst/>
          </a:prstGeom>
          <a:noFill/>
        </p:spPr>
        <p:txBody>
          <a:bodyPr wrap="square">
            <a:spAutoFit/>
          </a:bodyPr>
          <a:lstStyle/>
          <a:p>
            <a:r>
              <a:rPr lang="en-US" sz="2000" b="1" dirty="0"/>
              <a:t>1. Bridges Technical and Financial Thinking</a:t>
            </a:r>
          </a:p>
          <a:p>
            <a:r>
              <a:rPr lang="en-US" sz="2000" dirty="0"/>
              <a:t>Engineers often make decisions that involve significant capital investment. A separate course in Engineering Economics trains them to </a:t>
            </a:r>
            <a:r>
              <a:rPr lang="en-US" sz="2000" b="1" dirty="0"/>
              <a:t>evaluate the economic feasibility</a:t>
            </a:r>
            <a:r>
              <a:rPr lang="en-US" sz="2000" dirty="0"/>
              <a:t> of projects (e.g., cost-benefit analysis, break-even points, return on investment).</a:t>
            </a:r>
          </a:p>
          <a:p>
            <a:endParaRPr lang="en-US" sz="2000" dirty="0"/>
          </a:p>
          <a:p>
            <a:r>
              <a:rPr lang="en-US" sz="2000" b="1" dirty="0"/>
              <a:t>2. Specialized Decision-Making Tools</a:t>
            </a:r>
          </a:p>
          <a:p>
            <a:r>
              <a:rPr lang="en-US" sz="2000" dirty="0"/>
              <a:t>Unlike general economics, Engineering Economics focuses on </a:t>
            </a:r>
            <a:r>
              <a:rPr lang="en-US" sz="2000" b="1" dirty="0"/>
              <a:t>practical tools</a:t>
            </a:r>
            <a:r>
              <a:rPr lang="en-US" sz="2000" dirty="0"/>
              <a:t> like:</a:t>
            </a:r>
          </a:p>
          <a:p>
            <a:endParaRPr lang="en-US" sz="2000" dirty="0"/>
          </a:p>
          <a:p>
            <a:pPr marL="742950" lvl="1" indent="-285750">
              <a:buFont typeface="Arial" panose="020B0604020202020204" pitchFamily="34" charset="0"/>
              <a:buChar char="•"/>
            </a:pPr>
            <a:r>
              <a:rPr lang="en-US" sz="2000" dirty="0"/>
              <a:t>Time value of money</a:t>
            </a:r>
          </a:p>
          <a:p>
            <a:pPr marL="742950" lvl="1" indent="-285750">
              <a:buFont typeface="Arial" panose="020B0604020202020204" pitchFamily="34" charset="0"/>
              <a:buChar char="•"/>
            </a:pPr>
            <a:r>
              <a:rPr lang="en-US" sz="2000" dirty="0"/>
              <a:t>Net present value (NPV)</a:t>
            </a:r>
          </a:p>
          <a:p>
            <a:pPr marL="742950" lvl="1" indent="-285750">
              <a:buFont typeface="Arial" panose="020B0604020202020204" pitchFamily="34" charset="0"/>
              <a:buChar char="•"/>
            </a:pPr>
            <a:r>
              <a:rPr lang="en-US" sz="2000" dirty="0"/>
              <a:t>Internal rate of return (IRR)</a:t>
            </a:r>
          </a:p>
          <a:p>
            <a:pPr marL="742950" lvl="1" indent="-285750">
              <a:buFont typeface="Arial" panose="020B0604020202020204" pitchFamily="34" charset="0"/>
              <a:buChar char="•"/>
            </a:pPr>
            <a:r>
              <a:rPr lang="en-US" sz="2000" dirty="0"/>
              <a:t>Depreciation methods</a:t>
            </a:r>
          </a:p>
          <a:p>
            <a:pPr marL="742950" lvl="1" indent="-285750">
              <a:buFont typeface="Arial" panose="020B0604020202020204" pitchFamily="34" charset="0"/>
              <a:buChar char="•"/>
            </a:pPr>
            <a:endParaRPr lang="en-US" sz="2000" dirty="0"/>
          </a:p>
          <a:p>
            <a:r>
              <a:rPr lang="en-US" sz="2000" dirty="0"/>
              <a:t>These tools are tailored for engineers managing projects, systems, and technologies.</a:t>
            </a:r>
          </a:p>
          <a:p>
            <a:endParaRPr lang="en-US" sz="2000" dirty="0"/>
          </a:p>
          <a:p>
            <a:r>
              <a:rPr lang="en-US" sz="2000" b="1" dirty="0"/>
              <a:t>3. Optimizes Resource Allocation</a:t>
            </a:r>
          </a:p>
          <a:p>
            <a:r>
              <a:rPr lang="en-US" sz="2000" dirty="0"/>
              <a:t>Engineers frequently allocate scarce resources under constraints. Engineering Economics helps identify </a:t>
            </a:r>
            <a:r>
              <a:rPr lang="en-US" sz="2000" b="1" dirty="0"/>
              <a:t>cost-effective solutions</a:t>
            </a:r>
            <a:r>
              <a:rPr lang="en-US" sz="2000" dirty="0"/>
              <a:t> and </a:t>
            </a:r>
            <a:r>
              <a:rPr lang="en-US" sz="2000" b="1" dirty="0"/>
              <a:t>optimize designs</a:t>
            </a:r>
            <a:r>
              <a:rPr lang="en-US" sz="2000" dirty="0"/>
              <a:t> based on both performance and cost.</a:t>
            </a:r>
          </a:p>
        </p:txBody>
      </p:sp>
    </p:spTree>
    <p:extLst>
      <p:ext uri="{BB962C8B-B14F-4D97-AF65-F5344CB8AC3E}">
        <p14:creationId xmlns:p14="http://schemas.microsoft.com/office/powerpoint/2010/main" val="2968400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1C41-FC45-4D20-AFE5-36AAECCE7D4E}"/>
              </a:ext>
            </a:extLst>
          </p:cNvPr>
          <p:cNvSpPr>
            <a:spLocks noGrp="1"/>
          </p:cNvSpPr>
          <p:nvPr>
            <p:ph type="title"/>
          </p:nvPr>
        </p:nvSpPr>
        <p:spPr/>
        <p:txBody>
          <a:bodyPr>
            <a:normAutofit/>
          </a:bodyPr>
          <a:lstStyle/>
          <a:p>
            <a:r>
              <a:rPr lang="en-US" sz="3200" b="1" dirty="0">
                <a:latin typeface="+mn-lt"/>
              </a:rPr>
              <a:t>Engineering economics as a distinct branch</a:t>
            </a:r>
          </a:p>
        </p:txBody>
      </p:sp>
      <p:sp>
        <p:nvSpPr>
          <p:cNvPr id="4" name="TextBox 3">
            <a:extLst>
              <a:ext uri="{FF2B5EF4-FFF2-40B4-BE49-F238E27FC236}">
                <a16:creationId xmlns:a16="http://schemas.microsoft.com/office/drawing/2014/main" id="{E49908FA-6E35-4CE4-B454-99AFBDE9FD56}"/>
              </a:ext>
            </a:extLst>
          </p:cNvPr>
          <p:cNvSpPr txBox="1"/>
          <p:nvPr/>
        </p:nvSpPr>
        <p:spPr>
          <a:xfrm>
            <a:off x="911038" y="1883362"/>
            <a:ext cx="10034868" cy="2554545"/>
          </a:xfrm>
          <a:prstGeom prst="rect">
            <a:avLst/>
          </a:prstGeom>
          <a:noFill/>
        </p:spPr>
        <p:txBody>
          <a:bodyPr wrap="square">
            <a:spAutoFit/>
          </a:bodyPr>
          <a:lstStyle/>
          <a:p>
            <a:r>
              <a:rPr lang="en-US" sz="2000" b="1" dirty="0"/>
              <a:t>4. Different from Traditional Economics</a:t>
            </a:r>
          </a:p>
          <a:p>
            <a:r>
              <a:rPr lang="en-US" sz="2000" dirty="0"/>
              <a:t>General economics focuses on </a:t>
            </a:r>
            <a:r>
              <a:rPr lang="en-US" sz="2000" b="1" dirty="0"/>
              <a:t>markets, consumers, and macro/micro theories</a:t>
            </a:r>
            <a:r>
              <a:rPr lang="en-US" sz="2000" dirty="0"/>
              <a:t>. Engineering Economics focuses on </a:t>
            </a:r>
            <a:r>
              <a:rPr lang="en-US" sz="2000" b="1" dirty="0"/>
              <a:t>project-level decisions</a:t>
            </a:r>
            <a:r>
              <a:rPr lang="en-US" sz="2000" dirty="0"/>
              <a:t>, often in a deterministic and quantitative framework.</a:t>
            </a:r>
          </a:p>
          <a:p>
            <a:endParaRPr lang="en-US" sz="2000" dirty="0"/>
          </a:p>
          <a:p>
            <a:r>
              <a:rPr lang="en-US" sz="2000" b="1" dirty="0"/>
              <a:t>5. Critical for Sustainable and Ethical Decision-Making</a:t>
            </a:r>
          </a:p>
          <a:p>
            <a:r>
              <a:rPr lang="en-US" sz="2000" dirty="0"/>
              <a:t>Engineers today must consider </a:t>
            </a:r>
            <a:r>
              <a:rPr lang="en-US" sz="2000" b="1" dirty="0"/>
              <a:t>sustainability, social impact, and long-term costs</a:t>
            </a:r>
            <a:r>
              <a:rPr lang="en-US" sz="2000" dirty="0"/>
              <a:t>. A distinct course equips them to weigh economic and ethical trade-offs.</a:t>
            </a:r>
          </a:p>
        </p:txBody>
      </p:sp>
    </p:spTree>
    <p:extLst>
      <p:ext uri="{BB962C8B-B14F-4D97-AF65-F5344CB8AC3E}">
        <p14:creationId xmlns:p14="http://schemas.microsoft.com/office/powerpoint/2010/main" val="1485162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28B99-7D68-40EA-A8E5-3208DE6E3A4A}"/>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Questions we can answer from this lecture</a:t>
            </a:r>
          </a:p>
        </p:txBody>
      </p:sp>
      <p:sp>
        <p:nvSpPr>
          <p:cNvPr id="3" name="Content Placeholder 2">
            <a:extLst>
              <a:ext uri="{FF2B5EF4-FFF2-40B4-BE49-F238E27FC236}">
                <a16:creationId xmlns:a16="http://schemas.microsoft.com/office/drawing/2014/main" id="{E74282DD-53D5-4F84-BD84-6378F35E3B41}"/>
              </a:ext>
            </a:extLst>
          </p:cNvPr>
          <p:cNvSpPr>
            <a:spLocks noGrp="1"/>
          </p:cNvSpPr>
          <p:nvPr>
            <p:ph idx="1"/>
          </p:nvPr>
        </p:nvSpPr>
        <p:spPr/>
        <p:txBody>
          <a:bodyPr/>
          <a:lstStyle/>
          <a:p>
            <a:pPr marL="0" indent="0">
              <a:buNone/>
            </a:pPr>
            <a:r>
              <a:rPr lang="en-US" sz="2000" dirty="0"/>
              <a:t>1.Define Economics / Microeconomics/ Macroeconomics/ Engineering Economics.</a:t>
            </a:r>
          </a:p>
          <a:p>
            <a:pPr marL="0" indent="0">
              <a:buNone/>
            </a:pPr>
            <a:r>
              <a:rPr lang="en-US" sz="2000" dirty="0"/>
              <a:t>2.Write down the differences between Microeconomics and Macroeconomics.</a:t>
            </a:r>
          </a:p>
          <a:p>
            <a:pPr marL="0" indent="0">
              <a:buNone/>
            </a:pPr>
            <a:r>
              <a:rPr lang="en-US" sz="2000" dirty="0"/>
              <a:t>3.Why studying economics is important? </a:t>
            </a:r>
          </a:p>
          <a:p>
            <a:pPr marL="0" indent="0">
              <a:buNone/>
            </a:pPr>
            <a:r>
              <a:rPr lang="en-US" sz="2000" dirty="0"/>
              <a:t>4.Why engineering economics should be taught as a distinctive branch?</a:t>
            </a:r>
          </a:p>
          <a:p>
            <a:pPr marL="0" indent="0">
              <a:buNone/>
            </a:pPr>
            <a:endParaRPr lang="en-US" dirty="0"/>
          </a:p>
        </p:txBody>
      </p:sp>
    </p:spTree>
    <p:extLst>
      <p:ext uri="{BB962C8B-B14F-4D97-AF65-F5344CB8AC3E}">
        <p14:creationId xmlns:p14="http://schemas.microsoft.com/office/powerpoint/2010/main" val="327738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6" y="639101"/>
            <a:ext cx="6253317" cy="3686015"/>
          </a:xfrm>
        </p:spPr>
        <p:txBody>
          <a:bodyPr>
            <a:normAutofit/>
          </a:bodyPr>
          <a:lstStyle/>
          <a:p>
            <a:r>
              <a:rPr lang="en-US" sz="8000" dirty="0"/>
              <a:t>Engineering</a:t>
            </a:r>
            <a:br>
              <a:rPr lang="en-US" sz="8000" dirty="0"/>
            </a:br>
            <a:r>
              <a:rPr lang="en-US" sz="8000" dirty="0"/>
              <a:t>Economics</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4000" dirty="0">
                <a:solidFill>
                  <a:schemeClr val="tx1">
                    <a:lumMod val="85000"/>
                    <a:lumOff val="15000"/>
                  </a:schemeClr>
                </a:solidFill>
              </a:rPr>
              <a:t>Lecture-2</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 y="4"/>
            <a:ext cx="4635315" cy="6857999"/>
          </a:xfrm>
          <a:prstGeom prst="rect">
            <a:avLst/>
          </a:prstGeom>
        </p:spPr>
      </p:pic>
    </p:spTree>
    <p:extLst>
      <p:ext uri="{BB962C8B-B14F-4D97-AF65-F5344CB8AC3E}">
        <p14:creationId xmlns:p14="http://schemas.microsoft.com/office/powerpoint/2010/main" val="3592247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245F1-A4A7-4027-9AEF-978D75383038}"/>
              </a:ext>
            </a:extLst>
          </p:cNvPr>
          <p:cNvSpPr>
            <a:spLocks noGrp="1"/>
          </p:cNvSpPr>
          <p:nvPr>
            <p:ph type="title"/>
          </p:nvPr>
        </p:nvSpPr>
        <p:spPr/>
        <p:txBody>
          <a:bodyPr>
            <a:normAutofit fontScale="90000"/>
          </a:bodyPr>
          <a:lstStyle/>
          <a:p>
            <a:r>
              <a:rPr lang="en-US" b="0" i="0" dirty="0">
                <a:solidFill>
                  <a:srgbClr val="5A6182"/>
                </a:solidFill>
                <a:effectLst/>
                <a:latin typeface="Oswald"/>
              </a:rPr>
              <a:t>The economic problem</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97E88C06-1B1A-460D-96A8-7C273D125D9B}"/>
              </a:ext>
            </a:extLst>
          </p:cNvPr>
          <p:cNvSpPr>
            <a:spLocks noGrp="1"/>
          </p:cNvSpPr>
          <p:nvPr>
            <p:ph idx="1"/>
          </p:nvPr>
        </p:nvSpPr>
        <p:spPr/>
        <p:txBody>
          <a:bodyPr>
            <a:normAutofit fontScale="92500" lnSpcReduction="20000"/>
          </a:bodyPr>
          <a:lstStyle/>
          <a:p>
            <a:pPr algn="just"/>
            <a:r>
              <a:rPr lang="en-US" b="0" i="0" dirty="0">
                <a:solidFill>
                  <a:srgbClr val="000000"/>
                </a:solidFill>
                <a:effectLst/>
                <a:latin typeface="Roboto"/>
              </a:rPr>
              <a:t>All societies face the </a:t>
            </a:r>
            <a:r>
              <a:rPr lang="en-US" b="0" i="1" dirty="0">
                <a:solidFill>
                  <a:srgbClr val="000000"/>
                </a:solidFill>
                <a:effectLst/>
                <a:latin typeface="Roboto"/>
              </a:rPr>
              <a:t>economic problem</a:t>
            </a:r>
            <a:r>
              <a:rPr lang="en-US" b="0" i="0" dirty="0">
                <a:solidFill>
                  <a:srgbClr val="000000"/>
                </a:solidFill>
                <a:effectLst/>
                <a:latin typeface="Roboto"/>
              </a:rPr>
              <a:t>, which is the problem of how to make the best use of limited, or scarce, resources. </a:t>
            </a:r>
          </a:p>
          <a:p>
            <a:pPr algn="just"/>
            <a:r>
              <a:rPr lang="en-US" b="0" i="0" dirty="0">
                <a:solidFill>
                  <a:srgbClr val="000000"/>
                </a:solidFill>
                <a:effectLst/>
                <a:latin typeface="Roboto"/>
              </a:rPr>
              <a:t>The economic problem exists because, although the needs and wants of people are endless, the resources available to satisfy needs and wants are limited.</a:t>
            </a:r>
          </a:p>
          <a:p>
            <a:pPr algn="just"/>
            <a:r>
              <a:rPr lang="en-US" b="0" i="0" dirty="0">
                <a:solidFill>
                  <a:srgbClr val="000000"/>
                </a:solidFill>
                <a:effectLst/>
                <a:latin typeface="Roboto"/>
              </a:rPr>
              <a:t>Resources are limited in two essential ways:</a:t>
            </a:r>
          </a:p>
          <a:p>
            <a:pPr algn="just">
              <a:buFont typeface="+mj-lt"/>
              <a:buAutoNum type="arabicPeriod"/>
            </a:pPr>
            <a:r>
              <a:rPr lang="en-US" b="0" i="1" dirty="0">
                <a:solidFill>
                  <a:srgbClr val="000000"/>
                </a:solidFill>
                <a:effectLst/>
                <a:latin typeface="Roboto"/>
              </a:rPr>
              <a:t>Limited in physical quantity</a:t>
            </a:r>
            <a:r>
              <a:rPr lang="en-US" b="0" i="0" dirty="0">
                <a:solidFill>
                  <a:srgbClr val="000000"/>
                </a:solidFill>
                <a:effectLst/>
                <a:latin typeface="Roboto"/>
              </a:rPr>
              <a:t>, as in the case of land, which has a finite quantity.</a:t>
            </a:r>
          </a:p>
          <a:p>
            <a:pPr algn="just">
              <a:buFont typeface="+mj-lt"/>
              <a:buAutoNum type="arabicPeriod"/>
            </a:pPr>
            <a:r>
              <a:rPr lang="en-US" b="0" i="1" dirty="0">
                <a:solidFill>
                  <a:srgbClr val="000000"/>
                </a:solidFill>
                <a:effectLst/>
                <a:latin typeface="Roboto"/>
              </a:rPr>
              <a:t>Limited in use</a:t>
            </a:r>
            <a:r>
              <a:rPr lang="en-US" b="0" i="0" dirty="0">
                <a:solidFill>
                  <a:srgbClr val="000000"/>
                </a:solidFill>
                <a:effectLst/>
                <a:latin typeface="Roboto"/>
              </a:rPr>
              <a:t>, as in the case of </a:t>
            </a:r>
            <a:r>
              <a:rPr lang="en-US" b="0" i="0" dirty="0" err="1">
                <a:solidFill>
                  <a:srgbClr val="000000"/>
                </a:solidFill>
                <a:effectLst/>
                <a:latin typeface="Roboto"/>
              </a:rPr>
              <a:t>labour</a:t>
            </a:r>
            <a:r>
              <a:rPr lang="en-US" b="0" i="0" dirty="0">
                <a:solidFill>
                  <a:srgbClr val="000000"/>
                </a:solidFill>
                <a:effectLst/>
                <a:latin typeface="Roboto"/>
              </a:rPr>
              <a:t> and machinery, which can only be used for one purpose at any one time.</a:t>
            </a:r>
          </a:p>
        </p:txBody>
      </p:sp>
    </p:spTree>
    <p:extLst>
      <p:ext uri="{BB962C8B-B14F-4D97-AF65-F5344CB8AC3E}">
        <p14:creationId xmlns:p14="http://schemas.microsoft.com/office/powerpoint/2010/main" val="4110086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5E9FF-1E09-4F6B-A99A-BDA85E481A98}"/>
              </a:ext>
            </a:extLst>
          </p:cNvPr>
          <p:cNvSpPr>
            <a:spLocks noGrp="1"/>
          </p:cNvSpPr>
          <p:nvPr>
            <p:ph type="title"/>
          </p:nvPr>
        </p:nvSpPr>
        <p:spPr/>
        <p:txBody>
          <a:bodyPr>
            <a:normAutofit fontScale="90000"/>
          </a:bodyPr>
          <a:lstStyle/>
          <a:p>
            <a:r>
              <a:rPr lang="en-US" b="0" i="0" dirty="0">
                <a:solidFill>
                  <a:srgbClr val="5A6182"/>
                </a:solidFill>
                <a:effectLst/>
                <a:latin typeface="Oswald"/>
              </a:rPr>
              <a:t>The economic problem</a:t>
            </a:r>
            <a:br>
              <a:rPr lang="en-US" b="0" i="0" dirty="0">
                <a:solidFill>
                  <a:srgbClr val="5A6182"/>
                </a:solidFill>
                <a:effectLst/>
                <a:latin typeface="Oswald"/>
              </a:rPr>
            </a:br>
            <a:endParaRPr lang="en-US" dirty="0"/>
          </a:p>
        </p:txBody>
      </p:sp>
      <p:pic>
        <p:nvPicPr>
          <p:cNvPr id="4" name="Content Placeholder 3">
            <a:extLst>
              <a:ext uri="{FF2B5EF4-FFF2-40B4-BE49-F238E27FC236}">
                <a16:creationId xmlns:a16="http://schemas.microsoft.com/office/drawing/2014/main" id="{72B26F6F-9A98-4211-B420-2953AAA00848}"/>
              </a:ext>
            </a:extLst>
          </p:cNvPr>
          <p:cNvPicPr>
            <a:picLocks noGrp="1" noChangeAspect="1"/>
          </p:cNvPicPr>
          <p:nvPr>
            <p:ph idx="1"/>
          </p:nvPr>
        </p:nvPicPr>
        <p:blipFill>
          <a:blip r:embed="rId2"/>
          <a:stretch>
            <a:fillRect/>
          </a:stretch>
        </p:blipFill>
        <p:spPr>
          <a:xfrm>
            <a:off x="1005841" y="1306285"/>
            <a:ext cx="10450286" cy="4833257"/>
          </a:xfrm>
          <a:prstGeom prst="rect">
            <a:avLst/>
          </a:prstGeom>
        </p:spPr>
      </p:pic>
    </p:spTree>
    <p:extLst>
      <p:ext uri="{BB962C8B-B14F-4D97-AF65-F5344CB8AC3E}">
        <p14:creationId xmlns:p14="http://schemas.microsoft.com/office/powerpoint/2010/main" val="183948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4B0A1-6325-47C5-839D-F879D46C96C0}"/>
              </a:ext>
            </a:extLst>
          </p:cNvPr>
          <p:cNvSpPr>
            <a:spLocks noGrp="1"/>
          </p:cNvSpPr>
          <p:nvPr>
            <p:ph type="title"/>
          </p:nvPr>
        </p:nvSpPr>
        <p:spPr/>
        <p:txBody>
          <a:bodyPr>
            <a:normAutofit fontScale="90000"/>
          </a:bodyPr>
          <a:lstStyle/>
          <a:p>
            <a:r>
              <a:rPr lang="en-US" b="0" i="0" dirty="0">
                <a:solidFill>
                  <a:srgbClr val="5A6182"/>
                </a:solidFill>
                <a:effectLst/>
                <a:latin typeface="Oswald"/>
              </a:rPr>
              <a:t>Choice and Opportunity cost</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847363A9-C5BC-41BD-9B03-8B709B0E8B3D}"/>
              </a:ext>
            </a:extLst>
          </p:cNvPr>
          <p:cNvSpPr>
            <a:spLocks noGrp="1"/>
          </p:cNvSpPr>
          <p:nvPr>
            <p:ph idx="1"/>
          </p:nvPr>
        </p:nvSpPr>
        <p:spPr/>
        <p:txBody>
          <a:bodyPr/>
          <a:lstStyle/>
          <a:p>
            <a:pPr algn="just"/>
            <a:r>
              <a:rPr lang="en-US" b="0" i="1" dirty="0">
                <a:solidFill>
                  <a:srgbClr val="000000"/>
                </a:solidFill>
                <a:effectLst/>
                <a:latin typeface="Roboto"/>
              </a:rPr>
              <a:t>Choice</a:t>
            </a:r>
            <a:r>
              <a:rPr lang="en-US" b="0" i="0" dirty="0">
                <a:solidFill>
                  <a:srgbClr val="000000"/>
                </a:solidFill>
                <a:effectLst/>
                <a:latin typeface="Roboto"/>
              </a:rPr>
              <a:t> and </a:t>
            </a:r>
            <a:r>
              <a:rPr lang="en-US" b="0" i="1" dirty="0">
                <a:solidFill>
                  <a:srgbClr val="000000"/>
                </a:solidFill>
                <a:effectLst/>
                <a:latin typeface="Roboto"/>
              </a:rPr>
              <a:t>opportunity cost</a:t>
            </a:r>
            <a:r>
              <a:rPr lang="en-US" b="0" i="0" dirty="0">
                <a:solidFill>
                  <a:srgbClr val="000000"/>
                </a:solidFill>
                <a:effectLst/>
                <a:latin typeface="Roboto"/>
              </a:rPr>
              <a:t> are two fundamental concepts in economics. </a:t>
            </a:r>
          </a:p>
          <a:p>
            <a:pPr algn="just"/>
            <a:r>
              <a:rPr lang="en-US" b="0" i="0" dirty="0">
                <a:solidFill>
                  <a:srgbClr val="000000"/>
                </a:solidFill>
                <a:effectLst/>
                <a:latin typeface="Roboto"/>
              </a:rPr>
              <a:t>Given that resources are limited, producers and consumers have to make choices between competing alternatives. Individuals must choose how best to use their skill and effort, firms must choose how best to use their workers and machinery, and governments must choose how best to use taxpayer’s money.</a:t>
            </a:r>
          </a:p>
          <a:p>
            <a:endParaRPr lang="en-US" dirty="0"/>
          </a:p>
        </p:txBody>
      </p:sp>
    </p:spTree>
    <p:extLst>
      <p:ext uri="{BB962C8B-B14F-4D97-AF65-F5344CB8AC3E}">
        <p14:creationId xmlns:p14="http://schemas.microsoft.com/office/powerpoint/2010/main" val="3917660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E0FB-7349-46B1-8908-2083B5D872A3}"/>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5A6182"/>
                </a:solidFill>
                <a:effectLst/>
                <a:uLnTx/>
                <a:uFillTx/>
                <a:latin typeface="Oswald"/>
                <a:ea typeface="+mj-ea"/>
                <a:cs typeface="+mj-cs"/>
              </a:rPr>
              <a:t>Choice and Opportunity cost</a:t>
            </a:r>
            <a:endParaRPr lang="en-US" dirty="0"/>
          </a:p>
        </p:txBody>
      </p:sp>
      <p:sp>
        <p:nvSpPr>
          <p:cNvPr id="3" name="Content Placeholder 2">
            <a:extLst>
              <a:ext uri="{FF2B5EF4-FFF2-40B4-BE49-F238E27FC236}">
                <a16:creationId xmlns:a16="http://schemas.microsoft.com/office/drawing/2014/main" id="{71AA2F9E-30A8-4E1F-A494-DB8B8A9659A8}"/>
              </a:ext>
            </a:extLst>
          </p:cNvPr>
          <p:cNvSpPr>
            <a:spLocks noGrp="1"/>
          </p:cNvSpPr>
          <p:nvPr>
            <p:ph idx="1"/>
          </p:nvPr>
        </p:nvSpPr>
        <p:spPr/>
        <p:txBody>
          <a:bodyPr>
            <a:normAutofit fontScale="92500" lnSpcReduction="10000"/>
          </a:bodyPr>
          <a:lstStyle/>
          <a:p>
            <a:pPr algn="just"/>
            <a:r>
              <a:rPr lang="en-US" b="0" i="0" dirty="0">
                <a:solidFill>
                  <a:srgbClr val="000000"/>
                </a:solidFill>
                <a:effectLst/>
                <a:latin typeface="Roboto"/>
              </a:rPr>
              <a:t>Making an economic choice creates a sacrifice because alternatives must be given up. </a:t>
            </a:r>
          </a:p>
          <a:p>
            <a:pPr algn="just"/>
            <a:r>
              <a:rPr lang="en-US" b="0" i="0" dirty="0">
                <a:solidFill>
                  <a:srgbClr val="000000"/>
                </a:solidFill>
                <a:effectLst/>
                <a:latin typeface="Roboto"/>
              </a:rPr>
              <a:t>Making a choice results in the loss of benefit that an alternative would have provided. For example, land and other resources, which have been used to build a school could have been used to build a factory. The loss of the </a:t>
            </a:r>
            <a:r>
              <a:rPr lang="en-US" b="0" i="1" dirty="0">
                <a:solidFill>
                  <a:srgbClr val="000000"/>
                </a:solidFill>
                <a:effectLst/>
                <a:latin typeface="Roboto"/>
              </a:rPr>
              <a:t>next best</a:t>
            </a:r>
            <a:r>
              <a:rPr lang="en-US" b="0" i="0" dirty="0">
                <a:solidFill>
                  <a:srgbClr val="000000"/>
                </a:solidFill>
                <a:effectLst/>
                <a:latin typeface="Roboto"/>
              </a:rPr>
              <a:t> option represents the real sacrifice and is referred to as </a:t>
            </a:r>
            <a:r>
              <a:rPr lang="en-US" b="0" i="1" dirty="0">
                <a:solidFill>
                  <a:srgbClr val="000000"/>
                </a:solidFill>
                <a:effectLst/>
                <a:latin typeface="Roboto"/>
              </a:rPr>
              <a:t>opportunity cost</a:t>
            </a:r>
            <a:r>
              <a:rPr lang="en-US" b="0" i="0" dirty="0">
                <a:solidFill>
                  <a:srgbClr val="000000"/>
                </a:solidFill>
                <a:effectLst/>
                <a:latin typeface="Roboto"/>
              </a:rPr>
              <a:t>.  </a:t>
            </a:r>
          </a:p>
          <a:p>
            <a:pPr algn="just"/>
            <a:r>
              <a:rPr lang="en-US" b="0" i="0" dirty="0">
                <a:solidFill>
                  <a:srgbClr val="000000"/>
                </a:solidFill>
                <a:effectLst/>
                <a:latin typeface="Roboto"/>
              </a:rPr>
              <a:t>The opportunity cost of choosing the school is the loss of the factory, and what could have been produced.</a:t>
            </a:r>
            <a:endParaRPr lang="en-US" dirty="0"/>
          </a:p>
        </p:txBody>
      </p:sp>
    </p:spTree>
    <p:extLst>
      <p:ext uri="{BB962C8B-B14F-4D97-AF65-F5344CB8AC3E}">
        <p14:creationId xmlns:p14="http://schemas.microsoft.com/office/powerpoint/2010/main" val="2659450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660C3-18C9-4768-93AB-3BED7C39CCE9}"/>
              </a:ext>
            </a:extLst>
          </p:cNvPr>
          <p:cNvSpPr>
            <a:spLocks noGrp="1"/>
          </p:cNvSpPr>
          <p:nvPr>
            <p:ph type="title"/>
          </p:nvPr>
        </p:nvSpPr>
        <p:spPr/>
        <p:txBody>
          <a:bodyPr>
            <a:normAutofit fontScale="90000"/>
          </a:bodyPr>
          <a:lstStyle/>
          <a:p>
            <a:r>
              <a:rPr lang="en-US" b="0" i="0" dirty="0">
                <a:solidFill>
                  <a:srgbClr val="5A6182"/>
                </a:solidFill>
                <a:effectLst/>
                <a:latin typeface="Oswald"/>
              </a:rPr>
              <a:t>The economic problem</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567E7A76-DB26-41BA-8DD3-061C1D3E42A1}"/>
              </a:ext>
            </a:extLst>
          </p:cNvPr>
          <p:cNvSpPr>
            <a:spLocks noGrp="1"/>
          </p:cNvSpPr>
          <p:nvPr>
            <p:ph idx="1"/>
          </p:nvPr>
        </p:nvSpPr>
        <p:spPr/>
        <p:txBody>
          <a:bodyPr>
            <a:normAutofit/>
          </a:bodyPr>
          <a:lstStyle/>
          <a:p>
            <a:pPr algn="just"/>
            <a:r>
              <a:rPr lang="en-US" dirty="0"/>
              <a:t>America’s first Nobel Prize winner for economics, the late Paul Samuelson, is often credited with providing the first clear and simple explanation of the economic problem – namely, that in order to solve the economic problem societies must endeavor to answer three basic questions – </a:t>
            </a:r>
          </a:p>
          <a:p>
            <a:pPr marL="514350" indent="-514350" algn="just">
              <a:buFont typeface="+mj-lt"/>
              <a:buAutoNum type="arabicPeriod"/>
            </a:pPr>
            <a:r>
              <a:rPr lang="en-US" dirty="0">
                <a:solidFill>
                  <a:schemeClr val="accent2"/>
                </a:solidFill>
              </a:rPr>
              <a:t>What to produce? </a:t>
            </a:r>
          </a:p>
          <a:p>
            <a:pPr marL="514350" indent="-514350" algn="just">
              <a:buFont typeface="+mj-lt"/>
              <a:buAutoNum type="arabicPeriod"/>
            </a:pPr>
            <a:r>
              <a:rPr lang="en-US" dirty="0">
                <a:solidFill>
                  <a:schemeClr val="accent2"/>
                </a:solidFill>
              </a:rPr>
              <a:t>How to produce? And,</a:t>
            </a:r>
          </a:p>
          <a:p>
            <a:pPr marL="514350" indent="-514350" algn="just">
              <a:buFont typeface="+mj-lt"/>
              <a:buAutoNum type="arabicPeriod"/>
            </a:pPr>
            <a:r>
              <a:rPr lang="en-US" dirty="0">
                <a:solidFill>
                  <a:schemeClr val="accent2"/>
                </a:solidFill>
              </a:rPr>
              <a:t>For whom to produce?</a:t>
            </a:r>
          </a:p>
        </p:txBody>
      </p:sp>
    </p:spTree>
    <p:extLst>
      <p:ext uri="{BB962C8B-B14F-4D97-AF65-F5344CB8AC3E}">
        <p14:creationId xmlns:p14="http://schemas.microsoft.com/office/powerpoint/2010/main" val="3961390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of Production</a:t>
            </a:r>
          </a:p>
        </p:txBody>
      </p:sp>
      <p:sp>
        <p:nvSpPr>
          <p:cNvPr id="3" name="Content Placeholder 2"/>
          <p:cNvSpPr>
            <a:spLocks noGrp="1"/>
          </p:cNvSpPr>
          <p:nvPr>
            <p:ph idx="1"/>
          </p:nvPr>
        </p:nvSpPr>
        <p:spPr/>
        <p:txBody>
          <a:bodyPr/>
          <a:lstStyle/>
          <a:p>
            <a:pPr>
              <a:buFont typeface="Wingdings" pitchFamily="2" charset="2"/>
              <a:buChar char="q"/>
            </a:pPr>
            <a:r>
              <a:rPr lang="en-US" dirty="0"/>
              <a:t> Land;</a:t>
            </a:r>
          </a:p>
          <a:p>
            <a:pPr>
              <a:buFont typeface="Wingdings" pitchFamily="2" charset="2"/>
              <a:buChar char="q"/>
            </a:pPr>
            <a:r>
              <a:rPr lang="en-US" dirty="0"/>
              <a:t> Labor;</a:t>
            </a:r>
          </a:p>
          <a:p>
            <a:pPr>
              <a:buFont typeface="Wingdings" pitchFamily="2" charset="2"/>
              <a:buChar char="q"/>
            </a:pPr>
            <a:r>
              <a:rPr lang="en-US" dirty="0"/>
              <a:t>Capital; and</a:t>
            </a:r>
          </a:p>
          <a:p>
            <a:pPr>
              <a:buFont typeface="Wingdings" pitchFamily="2" charset="2"/>
              <a:buChar char="q"/>
            </a:pPr>
            <a:r>
              <a:rPr lang="en-US" dirty="0"/>
              <a:t> Entrepreneurship;</a:t>
            </a:r>
          </a:p>
          <a:p>
            <a:pPr>
              <a:buFont typeface="Wingdings" pitchFamily="2" charset="2"/>
              <a:buChar char="q"/>
            </a:pPr>
            <a:r>
              <a:rPr lang="en-US" dirty="0"/>
              <a:t>Knowledge</a:t>
            </a:r>
          </a:p>
          <a:p>
            <a:pPr>
              <a:buFont typeface="Wingdings" pitchFamily="2" charset="2"/>
              <a:buChar char="q"/>
            </a:pPr>
            <a:endParaRPr lang="en-US" dirty="0"/>
          </a:p>
        </p:txBody>
      </p:sp>
    </p:spTree>
    <p:extLst>
      <p:ext uri="{BB962C8B-B14F-4D97-AF65-F5344CB8AC3E}">
        <p14:creationId xmlns:p14="http://schemas.microsoft.com/office/powerpoint/2010/main" val="923030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D0EE-33BC-4422-99CC-0ED42DA9C1A7}"/>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5A6182"/>
                </a:solidFill>
                <a:effectLst/>
                <a:uLnTx/>
                <a:uFillTx/>
                <a:latin typeface="Oswald"/>
                <a:ea typeface="+mj-ea"/>
                <a:cs typeface="+mj-cs"/>
              </a:rPr>
              <a:t>The economic problem</a:t>
            </a:r>
            <a:endParaRPr lang="en-US" dirty="0"/>
          </a:p>
        </p:txBody>
      </p:sp>
      <p:sp>
        <p:nvSpPr>
          <p:cNvPr id="3" name="Content Placeholder 2">
            <a:extLst>
              <a:ext uri="{FF2B5EF4-FFF2-40B4-BE49-F238E27FC236}">
                <a16:creationId xmlns:a16="http://schemas.microsoft.com/office/drawing/2014/main" id="{F6BC282A-64D7-4D85-AC28-22295898D8AB}"/>
              </a:ext>
            </a:extLst>
          </p:cNvPr>
          <p:cNvSpPr>
            <a:spLocks noGrp="1"/>
          </p:cNvSpPr>
          <p:nvPr>
            <p:ph idx="1"/>
          </p:nvPr>
        </p:nvSpPr>
        <p:spPr>
          <a:xfrm>
            <a:off x="838200" y="1457739"/>
            <a:ext cx="10515600" cy="4719224"/>
          </a:xfrm>
        </p:spPr>
        <p:txBody>
          <a:bodyPr>
            <a:normAutofit fontScale="70000" lnSpcReduction="20000"/>
          </a:bodyPr>
          <a:lstStyle/>
          <a:p>
            <a:pPr marL="0" indent="0" algn="just">
              <a:buNone/>
            </a:pPr>
            <a:r>
              <a:rPr lang="en-US" b="0" i="0" dirty="0">
                <a:solidFill>
                  <a:srgbClr val="5A6182"/>
                </a:solidFill>
                <a:effectLst/>
                <a:latin typeface="Oswald"/>
              </a:rPr>
              <a:t>What to produce?</a:t>
            </a:r>
          </a:p>
          <a:p>
            <a:pPr algn="just"/>
            <a:r>
              <a:rPr lang="en-US" b="0" i="0" dirty="0">
                <a:solidFill>
                  <a:srgbClr val="000000"/>
                </a:solidFill>
                <a:effectLst/>
                <a:latin typeface="Roboto"/>
              </a:rPr>
              <a:t>Societies have to decide the best combination of goods and services to meet their varied wants and needs. Societies must decide what quantities of different resources should be allocated to these goods and services.</a:t>
            </a:r>
          </a:p>
          <a:p>
            <a:pPr marL="0" indent="0" algn="just">
              <a:buNone/>
            </a:pPr>
            <a:r>
              <a:rPr lang="en-US" b="0" i="0" dirty="0">
                <a:solidFill>
                  <a:srgbClr val="5A6182"/>
                </a:solidFill>
                <a:effectLst/>
                <a:latin typeface="Oswald"/>
              </a:rPr>
              <a:t>How to produce?</a:t>
            </a:r>
          </a:p>
          <a:p>
            <a:pPr algn="just"/>
            <a:r>
              <a:rPr lang="en-US" b="0" i="0" dirty="0">
                <a:solidFill>
                  <a:srgbClr val="000000"/>
                </a:solidFill>
                <a:effectLst/>
                <a:latin typeface="Roboto"/>
              </a:rPr>
              <a:t>Societies also have to decide the best combination of factors to create the desired output of goods and services. For example, precisely how much land, labor, and capital should be used to produce consumer goods such as computers and motor cars?</a:t>
            </a:r>
          </a:p>
          <a:p>
            <a:pPr marL="0" indent="0" algn="just">
              <a:buNone/>
            </a:pPr>
            <a:r>
              <a:rPr lang="en-US" b="0" i="0" dirty="0">
                <a:solidFill>
                  <a:srgbClr val="5A6182"/>
                </a:solidFill>
                <a:effectLst/>
                <a:latin typeface="Oswald"/>
              </a:rPr>
              <a:t>For whom to produce?</a:t>
            </a:r>
          </a:p>
          <a:p>
            <a:pPr algn="just"/>
            <a:r>
              <a:rPr lang="en-US" b="0" i="0" dirty="0">
                <a:solidFill>
                  <a:srgbClr val="000000"/>
                </a:solidFill>
                <a:effectLst/>
                <a:latin typeface="Roboto"/>
              </a:rPr>
              <a:t>Finally, all societies need to decide who will benefit from the output from its economic activity, and how much they will get. This is often called the problem of distribution.</a:t>
            </a:r>
          </a:p>
        </p:txBody>
      </p:sp>
    </p:spTree>
    <p:extLst>
      <p:ext uri="{BB962C8B-B14F-4D97-AF65-F5344CB8AC3E}">
        <p14:creationId xmlns:p14="http://schemas.microsoft.com/office/powerpoint/2010/main" val="3021419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6B47-EFBD-43AB-957F-5C3B2180FDDF}"/>
              </a:ext>
            </a:extLst>
          </p:cNvPr>
          <p:cNvSpPr>
            <a:spLocks noGrp="1"/>
          </p:cNvSpPr>
          <p:nvPr>
            <p:ph type="title"/>
          </p:nvPr>
        </p:nvSpPr>
        <p:spPr/>
        <p:txBody>
          <a:bodyPr/>
          <a:lstStyle/>
          <a:p>
            <a:r>
              <a:rPr lang="en-US" b="1" i="0" dirty="0">
                <a:solidFill>
                  <a:srgbClr val="444444"/>
                </a:solidFill>
                <a:effectLst/>
                <a:latin typeface="Open Sans"/>
              </a:rPr>
              <a:t>Production Possibility Frontier (PPF)</a:t>
            </a:r>
            <a:endParaRPr lang="en-US" dirty="0"/>
          </a:p>
        </p:txBody>
      </p:sp>
      <p:sp>
        <p:nvSpPr>
          <p:cNvPr id="3" name="Content Placeholder 2">
            <a:extLst>
              <a:ext uri="{FF2B5EF4-FFF2-40B4-BE49-F238E27FC236}">
                <a16:creationId xmlns:a16="http://schemas.microsoft.com/office/drawing/2014/main" id="{518EEA11-EEE8-4D06-9401-A9D687B99DED}"/>
              </a:ext>
            </a:extLst>
          </p:cNvPr>
          <p:cNvSpPr>
            <a:spLocks noGrp="1"/>
          </p:cNvSpPr>
          <p:nvPr>
            <p:ph idx="1"/>
          </p:nvPr>
        </p:nvSpPr>
        <p:spPr/>
        <p:txBody>
          <a:bodyPr>
            <a:normAutofit fontScale="92500"/>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44444"/>
                </a:solidFill>
                <a:effectLst/>
                <a:uLnTx/>
                <a:uFillTx/>
                <a:latin typeface="Open Sans"/>
                <a:ea typeface="+mn-ea"/>
                <a:cs typeface="+mn-cs"/>
              </a:rPr>
              <a:t>Every economy performs with a limited amount of resources, but expects to produce goods and services to satisfy unlimited needs and wants of the individuals.</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44444"/>
                </a:solidFill>
                <a:effectLst/>
                <a:uLnTx/>
                <a:uFillTx/>
                <a:latin typeface="Open Sans"/>
                <a:ea typeface="+mn-ea"/>
                <a:cs typeface="+mn-cs"/>
              </a:rPr>
              <a:t> Hence, it is a great importance to allocate these limited resources across an unlimited amount of needs and wants, which is identified as a primary concern of any economy. </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44444"/>
                </a:solidFill>
                <a:effectLst/>
                <a:uLnTx/>
                <a:uFillTx/>
                <a:latin typeface="Open Sans"/>
                <a:ea typeface="+mn-ea"/>
                <a:cs typeface="+mn-cs"/>
              </a:rPr>
              <a:t>Production Possibility Frontier (PPF)</a:t>
            </a:r>
            <a:r>
              <a:rPr kumimoji="0" lang="en-US" sz="2800" b="0" i="0" u="none" strike="noStrike" kern="1200" cap="none" spc="0" normalizeH="0" baseline="0" noProof="0" dirty="0">
                <a:ln>
                  <a:noFill/>
                </a:ln>
                <a:solidFill>
                  <a:srgbClr val="444444"/>
                </a:solidFill>
                <a:effectLst/>
                <a:uLnTx/>
                <a:uFillTx/>
                <a:latin typeface="Open Sans"/>
                <a:ea typeface="+mn-ea"/>
                <a:cs typeface="+mn-cs"/>
              </a:rPr>
              <a:t>, also known as </a:t>
            </a:r>
            <a:r>
              <a:rPr kumimoji="0" lang="en-US" sz="2800" b="1" i="0" u="none" strike="noStrike" kern="1200" cap="none" spc="0" normalizeH="0" baseline="0" noProof="0" dirty="0">
                <a:ln>
                  <a:noFill/>
                </a:ln>
                <a:solidFill>
                  <a:srgbClr val="444444"/>
                </a:solidFill>
                <a:effectLst/>
                <a:uLnTx/>
                <a:uFillTx/>
                <a:latin typeface="Open Sans"/>
                <a:ea typeface="+mn-ea"/>
                <a:cs typeface="+mn-cs"/>
              </a:rPr>
              <a:t>Production Possibility Curve (PPC)</a:t>
            </a:r>
            <a:r>
              <a:rPr kumimoji="0" lang="en-US" sz="2800" b="0" i="0" u="none" strike="noStrike" kern="1200" cap="none" spc="0" normalizeH="0" baseline="0" noProof="0" dirty="0">
                <a:ln>
                  <a:noFill/>
                </a:ln>
                <a:solidFill>
                  <a:srgbClr val="444444"/>
                </a:solidFill>
                <a:effectLst/>
                <a:uLnTx/>
                <a:uFillTx/>
                <a:latin typeface="Open Sans"/>
                <a:ea typeface="+mn-ea"/>
                <a:cs typeface="+mn-cs"/>
              </a:rPr>
              <a:t> is a concept that discusses this economic problem and illustrates how to make choices in a scarcity situation. </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44444"/>
                </a:solidFill>
                <a:effectLst/>
                <a:uLnTx/>
                <a:uFillTx/>
                <a:latin typeface="Open Sans"/>
                <a:ea typeface="+mn-ea"/>
                <a:cs typeface="+mn-cs"/>
              </a:rPr>
              <a:t>This model graphically represents a hypothetical situation of how to make a choice between two goods.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3876525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27BBA-2C7E-4E22-A7FF-3222A3DC9103}"/>
              </a:ext>
            </a:extLst>
          </p:cNvPr>
          <p:cNvSpPr>
            <a:spLocks noGrp="1"/>
          </p:cNvSpPr>
          <p:nvPr>
            <p:ph type="title"/>
          </p:nvPr>
        </p:nvSpPr>
        <p:spPr/>
        <p:txBody>
          <a:bodyPr/>
          <a:lstStyle/>
          <a:p>
            <a:r>
              <a:rPr lang="en-US" b="1" i="0" dirty="0">
                <a:solidFill>
                  <a:srgbClr val="444444"/>
                </a:solidFill>
                <a:effectLst/>
                <a:latin typeface="Open Sans"/>
              </a:rPr>
              <a:t>Production Possibility Frontier (PPF)</a:t>
            </a:r>
            <a:endParaRPr lang="en-US" dirty="0"/>
          </a:p>
        </p:txBody>
      </p:sp>
      <p:sp>
        <p:nvSpPr>
          <p:cNvPr id="3" name="Content Placeholder 2">
            <a:extLst>
              <a:ext uri="{FF2B5EF4-FFF2-40B4-BE49-F238E27FC236}">
                <a16:creationId xmlns:a16="http://schemas.microsoft.com/office/drawing/2014/main" id="{45A3AD77-87C0-4EEA-A80B-95B565CDEAC1}"/>
              </a:ext>
            </a:extLst>
          </p:cNvPr>
          <p:cNvSpPr>
            <a:spLocks noGrp="1"/>
          </p:cNvSpPr>
          <p:nvPr>
            <p:ph idx="1"/>
          </p:nvPr>
        </p:nvSpPr>
        <p:spPr/>
        <p:txBody>
          <a:bodyPr>
            <a:normAutofit fontScale="85000" lnSpcReduction="20000"/>
          </a:bodyPr>
          <a:lstStyle/>
          <a:p>
            <a:pPr algn="just" fontAlgn="base"/>
            <a:r>
              <a:rPr lang="en-US" b="0" i="0" dirty="0">
                <a:solidFill>
                  <a:srgbClr val="444444"/>
                </a:solidFill>
                <a:effectLst/>
                <a:latin typeface="Open Sans"/>
              </a:rPr>
              <a:t>A PPF shows all the possible combinations of two goods, or two options available at one point in time.</a:t>
            </a:r>
          </a:p>
          <a:p>
            <a:pPr algn="just" fontAlgn="base"/>
            <a:r>
              <a:rPr lang="en-US" b="0" i="0" dirty="0">
                <a:solidFill>
                  <a:srgbClr val="444444"/>
                </a:solidFill>
                <a:effectLst/>
                <a:latin typeface="Open Sans"/>
              </a:rPr>
              <a:t>PPF primarily represents a hypothetical boundary between the maximum combination of goods and services that an economy can produce with the available resources and technology. This model is based on three main assumptions.</a:t>
            </a:r>
          </a:p>
          <a:p>
            <a:pPr algn="just" fontAlgn="base"/>
            <a:r>
              <a:rPr lang="en-US" b="0" i="0" dirty="0">
                <a:solidFill>
                  <a:srgbClr val="6DB3BF"/>
                </a:solidFill>
                <a:effectLst/>
                <a:latin typeface="Open Sans"/>
              </a:rPr>
              <a:t>Assumptions:</a:t>
            </a:r>
          </a:p>
          <a:p>
            <a:pPr algn="l" fontAlgn="base">
              <a:buFont typeface="+mj-lt"/>
              <a:buAutoNum type="arabicPeriod"/>
            </a:pPr>
            <a:r>
              <a:rPr lang="en-US" b="0" i="0" dirty="0">
                <a:solidFill>
                  <a:srgbClr val="444444"/>
                </a:solidFill>
                <a:effectLst/>
                <a:latin typeface="Open Sans"/>
              </a:rPr>
              <a:t>The economy has fixed amount of resources and technology.</a:t>
            </a:r>
          </a:p>
          <a:p>
            <a:pPr algn="l" fontAlgn="base">
              <a:buFont typeface="+mj-lt"/>
              <a:buAutoNum type="arabicPeriod"/>
            </a:pPr>
            <a:r>
              <a:rPr lang="en-US" b="0" i="0" dirty="0">
                <a:solidFill>
                  <a:srgbClr val="444444"/>
                </a:solidFill>
                <a:effectLst/>
                <a:latin typeface="Open Sans"/>
              </a:rPr>
              <a:t>All the resources in the economy are fully employed.</a:t>
            </a:r>
          </a:p>
          <a:p>
            <a:pPr algn="l" fontAlgn="base">
              <a:buFont typeface="+mj-lt"/>
              <a:buAutoNum type="arabicPeriod"/>
            </a:pPr>
            <a:r>
              <a:rPr lang="en-US" b="0" i="0" dirty="0">
                <a:solidFill>
                  <a:srgbClr val="444444"/>
                </a:solidFill>
                <a:effectLst/>
                <a:latin typeface="Open Sans"/>
              </a:rPr>
              <a:t>An economy produces only two types of goods at a time, and the choice is made between those two goods</a:t>
            </a:r>
          </a:p>
          <a:p>
            <a:endParaRPr lang="en-US" dirty="0"/>
          </a:p>
        </p:txBody>
      </p:sp>
    </p:spTree>
    <p:extLst>
      <p:ext uri="{BB962C8B-B14F-4D97-AF65-F5344CB8AC3E}">
        <p14:creationId xmlns:p14="http://schemas.microsoft.com/office/powerpoint/2010/main" val="3599436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82F59-BAC0-4B26-A846-89FDE61BBE48}"/>
              </a:ext>
            </a:extLst>
          </p:cNvPr>
          <p:cNvSpPr>
            <a:spLocks noGrp="1"/>
          </p:cNvSpPr>
          <p:nvPr>
            <p:ph type="title"/>
          </p:nvPr>
        </p:nvSpPr>
        <p:spPr/>
        <p:txBody>
          <a:bodyPr/>
          <a:lstStyle/>
          <a:p>
            <a:r>
              <a:rPr lang="en-US" b="1" i="0" dirty="0">
                <a:solidFill>
                  <a:srgbClr val="444444"/>
                </a:solidFill>
                <a:effectLst/>
                <a:latin typeface="Open Sans"/>
              </a:rPr>
              <a:t>Production Possibility Frontier (PPF)</a:t>
            </a:r>
            <a:endParaRPr lang="en-US" dirty="0"/>
          </a:p>
        </p:txBody>
      </p:sp>
      <p:sp>
        <p:nvSpPr>
          <p:cNvPr id="3" name="Content Placeholder 2">
            <a:extLst>
              <a:ext uri="{FF2B5EF4-FFF2-40B4-BE49-F238E27FC236}">
                <a16:creationId xmlns:a16="http://schemas.microsoft.com/office/drawing/2014/main" id="{D5C549B1-7C43-40B4-AAAF-AD7286ECFE75}"/>
              </a:ext>
            </a:extLst>
          </p:cNvPr>
          <p:cNvSpPr>
            <a:spLocks noGrp="1"/>
          </p:cNvSpPr>
          <p:nvPr>
            <p:ph idx="1"/>
          </p:nvPr>
        </p:nvSpPr>
        <p:spPr/>
        <p:txBody>
          <a:bodyPr/>
          <a:lstStyle/>
          <a:p>
            <a:pPr algn="just"/>
            <a:r>
              <a:rPr lang="en-US" b="0" i="0" dirty="0">
                <a:solidFill>
                  <a:schemeClr val="accent2"/>
                </a:solidFill>
                <a:effectLst/>
                <a:latin typeface="Open Sans"/>
              </a:rPr>
              <a:t>Example</a:t>
            </a:r>
            <a:r>
              <a:rPr lang="en-US" b="0" i="0" dirty="0">
                <a:solidFill>
                  <a:srgbClr val="444444"/>
                </a:solidFill>
                <a:effectLst/>
                <a:latin typeface="Open Sans"/>
              </a:rPr>
              <a:t>: Assume that a particular economy produces two types of goods: machines and food. Accordingly, the following graph represents the maximum combination of these two goods that can be produced using the scarce resources.</a:t>
            </a:r>
            <a:endParaRPr lang="en-US" dirty="0"/>
          </a:p>
        </p:txBody>
      </p:sp>
    </p:spTree>
    <p:extLst>
      <p:ext uri="{BB962C8B-B14F-4D97-AF65-F5344CB8AC3E}">
        <p14:creationId xmlns:p14="http://schemas.microsoft.com/office/powerpoint/2010/main" val="2233260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0AB6-4EF7-481C-A6BA-63A67CD3FE09}"/>
              </a:ext>
            </a:extLst>
          </p:cNvPr>
          <p:cNvSpPr>
            <a:spLocks noGrp="1"/>
          </p:cNvSpPr>
          <p:nvPr>
            <p:ph type="title"/>
          </p:nvPr>
        </p:nvSpPr>
        <p:spPr/>
        <p:txBody>
          <a:bodyPr/>
          <a:lstStyle/>
          <a:p>
            <a:r>
              <a:rPr lang="en-US" b="1" i="0" dirty="0">
                <a:solidFill>
                  <a:srgbClr val="444444"/>
                </a:solidFill>
                <a:effectLst/>
                <a:latin typeface="Open Sans"/>
              </a:rPr>
              <a:t>Production Possibility Frontier (PPF)</a:t>
            </a:r>
            <a:endParaRPr lang="en-US" dirty="0"/>
          </a:p>
        </p:txBody>
      </p:sp>
      <p:graphicFrame>
        <p:nvGraphicFramePr>
          <p:cNvPr id="4" name="Content Placeholder 3">
            <a:extLst>
              <a:ext uri="{FF2B5EF4-FFF2-40B4-BE49-F238E27FC236}">
                <a16:creationId xmlns:a16="http://schemas.microsoft.com/office/drawing/2014/main" id="{84524981-38E5-4835-8A18-B8BEA76903E6}"/>
              </a:ext>
            </a:extLst>
          </p:cNvPr>
          <p:cNvGraphicFramePr>
            <a:graphicFrameLocks noGrp="1"/>
          </p:cNvGraphicFramePr>
          <p:nvPr>
            <p:ph idx="1"/>
            <p:extLst>
              <p:ext uri="{D42A27DB-BD31-4B8C-83A1-F6EECF244321}">
                <p14:modId xmlns:p14="http://schemas.microsoft.com/office/powerpoint/2010/main" val="1148672761"/>
              </p:ext>
            </p:extLst>
          </p:nvPr>
        </p:nvGraphicFramePr>
        <p:xfrm>
          <a:off x="2476500" y="1974576"/>
          <a:ext cx="7239000" cy="3520237"/>
        </p:xfrm>
        <a:graphic>
          <a:graphicData uri="http://schemas.openxmlformats.org/drawingml/2006/table">
            <a:tbl>
              <a:tblPr/>
              <a:tblGrid>
                <a:gridCol w="3619500">
                  <a:extLst>
                    <a:ext uri="{9D8B030D-6E8A-4147-A177-3AD203B41FA5}">
                      <a16:colId xmlns:a16="http://schemas.microsoft.com/office/drawing/2014/main" val="3364051815"/>
                    </a:ext>
                  </a:extLst>
                </a:gridCol>
                <a:gridCol w="3619500">
                  <a:extLst>
                    <a:ext uri="{9D8B030D-6E8A-4147-A177-3AD203B41FA5}">
                      <a16:colId xmlns:a16="http://schemas.microsoft.com/office/drawing/2014/main" val="2712725762"/>
                    </a:ext>
                  </a:extLst>
                </a:gridCol>
              </a:tblGrid>
              <a:tr h="502891">
                <a:tc>
                  <a:txBody>
                    <a:bodyPr/>
                    <a:lstStyle/>
                    <a:p>
                      <a:pPr algn="ctr" fontAlgn="base"/>
                      <a:r>
                        <a:rPr lang="en-US" b="1" dirty="0">
                          <a:solidFill>
                            <a:schemeClr val="accent3">
                              <a:lumMod val="75000"/>
                            </a:schemeClr>
                          </a:solidFill>
                          <a:effectLst/>
                        </a:rPr>
                        <a:t>Machines (Units)</a:t>
                      </a:r>
                      <a:endParaRPr lang="en-US" b="0" dirty="0">
                        <a:solidFill>
                          <a:schemeClr val="accent3">
                            <a:lumMod val="75000"/>
                          </a:schemeClr>
                        </a:solidFill>
                        <a:effectLst/>
                      </a:endParaRPr>
                    </a:p>
                  </a:txBody>
                  <a:tcPr marL="76200" marR="76200" marT="76200" marB="76200" anchor="ctr">
                    <a:lnL>
                      <a:noFill/>
                    </a:lnL>
                    <a:lnR w="9525" cap="flat" cmpd="sng" algn="ctr">
                      <a:solidFill>
                        <a:srgbClr val="408468"/>
                      </a:solidFill>
                      <a:prstDash val="solid"/>
                      <a:round/>
                      <a:headEnd type="none" w="med" len="med"/>
                      <a:tailEnd type="none" w="med" len="med"/>
                    </a:lnR>
                    <a:lnT>
                      <a:noFill/>
                    </a:lnT>
                    <a:lnB w="9525" cap="flat" cmpd="sng" algn="ctr">
                      <a:solidFill>
                        <a:srgbClr val="308268"/>
                      </a:solidFill>
                      <a:prstDash val="solid"/>
                      <a:round/>
                      <a:headEnd type="none" w="med" len="med"/>
                      <a:tailEnd type="none" w="med" len="med"/>
                    </a:lnB>
                    <a:solidFill>
                      <a:srgbClr val="CEE9F4"/>
                    </a:solidFill>
                  </a:tcPr>
                </a:tc>
                <a:tc>
                  <a:txBody>
                    <a:bodyPr/>
                    <a:lstStyle/>
                    <a:p>
                      <a:pPr algn="ctr" fontAlgn="base"/>
                      <a:r>
                        <a:rPr lang="en-US" b="1">
                          <a:solidFill>
                            <a:schemeClr val="accent3">
                              <a:lumMod val="75000"/>
                            </a:schemeClr>
                          </a:solidFill>
                          <a:effectLst/>
                        </a:rPr>
                        <a:t>Food (Units)</a:t>
                      </a:r>
                      <a:endParaRPr lang="en-US" b="0">
                        <a:solidFill>
                          <a:schemeClr val="accent3">
                            <a:lumMod val="75000"/>
                          </a:schemeClr>
                        </a:solidFill>
                        <a:effectLst/>
                      </a:endParaRPr>
                    </a:p>
                  </a:txBody>
                  <a:tcPr marL="76200" marR="76200" marT="76200" marB="76200" anchor="ctr">
                    <a:lnL w="9525" cap="flat" cmpd="sng" algn="ctr">
                      <a:solidFill>
                        <a:srgbClr val="408468"/>
                      </a:solidFill>
                      <a:prstDash val="solid"/>
                      <a:round/>
                      <a:headEnd type="none" w="med" len="med"/>
                      <a:tailEnd type="none" w="med" len="med"/>
                    </a:lnL>
                    <a:lnR w="9525" cap="flat" cmpd="sng" algn="ctr">
                      <a:solidFill>
                        <a:srgbClr val="B08368"/>
                      </a:solidFill>
                      <a:prstDash val="solid"/>
                      <a:round/>
                      <a:headEnd type="none" w="med" len="med"/>
                      <a:tailEnd type="none" w="med" len="med"/>
                    </a:lnR>
                    <a:lnT>
                      <a:noFill/>
                    </a:lnT>
                    <a:lnB w="9525" cap="flat" cmpd="sng" algn="ctr">
                      <a:solidFill>
                        <a:srgbClr val="B08968"/>
                      </a:solidFill>
                      <a:prstDash val="solid"/>
                      <a:round/>
                      <a:headEnd type="none" w="med" len="med"/>
                      <a:tailEnd type="none" w="med" len="med"/>
                    </a:lnB>
                    <a:solidFill>
                      <a:srgbClr val="CEE9F4"/>
                    </a:solidFill>
                  </a:tcPr>
                </a:tc>
                <a:extLst>
                  <a:ext uri="{0D108BD9-81ED-4DB2-BD59-A6C34878D82A}">
                    <a16:rowId xmlns:a16="http://schemas.microsoft.com/office/drawing/2014/main" val="673441553"/>
                  </a:ext>
                </a:extLst>
              </a:tr>
              <a:tr h="502891">
                <a:tc>
                  <a:txBody>
                    <a:bodyPr/>
                    <a:lstStyle/>
                    <a:p>
                      <a:pPr algn="ctr" fontAlgn="base"/>
                      <a:r>
                        <a:rPr lang="en-US" b="0" dirty="0">
                          <a:solidFill>
                            <a:schemeClr val="accent3">
                              <a:lumMod val="75000"/>
                            </a:schemeClr>
                          </a:solidFill>
                          <a:effectLst/>
                        </a:rPr>
                        <a:t>5</a:t>
                      </a:r>
                    </a:p>
                  </a:txBody>
                  <a:tcPr marL="76200" marR="76200" marT="76200" marB="76200" anchor="ctr">
                    <a:lnL>
                      <a:noFill/>
                    </a:lnL>
                    <a:lnR w="9525" cap="flat" cmpd="sng" algn="ctr">
                      <a:solidFill>
                        <a:srgbClr val="809B68"/>
                      </a:solidFill>
                      <a:prstDash val="solid"/>
                      <a:round/>
                      <a:headEnd type="none" w="med" len="med"/>
                      <a:tailEnd type="none" w="med" len="med"/>
                    </a:lnR>
                    <a:lnT w="9525" cap="flat" cmpd="sng" algn="ctr">
                      <a:solidFill>
                        <a:srgbClr val="308268"/>
                      </a:solidFill>
                      <a:prstDash val="solid"/>
                      <a:round/>
                      <a:headEnd type="none" w="med" len="med"/>
                      <a:tailEnd type="none" w="med" len="med"/>
                    </a:lnT>
                    <a:lnB w="9525" cap="flat" cmpd="sng" algn="ctr">
                      <a:solidFill>
                        <a:srgbClr val="709F68"/>
                      </a:solidFill>
                      <a:prstDash val="solid"/>
                      <a:round/>
                      <a:headEnd type="none" w="med" len="med"/>
                      <a:tailEnd type="none" w="med" len="med"/>
                    </a:lnB>
                    <a:solidFill>
                      <a:srgbClr val="94CFC9"/>
                    </a:solidFill>
                  </a:tcPr>
                </a:tc>
                <a:tc>
                  <a:txBody>
                    <a:bodyPr/>
                    <a:lstStyle/>
                    <a:p>
                      <a:pPr algn="ctr" fontAlgn="base"/>
                      <a:r>
                        <a:rPr lang="en-US" b="0">
                          <a:solidFill>
                            <a:schemeClr val="accent3">
                              <a:lumMod val="75000"/>
                            </a:schemeClr>
                          </a:solidFill>
                          <a:effectLst/>
                        </a:rPr>
                        <a:t>0</a:t>
                      </a:r>
                    </a:p>
                  </a:txBody>
                  <a:tcPr marL="76200" marR="76200" marT="76200" marB="76200" anchor="ctr">
                    <a:lnL w="9525" cap="flat" cmpd="sng" algn="ctr">
                      <a:solidFill>
                        <a:srgbClr val="809B68"/>
                      </a:solidFill>
                      <a:prstDash val="solid"/>
                      <a:round/>
                      <a:headEnd type="none" w="med" len="med"/>
                      <a:tailEnd type="none" w="med" len="med"/>
                    </a:lnL>
                    <a:lnR w="9525" cap="flat" cmpd="sng" algn="ctr">
                      <a:solidFill>
                        <a:srgbClr val="A0A568"/>
                      </a:solidFill>
                      <a:prstDash val="solid"/>
                      <a:round/>
                      <a:headEnd type="none" w="med" len="med"/>
                      <a:tailEnd type="none" w="med" len="med"/>
                    </a:lnR>
                    <a:lnT w="9525" cap="flat" cmpd="sng" algn="ctr">
                      <a:solidFill>
                        <a:srgbClr val="B08968"/>
                      </a:solidFill>
                      <a:prstDash val="solid"/>
                      <a:round/>
                      <a:headEnd type="none" w="med" len="med"/>
                      <a:tailEnd type="none" w="med" len="med"/>
                    </a:lnT>
                    <a:lnB w="9525" cap="flat" cmpd="sng" algn="ctr">
                      <a:solidFill>
                        <a:srgbClr val="B0AD68"/>
                      </a:solidFill>
                      <a:prstDash val="solid"/>
                      <a:round/>
                      <a:headEnd type="none" w="med" len="med"/>
                      <a:tailEnd type="none" w="med" len="med"/>
                    </a:lnB>
                    <a:solidFill>
                      <a:srgbClr val="94CFC9"/>
                    </a:solidFill>
                  </a:tcPr>
                </a:tc>
                <a:extLst>
                  <a:ext uri="{0D108BD9-81ED-4DB2-BD59-A6C34878D82A}">
                    <a16:rowId xmlns:a16="http://schemas.microsoft.com/office/drawing/2014/main" val="376011077"/>
                  </a:ext>
                </a:extLst>
              </a:tr>
              <a:tr h="502891">
                <a:tc>
                  <a:txBody>
                    <a:bodyPr/>
                    <a:lstStyle/>
                    <a:p>
                      <a:pPr algn="ctr" fontAlgn="base"/>
                      <a:r>
                        <a:rPr lang="en-US" b="0" dirty="0">
                          <a:solidFill>
                            <a:schemeClr val="accent3">
                              <a:lumMod val="75000"/>
                            </a:schemeClr>
                          </a:solidFill>
                          <a:effectLst/>
                        </a:rPr>
                        <a:t>4</a:t>
                      </a:r>
                    </a:p>
                  </a:txBody>
                  <a:tcPr marL="76200" marR="76200" marT="76200" marB="76200" anchor="ctr">
                    <a:lnL>
                      <a:noFill/>
                    </a:lnL>
                    <a:lnR w="9525" cap="flat" cmpd="sng" algn="ctr">
                      <a:solidFill>
                        <a:srgbClr val="50A768"/>
                      </a:solidFill>
                      <a:prstDash val="solid"/>
                      <a:round/>
                      <a:headEnd type="none" w="med" len="med"/>
                      <a:tailEnd type="none" w="med" len="med"/>
                    </a:lnR>
                    <a:lnT w="9525" cap="flat" cmpd="sng" algn="ctr">
                      <a:solidFill>
                        <a:srgbClr val="709F68"/>
                      </a:solidFill>
                      <a:prstDash val="solid"/>
                      <a:round/>
                      <a:headEnd type="none" w="med" len="med"/>
                      <a:tailEnd type="none" w="med" len="med"/>
                    </a:lnT>
                    <a:lnB w="9525" cap="flat" cmpd="sng" algn="ctr">
                      <a:solidFill>
                        <a:srgbClr val="10AE68"/>
                      </a:solidFill>
                      <a:prstDash val="solid"/>
                      <a:round/>
                      <a:headEnd type="none" w="med" len="med"/>
                      <a:tailEnd type="none" w="med" len="med"/>
                    </a:lnB>
                    <a:solidFill>
                      <a:srgbClr val="CEE9F4"/>
                    </a:solidFill>
                  </a:tcPr>
                </a:tc>
                <a:tc>
                  <a:txBody>
                    <a:bodyPr/>
                    <a:lstStyle/>
                    <a:p>
                      <a:pPr algn="ctr" fontAlgn="base"/>
                      <a:r>
                        <a:rPr lang="en-US" b="0" dirty="0">
                          <a:solidFill>
                            <a:schemeClr val="accent3">
                              <a:lumMod val="75000"/>
                            </a:schemeClr>
                          </a:solidFill>
                          <a:effectLst/>
                        </a:rPr>
                        <a:t>100</a:t>
                      </a:r>
                    </a:p>
                  </a:txBody>
                  <a:tcPr marL="76200" marR="76200" marT="76200" marB="76200" anchor="ctr">
                    <a:lnL w="9525" cap="flat" cmpd="sng" algn="ctr">
                      <a:solidFill>
                        <a:srgbClr val="50A768"/>
                      </a:solidFill>
                      <a:prstDash val="solid"/>
                      <a:round/>
                      <a:headEnd type="none" w="med" len="med"/>
                      <a:tailEnd type="none" w="med" len="med"/>
                    </a:lnL>
                    <a:lnR w="9525" cap="flat" cmpd="sng" algn="ctr">
                      <a:solidFill>
                        <a:srgbClr val="A0AC67"/>
                      </a:solidFill>
                      <a:prstDash val="solid"/>
                      <a:round/>
                      <a:headEnd type="none" w="med" len="med"/>
                      <a:tailEnd type="none" w="med" len="med"/>
                    </a:lnR>
                    <a:lnT w="9525" cap="flat" cmpd="sng" algn="ctr">
                      <a:solidFill>
                        <a:srgbClr val="B0AD68"/>
                      </a:solidFill>
                      <a:prstDash val="solid"/>
                      <a:round/>
                      <a:headEnd type="none" w="med" len="med"/>
                      <a:tailEnd type="none" w="med" len="med"/>
                    </a:lnT>
                    <a:lnB w="9525" cap="flat" cmpd="sng" algn="ctr">
                      <a:solidFill>
                        <a:srgbClr val="50B467"/>
                      </a:solidFill>
                      <a:prstDash val="solid"/>
                      <a:round/>
                      <a:headEnd type="none" w="med" len="med"/>
                      <a:tailEnd type="none" w="med" len="med"/>
                    </a:lnB>
                    <a:solidFill>
                      <a:srgbClr val="CEE9F4"/>
                    </a:solidFill>
                  </a:tcPr>
                </a:tc>
                <a:extLst>
                  <a:ext uri="{0D108BD9-81ED-4DB2-BD59-A6C34878D82A}">
                    <a16:rowId xmlns:a16="http://schemas.microsoft.com/office/drawing/2014/main" val="351057103"/>
                  </a:ext>
                </a:extLst>
              </a:tr>
              <a:tr h="502891">
                <a:tc>
                  <a:txBody>
                    <a:bodyPr/>
                    <a:lstStyle/>
                    <a:p>
                      <a:pPr algn="ctr" fontAlgn="base"/>
                      <a:r>
                        <a:rPr lang="en-US" b="0">
                          <a:solidFill>
                            <a:schemeClr val="accent3">
                              <a:lumMod val="75000"/>
                            </a:schemeClr>
                          </a:solidFill>
                          <a:effectLst/>
                        </a:rPr>
                        <a:t>3</a:t>
                      </a:r>
                    </a:p>
                  </a:txBody>
                  <a:tcPr marL="76200" marR="76200" marT="76200" marB="76200" anchor="ctr">
                    <a:lnL>
                      <a:noFill/>
                    </a:lnL>
                    <a:lnR w="9525" cap="flat" cmpd="sng" algn="ctr">
                      <a:solidFill>
                        <a:srgbClr val="90AD67"/>
                      </a:solidFill>
                      <a:prstDash val="solid"/>
                      <a:round/>
                      <a:headEnd type="none" w="med" len="med"/>
                      <a:tailEnd type="none" w="med" len="med"/>
                    </a:lnR>
                    <a:lnT w="9525" cap="flat" cmpd="sng" algn="ctr">
                      <a:solidFill>
                        <a:srgbClr val="10AE68"/>
                      </a:solidFill>
                      <a:prstDash val="solid"/>
                      <a:round/>
                      <a:headEnd type="none" w="med" len="med"/>
                      <a:tailEnd type="none" w="med" len="med"/>
                    </a:lnT>
                    <a:lnB w="9525" cap="flat" cmpd="sng" algn="ctr">
                      <a:solidFill>
                        <a:srgbClr val="80B467"/>
                      </a:solidFill>
                      <a:prstDash val="solid"/>
                      <a:round/>
                      <a:headEnd type="none" w="med" len="med"/>
                      <a:tailEnd type="none" w="med" len="med"/>
                    </a:lnB>
                    <a:solidFill>
                      <a:srgbClr val="94CFC9"/>
                    </a:solidFill>
                  </a:tcPr>
                </a:tc>
                <a:tc>
                  <a:txBody>
                    <a:bodyPr/>
                    <a:lstStyle/>
                    <a:p>
                      <a:pPr algn="ctr" fontAlgn="base"/>
                      <a:r>
                        <a:rPr lang="en-US" b="0" dirty="0">
                          <a:solidFill>
                            <a:schemeClr val="accent3">
                              <a:lumMod val="75000"/>
                            </a:schemeClr>
                          </a:solidFill>
                          <a:effectLst/>
                        </a:rPr>
                        <a:t>200</a:t>
                      </a:r>
                    </a:p>
                  </a:txBody>
                  <a:tcPr marL="76200" marR="76200" marT="76200" marB="76200" anchor="ctr">
                    <a:lnL w="9525" cap="flat" cmpd="sng" algn="ctr">
                      <a:solidFill>
                        <a:srgbClr val="90AD67"/>
                      </a:solidFill>
                      <a:prstDash val="solid"/>
                      <a:round/>
                      <a:headEnd type="none" w="med" len="med"/>
                      <a:tailEnd type="none" w="med" len="med"/>
                    </a:lnL>
                    <a:lnR w="9525" cap="flat" cmpd="sng" algn="ctr">
                      <a:solidFill>
                        <a:srgbClr val="E0B767"/>
                      </a:solidFill>
                      <a:prstDash val="solid"/>
                      <a:round/>
                      <a:headEnd type="none" w="med" len="med"/>
                      <a:tailEnd type="none" w="med" len="med"/>
                    </a:lnR>
                    <a:lnT w="9525" cap="flat" cmpd="sng" algn="ctr">
                      <a:solidFill>
                        <a:srgbClr val="50B467"/>
                      </a:solidFill>
                      <a:prstDash val="solid"/>
                      <a:round/>
                      <a:headEnd type="none" w="med" len="med"/>
                      <a:tailEnd type="none" w="med" len="med"/>
                    </a:lnT>
                    <a:lnB w="9525" cap="flat" cmpd="sng" algn="ctr">
                      <a:solidFill>
                        <a:srgbClr val="70BB67"/>
                      </a:solidFill>
                      <a:prstDash val="solid"/>
                      <a:round/>
                      <a:headEnd type="none" w="med" len="med"/>
                      <a:tailEnd type="none" w="med" len="med"/>
                    </a:lnB>
                    <a:solidFill>
                      <a:srgbClr val="94CFC9"/>
                    </a:solidFill>
                  </a:tcPr>
                </a:tc>
                <a:extLst>
                  <a:ext uri="{0D108BD9-81ED-4DB2-BD59-A6C34878D82A}">
                    <a16:rowId xmlns:a16="http://schemas.microsoft.com/office/drawing/2014/main" val="1034676600"/>
                  </a:ext>
                </a:extLst>
              </a:tr>
              <a:tr h="502891">
                <a:tc>
                  <a:txBody>
                    <a:bodyPr/>
                    <a:lstStyle/>
                    <a:p>
                      <a:pPr algn="ctr" fontAlgn="base"/>
                      <a:r>
                        <a:rPr lang="en-US" b="0">
                          <a:solidFill>
                            <a:schemeClr val="accent3">
                              <a:lumMod val="75000"/>
                            </a:schemeClr>
                          </a:solidFill>
                          <a:effectLst/>
                        </a:rPr>
                        <a:t>2</a:t>
                      </a:r>
                    </a:p>
                  </a:txBody>
                  <a:tcPr marL="76200" marR="76200" marT="76200" marB="76200" anchor="ctr">
                    <a:lnL>
                      <a:noFill/>
                    </a:lnL>
                    <a:lnR w="9525" cap="flat" cmpd="sng" algn="ctr">
                      <a:solidFill>
                        <a:srgbClr val="E0CC67"/>
                      </a:solidFill>
                      <a:prstDash val="solid"/>
                      <a:round/>
                      <a:headEnd type="none" w="med" len="med"/>
                      <a:tailEnd type="none" w="med" len="med"/>
                    </a:lnR>
                    <a:lnT w="9525" cap="flat" cmpd="sng" algn="ctr">
                      <a:solidFill>
                        <a:srgbClr val="80B467"/>
                      </a:solidFill>
                      <a:prstDash val="solid"/>
                      <a:round/>
                      <a:headEnd type="none" w="med" len="med"/>
                      <a:tailEnd type="none" w="med" len="med"/>
                    </a:lnT>
                    <a:lnB w="9525" cap="flat" cmpd="sng" algn="ctr">
                      <a:solidFill>
                        <a:srgbClr val="80C367"/>
                      </a:solidFill>
                      <a:prstDash val="solid"/>
                      <a:round/>
                      <a:headEnd type="none" w="med" len="med"/>
                      <a:tailEnd type="none" w="med" len="med"/>
                    </a:lnB>
                    <a:solidFill>
                      <a:srgbClr val="CEE9F4"/>
                    </a:solidFill>
                  </a:tcPr>
                </a:tc>
                <a:tc>
                  <a:txBody>
                    <a:bodyPr/>
                    <a:lstStyle/>
                    <a:p>
                      <a:pPr algn="ctr" fontAlgn="base"/>
                      <a:r>
                        <a:rPr lang="en-US" b="0" dirty="0">
                          <a:solidFill>
                            <a:schemeClr val="accent3">
                              <a:lumMod val="75000"/>
                            </a:schemeClr>
                          </a:solidFill>
                          <a:effectLst/>
                        </a:rPr>
                        <a:t>300</a:t>
                      </a:r>
                    </a:p>
                  </a:txBody>
                  <a:tcPr marL="76200" marR="76200" marT="76200" marB="76200" anchor="ctr">
                    <a:lnL w="9525" cap="flat" cmpd="sng" algn="ctr">
                      <a:solidFill>
                        <a:srgbClr val="E0CC67"/>
                      </a:solidFill>
                      <a:prstDash val="solid"/>
                      <a:round/>
                      <a:headEnd type="none" w="med" len="med"/>
                      <a:tailEnd type="none" w="med" len="med"/>
                    </a:lnL>
                    <a:lnR w="9525" cap="flat" cmpd="sng" algn="ctr">
                      <a:solidFill>
                        <a:srgbClr val="50C967"/>
                      </a:solidFill>
                      <a:prstDash val="solid"/>
                      <a:round/>
                      <a:headEnd type="none" w="med" len="med"/>
                      <a:tailEnd type="none" w="med" len="med"/>
                    </a:lnR>
                    <a:lnT w="9525" cap="flat" cmpd="sng" algn="ctr">
                      <a:solidFill>
                        <a:srgbClr val="70BB67"/>
                      </a:solidFill>
                      <a:prstDash val="solid"/>
                      <a:round/>
                      <a:headEnd type="none" w="med" len="med"/>
                      <a:tailEnd type="none" w="med" len="med"/>
                    </a:lnT>
                    <a:lnB w="9525" cap="flat" cmpd="sng" algn="ctr">
                      <a:solidFill>
                        <a:srgbClr val="90C267"/>
                      </a:solidFill>
                      <a:prstDash val="solid"/>
                      <a:round/>
                      <a:headEnd type="none" w="med" len="med"/>
                      <a:tailEnd type="none" w="med" len="med"/>
                    </a:lnB>
                    <a:solidFill>
                      <a:srgbClr val="CEE9F4"/>
                    </a:solidFill>
                  </a:tcPr>
                </a:tc>
                <a:extLst>
                  <a:ext uri="{0D108BD9-81ED-4DB2-BD59-A6C34878D82A}">
                    <a16:rowId xmlns:a16="http://schemas.microsoft.com/office/drawing/2014/main" val="3388131631"/>
                  </a:ext>
                </a:extLst>
              </a:tr>
              <a:tr h="502891">
                <a:tc>
                  <a:txBody>
                    <a:bodyPr/>
                    <a:lstStyle/>
                    <a:p>
                      <a:pPr algn="ctr" fontAlgn="base"/>
                      <a:r>
                        <a:rPr lang="en-US" b="0">
                          <a:solidFill>
                            <a:schemeClr val="accent3">
                              <a:lumMod val="75000"/>
                            </a:schemeClr>
                          </a:solidFill>
                          <a:effectLst/>
                        </a:rPr>
                        <a:t>1</a:t>
                      </a:r>
                    </a:p>
                  </a:txBody>
                  <a:tcPr marL="76200" marR="76200" marT="76200" marB="76200" anchor="ctr">
                    <a:lnL>
                      <a:noFill/>
                    </a:lnL>
                    <a:lnR w="9525" cap="flat" cmpd="sng" algn="ctr">
                      <a:solidFill>
                        <a:srgbClr val="A0CD67"/>
                      </a:solidFill>
                      <a:prstDash val="solid"/>
                      <a:round/>
                      <a:headEnd type="none" w="med" len="med"/>
                      <a:tailEnd type="none" w="med" len="med"/>
                    </a:lnR>
                    <a:lnT w="9525" cap="flat" cmpd="sng" algn="ctr">
                      <a:solidFill>
                        <a:srgbClr val="80C367"/>
                      </a:solidFill>
                      <a:prstDash val="solid"/>
                      <a:round/>
                      <a:headEnd type="none" w="med" len="med"/>
                      <a:tailEnd type="none" w="med" len="med"/>
                    </a:lnT>
                    <a:lnB w="9525" cap="flat" cmpd="sng" algn="ctr">
                      <a:solidFill>
                        <a:srgbClr val="60D167"/>
                      </a:solidFill>
                      <a:prstDash val="solid"/>
                      <a:round/>
                      <a:headEnd type="none" w="med" len="med"/>
                      <a:tailEnd type="none" w="med" len="med"/>
                    </a:lnB>
                    <a:solidFill>
                      <a:srgbClr val="94CFC9"/>
                    </a:solidFill>
                  </a:tcPr>
                </a:tc>
                <a:tc>
                  <a:txBody>
                    <a:bodyPr/>
                    <a:lstStyle/>
                    <a:p>
                      <a:pPr algn="ctr" fontAlgn="base"/>
                      <a:r>
                        <a:rPr lang="en-US" b="0" dirty="0">
                          <a:solidFill>
                            <a:schemeClr val="accent3">
                              <a:lumMod val="75000"/>
                            </a:schemeClr>
                          </a:solidFill>
                          <a:effectLst/>
                        </a:rPr>
                        <a:t>400</a:t>
                      </a:r>
                    </a:p>
                  </a:txBody>
                  <a:tcPr marL="76200" marR="76200" marT="76200" marB="76200" anchor="ctr">
                    <a:lnL w="9525" cap="flat" cmpd="sng" algn="ctr">
                      <a:solidFill>
                        <a:srgbClr val="A0CD67"/>
                      </a:solidFill>
                      <a:prstDash val="solid"/>
                      <a:round/>
                      <a:headEnd type="none" w="med" len="med"/>
                      <a:tailEnd type="none" w="med" len="med"/>
                    </a:lnL>
                    <a:lnR w="9525" cap="flat" cmpd="sng" algn="ctr">
                      <a:solidFill>
                        <a:srgbClr val="A0D667"/>
                      </a:solidFill>
                      <a:prstDash val="solid"/>
                      <a:round/>
                      <a:headEnd type="none" w="med" len="med"/>
                      <a:tailEnd type="none" w="med" len="med"/>
                    </a:lnR>
                    <a:lnT w="9525" cap="flat" cmpd="sng" algn="ctr">
                      <a:solidFill>
                        <a:srgbClr val="90C267"/>
                      </a:solidFill>
                      <a:prstDash val="solid"/>
                      <a:round/>
                      <a:headEnd type="none" w="med" len="med"/>
                      <a:tailEnd type="none" w="med" len="med"/>
                    </a:lnT>
                    <a:lnB w="9525" cap="flat" cmpd="sng" algn="ctr">
                      <a:solidFill>
                        <a:srgbClr val="70D967"/>
                      </a:solidFill>
                      <a:prstDash val="solid"/>
                      <a:round/>
                      <a:headEnd type="none" w="med" len="med"/>
                      <a:tailEnd type="none" w="med" len="med"/>
                    </a:lnB>
                    <a:solidFill>
                      <a:srgbClr val="94CFC9"/>
                    </a:solidFill>
                  </a:tcPr>
                </a:tc>
                <a:extLst>
                  <a:ext uri="{0D108BD9-81ED-4DB2-BD59-A6C34878D82A}">
                    <a16:rowId xmlns:a16="http://schemas.microsoft.com/office/drawing/2014/main" val="2132022593"/>
                  </a:ext>
                </a:extLst>
              </a:tr>
              <a:tr h="502891">
                <a:tc>
                  <a:txBody>
                    <a:bodyPr/>
                    <a:lstStyle/>
                    <a:p>
                      <a:pPr algn="ctr" fontAlgn="base"/>
                      <a:r>
                        <a:rPr lang="en-US" b="0">
                          <a:solidFill>
                            <a:schemeClr val="accent3">
                              <a:lumMod val="75000"/>
                            </a:schemeClr>
                          </a:solidFill>
                          <a:effectLst/>
                        </a:rPr>
                        <a:t>0</a:t>
                      </a:r>
                    </a:p>
                  </a:txBody>
                  <a:tcPr marL="76200" marR="76200" marT="76200" marB="76200" anchor="ctr">
                    <a:lnL>
                      <a:noFill/>
                    </a:lnL>
                    <a:lnR w="9525" cap="flat" cmpd="sng" algn="ctr">
                      <a:solidFill>
                        <a:srgbClr val="F0DD67"/>
                      </a:solidFill>
                      <a:prstDash val="solid"/>
                      <a:round/>
                      <a:headEnd type="none" w="med" len="med"/>
                      <a:tailEnd type="none" w="med" len="med"/>
                    </a:lnR>
                    <a:lnT w="9525" cap="flat" cmpd="sng" algn="ctr">
                      <a:solidFill>
                        <a:srgbClr val="60D167"/>
                      </a:solidFill>
                      <a:prstDash val="solid"/>
                      <a:round/>
                      <a:headEnd type="none" w="med" len="med"/>
                      <a:tailEnd type="none" w="med" len="med"/>
                    </a:lnT>
                    <a:lnB w="9525" cap="flat" cmpd="sng" algn="ctr">
                      <a:solidFill>
                        <a:srgbClr val="50E467"/>
                      </a:solidFill>
                      <a:prstDash val="solid"/>
                      <a:round/>
                      <a:headEnd type="none" w="med" len="med"/>
                      <a:tailEnd type="none" w="med" len="med"/>
                    </a:lnB>
                    <a:solidFill>
                      <a:srgbClr val="CEE9F4"/>
                    </a:solidFill>
                  </a:tcPr>
                </a:tc>
                <a:tc>
                  <a:txBody>
                    <a:bodyPr/>
                    <a:lstStyle/>
                    <a:p>
                      <a:pPr algn="ctr" fontAlgn="base"/>
                      <a:r>
                        <a:rPr lang="en-US" b="0" dirty="0">
                          <a:solidFill>
                            <a:schemeClr val="accent3">
                              <a:lumMod val="75000"/>
                            </a:schemeClr>
                          </a:solidFill>
                          <a:effectLst/>
                        </a:rPr>
                        <a:t>500</a:t>
                      </a:r>
                    </a:p>
                  </a:txBody>
                  <a:tcPr marL="76200" marR="76200" marT="76200" marB="76200" anchor="ctr">
                    <a:lnL w="9525" cap="flat" cmpd="sng" algn="ctr">
                      <a:solidFill>
                        <a:srgbClr val="F0DD67"/>
                      </a:solidFill>
                      <a:prstDash val="solid"/>
                      <a:round/>
                      <a:headEnd type="none" w="med" len="med"/>
                      <a:tailEnd type="none" w="med" len="med"/>
                    </a:lnL>
                    <a:lnR w="9525" cap="flat" cmpd="sng" algn="ctr">
                      <a:solidFill>
                        <a:srgbClr val="A0EE67"/>
                      </a:solidFill>
                      <a:prstDash val="solid"/>
                      <a:round/>
                      <a:headEnd type="none" w="med" len="med"/>
                      <a:tailEnd type="none" w="med" len="med"/>
                    </a:lnR>
                    <a:lnT w="9525" cap="flat" cmpd="sng" algn="ctr">
                      <a:solidFill>
                        <a:srgbClr val="70D967"/>
                      </a:solidFill>
                      <a:prstDash val="solid"/>
                      <a:round/>
                      <a:headEnd type="none" w="med" len="med"/>
                      <a:tailEnd type="none" w="med" len="med"/>
                    </a:lnT>
                    <a:lnB w="9525" cap="flat" cmpd="sng" algn="ctr">
                      <a:solidFill>
                        <a:srgbClr val="50F067"/>
                      </a:solidFill>
                      <a:prstDash val="solid"/>
                      <a:round/>
                      <a:headEnd type="none" w="med" len="med"/>
                      <a:tailEnd type="none" w="med" len="med"/>
                    </a:lnB>
                    <a:solidFill>
                      <a:srgbClr val="CEE9F4"/>
                    </a:solidFill>
                  </a:tcPr>
                </a:tc>
                <a:extLst>
                  <a:ext uri="{0D108BD9-81ED-4DB2-BD59-A6C34878D82A}">
                    <a16:rowId xmlns:a16="http://schemas.microsoft.com/office/drawing/2014/main" val="1622001222"/>
                  </a:ext>
                </a:extLst>
              </a:tr>
            </a:tbl>
          </a:graphicData>
        </a:graphic>
      </p:graphicFrame>
    </p:spTree>
    <p:extLst>
      <p:ext uri="{BB962C8B-B14F-4D97-AF65-F5344CB8AC3E}">
        <p14:creationId xmlns:p14="http://schemas.microsoft.com/office/powerpoint/2010/main" val="3247875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F125-9B12-4D72-BAAB-BCBEAA8C6381}"/>
              </a:ext>
            </a:extLst>
          </p:cNvPr>
          <p:cNvSpPr>
            <a:spLocks noGrp="1"/>
          </p:cNvSpPr>
          <p:nvPr>
            <p:ph type="title"/>
          </p:nvPr>
        </p:nvSpPr>
        <p:spPr/>
        <p:txBody>
          <a:bodyPr/>
          <a:lstStyle/>
          <a:p>
            <a:r>
              <a:rPr lang="en-US" b="1" dirty="0">
                <a:solidFill>
                  <a:srgbClr val="444444"/>
                </a:solidFill>
                <a:latin typeface="Open Sans"/>
              </a:rPr>
              <a:t>Production Possibility Frontier (PPF)</a:t>
            </a:r>
            <a:endParaRPr lang="en-US" dirty="0"/>
          </a:p>
        </p:txBody>
      </p:sp>
      <p:sp>
        <p:nvSpPr>
          <p:cNvPr id="3" name="Content Placeholder 2">
            <a:extLst>
              <a:ext uri="{FF2B5EF4-FFF2-40B4-BE49-F238E27FC236}">
                <a16:creationId xmlns:a16="http://schemas.microsoft.com/office/drawing/2014/main" id="{0804825D-9DEC-4BFC-81FA-E79DC649C4BC}"/>
              </a:ext>
            </a:extLst>
          </p:cNvPr>
          <p:cNvSpPr>
            <a:spLocks noGrp="1"/>
          </p:cNvSpPr>
          <p:nvPr>
            <p:ph idx="1"/>
          </p:nvPr>
        </p:nvSpPr>
        <p:spPr/>
        <p:txBody>
          <a:bodyPr/>
          <a:lstStyle/>
          <a:p>
            <a:pPr algn="just"/>
            <a:r>
              <a:rPr lang="en-US" b="0" i="0" dirty="0">
                <a:effectLst/>
                <a:latin typeface="Open Sans"/>
              </a:rPr>
              <a:t>In the Production Possibility Curve, the graph represents the maximum combination of two goods that an economy can produce utilizing resources and technology optimally. </a:t>
            </a:r>
          </a:p>
          <a:p>
            <a:pPr algn="just"/>
            <a:r>
              <a:rPr lang="en-US" b="0" i="0" dirty="0">
                <a:effectLst/>
                <a:latin typeface="Open Sans"/>
              </a:rPr>
              <a:t>Therefore, the society has to make the choice somewhere within or under the curve. Let’s discuss different areas that are important under PPF concepts.</a:t>
            </a:r>
            <a:endParaRPr lang="en-US" dirty="0"/>
          </a:p>
        </p:txBody>
      </p:sp>
    </p:spTree>
    <p:extLst>
      <p:ext uri="{BB962C8B-B14F-4D97-AF65-F5344CB8AC3E}">
        <p14:creationId xmlns:p14="http://schemas.microsoft.com/office/powerpoint/2010/main" val="7102434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79864-1A03-4DC1-B962-55883E3E9BF0}"/>
              </a:ext>
            </a:extLst>
          </p:cNvPr>
          <p:cNvSpPr>
            <a:spLocks noGrp="1"/>
          </p:cNvSpPr>
          <p:nvPr>
            <p:ph type="title"/>
          </p:nvPr>
        </p:nvSpPr>
        <p:spPr/>
        <p:txBody>
          <a:bodyPr/>
          <a:lstStyle/>
          <a:p>
            <a:r>
              <a:rPr lang="en-US" b="1" i="0" dirty="0">
                <a:solidFill>
                  <a:srgbClr val="444444"/>
                </a:solidFill>
                <a:effectLst/>
                <a:latin typeface="Open Sans"/>
              </a:rPr>
              <a:t>Production Possibility Frontier (PPF)</a:t>
            </a:r>
            <a:endParaRPr lang="en-US" dirty="0"/>
          </a:p>
        </p:txBody>
      </p:sp>
      <p:pic>
        <p:nvPicPr>
          <p:cNvPr id="4" name="Content Placeholder 3">
            <a:extLst>
              <a:ext uri="{FF2B5EF4-FFF2-40B4-BE49-F238E27FC236}">
                <a16:creationId xmlns:a16="http://schemas.microsoft.com/office/drawing/2014/main" id="{6E099FFC-6EDC-4F14-ABAA-C2353A1B51B1}"/>
              </a:ext>
            </a:extLst>
          </p:cNvPr>
          <p:cNvPicPr>
            <a:picLocks noGrp="1" noChangeAspect="1"/>
          </p:cNvPicPr>
          <p:nvPr>
            <p:ph idx="1"/>
          </p:nvPr>
        </p:nvPicPr>
        <p:blipFill>
          <a:blip r:embed="rId2"/>
          <a:stretch>
            <a:fillRect/>
          </a:stretch>
        </p:blipFill>
        <p:spPr>
          <a:xfrm>
            <a:off x="2220686" y="1463040"/>
            <a:ext cx="8347165" cy="4598125"/>
          </a:xfrm>
          <a:prstGeom prst="rect">
            <a:avLst/>
          </a:prstGeom>
        </p:spPr>
      </p:pic>
    </p:spTree>
    <p:extLst>
      <p:ext uri="{BB962C8B-B14F-4D97-AF65-F5344CB8AC3E}">
        <p14:creationId xmlns:p14="http://schemas.microsoft.com/office/powerpoint/2010/main" val="3045166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46A5A-4760-4DE2-B21B-8CAFE9D99DC5}"/>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444444"/>
                </a:solidFill>
                <a:effectLst/>
                <a:uLnTx/>
                <a:uFillTx/>
                <a:latin typeface="Open Sans"/>
                <a:ea typeface="+mj-ea"/>
                <a:cs typeface="+mj-cs"/>
              </a:rPr>
              <a:t>Production Possibility Frontier (PPF)</a:t>
            </a:r>
            <a:endParaRPr lang="en-US" dirty="0"/>
          </a:p>
        </p:txBody>
      </p:sp>
      <p:sp>
        <p:nvSpPr>
          <p:cNvPr id="3" name="Content Placeholder 2">
            <a:extLst>
              <a:ext uri="{FF2B5EF4-FFF2-40B4-BE49-F238E27FC236}">
                <a16:creationId xmlns:a16="http://schemas.microsoft.com/office/drawing/2014/main" id="{AD257356-5DA8-4C8D-8F39-82446DF0812C}"/>
              </a:ext>
            </a:extLst>
          </p:cNvPr>
          <p:cNvSpPr>
            <a:spLocks noGrp="1"/>
          </p:cNvSpPr>
          <p:nvPr>
            <p:ph idx="1"/>
          </p:nvPr>
        </p:nvSpPr>
        <p:spPr/>
        <p:txBody>
          <a:bodyPr>
            <a:normAutofit fontScale="92500" lnSpcReduction="10000"/>
          </a:bodyPr>
          <a:lstStyle/>
          <a:p>
            <a:pPr algn="just" fontAlgn="base"/>
            <a:r>
              <a:rPr lang="en-US" b="1" i="0" dirty="0">
                <a:effectLst/>
                <a:latin typeface="Open Sans"/>
              </a:rPr>
              <a:t>Point A:</a:t>
            </a:r>
            <a:r>
              <a:rPr lang="en-US" b="0" i="0" dirty="0">
                <a:effectLst/>
                <a:latin typeface="Open Sans"/>
              </a:rPr>
              <a:t> This is an achievable product combination for an economy with the existing amount of resources and technology. However, this is not an efficient product combination as the society can obtain more goods from both products without sacrificing another good.</a:t>
            </a:r>
          </a:p>
          <a:p>
            <a:pPr algn="just" fontAlgn="base"/>
            <a:r>
              <a:rPr lang="en-US" b="1" i="0" dirty="0">
                <a:effectLst/>
                <a:latin typeface="Open Sans"/>
              </a:rPr>
              <a:t>Point D:</a:t>
            </a:r>
            <a:r>
              <a:rPr lang="en-US" b="0" i="0" dirty="0">
                <a:effectLst/>
                <a:latin typeface="Open Sans"/>
              </a:rPr>
              <a:t> This is an unachievable product combination; an economy cannot produce this with the existing amount of resources and technology. This also indicates the limited amount of resources that an economy has to utilize for its production.</a:t>
            </a:r>
          </a:p>
          <a:p>
            <a:endParaRPr lang="en-US" dirty="0"/>
          </a:p>
        </p:txBody>
      </p:sp>
    </p:spTree>
    <p:extLst>
      <p:ext uri="{BB962C8B-B14F-4D97-AF65-F5344CB8AC3E}">
        <p14:creationId xmlns:p14="http://schemas.microsoft.com/office/powerpoint/2010/main" val="26036307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59945-BA26-49E8-A069-F5E06FA24E26}"/>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444444"/>
                </a:solidFill>
                <a:effectLst/>
                <a:uLnTx/>
                <a:uFillTx/>
                <a:latin typeface="Open Sans"/>
                <a:ea typeface="+mj-ea"/>
                <a:cs typeface="+mj-cs"/>
              </a:rPr>
              <a:t>Production Possibility Frontier (PPF)</a:t>
            </a:r>
            <a:endParaRPr lang="en-US" dirty="0"/>
          </a:p>
        </p:txBody>
      </p:sp>
      <p:sp>
        <p:nvSpPr>
          <p:cNvPr id="3" name="Content Placeholder 2">
            <a:extLst>
              <a:ext uri="{FF2B5EF4-FFF2-40B4-BE49-F238E27FC236}">
                <a16:creationId xmlns:a16="http://schemas.microsoft.com/office/drawing/2014/main" id="{15A512C4-6883-4F60-A9E3-9EC53ABB1267}"/>
              </a:ext>
            </a:extLst>
          </p:cNvPr>
          <p:cNvSpPr>
            <a:spLocks noGrp="1"/>
          </p:cNvSpPr>
          <p:nvPr>
            <p:ph idx="1"/>
          </p:nvPr>
        </p:nvSpPr>
        <p:spPr/>
        <p:txBody>
          <a:bodyPr>
            <a:noAutofit/>
          </a:bodyPr>
          <a:lstStyle/>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effectLst/>
                <a:uLnTx/>
                <a:uFillTx/>
                <a:latin typeface="Open Sans"/>
                <a:ea typeface="+mn-ea"/>
                <a:cs typeface="+mn-cs"/>
              </a:rPr>
              <a:t>Point B and C:</a:t>
            </a:r>
            <a:r>
              <a:rPr kumimoji="0" lang="en-US" sz="2800" b="0" i="0" u="none" strike="noStrike" kern="1200" cap="none" spc="0" normalizeH="0" baseline="0" noProof="0" dirty="0">
                <a:ln>
                  <a:noFill/>
                </a:ln>
                <a:effectLst/>
                <a:uLnTx/>
                <a:uFillTx/>
                <a:latin typeface="Open Sans"/>
                <a:ea typeface="+mn-ea"/>
                <a:cs typeface="+mn-cs"/>
              </a:rPr>
              <a:t> These two points are achievable product combinations that can be produced by the existing resources and technology of the economy. These two points are efficient points on the PPF. </a:t>
            </a:r>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Open Sans"/>
                <a:ea typeface="+mn-ea"/>
                <a:cs typeface="+mn-cs"/>
              </a:rPr>
              <a:t>Point B indicates a choice of more machines and less food whilst point C indicates the reverse. Moreover, if the society needs to move from point B to point C, a certain amount of a product has to be sacrificed. </a:t>
            </a:r>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Open Sans"/>
                <a:ea typeface="+mn-ea"/>
                <a:cs typeface="+mn-cs"/>
              </a:rPr>
              <a:t>This is identified as the </a:t>
            </a:r>
            <a:r>
              <a:rPr kumimoji="0" lang="en-US" sz="2800" b="0" i="0" u="none" strike="noStrike" kern="1200" cap="none" spc="0" normalizeH="0" baseline="0" noProof="0" dirty="0">
                <a:ln>
                  <a:noFill/>
                </a:ln>
                <a:effectLst/>
                <a:uLnTx/>
                <a:uFillTx/>
                <a:latin typeface="Open Sans"/>
                <a:ea typeface="+mn-ea"/>
                <a:cs typeface="+mn-cs"/>
                <a:hlinkClick r:id="rId2"/>
              </a:rPr>
              <a:t>trade-off</a:t>
            </a:r>
            <a:r>
              <a:rPr kumimoji="0" lang="en-US" sz="2800" b="0" i="0" u="none" strike="noStrike" kern="1200" cap="none" spc="0" normalizeH="0" baseline="0" noProof="0" dirty="0">
                <a:ln>
                  <a:noFill/>
                </a:ln>
                <a:effectLst/>
                <a:uLnTx/>
                <a:uFillTx/>
                <a:latin typeface="Open Sans"/>
                <a:ea typeface="+mn-ea"/>
                <a:cs typeface="+mn-cs"/>
              </a:rPr>
              <a:t> between machines and food items. On the other hand, since the society has to give up one choice for another, PPF represents the scarcity of resources as well.</a:t>
            </a:r>
          </a:p>
        </p:txBody>
      </p:sp>
    </p:spTree>
    <p:extLst>
      <p:ext uri="{BB962C8B-B14F-4D97-AF65-F5344CB8AC3E}">
        <p14:creationId xmlns:p14="http://schemas.microsoft.com/office/powerpoint/2010/main" val="3515313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2012-250F-4492-BB27-1548724D9B3F}"/>
              </a:ext>
            </a:extLst>
          </p:cNvPr>
          <p:cNvSpPr>
            <a:spLocks noGrp="1"/>
          </p:cNvSpPr>
          <p:nvPr>
            <p:ph type="title"/>
          </p:nvPr>
        </p:nvSpPr>
        <p:spPr>
          <a:xfrm>
            <a:off x="983975" y="404886"/>
            <a:ext cx="10515600" cy="1325563"/>
          </a:xfrm>
        </p:spPr>
        <p:txBody>
          <a:bodyPr>
            <a:normAutofit fontScale="90000"/>
          </a:bodyPr>
          <a:lstStyle/>
          <a:p>
            <a:r>
              <a:rPr lang="en-US" b="0" i="0" dirty="0">
                <a:solidFill>
                  <a:srgbClr val="5A6182"/>
                </a:solidFill>
                <a:effectLst/>
                <a:latin typeface="Oswald"/>
              </a:rPr>
              <a:t>Economic systems</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92BFD122-7D52-49D0-8D1A-D3607E2B9DB8}"/>
              </a:ext>
            </a:extLst>
          </p:cNvPr>
          <p:cNvSpPr>
            <a:spLocks noGrp="1"/>
          </p:cNvSpPr>
          <p:nvPr>
            <p:ph idx="1"/>
          </p:nvPr>
        </p:nvSpPr>
        <p:spPr/>
        <p:txBody>
          <a:bodyPr>
            <a:normAutofit fontScale="77500" lnSpcReduction="20000"/>
          </a:bodyPr>
          <a:lstStyle/>
          <a:p>
            <a:pPr marL="0" indent="0" algn="just">
              <a:buNone/>
            </a:pPr>
            <a:r>
              <a:rPr lang="en-US" b="0" i="0" dirty="0">
                <a:solidFill>
                  <a:srgbClr val="5A6182"/>
                </a:solidFill>
                <a:effectLst/>
                <a:latin typeface="Oswald"/>
              </a:rPr>
              <a:t>Free market economies</a:t>
            </a:r>
          </a:p>
          <a:p>
            <a:pPr algn="just"/>
            <a:r>
              <a:rPr lang="en-US" dirty="0"/>
              <a:t>A free market economy is a type of economy that promotes the production and sale of goods and services, with little to no control or involvement from any central government agency. This economic system is primarily based on supply and demand. </a:t>
            </a:r>
          </a:p>
          <a:p>
            <a:pPr algn="just"/>
            <a:r>
              <a:rPr lang="en-US" dirty="0"/>
              <a:t>In a free-market economy, firms and households act in their own self-interest to determine how resources get allocated, what goods get produced, and who buys the goods. </a:t>
            </a:r>
          </a:p>
          <a:p>
            <a:pPr algn="just"/>
            <a:r>
              <a:rPr lang="en-US" b="0" i="0" dirty="0">
                <a:effectLst/>
                <a:latin typeface="Poppins"/>
              </a:rPr>
              <a:t>laissez-faire economics (a term often used synonymously with the idea of the free market).</a:t>
            </a:r>
            <a:endParaRPr lang="en-US" dirty="0"/>
          </a:p>
          <a:p>
            <a:pPr algn="just"/>
            <a:r>
              <a:rPr lang="en-US" b="0" i="0" dirty="0">
                <a:effectLst/>
                <a:latin typeface="SourceSansPro"/>
              </a:rPr>
              <a:t>A purely </a:t>
            </a:r>
            <a:r>
              <a:rPr lang="en-US" b="0" i="0" dirty="0">
                <a:solidFill>
                  <a:schemeClr val="bg2">
                    <a:lumMod val="50000"/>
                  </a:schemeClr>
                </a:solidFill>
                <a:effectLst/>
                <a:latin typeface="Times New Roman" pitchFamily="18" charset="0"/>
                <a:cs typeface="Times New Roman" pitchFamily="18" charset="0"/>
                <a:hlinkClick r:id="rId2"/>
              </a:rPr>
              <a:t>capitalist economy</a:t>
            </a:r>
            <a:r>
              <a:rPr lang="en-US" b="0" i="0" dirty="0">
                <a:solidFill>
                  <a:schemeClr val="bg2">
                    <a:lumMod val="50000"/>
                  </a:schemeClr>
                </a:solidFill>
                <a:effectLst/>
                <a:latin typeface="Times New Roman" pitchFamily="18" charset="0"/>
                <a:cs typeface="Times New Roman" pitchFamily="18" charset="0"/>
              </a:rPr>
              <a:t> </a:t>
            </a:r>
            <a:r>
              <a:rPr lang="en-US" b="0" i="0" dirty="0">
                <a:effectLst/>
                <a:latin typeface="SourceSansPro"/>
              </a:rPr>
              <a:t>is a free market economy; the profit motive drives all commerce and forces businesses to operate as efficiently as possible to avoid losing </a:t>
            </a:r>
            <a:r>
              <a:rPr lang="en-US" b="0" i="0" u="sng" dirty="0">
                <a:solidFill>
                  <a:schemeClr val="bg2"/>
                </a:solidFill>
                <a:effectLst/>
                <a:latin typeface="SourceSansPro"/>
                <a:hlinkClick r:id="rId3"/>
              </a:rPr>
              <a:t>market share</a:t>
            </a:r>
            <a:r>
              <a:rPr lang="en-US" b="0" i="0" dirty="0">
                <a:effectLst/>
                <a:latin typeface="SourceSansPro"/>
              </a:rPr>
              <a:t> to competitors.</a:t>
            </a:r>
          </a:p>
          <a:p>
            <a:pPr algn="just"/>
            <a:endParaRPr lang="en-US" dirty="0"/>
          </a:p>
          <a:p>
            <a:pPr algn="just"/>
            <a:endParaRPr lang="en-US" dirty="0"/>
          </a:p>
        </p:txBody>
      </p:sp>
    </p:spTree>
    <p:extLst>
      <p:ext uri="{BB962C8B-B14F-4D97-AF65-F5344CB8AC3E}">
        <p14:creationId xmlns:p14="http://schemas.microsoft.com/office/powerpoint/2010/main" val="20642156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C6FF-002F-4DD0-8354-2A546B33B654}"/>
              </a:ext>
            </a:extLst>
          </p:cNvPr>
          <p:cNvSpPr>
            <a:spLocks noGrp="1"/>
          </p:cNvSpPr>
          <p:nvPr>
            <p:ph type="title"/>
          </p:nvPr>
        </p:nvSpPr>
        <p:spPr/>
        <p:txBody>
          <a:bodyPr/>
          <a:lstStyle/>
          <a:p>
            <a:r>
              <a:rPr lang="en-US" b="0" i="0" dirty="0">
                <a:solidFill>
                  <a:srgbClr val="5A6182"/>
                </a:solidFill>
                <a:effectLst/>
                <a:latin typeface="Oswald"/>
              </a:rPr>
              <a:t>Economic systems</a:t>
            </a:r>
            <a:endParaRPr lang="en-US" dirty="0"/>
          </a:p>
        </p:txBody>
      </p:sp>
      <p:sp>
        <p:nvSpPr>
          <p:cNvPr id="3" name="Content Placeholder 2">
            <a:extLst>
              <a:ext uri="{FF2B5EF4-FFF2-40B4-BE49-F238E27FC236}">
                <a16:creationId xmlns:a16="http://schemas.microsoft.com/office/drawing/2014/main" id="{F644AD01-4A30-42A3-A571-004F297AE4AC}"/>
              </a:ext>
            </a:extLst>
          </p:cNvPr>
          <p:cNvSpPr>
            <a:spLocks noGrp="1"/>
          </p:cNvSpPr>
          <p:nvPr>
            <p:ph idx="1"/>
          </p:nvPr>
        </p:nvSpPr>
        <p:spPr/>
        <p:txBody>
          <a:bodyPr>
            <a:normAutofit fontScale="85000" lnSpcReduction="20000"/>
          </a:bodyPr>
          <a:lstStyle/>
          <a:p>
            <a:pPr algn="just"/>
            <a:r>
              <a:rPr lang="en-US" dirty="0">
                <a:solidFill>
                  <a:srgbClr val="282828"/>
                </a:solidFill>
                <a:latin typeface="Georgia" panose="02040502050405020303" pitchFamily="18" charset="0"/>
              </a:rPr>
              <a:t>A</a:t>
            </a:r>
            <a:r>
              <a:rPr lang="en-US" b="0" i="0" dirty="0">
                <a:solidFill>
                  <a:srgbClr val="282828"/>
                </a:solidFill>
                <a:effectLst/>
                <a:latin typeface="Georgia" panose="02040502050405020303" pitchFamily="18" charset="0"/>
              </a:rPr>
              <a:t> </a:t>
            </a:r>
            <a:r>
              <a:rPr lang="en-US" b="0" i="0" strike="noStrike" dirty="0">
                <a:effectLst/>
                <a:latin typeface="Georgia" panose="02040502050405020303" pitchFamily="18" charset="0"/>
                <a:hlinkClick r:id="rId2">
                  <a:extLst>
                    <a:ext uri="{A12FA001-AC4F-418D-AE19-62706E023703}">
                      <ahyp:hlinkClr xmlns:ahyp="http://schemas.microsoft.com/office/drawing/2018/hyperlinkcolor" val="tx"/>
                    </a:ext>
                  </a:extLst>
                </a:hlinkClick>
              </a:rPr>
              <a:t>free market economy</a:t>
            </a:r>
            <a:r>
              <a:rPr lang="en-US" b="0" i="0" dirty="0">
                <a:effectLst/>
                <a:latin typeface="Georgia" panose="02040502050405020303" pitchFamily="18" charset="0"/>
              </a:rPr>
              <a:t> </a:t>
            </a:r>
            <a:r>
              <a:rPr lang="en-US" b="0" i="0" dirty="0">
                <a:solidFill>
                  <a:srgbClr val="282828"/>
                </a:solidFill>
                <a:effectLst/>
                <a:latin typeface="Georgia" panose="02040502050405020303" pitchFamily="18" charset="0"/>
              </a:rPr>
              <a:t>is one that is governed strictly by the forces of supply and demand with no governmental influence. In practice, however, nearly all legal market economies must contend with some form of regulation. A pure market economy has no barriers to economic exchange: you can sell anything to anyone else for any price. </a:t>
            </a:r>
          </a:p>
          <a:p>
            <a:pPr algn="just"/>
            <a:r>
              <a:rPr lang="en-US" b="0" i="0" dirty="0">
                <a:solidFill>
                  <a:srgbClr val="282828"/>
                </a:solidFill>
                <a:effectLst/>
                <a:latin typeface="Georgia" panose="02040502050405020303" pitchFamily="18" charset="0"/>
              </a:rPr>
              <a:t>In reality, this form of economics is rare. Sales taxes, tariffs on imports and exports, and legal prohibitions—such as the age restriction on liquor consumption—are all impediments to a truly free market exchange.</a:t>
            </a:r>
          </a:p>
          <a:p>
            <a:pPr algn="just"/>
            <a:r>
              <a:rPr kumimoji="0" lang="en-US" sz="2800" b="0" i="0" u="none" strike="noStrike" kern="1200" cap="none" spc="0" normalizeH="0" baseline="0" noProof="0" dirty="0">
                <a:ln>
                  <a:noFill/>
                </a:ln>
                <a:solidFill>
                  <a:srgbClr val="111111"/>
                </a:solidFill>
                <a:effectLst/>
                <a:uLnTx/>
                <a:uFillTx/>
                <a:latin typeface="SourceSansPro"/>
                <a:ea typeface="+mn-ea"/>
                <a:cs typeface="+mn-cs"/>
              </a:rPr>
              <a:t>Hong Kong's economy is considered the most free, followed by New Zealand while Algeria and was the least free in 2019, according to the 2019</a:t>
            </a:r>
            <a:r>
              <a:rPr kumimoji="0" lang="en-US" sz="2800" b="0" i="1" u="none" strike="noStrike" kern="1200" cap="none" spc="0" normalizeH="0" baseline="0" noProof="0" dirty="0">
                <a:ln>
                  <a:noFill/>
                </a:ln>
                <a:solidFill>
                  <a:srgbClr val="111111"/>
                </a:solidFill>
                <a:effectLst/>
                <a:uLnTx/>
                <a:uFillTx/>
                <a:latin typeface="SourceSansPro"/>
                <a:ea typeface="+mn-ea"/>
                <a:cs typeface="+mn-cs"/>
              </a:rPr>
              <a:t> Index of Economic Freedom.</a:t>
            </a:r>
            <a:endParaRPr kumimoji="0" lang="en-US" sz="2800" b="0" i="0" u="none" strike="noStrike" kern="1200" cap="none" spc="0" normalizeH="0" baseline="0" noProof="0" dirty="0">
              <a:ln>
                <a:noFill/>
              </a:ln>
              <a:solidFill>
                <a:srgbClr val="111111"/>
              </a:solidFill>
              <a:effectLst/>
              <a:uLnTx/>
              <a:uFillTx/>
              <a:latin typeface="SourceSansPro"/>
              <a:ea typeface="+mn-ea"/>
              <a:cs typeface="+mn-cs"/>
            </a:endParaRPr>
          </a:p>
          <a:p>
            <a:endParaRPr lang="en-US" b="0" i="0" dirty="0">
              <a:solidFill>
                <a:srgbClr val="282828"/>
              </a:solidFill>
              <a:effectLst/>
              <a:latin typeface="Georgia" panose="02040502050405020303" pitchFamily="18" charset="0"/>
            </a:endParaRPr>
          </a:p>
          <a:p>
            <a:endParaRPr lang="en-US" dirty="0"/>
          </a:p>
          <a:p>
            <a:endParaRPr lang="en-US" dirty="0"/>
          </a:p>
        </p:txBody>
      </p:sp>
    </p:spTree>
    <p:extLst>
      <p:ext uri="{BB962C8B-B14F-4D97-AF65-F5344CB8AC3E}">
        <p14:creationId xmlns:p14="http://schemas.microsoft.com/office/powerpoint/2010/main" val="47211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Efficiency-Avoiding Wastages</a:t>
            </a:r>
          </a:p>
        </p:txBody>
      </p:sp>
    </p:spTree>
    <p:extLst>
      <p:ext uri="{BB962C8B-B14F-4D97-AF65-F5344CB8AC3E}">
        <p14:creationId xmlns:p14="http://schemas.microsoft.com/office/powerpoint/2010/main" val="33391035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49AC1-3C69-4EC8-A536-E03180212042}"/>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5A6182"/>
                </a:solidFill>
                <a:effectLst/>
                <a:uLnTx/>
                <a:uFillTx/>
                <a:latin typeface="Oswald"/>
                <a:ea typeface="+mj-ea"/>
                <a:cs typeface="+mj-cs"/>
              </a:rPr>
              <a:t>Economic systems</a:t>
            </a:r>
            <a:endParaRPr lang="en-US" dirty="0"/>
          </a:p>
        </p:txBody>
      </p:sp>
      <p:sp>
        <p:nvSpPr>
          <p:cNvPr id="3" name="Content Placeholder 2">
            <a:extLst>
              <a:ext uri="{FF2B5EF4-FFF2-40B4-BE49-F238E27FC236}">
                <a16:creationId xmlns:a16="http://schemas.microsoft.com/office/drawing/2014/main" id="{E1FD655D-05C1-461D-8F87-719A7469349D}"/>
              </a:ext>
            </a:extLst>
          </p:cNvPr>
          <p:cNvSpPr>
            <a:spLocks noGrp="1"/>
          </p:cNvSpPr>
          <p:nvPr>
            <p:ph idx="1"/>
          </p:nvPr>
        </p:nvSpPr>
        <p:spPr/>
        <p:txBody>
          <a:bodyPr/>
          <a:lstStyle/>
          <a:p>
            <a:pPr marL="0" indent="0" algn="just">
              <a:lnSpc>
                <a:spcPct val="90000"/>
              </a:lnSpc>
              <a:spcBef>
                <a:spcPts val="1000"/>
              </a:spcBef>
              <a:buNone/>
              <a:defRPr/>
            </a:pPr>
            <a:r>
              <a:rPr lang="en-US" dirty="0">
                <a:solidFill>
                  <a:srgbClr val="5A6182"/>
                </a:solidFill>
                <a:latin typeface="Oswald"/>
              </a:rPr>
              <a:t>Free market economies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 a free market economy, resources are allocated through the interaction of free and self-directed market forces. </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This means that what to produce is determined consumers, how to produce is determined by producers, and who gets the products depends upon the purchasing power of consumers. </a:t>
            </a:r>
          </a:p>
          <a:p>
            <a:endParaRPr lang="en-US" dirty="0"/>
          </a:p>
        </p:txBody>
      </p:sp>
    </p:spTree>
    <p:extLst>
      <p:ext uri="{BB962C8B-B14F-4D97-AF65-F5344CB8AC3E}">
        <p14:creationId xmlns:p14="http://schemas.microsoft.com/office/powerpoint/2010/main" val="674735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B4E6-5556-435A-BCFC-2A2217207733}"/>
              </a:ext>
            </a:extLst>
          </p:cNvPr>
          <p:cNvSpPr>
            <a:spLocks noGrp="1"/>
          </p:cNvSpPr>
          <p:nvPr>
            <p:ph type="title"/>
          </p:nvPr>
        </p:nvSpPr>
        <p:spPr/>
        <p:txBody>
          <a:bodyPr>
            <a:normAutofit fontScale="90000"/>
          </a:bodyPr>
          <a:lstStyle/>
          <a:p>
            <a:r>
              <a:rPr lang="en-US" b="0" i="0" dirty="0">
                <a:solidFill>
                  <a:srgbClr val="5A6182"/>
                </a:solidFill>
                <a:effectLst/>
                <a:latin typeface="Oswald"/>
              </a:rPr>
              <a:t>Economic systems</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B2F801CB-5D20-4FA6-8D34-54071A692EF2}"/>
              </a:ext>
            </a:extLst>
          </p:cNvPr>
          <p:cNvSpPr>
            <a:spLocks noGrp="1"/>
          </p:cNvSpPr>
          <p:nvPr>
            <p:ph idx="1"/>
          </p:nvPr>
        </p:nvSpPr>
        <p:spPr/>
        <p:txBody>
          <a:bodyPr>
            <a:normAutofit fontScale="92500" lnSpcReduction="10000"/>
          </a:bodyPr>
          <a:lstStyle/>
          <a:p>
            <a:pPr marL="0" indent="0" algn="l">
              <a:buNone/>
            </a:pPr>
            <a:r>
              <a:rPr lang="en-US" b="0" i="0" dirty="0">
                <a:solidFill>
                  <a:srgbClr val="5A6182"/>
                </a:solidFill>
                <a:effectLst/>
                <a:latin typeface="Oswald"/>
              </a:rPr>
              <a:t>Command economies</a:t>
            </a:r>
          </a:p>
          <a:p>
            <a:pPr algn="just"/>
            <a:r>
              <a:rPr lang="en-US" b="0" i="0" dirty="0">
                <a:solidFill>
                  <a:srgbClr val="111111"/>
                </a:solidFill>
                <a:effectLst/>
                <a:latin typeface="SourceSansPro"/>
              </a:rPr>
              <a:t>A command economy is a system where the government, rather than the </a:t>
            </a:r>
            <a:r>
              <a:rPr lang="en-US" b="0" i="0" u="sng" dirty="0">
                <a:solidFill>
                  <a:srgbClr val="2C40D0"/>
                </a:solidFill>
                <a:effectLst/>
                <a:latin typeface="SourceSansPro"/>
                <a:hlinkClick r:id="rId2"/>
              </a:rPr>
              <a:t>free market</a:t>
            </a:r>
            <a:r>
              <a:rPr lang="en-US" b="0" i="0" dirty="0">
                <a:solidFill>
                  <a:srgbClr val="111111"/>
                </a:solidFill>
                <a:effectLst/>
                <a:latin typeface="SourceSansPro"/>
              </a:rPr>
              <a:t>, determines what </a:t>
            </a:r>
            <a:r>
              <a:rPr lang="en-US" b="0" i="0" u="sng" dirty="0">
                <a:solidFill>
                  <a:srgbClr val="2C40D0"/>
                </a:solidFill>
                <a:effectLst/>
                <a:latin typeface="SourceSansPro"/>
                <a:hlinkClick r:id="rId3"/>
              </a:rPr>
              <a:t>goods</a:t>
            </a:r>
            <a:r>
              <a:rPr lang="en-US" b="0" i="0" dirty="0">
                <a:solidFill>
                  <a:srgbClr val="111111"/>
                </a:solidFill>
                <a:effectLst/>
                <a:latin typeface="SourceSansPro"/>
              </a:rPr>
              <a:t> should be produced, how much should be produced, and the price at which the goods are offered for sale. It also determines investments and incomes.</a:t>
            </a:r>
          </a:p>
          <a:p>
            <a:pPr algn="just"/>
            <a:r>
              <a:rPr lang="en-US" b="0" i="0" dirty="0">
                <a:solidFill>
                  <a:srgbClr val="111111"/>
                </a:solidFill>
                <a:effectLst/>
                <a:latin typeface="SourceSansPro"/>
              </a:rPr>
              <a:t>The command economy is a key feature of any </a:t>
            </a:r>
            <a:r>
              <a:rPr lang="en-US" b="0" i="0" u="sng" dirty="0">
                <a:solidFill>
                  <a:srgbClr val="2C40D0"/>
                </a:solidFill>
                <a:effectLst/>
                <a:latin typeface="SourceSansPro"/>
                <a:hlinkClick r:id="rId4"/>
              </a:rPr>
              <a:t>communist</a:t>
            </a:r>
            <a:r>
              <a:rPr lang="en-US" b="0" i="0" dirty="0">
                <a:solidFill>
                  <a:srgbClr val="111111"/>
                </a:solidFill>
                <a:effectLst/>
                <a:latin typeface="SourceSansPro"/>
              </a:rPr>
              <a:t> society. Cuba, North Korea, and the former Soviet Union are examples of countries that have command economies, while China maintained a command economy for decades before transitioning to a mixed economy that features both communistic and capitalistic elements.</a:t>
            </a:r>
            <a:endParaRPr lang="en-US" b="0" i="0" dirty="0">
              <a:solidFill>
                <a:srgbClr val="5A6182"/>
              </a:solidFill>
              <a:effectLst/>
              <a:latin typeface="Oswald"/>
            </a:endParaRPr>
          </a:p>
        </p:txBody>
      </p:sp>
    </p:spTree>
    <p:extLst>
      <p:ext uri="{BB962C8B-B14F-4D97-AF65-F5344CB8AC3E}">
        <p14:creationId xmlns:p14="http://schemas.microsoft.com/office/powerpoint/2010/main" val="2969999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1F2D-FE0C-4BA4-B195-B40E4C2163E4}"/>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5A6182"/>
                </a:solidFill>
                <a:effectLst/>
                <a:uLnTx/>
                <a:uFillTx/>
                <a:latin typeface="Oswald"/>
                <a:ea typeface="+mj-ea"/>
                <a:cs typeface="+mj-cs"/>
              </a:rPr>
              <a:t>Economic systems</a:t>
            </a:r>
            <a:endParaRPr lang="en-US" dirty="0"/>
          </a:p>
        </p:txBody>
      </p:sp>
      <p:sp>
        <p:nvSpPr>
          <p:cNvPr id="3" name="Content Placeholder 2">
            <a:extLst>
              <a:ext uri="{FF2B5EF4-FFF2-40B4-BE49-F238E27FC236}">
                <a16:creationId xmlns:a16="http://schemas.microsoft.com/office/drawing/2014/main" id="{44C38BA3-C034-4E29-B01E-3A9C45C58469}"/>
              </a:ext>
            </a:extLst>
          </p:cNvPr>
          <p:cNvSpPr>
            <a:spLocks noGrp="1"/>
          </p:cNvSpPr>
          <p:nvPr>
            <p:ph idx="1"/>
          </p:nvPr>
        </p:nvSpPr>
        <p:spPr/>
        <p:txBody>
          <a:bodyPr>
            <a:normAutofit fontScale="92500" lnSpcReduction="20000"/>
          </a:bodyPr>
          <a:lstStyle/>
          <a:p>
            <a:pPr algn="just"/>
            <a:r>
              <a:rPr lang="en-US" b="0" i="0" dirty="0">
                <a:solidFill>
                  <a:srgbClr val="111111"/>
                </a:solidFill>
                <a:effectLst/>
                <a:latin typeface="SourceSansPro"/>
              </a:rPr>
              <a:t>Also known as a planned economy, </a:t>
            </a:r>
            <a:r>
              <a:rPr lang="en-US" b="0" i="0" dirty="0">
                <a:solidFill>
                  <a:schemeClr val="accent2"/>
                </a:solidFill>
                <a:effectLst/>
                <a:latin typeface="SourceSansPro"/>
              </a:rPr>
              <a:t>command economies </a:t>
            </a:r>
            <a:r>
              <a:rPr lang="en-US" b="0" i="0" dirty="0">
                <a:solidFill>
                  <a:srgbClr val="111111"/>
                </a:solidFill>
                <a:effectLst/>
                <a:latin typeface="SourceSansPro"/>
              </a:rPr>
              <a:t>have as their central tenet that government central planners own or control the means of production within a society. Private ownership or land, labor, and capital is either nonexistent or sharply limited to use in support of the central economic plan. </a:t>
            </a:r>
          </a:p>
          <a:p>
            <a:pPr algn="just"/>
            <a:r>
              <a:rPr lang="en-US" b="0" i="0" u="sng" dirty="0">
                <a:solidFill>
                  <a:srgbClr val="2C40D0"/>
                </a:solidFill>
                <a:effectLst/>
                <a:latin typeface="SourceSansPro"/>
                <a:hlinkClick r:id="rId2"/>
              </a:rPr>
              <a:t>In contrast with free market economies</a:t>
            </a:r>
            <a:r>
              <a:rPr lang="en-US" b="0" i="0" dirty="0">
                <a:solidFill>
                  <a:srgbClr val="111111"/>
                </a:solidFill>
                <a:effectLst/>
                <a:latin typeface="SourceSansPro"/>
              </a:rPr>
              <a:t>, in which the prices of goods and services are set by supply and demand, central plans in a command economy set prices, control production, and limit or entirely prohibit competition within the </a:t>
            </a:r>
            <a:r>
              <a:rPr lang="en-US" b="0" i="0" u="sng" dirty="0">
                <a:solidFill>
                  <a:srgbClr val="2C40D0"/>
                </a:solidFill>
                <a:effectLst/>
                <a:latin typeface="SourceSansPro"/>
                <a:hlinkClick r:id="rId3"/>
              </a:rPr>
              <a:t>private sector</a:t>
            </a:r>
            <a:r>
              <a:rPr lang="en-US" b="0" i="0" dirty="0">
                <a:solidFill>
                  <a:srgbClr val="111111"/>
                </a:solidFill>
                <a:effectLst/>
                <a:latin typeface="SourceSansPro"/>
              </a:rPr>
              <a:t>. In a pure command economy, there is no competition, as the central government owns or controls all business.</a:t>
            </a:r>
            <a:endParaRPr lang="en-US" dirty="0"/>
          </a:p>
          <a:p>
            <a:endParaRPr lang="en-US" dirty="0"/>
          </a:p>
        </p:txBody>
      </p:sp>
    </p:spTree>
    <p:extLst>
      <p:ext uri="{BB962C8B-B14F-4D97-AF65-F5344CB8AC3E}">
        <p14:creationId xmlns:p14="http://schemas.microsoft.com/office/powerpoint/2010/main" val="2672100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EE5C8-576B-4BF7-823C-AF4011CB08BD}"/>
              </a:ext>
            </a:extLst>
          </p:cNvPr>
          <p:cNvSpPr>
            <a:spLocks noGrp="1"/>
          </p:cNvSpPr>
          <p:nvPr>
            <p:ph type="title"/>
          </p:nvPr>
        </p:nvSpPr>
        <p:spPr/>
        <p:txBody>
          <a:bodyPr>
            <a:normAutofit fontScale="90000"/>
          </a:bodyPr>
          <a:lstStyle/>
          <a:p>
            <a:r>
              <a:rPr lang="en-US" b="0" i="0" dirty="0">
                <a:solidFill>
                  <a:srgbClr val="5A6182"/>
                </a:solidFill>
                <a:effectLst/>
                <a:latin typeface="Oswald"/>
              </a:rPr>
              <a:t>Economic systems</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72091D08-01A3-47C0-AE94-9FEB929F3B41}"/>
              </a:ext>
            </a:extLst>
          </p:cNvPr>
          <p:cNvSpPr>
            <a:spLocks noGrp="1"/>
          </p:cNvSpPr>
          <p:nvPr>
            <p:ph idx="1"/>
          </p:nvPr>
        </p:nvSpPr>
        <p:spPr/>
        <p:txBody>
          <a:bodyPr>
            <a:normAutofit fontScale="85000" lnSpcReduction="10000"/>
          </a:bodyPr>
          <a:lstStyle/>
          <a:p>
            <a:pPr marL="0" indent="0" algn="l">
              <a:buNone/>
            </a:pPr>
            <a:r>
              <a:rPr lang="en-US" b="0" i="0" dirty="0">
                <a:solidFill>
                  <a:srgbClr val="5A6182"/>
                </a:solidFill>
                <a:effectLst/>
                <a:latin typeface="Oswald"/>
              </a:rPr>
              <a:t>Mixed economies</a:t>
            </a:r>
          </a:p>
          <a:p>
            <a:pPr algn="just"/>
            <a:r>
              <a:rPr lang="en-US" b="0" i="0" dirty="0">
                <a:solidFill>
                  <a:srgbClr val="000000"/>
                </a:solidFill>
                <a:effectLst/>
                <a:latin typeface="Roboto"/>
              </a:rPr>
              <a:t>There is a third type of economy involving a combination of market forces and central planning, called mixed economies.</a:t>
            </a:r>
          </a:p>
          <a:p>
            <a:pPr algn="just"/>
            <a:r>
              <a:rPr lang="en-US" b="0" i="0" dirty="0">
                <a:solidFill>
                  <a:srgbClr val="000000"/>
                </a:solidFill>
                <a:effectLst/>
                <a:latin typeface="Roboto"/>
              </a:rPr>
              <a:t>Mixed economies may have a distinct private sector, where resources are allocated primarily by market forces. Mixed economies may also have a distinct </a:t>
            </a:r>
            <a:r>
              <a:rPr lang="en-US" b="1" i="0" u="none" strike="noStrike" dirty="0">
                <a:solidFill>
                  <a:srgbClr val="5B77A3"/>
                </a:solidFill>
                <a:effectLst/>
                <a:latin typeface="Roboto"/>
                <a:hlinkClick r:id="rId2"/>
              </a:rPr>
              <a:t>public sector</a:t>
            </a:r>
            <a:r>
              <a:rPr lang="en-US" b="0" i="0" dirty="0">
                <a:solidFill>
                  <a:srgbClr val="000000"/>
                </a:solidFill>
                <a:effectLst/>
                <a:latin typeface="Roboto"/>
              </a:rPr>
              <a:t>, where resources are allocated mainly by government, such as </a:t>
            </a:r>
            <a:r>
              <a:rPr lang="en-US" b="0" i="0" dirty="0" err="1">
                <a:solidFill>
                  <a:srgbClr val="000000"/>
                </a:solidFill>
                <a:effectLst/>
                <a:latin typeface="Roboto"/>
              </a:rPr>
              <a:t>defence</a:t>
            </a:r>
            <a:r>
              <a:rPr lang="en-US" b="0" i="0" dirty="0">
                <a:solidFill>
                  <a:srgbClr val="000000"/>
                </a:solidFill>
                <a:effectLst/>
                <a:latin typeface="Roboto"/>
              </a:rPr>
              <a:t>, police, and fire services. </a:t>
            </a:r>
          </a:p>
          <a:p>
            <a:pPr algn="just"/>
            <a:r>
              <a:rPr lang="en-US" b="0" i="0" dirty="0">
                <a:solidFill>
                  <a:srgbClr val="111111"/>
                </a:solidFill>
                <a:effectLst/>
                <a:latin typeface="SourceSansPro"/>
              </a:rPr>
              <a:t>A mixed economic system protects private property and allows a level of economic freedom in the use of capital, but also allows for governments to interfere in economic activities in order to achieve social aims. </a:t>
            </a:r>
            <a:endParaRPr lang="en-US" dirty="0"/>
          </a:p>
        </p:txBody>
      </p:sp>
    </p:spTree>
    <p:extLst>
      <p:ext uri="{BB962C8B-B14F-4D97-AF65-F5344CB8AC3E}">
        <p14:creationId xmlns:p14="http://schemas.microsoft.com/office/powerpoint/2010/main" val="3231521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FC66E-1272-48ED-93F7-87D3A94699D0}"/>
              </a:ext>
            </a:extLst>
          </p:cNvPr>
          <p:cNvSpPr>
            <a:spLocks noGrp="1"/>
          </p:cNvSpPr>
          <p:nvPr>
            <p:ph type="title"/>
          </p:nvPr>
        </p:nvSpPr>
        <p:spPr/>
        <p:txBody>
          <a:bodyPr>
            <a:normAutofit fontScale="90000"/>
          </a:bodyPr>
          <a:lstStyle/>
          <a:p>
            <a:r>
              <a:rPr lang="en-US" b="0" i="0" dirty="0">
                <a:solidFill>
                  <a:srgbClr val="5A6182"/>
                </a:solidFill>
                <a:effectLst/>
                <a:latin typeface="Oswald"/>
              </a:rPr>
              <a:t>Economic systems</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238C4830-3D52-43E6-BC2F-9840871AFC30}"/>
              </a:ext>
            </a:extLst>
          </p:cNvPr>
          <p:cNvSpPr>
            <a:spLocks noGrp="1"/>
          </p:cNvSpPr>
          <p:nvPr>
            <p:ph idx="1"/>
          </p:nvPr>
        </p:nvSpPr>
        <p:spPr/>
        <p:txBody>
          <a:bodyPr>
            <a:normAutofit lnSpcReduction="10000"/>
          </a:bodyPr>
          <a:lstStyle/>
          <a:p>
            <a:pPr algn="just"/>
            <a:r>
              <a:rPr lang="en-US" dirty="0"/>
              <a:t>Free market economies and command economies exist more as concepts than as tangible realities; almost all of the world's economies feature elements of both systems and are classified as mixed economies. </a:t>
            </a:r>
          </a:p>
          <a:p>
            <a:pPr algn="just"/>
            <a:r>
              <a:rPr lang="en-US" dirty="0"/>
              <a:t>For example, although the United States allows companies to set prices and workers to negotiate wages, the government establishes parameters such as minimum wages that must be followed. Additionally, most countries have some type of taxation and impose import and export tariffs.</a:t>
            </a:r>
          </a:p>
        </p:txBody>
      </p:sp>
    </p:spTree>
    <p:extLst>
      <p:ext uri="{BB962C8B-B14F-4D97-AF65-F5344CB8AC3E}">
        <p14:creationId xmlns:p14="http://schemas.microsoft.com/office/powerpoint/2010/main" val="871614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42707-4F49-464F-832D-DB98B5B1FA3D}"/>
              </a:ext>
            </a:extLst>
          </p:cNvPr>
          <p:cNvSpPr>
            <a:spLocks noGrp="1"/>
          </p:cNvSpPr>
          <p:nvPr>
            <p:ph type="title"/>
          </p:nvPr>
        </p:nvSpPr>
        <p:spPr/>
        <p:txBody>
          <a:bodyPr>
            <a:normAutofit fontScale="90000"/>
          </a:bodyPr>
          <a:lstStyle/>
          <a:p>
            <a:r>
              <a:rPr lang="en-US" b="0" i="0" dirty="0">
                <a:solidFill>
                  <a:srgbClr val="5A6182"/>
                </a:solidFill>
                <a:effectLst/>
                <a:latin typeface="Oswald"/>
              </a:rPr>
              <a:t>Consumer Demand </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8ED8895E-223C-4523-9552-5CEB7DBC5555}"/>
              </a:ext>
            </a:extLst>
          </p:cNvPr>
          <p:cNvSpPr>
            <a:spLocks noGrp="1"/>
          </p:cNvSpPr>
          <p:nvPr>
            <p:ph idx="1"/>
          </p:nvPr>
        </p:nvSpPr>
        <p:spPr/>
        <p:txBody>
          <a:bodyPr>
            <a:normAutofit fontScale="92500"/>
          </a:bodyPr>
          <a:lstStyle/>
          <a:p>
            <a:pPr algn="just"/>
            <a:r>
              <a:rPr lang="en-US" b="0" i="0" dirty="0">
                <a:solidFill>
                  <a:srgbClr val="000000"/>
                </a:solidFill>
                <a:effectLst/>
                <a:latin typeface="Roboto"/>
              </a:rPr>
              <a:t>Consumer demand is defined as the ‘..</a:t>
            </a:r>
            <a:r>
              <a:rPr lang="en-US" b="0" i="1" dirty="0">
                <a:solidFill>
                  <a:srgbClr val="000000"/>
                </a:solidFill>
                <a:effectLst/>
                <a:latin typeface="Roboto"/>
              </a:rPr>
              <a:t>willingness and ability of consumers to purchase a quantity of goods and services in a given period of time, or at a given point in time</a:t>
            </a:r>
            <a:r>
              <a:rPr lang="en-US" b="0" i="0" dirty="0">
                <a:solidFill>
                  <a:srgbClr val="000000"/>
                </a:solidFill>
                <a:effectLst/>
                <a:latin typeface="Roboto"/>
              </a:rPr>
              <a:t>..’. </a:t>
            </a:r>
          </a:p>
          <a:p>
            <a:pPr algn="just"/>
            <a:r>
              <a:rPr lang="en-US" b="0" i="0" dirty="0">
                <a:solidFill>
                  <a:srgbClr val="000000"/>
                </a:solidFill>
                <a:effectLst/>
                <a:latin typeface="Roboto"/>
              </a:rPr>
              <a:t>Merely being willing to make a purchase does not constitute effective demand – willingness must be supported by an ability to pay. </a:t>
            </a:r>
          </a:p>
          <a:p>
            <a:pPr algn="just"/>
            <a:r>
              <a:rPr lang="en-US" b="0" i="0" dirty="0">
                <a:solidFill>
                  <a:srgbClr val="000000"/>
                </a:solidFill>
                <a:effectLst/>
                <a:latin typeface="Roboto"/>
              </a:rPr>
              <a:t>In short, desire needs purchasing power to turn it into effective demand. Purchasing power is determined by current consumer income in relation to the current price level.</a:t>
            </a:r>
          </a:p>
          <a:p>
            <a:endParaRPr lang="en-US" dirty="0"/>
          </a:p>
        </p:txBody>
      </p:sp>
    </p:spTree>
    <p:extLst>
      <p:ext uri="{BB962C8B-B14F-4D97-AF65-F5344CB8AC3E}">
        <p14:creationId xmlns:p14="http://schemas.microsoft.com/office/powerpoint/2010/main" val="1415776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F40BA-F0BA-4B99-AEF7-49A27A597A5A}"/>
              </a:ext>
            </a:extLst>
          </p:cNvPr>
          <p:cNvSpPr>
            <a:spLocks noGrp="1"/>
          </p:cNvSpPr>
          <p:nvPr>
            <p:ph type="title"/>
          </p:nvPr>
        </p:nvSpPr>
        <p:spPr/>
        <p:txBody>
          <a:bodyPr/>
          <a:lstStyle/>
          <a:p>
            <a:r>
              <a:rPr lang="en-US" b="0" i="0" dirty="0">
                <a:solidFill>
                  <a:srgbClr val="111111"/>
                </a:solidFill>
                <a:effectLst/>
                <a:latin typeface="SourceSansPro"/>
              </a:rPr>
              <a:t>law of Demand</a:t>
            </a:r>
            <a:endParaRPr lang="en-US" dirty="0"/>
          </a:p>
        </p:txBody>
      </p:sp>
      <p:sp>
        <p:nvSpPr>
          <p:cNvPr id="3" name="Content Placeholder 2">
            <a:extLst>
              <a:ext uri="{FF2B5EF4-FFF2-40B4-BE49-F238E27FC236}">
                <a16:creationId xmlns:a16="http://schemas.microsoft.com/office/drawing/2014/main" id="{8C91FD85-F197-411C-8523-93C8CB137E99}"/>
              </a:ext>
            </a:extLst>
          </p:cNvPr>
          <p:cNvSpPr>
            <a:spLocks noGrp="1"/>
          </p:cNvSpPr>
          <p:nvPr>
            <p:ph idx="1"/>
          </p:nvPr>
        </p:nvSpPr>
        <p:spPr/>
        <p:txBody>
          <a:bodyPr/>
          <a:lstStyle/>
          <a:p>
            <a:r>
              <a:rPr lang="en-US" b="0" i="0" dirty="0">
                <a:solidFill>
                  <a:srgbClr val="111111"/>
                </a:solidFill>
                <a:effectLst/>
                <a:latin typeface="SourceSansPro"/>
              </a:rPr>
              <a:t>The law of demand states that quantity purchased varies inversely with price. </a:t>
            </a:r>
          </a:p>
          <a:p>
            <a:r>
              <a:rPr lang="en-US" b="0" i="0" dirty="0">
                <a:solidFill>
                  <a:srgbClr val="111111"/>
                </a:solidFill>
                <a:effectLst/>
                <a:latin typeface="SourceSansPro"/>
              </a:rPr>
              <a:t>In other words, the higher the price, the lower the quantity demanded.</a:t>
            </a:r>
            <a:endParaRPr lang="en-US" dirty="0"/>
          </a:p>
        </p:txBody>
      </p:sp>
    </p:spTree>
    <p:extLst>
      <p:ext uri="{BB962C8B-B14F-4D97-AF65-F5344CB8AC3E}">
        <p14:creationId xmlns:p14="http://schemas.microsoft.com/office/powerpoint/2010/main" val="736680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Demand curve formula</a:t>
            </a:r>
            <a:br>
              <a:rPr lang="en-US" dirty="0"/>
            </a:br>
            <a:endParaRPr lang="en-US" dirty="0"/>
          </a:p>
        </p:txBody>
      </p:sp>
      <p:sp>
        <p:nvSpPr>
          <p:cNvPr id="3" name="Content Placeholder 2"/>
          <p:cNvSpPr>
            <a:spLocks noGrp="1"/>
          </p:cNvSpPr>
          <p:nvPr>
            <p:ph idx="1"/>
          </p:nvPr>
        </p:nvSpPr>
        <p:spPr/>
        <p:txBody>
          <a:bodyPr/>
          <a:lstStyle/>
          <a:p>
            <a:pPr marL="0" indent="0">
              <a:buNone/>
            </a:pPr>
            <a:r>
              <a:rPr lang="en-US" sz="4000" b="1" dirty="0" err="1">
                <a:solidFill>
                  <a:srgbClr val="FF0000"/>
                </a:solidFill>
              </a:rPr>
              <a:t>Qd</a:t>
            </a:r>
            <a:r>
              <a:rPr lang="en-US" sz="4000" b="1" dirty="0">
                <a:solidFill>
                  <a:srgbClr val="FF0000"/>
                </a:solidFill>
              </a:rPr>
              <a:t> = a – b(P)</a:t>
            </a:r>
            <a:endParaRPr lang="en-US" sz="4000" dirty="0">
              <a:solidFill>
                <a:srgbClr val="FF0000"/>
              </a:solidFill>
            </a:endParaRPr>
          </a:p>
          <a:p>
            <a:r>
              <a:rPr lang="en-US" dirty="0"/>
              <a:t>Q = quantity demanded</a:t>
            </a:r>
          </a:p>
          <a:p>
            <a:r>
              <a:rPr lang="en-US" dirty="0"/>
              <a:t>a = all factors affecting QD other than price (e.g. income, fashion)</a:t>
            </a:r>
          </a:p>
          <a:p>
            <a:r>
              <a:rPr lang="en-US" dirty="0"/>
              <a:t>b = slope of the demand curve</a:t>
            </a:r>
          </a:p>
          <a:p>
            <a:r>
              <a:rPr lang="en-US" dirty="0"/>
              <a:t>P = Price of the good.</a:t>
            </a:r>
          </a:p>
        </p:txBody>
      </p:sp>
    </p:spTree>
    <p:extLst>
      <p:ext uri="{BB962C8B-B14F-4D97-AF65-F5344CB8AC3E}">
        <p14:creationId xmlns:p14="http://schemas.microsoft.com/office/powerpoint/2010/main" val="531290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Schedule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67379196"/>
              </p:ext>
            </p:extLst>
          </p:nvPr>
        </p:nvGraphicFramePr>
        <p:xfrm>
          <a:off x="1084217" y="1585890"/>
          <a:ext cx="5185955" cy="4419600"/>
        </p:xfrm>
        <a:graphic>
          <a:graphicData uri="http://schemas.openxmlformats.org/drawingml/2006/table">
            <a:tbl>
              <a:tblPr/>
              <a:tblGrid>
                <a:gridCol w="2821577">
                  <a:extLst>
                    <a:ext uri="{9D8B030D-6E8A-4147-A177-3AD203B41FA5}">
                      <a16:colId xmlns:a16="http://schemas.microsoft.com/office/drawing/2014/main" val="20000"/>
                    </a:ext>
                  </a:extLst>
                </a:gridCol>
                <a:gridCol w="2364378">
                  <a:extLst>
                    <a:ext uri="{9D8B030D-6E8A-4147-A177-3AD203B41FA5}">
                      <a16:colId xmlns:a16="http://schemas.microsoft.com/office/drawing/2014/main" val="20001"/>
                    </a:ext>
                  </a:extLst>
                </a:gridCol>
              </a:tblGrid>
              <a:tr h="190500">
                <a:tc>
                  <a:txBody>
                    <a:bodyPr/>
                    <a:lstStyle/>
                    <a:p>
                      <a:pPr algn="l"/>
                      <a:r>
                        <a:rPr lang="en-US" sz="2800" b="0" dirty="0">
                          <a:effectLst/>
                        </a:rPr>
                        <a:t>Quantity</a:t>
                      </a:r>
                    </a:p>
                  </a:txBody>
                  <a:tcPr marL="76200" marR="76200" marT="76200" marB="76200" anchor="ctr">
                    <a:lnL w="12700" cap="flat" cmpd="sng" algn="ctr">
                      <a:solidFill>
                        <a:srgbClr val="80CD39"/>
                      </a:solidFill>
                      <a:prstDash val="solid"/>
                      <a:round/>
                      <a:headEnd type="none" w="med" len="med"/>
                      <a:tailEnd type="none" w="med" len="med"/>
                    </a:lnL>
                    <a:lnR w="12700" cap="flat" cmpd="sng" algn="ctr">
                      <a:solidFill>
                        <a:srgbClr val="00C939"/>
                      </a:solidFill>
                      <a:prstDash val="solid"/>
                      <a:round/>
                      <a:headEnd type="none" w="med" len="med"/>
                      <a:tailEnd type="none" w="med" len="med"/>
                    </a:lnR>
                    <a:lnT w="12700" cap="flat" cmpd="sng" algn="ctr">
                      <a:solidFill>
                        <a:srgbClr val="80CD39"/>
                      </a:solidFill>
                      <a:prstDash val="solid"/>
                      <a:round/>
                      <a:headEnd type="none" w="med" len="med"/>
                      <a:tailEnd type="none" w="med" len="med"/>
                    </a:lnT>
                    <a:lnB w="12700" cap="flat" cmpd="sng" algn="ctr">
                      <a:solidFill>
                        <a:srgbClr val="00823A"/>
                      </a:solidFill>
                      <a:prstDash val="solid"/>
                      <a:round/>
                      <a:headEnd type="none" w="med" len="med"/>
                      <a:tailEnd type="none" w="med" len="med"/>
                    </a:lnB>
                    <a:solidFill>
                      <a:srgbClr val="FFFFFF"/>
                    </a:solidFill>
                  </a:tcPr>
                </a:tc>
                <a:tc>
                  <a:txBody>
                    <a:bodyPr/>
                    <a:lstStyle/>
                    <a:p>
                      <a:pPr algn="l"/>
                      <a:r>
                        <a:rPr lang="en-US" sz="2800" b="0" dirty="0">
                          <a:effectLst/>
                        </a:rPr>
                        <a:t>Price</a:t>
                      </a:r>
                    </a:p>
                  </a:txBody>
                  <a:tcPr marL="76200" marR="76200" marT="76200" marB="76200" anchor="ctr">
                    <a:lnL w="12700" cap="flat" cmpd="sng" algn="ctr">
                      <a:solidFill>
                        <a:srgbClr val="00C939"/>
                      </a:solidFill>
                      <a:prstDash val="solid"/>
                      <a:round/>
                      <a:headEnd type="none" w="med" len="med"/>
                      <a:tailEnd type="none" w="med" len="med"/>
                    </a:lnL>
                    <a:lnR w="9525" cap="flat" cmpd="sng" algn="ctr">
                      <a:solidFill>
                        <a:srgbClr val="00C939"/>
                      </a:solidFill>
                      <a:prstDash val="solid"/>
                      <a:round/>
                      <a:headEnd type="none" w="med" len="med"/>
                      <a:tailEnd type="none" w="med" len="med"/>
                    </a:lnR>
                    <a:lnT w="12700" cap="flat" cmpd="sng" algn="ctr">
                      <a:solidFill>
                        <a:srgbClr val="00C939"/>
                      </a:solidFill>
                      <a:prstDash val="solid"/>
                      <a:round/>
                      <a:headEnd type="none" w="med" len="med"/>
                      <a:tailEnd type="none" w="med" len="med"/>
                    </a:lnT>
                    <a:lnB w="12700" cap="flat" cmpd="sng" algn="ctr">
                      <a:solidFill>
                        <a:srgbClr val="00833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90500">
                <a:tc>
                  <a:txBody>
                    <a:bodyPr/>
                    <a:lstStyle/>
                    <a:p>
                      <a:pPr algn="l"/>
                      <a:r>
                        <a:rPr lang="en-US" b="0" dirty="0">
                          <a:effectLst/>
                        </a:rPr>
                        <a:t>40</a:t>
                      </a:r>
                    </a:p>
                  </a:txBody>
                  <a:tcPr marL="76200" marR="76200" marT="76200" marB="76200" anchor="ctr">
                    <a:lnL w="12700" cap="flat" cmpd="sng" algn="ctr">
                      <a:solidFill>
                        <a:srgbClr val="00823A"/>
                      </a:solidFill>
                      <a:prstDash val="solid"/>
                      <a:round/>
                      <a:headEnd type="none" w="med" len="med"/>
                      <a:tailEnd type="none" w="med" len="med"/>
                    </a:lnL>
                    <a:lnR w="12700" cap="flat" cmpd="sng" algn="ctr">
                      <a:solidFill>
                        <a:srgbClr val="00833A"/>
                      </a:solidFill>
                      <a:prstDash val="solid"/>
                      <a:round/>
                      <a:headEnd type="none" w="med" len="med"/>
                      <a:tailEnd type="none" w="med" len="med"/>
                    </a:lnR>
                    <a:lnT w="12700" cap="flat" cmpd="sng" algn="ctr">
                      <a:solidFill>
                        <a:srgbClr val="00823A"/>
                      </a:solidFill>
                      <a:prstDash val="solid"/>
                      <a:round/>
                      <a:headEnd type="none" w="med" len="med"/>
                      <a:tailEnd type="none" w="med" len="med"/>
                    </a:lnT>
                    <a:lnB w="12700" cap="flat" cmpd="sng" algn="ctr">
                      <a:solidFill>
                        <a:srgbClr val="A80641"/>
                      </a:solidFill>
                      <a:prstDash val="solid"/>
                      <a:round/>
                      <a:headEnd type="none" w="med" len="med"/>
                      <a:tailEnd type="none" w="med" len="med"/>
                    </a:lnB>
                    <a:solidFill>
                      <a:srgbClr val="FFFFFF"/>
                    </a:solidFill>
                  </a:tcPr>
                </a:tc>
                <a:tc>
                  <a:txBody>
                    <a:bodyPr/>
                    <a:lstStyle/>
                    <a:p>
                      <a:pPr algn="l"/>
                      <a:r>
                        <a:rPr lang="en-US" b="0" dirty="0">
                          <a:effectLst/>
                        </a:rPr>
                        <a:t>0</a:t>
                      </a:r>
                    </a:p>
                  </a:txBody>
                  <a:tcPr marL="76200" marR="76200" marT="76200" marB="76200" anchor="ctr">
                    <a:lnL w="12700" cap="flat" cmpd="sng" algn="ctr">
                      <a:solidFill>
                        <a:srgbClr val="00833A"/>
                      </a:solidFill>
                      <a:prstDash val="solid"/>
                      <a:round/>
                      <a:headEnd type="none" w="med" len="med"/>
                      <a:tailEnd type="none" w="med" len="med"/>
                    </a:lnL>
                    <a:lnR w="9525" cap="flat" cmpd="sng" algn="ctr">
                      <a:solidFill>
                        <a:srgbClr val="00833A"/>
                      </a:solidFill>
                      <a:prstDash val="solid"/>
                      <a:round/>
                      <a:headEnd type="none" w="med" len="med"/>
                      <a:tailEnd type="none" w="med" len="med"/>
                    </a:lnR>
                    <a:lnT w="12700" cap="flat" cmpd="sng" algn="ctr">
                      <a:solidFill>
                        <a:srgbClr val="00833A"/>
                      </a:solidFill>
                      <a:prstDash val="solid"/>
                      <a:round/>
                      <a:headEnd type="none" w="med" len="med"/>
                      <a:tailEnd type="none" w="med" len="med"/>
                    </a:lnT>
                    <a:lnB w="12700" cap="flat" cmpd="sng" algn="ctr">
                      <a:solidFill>
                        <a:srgbClr val="500D4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0500">
                <a:tc>
                  <a:txBody>
                    <a:bodyPr/>
                    <a:lstStyle/>
                    <a:p>
                      <a:pPr algn="l"/>
                      <a:r>
                        <a:rPr lang="en-US" b="0">
                          <a:effectLst/>
                        </a:rPr>
                        <a:t>38</a:t>
                      </a:r>
                    </a:p>
                  </a:txBody>
                  <a:tcPr marL="76200" marR="76200" marT="76200" marB="76200" anchor="ctr">
                    <a:lnL w="12700" cap="flat" cmpd="sng" algn="ctr">
                      <a:solidFill>
                        <a:srgbClr val="A80641"/>
                      </a:solidFill>
                      <a:prstDash val="solid"/>
                      <a:round/>
                      <a:headEnd type="none" w="med" len="med"/>
                      <a:tailEnd type="none" w="med" len="med"/>
                    </a:lnL>
                    <a:lnR w="12700" cap="flat" cmpd="sng" algn="ctr">
                      <a:solidFill>
                        <a:srgbClr val="500D41"/>
                      </a:solidFill>
                      <a:prstDash val="solid"/>
                      <a:round/>
                      <a:headEnd type="none" w="med" len="med"/>
                      <a:tailEnd type="none" w="med" len="med"/>
                    </a:lnR>
                    <a:lnT w="12700" cap="flat" cmpd="sng" algn="ctr">
                      <a:solidFill>
                        <a:srgbClr val="A80641"/>
                      </a:solidFill>
                      <a:prstDash val="solid"/>
                      <a:round/>
                      <a:headEnd type="none" w="med" len="med"/>
                      <a:tailEnd type="none" w="med" len="med"/>
                    </a:lnT>
                    <a:lnB w="12700" cap="flat" cmpd="sng" algn="ctr">
                      <a:solidFill>
                        <a:srgbClr val="D02844"/>
                      </a:solidFill>
                      <a:prstDash val="solid"/>
                      <a:round/>
                      <a:headEnd type="none" w="med" len="med"/>
                      <a:tailEnd type="none" w="med" len="med"/>
                    </a:lnB>
                    <a:solidFill>
                      <a:srgbClr val="FFFFFF"/>
                    </a:solidFill>
                  </a:tcPr>
                </a:tc>
                <a:tc>
                  <a:txBody>
                    <a:bodyPr/>
                    <a:lstStyle/>
                    <a:p>
                      <a:pPr algn="l"/>
                      <a:r>
                        <a:rPr lang="en-US" b="0">
                          <a:effectLst/>
                        </a:rPr>
                        <a:t>1</a:t>
                      </a:r>
                    </a:p>
                  </a:txBody>
                  <a:tcPr marL="76200" marR="76200" marT="76200" marB="76200" anchor="ctr">
                    <a:lnL w="12700" cap="flat" cmpd="sng" algn="ctr">
                      <a:solidFill>
                        <a:srgbClr val="500D41"/>
                      </a:solidFill>
                      <a:prstDash val="solid"/>
                      <a:round/>
                      <a:headEnd type="none" w="med" len="med"/>
                      <a:tailEnd type="none" w="med" len="med"/>
                    </a:lnL>
                    <a:lnR w="9525" cap="flat" cmpd="sng" algn="ctr">
                      <a:solidFill>
                        <a:srgbClr val="500D41"/>
                      </a:solidFill>
                      <a:prstDash val="solid"/>
                      <a:round/>
                      <a:headEnd type="none" w="med" len="med"/>
                      <a:tailEnd type="none" w="med" len="med"/>
                    </a:lnR>
                    <a:lnT w="12700" cap="flat" cmpd="sng" algn="ctr">
                      <a:solidFill>
                        <a:srgbClr val="500D41"/>
                      </a:solidFill>
                      <a:prstDash val="solid"/>
                      <a:round/>
                      <a:headEnd type="none" w="med" len="med"/>
                      <a:tailEnd type="none" w="med" len="med"/>
                    </a:lnT>
                    <a:lnB w="12700" cap="flat" cmpd="sng" algn="ctr">
                      <a:solidFill>
                        <a:srgbClr val="28294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90500">
                <a:tc>
                  <a:txBody>
                    <a:bodyPr/>
                    <a:lstStyle/>
                    <a:p>
                      <a:pPr algn="l"/>
                      <a:r>
                        <a:rPr lang="en-US" b="0">
                          <a:effectLst/>
                        </a:rPr>
                        <a:t>36</a:t>
                      </a:r>
                    </a:p>
                  </a:txBody>
                  <a:tcPr marL="76200" marR="76200" marT="76200" marB="76200" anchor="ctr">
                    <a:lnL w="12700" cap="flat" cmpd="sng" algn="ctr">
                      <a:solidFill>
                        <a:srgbClr val="D02844"/>
                      </a:solidFill>
                      <a:prstDash val="solid"/>
                      <a:round/>
                      <a:headEnd type="none" w="med" len="med"/>
                      <a:tailEnd type="none" w="med" len="med"/>
                    </a:lnL>
                    <a:lnR w="12700" cap="flat" cmpd="sng" algn="ctr">
                      <a:solidFill>
                        <a:srgbClr val="282944"/>
                      </a:solidFill>
                      <a:prstDash val="solid"/>
                      <a:round/>
                      <a:headEnd type="none" w="med" len="med"/>
                      <a:tailEnd type="none" w="med" len="med"/>
                    </a:lnR>
                    <a:lnT w="12700" cap="flat" cmpd="sng" algn="ctr">
                      <a:solidFill>
                        <a:srgbClr val="D02844"/>
                      </a:solidFill>
                      <a:prstDash val="solid"/>
                      <a:round/>
                      <a:headEnd type="none" w="med" len="med"/>
                      <a:tailEnd type="none" w="med" len="med"/>
                    </a:lnT>
                    <a:lnB w="12700" cap="flat" cmpd="sng" algn="ctr">
                      <a:solidFill>
                        <a:srgbClr val="288344"/>
                      </a:solidFill>
                      <a:prstDash val="solid"/>
                      <a:round/>
                      <a:headEnd type="none" w="med" len="med"/>
                      <a:tailEnd type="none" w="med" len="med"/>
                    </a:lnB>
                    <a:solidFill>
                      <a:srgbClr val="FFFFFF"/>
                    </a:solidFill>
                  </a:tcPr>
                </a:tc>
                <a:tc>
                  <a:txBody>
                    <a:bodyPr/>
                    <a:lstStyle/>
                    <a:p>
                      <a:pPr algn="l"/>
                      <a:r>
                        <a:rPr lang="en-US" b="0">
                          <a:effectLst/>
                        </a:rPr>
                        <a:t>2</a:t>
                      </a:r>
                    </a:p>
                  </a:txBody>
                  <a:tcPr marL="76200" marR="76200" marT="76200" marB="76200" anchor="ctr">
                    <a:lnL w="12700" cap="flat" cmpd="sng" algn="ctr">
                      <a:solidFill>
                        <a:srgbClr val="282944"/>
                      </a:solidFill>
                      <a:prstDash val="solid"/>
                      <a:round/>
                      <a:headEnd type="none" w="med" len="med"/>
                      <a:tailEnd type="none" w="med" len="med"/>
                    </a:lnL>
                    <a:lnR w="9525" cap="flat" cmpd="sng" algn="ctr">
                      <a:solidFill>
                        <a:srgbClr val="282944"/>
                      </a:solidFill>
                      <a:prstDash val="solid"/>
                      <a:round/>
                      <a:headEnd type="none" w="med" len="med"/>
                      <a:tailEnd type="none" w="med" len="med"/>
                    </a:lnR>
                    <a:lnT w="12700" cap="flat" cmpd="sng" algn="ctr">
                      <a:solidFill>
                        <a:srgbClr val="282944"/>
                      </a:solidFill>
                      <a:prstDash val="solid"/>
                      <a:round/>
                      <a:headEnd type="none" w="med" len="med"/>
                      <a:tailEnd type="none" w="med" len="med"/>
                    </a:lnT>
                    <a:lnB w="12700" cap="flat" cmpd="sng" algn="ctr">
                      <a:solidFill>
                        <a:srgbClr val="A8834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0500">
                <a:tc>
                  <a:txBody>
                    <a:bodyPr/>
                    <a:lstStyle/>
                    <a:p>
                      <a:pPr algn="l"/>
                      <a:r>
                        <a:rPr lang="en-US" b="0">
                          <a:effectLst/>
                        </a:rPr>
                        <a:t>34</a:t>
                      </a:r>
                    </a:p>
                  </a:txBody>
                  <a:tcPr marL="76200" marR="76200" marT="76200" marB="76200" anchor="ctr">
                    <a:lnL w="12700" cap="flat" cmpd="sng" algn="ctr">
                      <a:solidFill>
                        <a:srgbClr val="288344"/>
                      </a:solidFill>
                      <a:prstDash val="solid"/>
                      <a:round/>
                      <a:headEnd type="none" w="med" len="med"/>
                      <a:tailEnd type="none" w="med" len="med"/>
                    </a:lnL>
                    <a:lnR w="12700" cap="flat" cmpd="sng" algn="ctr">
                      <a:solidFill>
                        <a:srgbClr val="A88344"/>
                      </a:solidFill>
                      <a:prstDash val="solid"/>
                      <a:round/>
                      <a:headEnd type="none" w="med" len="med"/>
                      <a:tailEnd type="none" w="med" len="med"/>
                    </a:lnR>
                    <a:lnT w="12700" cap="flat" cmpd="sng" algn="ctr">
                      <a:solidFill>
                        <a:srgbClr val="288344"/>
                      </a:solidFill>
                      <a:prstDash val="solid"/>
                      <a:round/>
                      <a:headEnd type="none" w="med" len="med"/>
                      <a:tailEnd type="none" w="med" len="med"/>
                    </a:lnT>
                    <a:lnB w="12700" cap="flat" cmpd="sng" algn="ctr">
                      <a:solidFill>
                        <a:srgbClr val="288844"/>
                      </a:solidFill>
                      <a:prstDash val="solid"/>
                      <a:round/>
                      <a:headEnd type="none" w="med" len="med"/>
                      <a:tailEnd type="none" w="med" len="med"/>
                    </a:lnB>
                    <a:solidFill>
                      <a:srgbClr val="FFFFFF"/>
                    </a:solidFill>
                  </a:tcPr>
                </a:tc>
                <a:tc>
                  <a:txBody>
                    <a:bodyPr/>
                    <a:lstStyle/>
                    <a:p>
                      <a:pPr algn="l"/>
                      <a:r>
                        <a:rPr lang="en-US" b="0" dirty="0">
                          <a:effectLst/>
                        </a:rPr>
                        <a:t>3</a:t>
                      </a:r>
                    </a:p>
                  </a:txBody>
                  <a:tcPr marL="76200" marR="76200" marT="76200" marB="76200" anchor="ctr">
                    <a:lnL w="12700" cap="flat" cmpd="sng" algn="ctr">
                      <a:solidFill>
                        <a:srgbClr val="A88344"/>
                      </a:solidFill>
                      <a:prstDash val="solid"/>
                      <a:round/>
                      <a:headEnd type="none" w="med" len="med"/>
                      <a:tailEnd type="none" w="med" len="med"/>
                    </a:lnL>
                    <a:lnR w="9525" cap="flat" cmpd="sng" algn="ctr">
                      <a:solidFill>
                        <a:srgbClr val="A88344"/>
                      </a:solidFill>
                      <a:prstDash val="solid"/>
                      <a:round/>
                      <a:headEnd type="none" w="med" len="med"/>
                      <a:tailEnd type="none" w="med" len="med"/>
                    </a:lnR>
                    <a:lnT w="12700" cap="flat" cmpd="sng" algn="ctr">
                      <a:solidFill>
                        <a:srgbClr val="A88344"/>
                      </a:solidFill>
                      <a:prstDash val="solid"/>
                      <a:round/>
                      <a:headEnd type="none" w="med" len="med"/>
                      <a:tailEnd type="none" w="med" len="med"/>
                    </a:lnT>
                    <a:lnB w="12700" cap="flat" cmpd="sng" algn="ctr">
                      <a:solidFill>
                        <a:srgbClr val="80884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0500">
                <a:tc>
                  <a:txBody>
                    <a:bodyPr/>
                    <a:lstStyle/>
                    <a:p>
                      <a:pPr algn="l"/>
                      <a:r>
                        <a:rPr lang="en-US" b="0">
                          <a:effectLst/>
                        </a:rPr>
                        <a:t>32</a:t>
                      </a:r>
                    </a:p>
                  </a:txBody>
                  <a:tcPr marL="76200" marR="76200" marT="76200" marB="76200" anchor="ctr">
                    <a:lnL w="12700" cap="flat" cmpd="sng" algn="ctr">
                      <a:solidFill>
                        <a:srgbClr val="288844"/>
                      </a:solidFill>
                      <a:prstDash val="solid"/>
                      <a:round/>
                      <a:headEnd type="none" w="med" len="med"/>
                      <a:tailEnd type="none" w="med" len="med"/>
                    </a:lnL>
                    <a:lnR w="12700" cap="flat" cmpd="sng" algn="ctr">
                      <a:solidFill>
                        <a:srgbClr val="808844"/>
                      </a:solidFill>
                      <a:prstDash val="solid"/>
                      <a:round/>
                      <a:headEnd type="none" w="med" len="med"/>
                      <a:tailEnd type="none" w="med" len="med"/>
                    </a:lnR>
                    <a:lnT w="12700" cap="flat" cmpd="sng" algn="ctr">
                      <a:solidFill>
                        <a:srgbClr val="288844"/>
                      </a:solidFill>
                      <a:prstDash val="solid"/>
                      <a:round/>
                      <a:headEnd type="none" w="med" len="med"/>
                      <a:tailEnd type="none" w="med" len="med"/>
                    </a:lnT>
                    <a:lnB w="12700" cap="flat" cmpd="sng" algn="ctr">
                      <a:solidFill>
                        <a:srgbClr val="A82844"/>
                      </a:solidFill>
                      <a:prstDash val="solid"/>
                      <a:round/>
                      <a:headEnd type="none" w="med" len="med"/>
                      <a:tailEnd type="none" w="med" len="med"/>
                    </a:lnB>
                    <a:solidFill>
                      <a:srgbClr val="FFFFFF"/>
                    </a:solidFill>
                  </a:tcPr>
                </a:tc>
                <a:tc>
                  <a:txBody>
                    <a:bodyPr/>
                    <a:lstStyle/>
                    <a:p>
                      <a:pPr algn="l"/>
                      <a:r>
                        <a:rPr lang="en-US" b="0">
                          <a:effectLst/>
                        </a:rPr>
                        <a:t>4</a:t>
                      </a:r>
                    </a:p>
                  </a:txBody>
                  <a:tcPr marL="76200" marR="76200" marT="76200" marB="76200" anchor="ctr">
                    <a:lnL w="12700" cap="flat" cmpd="sng" algn="ctr">
                      <a:solidFill>
                        <a:srgbClr val="808844"/>
                      </a:solidFill>
                      <a:prstDash val="solid"/>
                      <a:round/>
                      <a:headEnd type="none" w="med" len="med"/>
                      <a:tailEnd type="none" w="med" len="med"/>
                    </a:lnL>
                    <a:lnR w="9525" cap="flat" cmpd="sng" algn="ctr">
                      <a:solidFill>
                        <a:srgbClr val="808844"/>
                      </a:solidFill>
                      <a:prstDash val="solid"/>
                      <a:round/>
                      <a:headEnd type="none" w="med" len="med"/>
                      <a:tailEnd type="none" w="med" len="med"/>
                    </a:lnR>
                    <a:lnT w="12700" cap="flat" cmpd="sng" algn="ctr">
                      <a:solidFill>
                        <a:srgbClr val="808844"/>
                      </a:solidFill>
                      <a:prstDash val="solid"/>
                      <a:round/>
                      <a:headEnd type="none" w="med" len="med"/>
                      <a:tailEnd type="none" w="med" len="med"/>
                    </a:lnT>
                    <a:lnB w="12700" cap="flat" cmpd="sng" algn="ctr">
                      <a:solidFill>
                        <a:srgbClr val="D08D4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0500">
                <a:tc>
                  <a:txBody>
                    <a:bodyPr/>
                    <a:lstStyle/>
                    <a:p>
                      <a:pPr algn="l"/>
                      <a:r>
                        <a:rPr lang="en-US" b="0">
                          <a:effectLst/>
                        </a:rPr>
                        <a:t>30</a:t>
                      </a:r>
                    </a:p>
                  </a:txBody>
                  <a:tcPr marL="76200" marR="76200" marT="76200" marB="76200" anchor="ctr">
                    <a:lnL w="12700" cap="flat" cmpd="sng" algn="ctr">
                      <a:solidFill>
                        <a:srgbClr val="A82844"/>
                      </a:solidFill>
                      <a:prstDash val="solid"/>
                      <a:round/>
                      <a:headEnd type="none" w="med" len="med"/>
                      <a:tailEnd type="none" w="med" len="med"/>
                    </a:lnL>
                    <a:lnR w="12700" cap="flat" cmpd="sng" algn="ctr">
                      <a:solidFill>
                        <a:srgbClr val="D08D44"/>
                      </a:solidFill>
                      <a:prstDash val="solid"/>
                      <a:round/>
                      <a:headEnd type="none" w="med" len="med"/>
                      <a:tailEnd type="none" w="med" len="med"/>
                    </a:lnR>
                    <a:lnT w="12700" cap="flat" cmpd="sng" algn="ctr">
                      <a:solidFill>
                        <a:srgbClr val="A82844"/>
                      </a:solidFill>
                      <a:prstDash val="solid"/>
                      <a:round/>
                      <a:headEnd type="none" w="med" len="med"/>
                      <a:tailEnd type="none" w="med" len="med"/>
                    </a:lnT>
                    <a:lnB w="12700" cap="flat" cmpd="sng" algn="ctr">
                      <a:solidFill>
                        <a:srgbClr val="5013F4"/>
                      </a:solidFill>
                      <a:prstDash val="solid"/>
                      <a:round/>
                      <a:headEnd type="none" w="med" len="med"/>
                      <a:tailEnd type="none" w="med" len="med"/>
                    </a:lnB>
                    <a:solidFill>
                      <a:srgbClr val="FFFFFF"/>
                    </a:solidFill>
                  </a:tcPr>
                </a:tc>
                <a:tc>
                  <a:txBody>
                    <a:bodyPr/>
                    <a:lstStyle/>
                    <a:p>
                      <a:pPr algn="l"/>
                      <a:r>
                        <a:rPr lang="en-US" b="0">
                          <a:effectLst/>
                        </a:rPr>
                        <a:t>5</a:t>
                      </a:r>
                    </a:p>
                  </a:txBody>
                  <a:tcPr marL="76200" marR="76200" marT="76200" marB="76200" anchor="ctr">
                    <a:lnL w="12700" cap="flat" cmpd="sng" algn="ctr">
                      <a:solidFill>
                        <a:srgbClr val="D08D44"/>
                      </a:solidFill>
                      <a:prstDash val="solid"/>
                      <a:round/>
                      <a:headEnd type="none" w="med" len="med"/>
                      <a:tailEnd type="none" w="med" len="med"/>
                    </a:lnL>
                    <a:lnR w="9525" cap="flat" cmpd="sng" algn="ctr">
                      <a:solidFill>
                        <a:srgbClr val="D08D44"/>
                      </a:solidFill>
                      <a:prstDash val="solid"/>
                      <a:round/>
                      <a:headEnd type="none" w="med" len="med"/>
                      <a:tailEnd type="none" w="med" len="med"/>
                    </a:lnR>
                    <a:lnT w="12700" cap="flat" cmpd="sng" algn="ctr">
                      <a:solidFill>
                        <a:srgbClr val="D08D44"/>
                      </a:solidFill>
                      <a:prstDash val="solid"/>
                      <a:round/>
                      <a:headEnd type="none" w="med" len="med"/>
                      <a:tailEnd type="none" w="med" len="med"/>
                    </a:lnT>
                    <a:lnB w="12700" cap="flat" cmpd="sng" algn="ctr">
                      <a:solidFill>
                        <a:srgbClr val="A813F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0500">
                <a:tc>
                  <a:txBody>
                    <a:bodyPr/>
                    <a:lstStyle/>
                    <a:p>
                      <a:pPr algn="l"/>
                      <a:r>
                        <a:rPr lang="en-US" b="0">
                          <a:effectLst/>
                        </a:rPr>
                        <a:t>28</a:t>
                      </a:r>
                    </a:p>
                  </a:txBody>
                  <a:tcPr marL="76200" marR="76200" marT="76200" marB="76200" anchor="ctr">
                    <a:lnL w="12700" cap="flat" cmpd="sng" algn="ctr">
                      <a:solidFill>
                        <a:srgbClr val="5013F4"/>
                      </a:solidFill>
                      <a:prstDash val="solid"/>
                      <a:round/>
                      <a:headEnd type="none" w="med" len="med"/>
                      <a:tailEnd type="none" w="med" len="med"/>
                    </a:lnL>
                    <a:lnR w="12700" cap="flat" cmpd="sng" algn="ctr">
                      <a:solidFill>
                        <a:srgbClr val="A813F4"/>
                      </a:solidFill>
                      <a:prstDash val="solid"/>
                      <a:round/>
                      <a:headEnd type="none" w="med" len="med"/>
                      <a:tailEnd type="none" w="med" len="med"/>
                    </a:lnR>
                    <a:lnT w="12700" cap="flat" cmpd="sng" algn="ctr">
                      <a:solidFill>
                        <a:srgbClr val="5013F4"/>
                      </a:solidFill>
                      <a:prstDash val="solid"/>
                      <a:round/>
                      <a:headEnd type="none" w="med" len="med"/>
                      <a:tailEnd type="none" w="med" len="med"/>
                    </a:lnT>
                    <a:lnB w="12700" cap="flat" cmpd="sng" algn="ctr">
                      <a:solidFill>
                        <a:srgbClr val="80F4FF"/>
                      </a:solidFill>
                      <a:prstDash val="solid"/>
                      <a:round/>
                      <a:headEnd type="none" w="med" len="med"/>
                      <a:tailEnd type="none" w="med" len="med"/>
                    </a:lnB>
                    <a:solidFill>
                      <a:srgbClr val="FFFFFF"/>
                    </a:solidFill>
                  </a:tcPr>
                </a:tc>
                <a:tc>
                  <a:txBody>
                    <a:bodyPr/>
                    <a:lstStyle/>
                    <a:p>
                      <a:pPr algn="l"/>
                      <a:r>
                        <a:rPr lang="en-US" b="0">
                          <a:effectLst/>
                        </a:rPr>
                        <a:t>6</a:t>
                      </a:r>
                    </a:p>
                  </a:txBody>
                  <a:tcPr marL="76200" marR="76200" marT="76200" marB="76200" anchor="ctr">
                    <a:lnL w="12700" cap="flat" cmpd="sng" algn="ctr">
                      <a:solidFill>
                        <a:srgbClr val="A813F4"/>
                      </a:solidFill>
                      <a:prstDash val="solid"/>
                      <a:round/>
                      <a:headEnd type="none" w="med" len="med"/>
                      <a:tailEnd type="none" w="med" len="med"/>
                    </a:lnL>
                    <a:lnR w="9525" cap="flat" cmpd="sng" algn="ctr">
                      <a:solidFill>
                        <a:srgbClr val="A813F4"/>
                      </a:solidFill>
                      <a:prstDash val="solid"/>
                      <a:round/>
                      <a:headEnd type="none" w="med" len="med"/>
                      <a:tailEnd type="none" w="med" len="med"/>
                    </a:lnR>
                    <a:lnT w="12700" cap="flat" cmpd="sng" algn="ctr">
                      <a:solidFill>
                        <a:srgbClr val="A813F4"/>
                      </a:solidFill>
                      <a:prstDash val="solid"/>
                      <a:round/>
                      <a:headEnd type="none" w="med" len="med"/>
                      <a:tailEnd type="none" w="med" len="med"/>
                    </a:lnT>
                    <a:lnB w="12700" cap="flat" cmpd="sng" algn="ctr">
                      <a:solidFill>
                        <a:srgbClr val="A8F5F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0500">
                <a:tc>
                  <a:txBody>
                    <a:bodyPr/>
                    <a:lstStyle/>
                    <a:p>
                      <a:pPr algn="l"/>
                      <a:r>
                        <a:rPr lang="en-US" b="0">
                          <a:effectLst/>
                        </a:rPr>
                        <a:t>26</a:t>
                      </a:r>
                    </a:p>
                  </a:txBody>
                  <a:tcPr marL="76200" marR="76200" marT="76200" marB="76200" anchor="ctr">
                    <a:lnL w="12700" cap="flat" cmpd="sng" algn="ctr">
                      <a:solidFill>
                        <a:srgbClr val="80F4FF"/>
                      </a:solidFill>
                      <a:prstDash val="solid"/>
                      <a:round/>
                      <a:headEnd type="none" w="med" len="med"/>
                      <a:tailEnd type="none" w="med" len="med"/>
                    </a:lnL>
                    <a:lnR w="12700" cap="flat" cmpd="sng" algn="ctr">
                      <a:solidFill>
                        <a:srgbClr val="A8F5FF"/>
                      </a:solidFill>
                      <a:prstDash val="solid"/>
                      <a:round/>
                      <a:headEnd type="none" w="med" len="med"/>
                      <a:tailEnd type="none" w="med" len="med"/>
                    </a:lnR>
                    <a:lnT w="12700" cap="flat" cmpd="sng" algn="ctr">
                      <a:solidFill>
                        <a:srgbClr val="80F4FF"/>
                      </a:solidFill>
                      <a:prstDash val="solid"/>
                      <a:round/>
                      <a:headEnd type="none" w="med" len="med"/>
                      <a:tailEnd type="none" w="med" len="med"/>
                    </a:lnT>
                    <a:lnB w="12700" cap="flat" cmpd="sng" algn="ctr">
                      <a:solidFill>
                        <a:srgbClr val="D06136"/>
                      </a:solidFill>
                      <a:prstDash val="solid"/>
                      <a:round/>
                      <a:headEnd type="none" w="med" len="med"/>
                      <a:tailEnd type="none" w="med" len="med"/>
                    </a:lnB>
                    <a:solidFill>
                      <a:srgbClr val="FFFFFF"/>
                    </a:solidFill>
                  </a:tcPr>
                </a:tc>
                <a:tc>
                  <a:txBody>
                    <a:bodyPr/>
                    <a:lstStyle/>
                    <a:p>
                      <a:pPr algn="l"/>
                      <a:r>
                        <a:rPr lang="en-US" b="0">
                          <a:effectLst/>
                        </a:rPr>
                        <a:t>7</a:t>
                      </a:r>
                    </a:p>
                  </a:txBody>
                  <a:tcPr marL="76200" marR="76200" marT="76200" marB="76200" anchor="ctr">
                    <a:lnL w="12700" cap="flat" cmpd="sng" algn="ctr">
                      <a:solidFill>
                        <a:srgbClr val="A8F5FF"/>
                      </a:solidFill>
                      <a:prstDash val="solid"/>
                      <a:round/>
                      <a:headEnd type="none" w="med" len="med"/>
                      <a:tailEnd type="none" w="med" len="med"/>
                    </a:lnL>
                    <a:lnR w="9525" cap="flat" cmpd="sng" algn="ctr">
                      <a:solidFill>
                        <a:srgbClr val="A8F5FF"/>
                      </a:solidFill>
                      <a:prstDash val="solid"/>
                      <a:round/>
                      <a:headEnd type="none" w="med" len="med"/>
                      <a:tailEnd type="none" w="med" len="med"/>
                    </a:lnR>
                    <a:lnT w="12700" cap="flat" cmpd="sng" algn="ctr">
                      <a:solidFill>
                        <a:srgbClr val="A8F5FF"/>
                      </a:solidFill>
                      <a:prstDash val="solid"/>
                      <a:round/>
                      <a:headEnd type="none" w="med" len="med"/>
                      <a:tailEnd type="none" w="med" len="med"/>
                    </a:lnT>
                    <a:lnB w="12700" cap="flat" cmpd="sng" algn="ctr">
                      <a:solidFill>
                        <a:srgbClr val="50623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90500">
                <a:tc>
                  <a:txBody>
                    <a:bodyPr/>
                    <a:lstStyle/>
                    <a:p>
                      <a:pPr algn="l"/>
                      <a:r>
                        <a:rPr lang="en-US" b="0">
                          <a:effectLst/>
                        </a:rPr>
                        <a:t>0</a:t>
                      </a:r>
                    </a:p>
                  </a:txBody>
                  <a:tcPr marL="76200" marR="76200" marT="76200" marB="76200" anchor="ctr">
                    <a:lnL w="12700" cap="flat" cmpd="sng" algn="ctr">
                      <a:solidFill>
                        <a:srgbClr val="D06136"/>
                      </a:solidFill>
                      <a:prstDash val="solid"/>
                      <a:round/>
                      <a:headEnd type="none" w="med" len="med"/>
                      <a:tailEnd type="none" w="med" len="med"/>
                    </a:lnL>
                    <a:lnR w="12700" cap="flat" cmpd="sng" algn="ctr">
                      <a:solidFill>
                        <a:srgbClr val="506236"/>
                      </a:solidFill>
                      <a:prstDash val="solid"/>
                      <a:round/>
                      <a:headEnd type="none" w="med" len="med"/>
                      <a:tailEnd type="none" w="med" len="med"/>
                    </a:lnR>
                    <a:lnT w="12700" cap="flat" cmpd="sng" algn="ctr">
                      <a:solidFill>
                        <a:srgbClr val="D06136"/>
                      </a:solidFill>
                      <a:prstDash val="solid"/>
                      <a:round/>
                      <a:headEnd type="none" w="med" len="med"/>
                      <a:tailEnd type="none" w="med" len="med"/>
                    </a:lnT>
                    <a:lnB w="9525" cap="flat" cmpd="sng" algn="ctr">
                      <a:solidFill>
                        <a:srgbClr val="D06136"/>
                      </a:solidFill>
                      <a:prstDash val="solid"/>
                      <a:round/>
                      <a:headEnd type="none" w="med" len="med"/>
                      <a:tailEnd type="none" w="med" len="med"/>
                    </a:lnB>
                    <a:solidFill>
                      <a:srgbClr val="FFFFFF"/>
                    </a:solidFill>
                  </a:tcPr>
                </a:tc>
                <a:tc>
                  <a:txBody>
                    <a:bodyPr/>
                    <a:lstStyle/>
                    <a:p>
                      <a:pPr algn="l"/>
                      <a:r>
                        <a:rPr lang="en-US" b="0" dirty="0">
                          <a:effectLst/>
                        </a:rPr>
                        <a:t>20</a:t>
                      </a:r>
                    </a:p>
                  </a:txBody>
                  <a:tcPr marL="76200" marR="76200" marT="76200" marB="76200" anchor="ctr">
                    <a:lnL w="12700" cap="flat" cmpd="sng" algn="ctr">
                      <a:solidFill>
                        <a:srgbClr val="506236"/>
                      </a:solidFill>
                      <a:prstDash val="solid"/>
                      <a:round/>
                      <a:headEnd type="none" w="med" len="med"/>
                      <a:tailEnd type="none" w="med" len="med"/>
                    </a:lnL>
                    <a:lnR w="9525" cap="flat" cmpd="sng" algn="ctr">
                      <a:solidFill>
                        <a:srgbClr val="506236"/>
                      </a:solidFill>
                      <a:prstDash val="solid"/>
                      <a:round/>
                      <a:headEnd type="none" w="med" len="med"/>
                      <a:tailEnd type="none" w="med" len="med"/>
                    </a:lnR>
                    <a:lnT w="12700" cap="flat" cmpd="sng" algn="ctr">
                      <a:solidFill>
                        <a:srgbClr val="506236"/>
                      </a:solidFill>
                      <a:prstDash val="solid"/>
                      <a:round/>
                      <a:headEnd type="none" w="med" len="med"/>
                      <a:tailEnd type="none" w="med" len="med"/>
                    </a:lnT>
                    <a:lnB w="9525" cap="flat" cmpd="sng" algn="ctr">
                      <a:solidFill>
                        <a:srgbClr val="50623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34551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a:t>
            </a:r>
          </a:p>
        </p:txBody>
      </p:sp>
      <p:sp>
        <p:nvSpPr>
          <p:cNvPr id="3" name="Content Placeholder 2"/>
          <p:cNvSpPr>
            <a:spLocks noGrp="1"/>
          </p:cNvSpPr>
          <p:nvPr>
            <p:ph idx="1"/>
          </p:nvPr>
        </p:nvSpPr>
        <p:spPr/>
        <p:txBody>
          <a:bodyPr/>
          <a:lstStyle/>
          <a:p>
            <a:pPr marL="0" indent="0">
              <a:buNone/>
            </a:pPr>
            <a:endParaRPr lang="en-US" b="1" dirty="0"/>
          </a:p>
          <a:p>
            <a:endParaRPr lang="en-US" b="1"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034" y="2246811"/>
            <a:ext cx="9980023" cy="4180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53888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C13D3-0741-4892-AFD1-EC988859D2EA}"/>
              </a:ext>
            </a:extLst>
          </p:cNvPr>
          <p:cNvSpPr>
            <a:spLocks noGrp="1"/>
          </p:cNvSpPr>
          <p:nvPr>
            <p:ph type="title"/>
          </p:nvPr>
        </p:nvSpPr>
        <p:spPr/>
        <p:txBody>
          <a:bodyPr/>
          <a:lstStyle/>
          <a:p>
            <a:r>
              <a:rPr lang="en-US" b="0" i="0" dirty="0">
                <a:solidFill>
                  <a:srgbClr val="111111"/>
                </a:solidFill>
                <a:effectLst/>
                <a:latin typeface="SourceSansPro"/>
              </a:rPr>
              <a:t>law of demand</a:t>
            </a:r>
            <a:endParaRPr lang="en-US" dirty="0"/>
          </a:p>
        </p:txBody>
      </p:sp>
      <p:pic>
        <p:nvPicPr>
          <p:cNvPr id="2050" name="Picture 2" descr="DEMAND FOR COLA">
            <a:extLst>
              <a:ext uri="{FF2B5EF4-FFF2-40B4-BE49-F238E27FC236}">
                <a16:creationId xmlns:a16="http://schemas.microsoft.com/office/drawing/2014/main" id="{558E32D9-4210-4F31-992B-80A9D6E1D4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547258" y="1449976"/>
            <a:ext cx="7524206" cy="5016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1320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EE996-4E42-4467-ACC5-55C0B40E2C33}"/>
              </a:ext>
            </a:extLst>
          </p:cNvPr>
          <p:cNvSpPr>
            <a:spLocks noGrp="1"/>
          </p:cNvSpPr>
          <p:nvPr>
            <p:ph type="title"/>
          </p:nvPr>
        </p:nvSpPr>
        <p:spPr/>
        <p:txBody>
          <a:bodyPr>
            <a:normAutofit fontScale="90000"/>
          </a:bodyPr>
          <a:lstStyle/>
          <a:p>
            <a:r>
              <a:rPr lang="en-US" b="0" i="0" dirty="0">
                <a:solidFill>
                  <a:srgbClr val="2E4278"/>
                </a:solidFill>
                <a:effectLst/>
                <a:latin typeface="Oswald"/>
              </a:rPr>
              <a:t>Non-price Determinants</a:t>
            </a:r>
            <a:br>
              <a:rPr lang="en-US" b="0" i="0" dirty="0">
                <a:solidFill>
                  <a:srgbClr val="2E4278"/>
                </a:solidFill>
                <a:effectLst/>
                <a:latin typeface="Oswald"/>
              </a:rPr>
            </a:br>
            <a:endParaRPr lang="en-US" dirty="0"/>
          </a:p>
        </p:txBody>
      </p:sp>
      <p:sp>
        <p:nvSpPr>
          <p:cNvPr id="3" name="Content Placeholder 2">
            <a:extLst>
              <a:ext uri="{FF2B5EF4-FFF2-40B4-BE49-F238E27FC236}">
                <a16:creationId xmlns:a16="http://schemas.microsoft.com/office/drawing/2014/main" id="{2CA7C4B9-90BD-4159-901D-4EA0F156995F}"/>
              </a:ext>
            </a:extLst>
          </p:cNvPr>
          <p:cNvSpPr>
            <a:spLocks noGrp="1"/>
          </p:cNvSpPr>
          <p:nvPr>
            <p:ph idx="1"/>
          </p:nvPr>
        </p:nvSpPr>
        <p:spPr/>
        <p:txBody>
          <a:bodyPr>
            <a:normAutofit fontScale="77500" lnSpcReduction="20000"/>
          </a:bodyPr>
          <a:lstStyle/>
          <a:p>
            <a:pPr marL="0" indent="0" algn="just">
              <a:buNone/>
            </a:pPr>
            <a:r>
              <a:rPr lang="en-US" b="0" i="0" dirty="0">
                <a:solidFill>
                  <a:srgbClr val="5A6182"/>
                </a:solidFill>
                <a:effectLst/>
                <a:latin typeface="Oswald"/>
              </a:rPr>
              <a:t>The needs of the consumer</a:t>
            </a:r>
          </a:p>
          <a:p>
            <a:pPr algn="just"/>
            <a:r>
              <a:rPr lang="en-US" b="0" i="0" dirty="0">
                <a:solidFill>
                  <a:srgbClr val="000000"/>
                </a:solidFill>
                <a:effectLst/>
                <a:latin typeface="Roboto"/>
              </a:rPr>
              <a:t>If a good or service is a necessity then, assuming the consumer has sufficient income, it is likely to be demanded irrespective of its price. The greater the need for a product, the greater the demand. </a:t>
            </a:r>
          </a:p>
          <a:p>
            <a:pPr marL="0" indent="0" algn="just">
              <a:buNone/>
            </a:pPr>
            <a:r>
              <a:rPr lang="en-US" b="0" i="0" dirty="0">
                <a:solidFill>
                  <a:srgbClr val="5A6182"/>
                </a:solidFill>
                <a:effectLst/>
                <a:latin typeface="Oswald"/>
              </a:rPr>
              <a:t>Consumer income (Y)</a:t>
            </a:r>
          </a:p>
          <a:p>
            <a:pPr algn="just"/>
            <a:r>
              <a:rPr lang="en-US" b="0" i="0" dirty="0">
                <a:solidFill>
                  <a:srgbClr val="000000"/>
                </a:solidFill>
                <a:effectLst/>
                <a:latin typeface="Roboto"/>
              </a:rPr>
              <a:t>Generally, for normal goods, the higher the income of a consumer the greater the quantity demanded. However, with inferior goods, an increase in income will lead to a reduction in demand. </a:t>
            </a:r>
          </a:p>
          <a:p>
            <a:pPr algn="just"/>
            <a:r>
              <a:rPr lang="en-US" b="0" i="0" dirty="0">
                <a:solidFill>
                  <a:srgbClr val="000000"/>
                </a:solidFill>
                <a:effectLst/>
                <a:latin typeface="Roboto"/>
              </a:rPr>
              <a:t>For example, individuals on very low incomes are less likely to demand new motor cars, and more likely to take the bus. However, if they obtain higher income, demand for public transport may fall, while the demand for private transport is likely to rise. In this case, private transport is a normal good and public transport an inferior one.</a:t>
            </a:r>
          </a:p>
          <a:p>
            <a:endParaRPr lang="en-US" dirty="0"/>
          </a:p>
        </p:txBody>
      </p:sp>
    </p:spTree>
    <p:extLst>
      <p:ext uri="{BB962C8B-B14F-4D97-AF65-F5344CB8AC3E}">
        <p14:creationId xmlns:p14="http://schemas.microsoft.com/office/powerpoint/2010/main" val="23337003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D97DD-80CB-48B7-856B-15545F51B097}"/>
              </a:ext>
            </a:extLst>
          </p:cNvPr>
          <p:cNvSpPr>
            <a:spLocks noGrp="1"/>
          </p:cNvSpPr>
          <p:nvPr>
            <p:ph type="title"/>
          </p:nvPr>
        </p:nvSpPr>
        <p:spPr/>
        <p:txBody>
          <a:bodyPr>
            <a:normAutofit fontScale="90000"/>
          </a:bodyPr>
          <a:lstStyle/>
          <a:p>
            <a:r>
              <a:rPr lang="en-US" b="0" i="0" dirty="0">
                <a:solidFill>
                  <a:srgbClr val="2E4278"/>
                </a:solidFill>
                <a:effectLst/>
                <a:latin typeface="Oswald"/>
              </a:rPr>
              <a:t>Non-price determinants</a:t>
            </a:r>
            <a:br>
              <a:rPr lang="en-US" b="0" i="0" dirty="0">
                <a:solidFill>
                  <a:srgbClr val="2E4278"/>
                </a:solidFill>
                <a:effectLst/>
                <a:latin typeface="Oswald"/>
              </a:rPr>
            </a:br>
            <a:endParaRPr lang="en-US" dirty="0"/>
          </a:p>
        </p:txBody>
      </p:sp>
      <p:sp>
        <p:nvSpPr>
          <p:cNvPr id="3" name="Content Placeholder 2">
            <a:extLst>
              <a:ext uri="{FF2B5EF4-FFF2-40B4-BE49-F238E27FC236}">
                <a16:creationId xmlns:a16="http://schemas.microsoft.com/office/drawing/2014/main" id="{D0E91C67-3C67-45B4-A20B-F2809549FDCB}"/>
              </a:ext>
            </a:extLst>
          </p:cNvPr>
          <p:cNvSpPr>
            <a:spLocks noGrp="1"/>
          </p:cNvSpPr>
          <p:nvPr>
            <p:ph idx="1"/>
          </p:nvPr>
        </p:nvSpPr>
        <p:spPr/>
        <p:txBody>
          <a:bodyPr>
            <a:normAutofit fontScale="92500"/>
          </a:bodyPr>
          <a:lstStyle/>
          <a:p>
            <a:pPr marL="0" indent="0" algn="just">
              <a:buNone/>
            </a:pPr>
            <a:r>
              <a:rPr lang="en-US" b="0" i="0" dirty="0">
                <a:solidFill>
                  <a:srgbClr val="5A6182"/>
                </a:solidFill>
                <a:effectLst/>
                <a:latin typeface="Oswald"/>
              </a:rPr>
              <a:t>Consumer tastes, preferences and fashions</a:t>
            </a:r>
          </a:p>
          <a:p>
            <a:pPr algn="just"/>
            <a:r>
              <a:rPr lang="en-US" b="0" i="0" dirty="0">
                <a:solidFill>
                  <a:srgbClr val="000000"/>
                </a:solidFill>
                <a:effectLst/>
                <a:latin typeface="Roboto"/>
              </a:rPr>
              <a:t>Tastes can change over time, as can preferences and fashions, and demand can increase or decrease to reflect these changes. </a:t>
            </a:r>
          </a:p>
          <a:p>
            <a:pPr marL="0" indent="0" algn="just">
              <a:buNone/>
            </a:pPr>
            <a:r>
              <a:rPr lang="en-US" b="0" i="0" dirty="0">
                <a:solidFill>
                  <a:srgbClr val="5A6182"/>
                </a:solidFill>
                <a:effectLst/>
                <a:latin typeface="Oswald"/>
              </a:rPr>
              <a:t>Habit</a:t>
            </a:r>
          </a:p>
          <a:p>
            <a:pPr algn="just"/>
            <a:r>
              <a:rPr lang="en-US" b="0" i="0" dirty="0">
                <a:solidFill>
                  <a:srgbClr val="000000"/>
                </a:solidFill>
                <a:effectLst/>
                <a:latin typeface="Roboto"/>
              </a:rPr>
              <a:t>Some products, like alcohol, gambling, and cigarettes, are addictive. The stronger the addiction, the greater the demand. Addiction to a product may interfere with rational decision making as individuals forgo their own self-interest.</a:t>
            </a:r>
          </a:p>
          <a:p>
            <a:pPr algn="l"/>
            <a:endParaRPr lang="en-US" b="0" i="0" dirty="0">
              <a:solidFill>
                <a:srgbClr val="000000"/>
              </a:solidFill>
              <a:effectLst/>
              <a:latin typeface="Roboto"/>
            </a:endParaRPr>
          </a:p>
          <a:p>
            <a:endParaRPr lang="en-US" dirty="0"/>
          </a:p>
        </p:txBody>
      </p:sp>
    </p:spTree>
    <p:extLst>
      <p:ext uri="{BB962C8B-B14F-4D97-AF65-F5344CB8AC3E}">
        <p14:creationId xmlns:p14="http://schemas.microsoft.com/office/powerpoint/2010/main" val="3222593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4A76D-D3F7-4B2D-BD12-6A585C331263}"/>
              </a:ext>
            </a:extLst>
          </p:cNvPr>
          <p:cNvSpPr>
            <a:spLocks noGrp="1"/>
          </p:cNvSpPr>
          <p:nvPr>
            <p:ph type="title"/>
          </p:nvPr>
        </p:nvSpPr>
        <p:spPr/>
        <p:txBody>
          <a:bodyPr>
            <a:normAutofit fontScale="90000"/>
          </a:bodyPr>
          <a:lstStyle/>
          <a:p>
            <a:r>
              <a:rPr lang="en-US" b="0" i="0" dirty="0">
                <a:solidFill>
                  <a:srgbClr val="2E4278"/>
                </a:solidFill>
                <a:effectLst/>
                <a:latin typeface="Oswald"/>
              </a:rPr>
              <a:t>Non-price determinants</a:t>
            </a:r>
            <a:br>
              <a:rPr lang="en-US" b="0" i="0" dirty="0">
                <a:solidFill>
                  <a:srgbClr val="2E4278"/>
                </a:solidFill>
                <a:effectLst/>
                <a:latin typeface="Oswald"/>
              </a:rPr>
            </a:br>
            <a:endParaRPr lang="en-US" dirty="0"/>
          </a:p>
        </p:txBody>
      </p:sp>
      <p:sp>
        <p:nvSpPr>
          <p:cNvPr id="3" name="Content Placeholder 2">
            <a:extLst>
              <a:ext uri="{FF2B5EF4-FFF2-40B4-BE49-F238E27FC236}">
                <a16:creationId xmlns:a16="http://schemas.microsoft.com/office/drawing/2014/main" id="{F2AFA312-26AD-45A2-B119-3CEB6789271B}"/>
              </a:ext>
            </a:extLst>
          </p:cNvPr>
          <p:cNvSpPr>
            <a:spLocks noGrp="1"/>
          </p:cNvSpPr>
          <p:nvPr>
            <p:ph idx="1"/>
          </p:nvPr>
        </p:nvSpPr>
        <p:spPr/>
        <p:txBody>
          <a:bodyPr>
            <a:normAutofit fontScale="85000" lnSpcReduction="10000"/>
          </a:bodyPr>
          <a:lstStyle/>
          <a:p>
            <a:pPr marL="0" indent="0" algn="just">
              <a:buNone/>
            </a:pPr>
            <a:r>
              <a:rPr lang="en-US" b="0" i="0" dirty="0">
                <a:solidFill>
                  <a:srgbClr val="5A6182"/>
                </a:solidFill>
                <a:effectLst/>
                <a:latin typeface="Oswald"/>
              </a:rPr>
              <a:t>Brand loyalty</a:t>
            </a:r>
          </a:p>
          <a:p>
            <a:pPr algn="just"/>
            <a:r>
              <a:rPr lang="en-US" b="0" i="0" dirty="0">
                <a:solidFill>
                  <a:srgbClr val="000000"/>
                </a:solidFill>
                <a:effectLst/>
                <a:latin typeface="Roboto"/>
              </a:rPr>
              <a:t>Consumers may become loyal to particular brands, and this can have a significant influence on how consumers allocate their income. Brands give consumers confidence and take some of the risk out of purchasing.</a:t>
            </a:r>
          </a:p>
          <a:p>
            <a:pPr marL="0" indent="0" algn="just">
              <a:buNone/>
            </a:pPr>
            <a:r>
              <a:rPr lang="en-US" b="0" i="0" dirty="0">
                <a:solidFill>
                  <a:srgbClr val="5A6182"/>
                </a:solidFill>
                <a:effectLst/>
                <a:latin typeface="Oswald"/>
              </a:rPr>
              <a:t>The price of substitute products</a:t>
            </a:r>
          </a:p>
          <a:p>
            <a:pPr algn="just"/>
            <a:r>
              <a:rPr lang="en-US" b="0" i="0" dirty="0">
                <a:solidFill>
                  <a:srgbClr val="000000"/>
                </a:solidFill>
                <a:effectLst/>
                <a:latin typeface="Roboto"/>
              </a:rPr>
              <a:t>Changes in the price of substitutes can greatly affect demand. An increase in the price of a close substitute will result in an increase in the demand for a product, as consumers switch from the substitute. For example, an increase in the price of one brand of petrol is likely to result in an increase in demand for a substitute brand.</a:t>
            </a:r>
          </a:p>
          <a:p>
            <a:endParaRPr lang="en-US" dirty="0"/>
          </a:p>
        </p:txBody>
      </p:sp>
    </p:spTree>
    <p:extLst>
      <p:ext uri="{BB962C8B-B14F-4D97-AF65-F5344CB8AC3E}">
        <p14:creationId xmlns:p14="http://schemas.microsoft.com/office/powerpoint/2010/main" val="6685523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solidFill>
                  <a:srgbClr val="5A6182"/>
                </a:solidFill>
                <a:latin typeface="Oswald"/>
              </a:rPr>
              <a:t>Substitute products vs. Complementary products</a:t>
            </a:r>
            <a:endParaRPr lang="en-US" dirty="0"/>
          </a:p>
        </p:txBody>
      </p:sp>
    </p:spTree>
    <p:extLst>
      <p:ext uri="{BB962C8B-B14F-4D97-AF65-F5344CB8AC3E}">
        <p14:creationId xmlns:p14="http://schemas.microsoft.com/office/powerpoint/2010/main" val="33339590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12FD-916E-4593-9E87-C0C63DCB98AB}"/>
              </a:ext>
            </a:extLst>
          </p:cNvPr>
          <p:cNvSpPr>
            <a:spLocks noGrp="1"/>
          </p:cNvSpPr>
          <p:nvPr>
            <p:ph type="title"/>
          </p:nvPr>
        </p:nvSpPr>
        <p:spPr/>
        <p:txBody>
          <a:bodyPr/>
          <a:lstStyle/>
          <a:p>
            <a:r>
              <a:rPr lang="en-US" b="0" i="0" dirty="0">
                <a:solidFill>
                  <a:srgbClr val="2E4278"/>
                </a:solidFill>
                <a:effectLst/>
                <a:latin typeface="Oswald"/>
              </a:rPr>
              <a:t>Non-price determinants</a:t>
            </a:r>
            <a:endParaRPr lang="en-US" dirty="0"/>
          </a:p>
        </p:txBody>
      </p:sp>
      <p:sp>
        <p:nvSpPr>
          <p:cNvPr id="3" name="Content Placeholder 2">
            <a:extLst>
              <a:ext uri="{FF2B5EF4-FFF2-40B4-BE49-F238E27FC236}">
                <a16:creationId xmlns:a16="http://schemas.microsoft.com/office/drawing/2014/main" id="{9D4E5C19-85CA-482A-9678-BCBD626F2463}"/>
              </a:ext>
            </a:extLst>
          </p:cNvPr>
          <p:cNvSpPr>
            <a:spLocks noGrp="1"/>
          </p:cNvSpPr>
          <p:nvPr>
            <p:ph idx="1"/>
          </p:nvPr>
        </p:nvSpPr>
        <p:spPr/>
        <p:txBody>
          <a:bodyPr>
            <a:normAutofit fontScale="85000" lnSpcReduction="20000"/>
          </a:bodyPr>
          <a:lstStyle/>
          <a:p>
            <a:pPr marL="0" indent="0" algn="just">
              <a:buNone/>
            </a:pPr>
            <a:r>
              <a:rPr lang="en-US" b="0" i="0" dirty="0">
                <a:solidFill>
                  <a:srgbClr val="5A6182"/>
                </a:solidFill>
                <a:effectLst/>
                <a:latin typeface="Oswald"/>
              </a:rPr>
              <a:t>The price of complementary products</a:t>
            </a:r>
          </a:p>
          <a:p>
            <a:pPr algn="just"/>
            <a:r>
              <a:rPr lang="en-US" b="0" i="0" dirty="0">
                <a:solidFill>
                  <a:srgbClr val="000000"/>
                </a:solidFill>
                <a:effectLst/>
                <a:latin typeface="Roboto"/>
              </a:rPr>
              <a:t>Many products have complements, which are either bought at the same time as the product, or are needed to make the product work. For example, batteries are a complement to many portable electronic products. As the price of complements rise, the demand for a product is likely to fall. A situation where complementary products are bought at the same time it is referred to as joint demand.</a:t>
            </a:r>
          </a:p>
          <a:p>
            <a:pPr marL="0" indent="0" algn="just">
              <a:buNone/>
            </a:pPr>
            <a:r>
              <a:rPr lang="en-US" b="0" i="0" dirty="0">
                <a:solidFill>
                  <a:srgbClr val="5A6182"/>
                </a:solidFill>
                <a:effectLst/>
                <a:latin typeface="Oswald"/>
              </a:rPr>
              <a:t>The impact of advertising</a:t>
            </a:r>
          </a:p>
          <a:p>
            <a:pPr algn="just"/>
            <a:r>
              <a:rPr lang="en-US" b="0" i="0" dirty="0">
                <a:solidFill>
                  <a:srgbClr val="000000"/>
                </a:solidFill>
                <a:effectLst/>
                <a:latin typeface="Roboto"/>
              </a:rPr>
              <a:t>Successful advertising can have a considerable influence on consumer demand. Advertising can increase consumer awareness of a product and encourage consumption.</a:t>
            </a:r>
          </a:p>
          <a:p>
            <a:endParaRPr lang="en-US" dirty="0"/>
          </a:p>
        </p:txBody>
      </p:sp>
    </p:spTree>
    <p:extLst>
      <p:ext uri="{BB962C8B-B14F-4D97-AF65-F5344CB8AC3E}">
        <p14:creationId xmlns:p14="http://schemas.microsoft.com/office/powerpoint/2010/main" val="4039063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3BE45-00FA-44DF-9175-4173763545CD}"/>
              </a:ext>
            </a:extLst>
          </p:cNvPr>
          <p:cNvSpPr>
            <a:spLocks noGrp="1"/>
          </p:cNvSpPr>
          <p:nvPr>
            <p:ph type="title"/>
          </p:nvPr>
        </p:nvSpPr>
        <p:spPr/>
        <p:txBody>
          <a:bodyPr/>
          <a:lstStyle/>
          <a:p>
            <a:r>
              <a:rPr lang="en-US" b="0" i="0" dirty="0">
                <a:solidFill>
                  <a:srgbClr val="2E4278"/>
                </a:solidFill>
                <a:effectLst/>
                <a:latin typeface="Oswald"/>
              </a:rPr>
              <a:t>Non-price determinants</a:t>
            </a:r>
            <a:endParaRPr lang="en-US" dirty="0"/>
          </a:p>
        </p:txBody>
      </p:sp>
      <p:sp>
        <p:nvSpPr>
          <p:cNvPr id="3" name="Content Placeholder 2">
            <a:extLst>
              <a:ext uri="{FF2B5EF4-FFF2-40B4-BE49-F238E27FC236}">
                <a16:creationId xmlns:a16="http://schemas.microsoft.com/office/drawing/2014/main" id="{4B402F62-FE37-42B7-AAF0-FFA6A3DAF7D0}"/>
              </a:ext>
            </a:extLst>
          </p:cNvPr>
          <p:cNvSpPr>
            <a:spLocks noGrp="1"/>
          </p:cNvSpPr>
          <p:nvPr>
            <p:ph idx="1"/>
          </p:nvPr>
        </p:nvSpPr>
        <p:spPr/>
        <p:txBody>
          <a:bodyPr>
            <a:normAutofit fontScale="85000" lnSpcReduction="20000"/>
          </a:bodyPr>
          <a:lstStyle/>
          <a:p>
            <a:pPr marL="0" indent="0" algn="just">
              <a:buNone/>
            </a:pPr>
            <a:r>
              <a:rPr lang="en-US" b="0" i="0" dirty="0">
                <a:solidFill>
                  <a:srgbClr val="5A6182"/>
                </a:solidFill>
                <a:effectLst/>
                <a:latin typeface="Oswald"/>
              </a:rPr>
              <a:t>Knowledge</a:t>
            </a:r>
          </a:p>
          <a:p>
            <a:pPr algn="just"/>
            <a:r>
              <a:rPr lang="en-US" b="0" i="0" dirty="0">
                <a:solidFill>
                  <a:srgbClr val="000000"/>
                </a:solidFill>
                <a:effectLst/>
                <a:latin typeface="Roboto"/>
              </a:rPr>
              <a:t>Knowledge, or ignorance, can affect the pattern of consumer demand. If a rational consumer knows that a product is harmful or beneficial to them they may reduce or increase their demand accordingly. Knowing that information and ignorance affect consumer demand, producers may attempt to encourage consumption through positive and persuasive advertising.</a:t>
            </a:r>
          </a:p>
          <a:p>
            <a:pPr marL="0" indent="0" algn="just">
              <a:buNone/>
            </a:pPr>
            <a:r>
              <a:rPr lang="en-US" b="0" i="0" dirty="0">
                <a:solidFill>
                  <a:srgbClr val="5A6182"/>
                </a:solidFill>
                <a:effectLst/>
                <a:latin typeface="Oswald"/>
              </a:rPr>
              <a:t>Natural factors</a:t>
            </a:r>
          </a:p>
          <a:p>
            <a:pPr algn="just"/>
            <a:r>
              <a:rPr lang="en-US" b="0" i="0" dirty="0">
                <a:solidFill>
                  <a:srgbClr val="000000"/>
                </a:solidFill>
                <a:effectLst/>
                <a:latin typeface="Roboto"/>
              </a:rPr>
              <a:t>The impact of good or bad weather and other natural factors can have a considerable impact on demand. Certain products are highly dependent on weather or natural conditions, such as the demand for ice cream, raincoats, and holidays. </a:t>
            </a:r>
          </a:p>
          <a:p>
            <a:pPr algn="l"/>
            <a:endParaRPr lang="en-US" b="0" i="0" dirty="0">
              <a:solidFill>
                <a:srgbClr val="5A6182"/>
              </a:solidFill>
              <a:effectLst/>
              <a:latin typeface="Oswald"/>
            </a:endParaRPr>
          </a:p>
          <a:p>
            <a:endParaRPr lang="en-US" dirty="0"/>
          </a:p>
        </p:txBody>
      </p:sp>
    </p:spTree>
    <p:extLst>
      <p:ext uri="{BB962C8B-B14F-4D97-AF65-F5344CB8AC3E}">
        <p14:creationId xmlns:p14="http://schemas.microsoft.com/office/powerpoint/2010/main" val="4752599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AC59F-96D0-47F0-8E69-494549D87FE9}"/>
              </a:ext>
            </a:extLst>
          </p:cNvPr>
          <p:cNvSpPr>
            <a:spLocks noGrp="1"/>
          </p:cNvSpPr>
          <p:nvPr>
            <p:ph type="title"/>
          </p:nvPr>
        </p:nvSpPr>
        <p:spPr/>
        <p:txBody>
          <a:bodyPr>
            <a:normAutofit fontScale="90000"/>
          </a:bodyPr>
          <a:lstStyle/>
          <a:p>
            <a:r>
              <a:rPr lang="en-US" dirty="0"/>
              <a:t>Exceptions to the Law of Demand</a:t>
            </a:r>
            <a:br>
              <a:rPr lang="en-US" dirty="0"/>
            </a:br>
            <a:endParaRPr lang="en-US" dirty="0"/>
          </a:p>
        </p:txBody>
      </p:sp>
      <p:sp>
        <p:nvSpPr>
          <p:cNvPr id="3" name="Content Placeholder 2">
            <a:extLst>
              <a:ext uri="{FF2B5EF4-FFF2-40B4-BE49-F238E27FC236}">
                <a16:creationId xmlns:a16="http://schemas.microsoft.com/office/drawing/2014/main" id="{37E1E834-80C5-4860-8B4E-4DA28F58F534}"/>
              </a:ext>
            </a:extLst>
          </p:cNvPr>
          <p:cNvSpPr>
            <a:spLocks noGrp="1"/>
          </p:cNvSpPr>
          <p:nvPr>
            <p:ph idx="1"/>
          </p:nvPr>
        </p:nvSpPr>
        <p:spPr/>
        <p:txBody>
          <a:bodyPr>
            <a:normAutofit fontScale="85000" lnSpcReduction="10000"/>
          </a:bodyPr>
          <a:lstStyle/>
          <a:p>
            <a:pPr algn="just"/>
            <a:r>
              <a:rPr lang="en-US" b="1" dirty="0" err="1"/>
              <a:t>Giffen</a:t>
            </a:r>
            <a:r>
              <a:rPr lang="en-US" b="1" dirty="0"/>
              <a:t> Goods </a:t>
            </a:r>
            <a:r>
              <a:rPr lang="en-US" dirty="0"/>
              <a:t>is a concept that was introduced by Sir Robert </a:t>
            </a:r>
            <a:r>
              <a:rPr lang="en-US" dirty="0" err="1"/>
              <a:t>Giffen</a:t>
            </a:r>
            <a:r>
              <a:rPr lang="en-US" dirty="0"/>
              <a:t>. These goods are goods that are inferior in comparison to luxury goods. However, the unique characteristic of </a:t>
            </a:r>
            <a:r>
              <a:rPr lang="en-US" dirty="0" err="1"/>
              <a:t>Giffen</a:t>
            </a:r>
            <a:r>
              <a:rPr lang="en-US" dirty="0"/>
              <a:t> goods is that as its price increases, the demand also increases.</a:t>
            </a:r>
          </a:p>
          <a:p>
            <a:pPr algn="just"/>
            <a:r>
              <a:rPr lang="en-US" b="1" dirty="0"/>
              <a:t>A </a:t>
            </a:r>
            <a:r>
              <a:rPr lang="en-US" b="1" dirty="0" err="1"/>
              <a:t>Giffen</a:t>
            </a:r>
            <a:r>
              <a:rPr lang="en-US" b="1" dirty="0"/>
              <a:t> good</a:t>
            </a:r>
            <a:r>
              <a:rPr lang="en-US" dirty="0"/>
              <a:t>, a concept commonly used in economics, refers to a good that people consume more as the price rises. Therefore, a </a:t>
            </a:r>
            <a:r>
              <a:rPr lang="en-US" dirty="0" err="1"/>
              <a:t>Giffen</a:t>
            </a:r>
            <a:r>
              <a:rPr lang="en-US" dirty="0"/>
              <a:t> good shows an upward-sloping demand curve and violates the fundamental law of demand.</a:t>
            </a:r>
          </a:p>
          <a:p>
            <a:pPr algn="just"/>
            <a:r>
              <a:rPr lang="en-US" dirty="0" err="1"/>
              <a:t>Giffen</a:t>
            </a:r>
            <a:r>
              <a:rPr lang="en-US" dirty="0"/>
              <a:t> goods are basic, low-cost, and often essential goods, whereas </a:t>
            </a:r>
            <a:r>
              <a:rPr lang="en-US" dirty="0">
                <a:solidFill>
                  <a:srgbClr val="FF0000"/>
                </a:solidFill>
              </a:rPr>
              <a:t>Veblen goods</a:t>
            </a:r>
            <a:r>
              <a:rPr lang="en-US" dirty="0"/>
              <a:t> are mostly luxury, status-symbol items—like perfumes and certain cars—that see their demand climb as their prices rise.</a:t>
            </a:r>
          </a:p>
          <a:p>
            <a:pPr algn="just"/>
            <a:endParaRPr lang="en-US" dirty="0"/>
          </a:p>
        </p:txBody>
      </p:sp>
    </p:spTree>
    <p:extLst>
      <p:ext uri="{BB962C8B-B14F-4D97-AF65-F5344CB8AC3E}">
        <p14:creationId xmlns:p14="http://schemas.microsoft.com/office/powerpoint/2010/main" val="471980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Exceptions to the Law of Demand</a:t>
            </a:r>
          </a:p>
        </p:txBody>
      </p:sp>
      <p:sp>
        <p:nvSpPr>
          <p:cNvPr id="3" name="Content Placeholder 2"/>
          <p:cNvSpPr>
            <a:spLocks noGrp="1"/>
          </p:cNvSpPr>
          <p:nvPr>
            <p:ph idx="1"/>
          </p:nvPr>
        </p:nvSpPr>
        <p:spPr/>
        <p:txBody>
          <a:bodyPr/>
          <a:lstStyle/>
          <a:p>
            <a:pPr algn="just"/>
            <a:r>
              <a:rPr lang="en-US" b="1" dirty="0"/>
              <a:t>Potatoes</a:t>
            </a:r>
            <a:r>
              <a:rPr lang="en-US" dirty="0"/>
              <a:t>: As one example of a </a:t>
            </a:r>
            <a:r>
              <a:rPr lang="en-US" dirty="0" err="1"/>
              <a:t>Giffen</a:t>
            </a:r>
            <a:r>
              <a:rPr lang="en-US" dirty="0"/>
              <a:t> good, think of the surging price and demand for this root vegetable during the Irish potato famine in the mid-1800s. Given the fact there were few substitutes available at the time, the inflated price of potatoes didn’t prevent Irish citizens from demanding more of the food to feed themselves and their families. </a:t>
            </a:r>
          </a:p>
          <a:p>
            <a:pPr algn="just"/>
            <a:r>
              <a:rPr lang="en-US" dirty="0"/>
              <a:t>People would buy up as much as possible because they were unsure if greater shortages were on the horizon.</a:t>
            </a:r>
          </a:p>
        </p:txBody>
      </p:sp>
    </p:spTree>
    <p:extLst>
      <p:ext uri="{BB962C8B-B14F-4D97-AF65-F5344CB8AC3E}">
        <p14:creationId xmlns:p14="http://schemas.microsoft.com/office/powerpoint/2010/main" val="8876295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C2D6-90F4-4BB9-9A5C-68F849BA354E}"/>
              </a:ext>
            </a:extLst>
          </p:cNvPr>
          <p:cNvSpPr>
            <a:spLocks noGrp="1"/>
          </p:cNvSpPr>
          <p:nvPr>
            <p:ph type="title"/>
          </p:nvPr>
        </p:nvSpPr>
        <p:spPr>
          <a:xfrm>
            <a:off x="838200" y="1099930"/>
            <a:ext cx="10515600" cy="79514"/>
          </a:xfrm>
        </p:spPr>
        <p:txBody>
          <a:bodyPr>
            <a:normAutofit fontScale="90000"/>
          </a:bodyPr>
          <a:lstStyle/>
          <a:p>
            <a:r>
              <a:rPr lang="en-US" b="1" i="0" dirty="0">
                <a:solidFill>
                  <a:srgbClr val="000000"/>
                </a:solidFill>
                <a:effectLst/>
                <a:latin typeface="Open Sans" panose="020B0606030504020204" pitchFamily="34" charset="0"/>
              </a:rPr>
              <a:t>Exceptions to the Law of Demand</a:t>
            </a:r>
            <a:br>
              <a:rPr lang="en-US" b="1" i="0" dirty="0">
                <a:solidFill>
                  <a:srgbClr val="000000"/>
                </a:solidFill>
                <a:effectLst/>
                <a:latin typeface="Open Sans" panose="020B0606030504020204" pitchFamily="34" charset="0"/>
              </a:rPr>
            </a:br>
            <a:br>
              <a:rPr lang="en-US" dirty="0"/>
            </a:br>
            <a:endParaRPr lang="en-US" dirty="0"/>
          </a:p>
        </p:txBody>
      </p:sp>
      <p:sp>
        <p:nvSpPr>
          <p:cNvPr id="3" name="Content Placeholder 2">
            <a:extLst>
              <a:ext uri="{FF2B5EF4-FFF2-40B4-BE49-F238E27FC236}">
                <a16:creationId xmlns:a16="http://schemas.microsoft.com/office/drawing/2014/main" id="{385782AE-440E-4286-851F-E51B0782FB89}"/>
              </a:ext>
            </a:extLst>
          </p:cNvPr>
          <p:cNvSpPr>
            <a:spLocks noGrp="1"/>
          </p:cNvSpPr>
          <p:nvPr>
            <p:ph idx="1"/>
          </p:nvPr>
        </p:nvSpPr>
        <p:spPr/>
        <p:txBody>
          <a:bodyPr>
            <a:normAutofit fontScale="85000" lnSpcReduction="10000"/>
          </a:bodyPr>
          <a:lstStyle/>
          <a:p>
            <a:pPr algn="just"/>
            <a:r>
              <a:rPr lang="en-US" dirty="0"/>
              <a:t>The second exception to the law of demand is the concept of </a:t>
            </a:r>
            <a:r>
              <a:rPr lang="en-US" b="1" dirty="0">
                <a:solidFill>
                  <a:schemeClr val="accent3"/>
                </a:solidFill>
              </a:rPr>
              <a:t>Veblen goods</a:t>
            </a:r>
            <a:r>
              <a:rPr lang="en-US" dirty="0"/>
              <a:t>. Veblen Goods is a concept that is named after the economist Thorstein Veblen, who introduced the theory of “conspicuous consumption“. </a:t>
            </a:r>
          </a:p>
          <a:p>
            <a:pPr algn="just"/>
            <a:r>
              <a:rPr lang="en-US" dirty="0"/>
              <a:t>According to Veblen, there are certain goods that become more valuable as their price increases. If a product is expensive, then its value and utility are perceived to be more, and hence the demand for that product increases.</a:t>
            </a:r>
          </a:p>
          <a:p>
            <a:pPr algn="just"/>
            <a:r>
              <a:rPr lang="en-US" dirty="0"/>
              <a:t>And this happens mostly with precious metals and stones such as gold and diamonds and luxury cars such as Rolls-Royce. As the price of these goods increases, their demand also increases because these products then become a status symbol.</a:t>
            </a:r>
          </a:p>
        </p:txBody>
      </p:sp>
    </p:spTree>
    <p:extLst>
      <p:ext uri="{BB962C8B-B14F-4D97-AF65-F5344CB8AC3E}">
        <p14:creationId xmlns:p14="http://schemas.microsoft.com/office/powerpoint/2010/main" val="9450730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B8D58-D055-48FA-B6BB-6DE85BDBF2C4}"/>
              </a:ext>
            </a:extLst>
          </p:cNvPr>
          <p:cNvSpPr>
            <a:spLocks noGrp="1"/>
          </p:cNvSpPr>
          <p:nvPr>
            <p:ph type="title"/>
          </p:nvPr>
        </p:nvSpPr>
        <p:spPr/>
        <p:txBody>
          <a:bodyPr/>
          <a:lstStyle/>
          <a:p>
            <a:r>
              <a:rPr lang="en-US" dirty="0"/>
              <a:t>Exceptions to the Law of Demand</a:t>
            </a:r>
          </a:p>
        </p:txBody>
      </p:sp>
      <p:sp>
        <p:nvSpPr>
          <p:cNvPr id="3" name="Content Placeholder 2">
            <a:extLst>
              <a:ext uri="{FF2B5EF4-FFF2-40B4-BE49-F238E27FC236}">
                <a16:creationId xmlns:a16="http://schemas.microsoft.com/office/drawing/2014/main" id="{7D4C5C0E-5887-4631-8C19-F8B6128E3D9A}"/>
              </a:ext>
            </a:extLst>
          </p:cNvPr>
          <p:cNvSpPr>
            <a:spLocks noGrp="1"/>
          </p:cNvSpPr>
          <p:nvPr>
            <p:ph idx="1"/>
          </p:nvPr>
        </p:nvSpPr>
        <p:spPr/>
        <p:txBody>
          <a:bodyPr>
            <a:normAutofit fontScale="92500"/>
          </a:bodyPr>
          <a:lstStyle/>
          <a:p>
            <a:pPr algn="just"/>
            <a:r>
              <a:rPr lang="en-US" dirty="0"/>
              <a:t>Another exception to the law of demand is necessary or basic goods. People will continue to buy necessities such as medicines or basic staples such as sugar or salt even if the price increases. </a:t>
            </a:r>
          </a:p>
          <a:p>
            <a:pPr algn="just"/>
            <a:r>
              <a:rPr lang="en-US" dirty="0"/>
              <a:t>Sometimes the demand for a product may change according to the change in income. If a household’s income increases, they may purchase more products irrespective of the increase in their price, thereby increasing the demand for the product. Similarly, they might postpone buying a product even if its price reduces if their income has reduced. </a:t>
            </a:r>
          </a:p>
        </p:txBody>
      </p:sp>
    </p:spTree>
    <p:extLst>
      <p:ext uri="{BB962C8B-B14F-4D97-AF65-F5344CB8AC3E}">
        <p14:creationId xmlns:p14="http://schemas.microsoft.com/office/powerpoint/2010/main" val="1589418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4956-E797-4B67-A799-F4F1A535DA77}"/>
              </a:ext>
            </a:extLst>
          </p:cNvPr>
          <p:cNvSpPr>
            <a:spLocks noGrp="1"/>
          </p:cNvSpPr>
          <p:nvPr>
            <p:ph type="title"/>
          </p:nvPr>
        </p:nvSpPr>
        <p:spPr/>
        <p:txBody>
          <a:bodyPr/>
          <a:lstStyle/>
          <a:p>
            <a:r>
              <a:rPr lang="en-US" dirty="0"/>
              <a:t>Exceptions to the Law of Demand</a:t>
            </a:r>
          </a:p>
        </p:txBody>
      </p:sp>
      <p:sp>
        <p:nvSpPr>
          <p:cNvPr id="3" name="Content Placeholder 2">
            <a:extLst>
              <a:ext uri="{FF2B5EF4-FFF2-40B4-BE49-F238E27FC236}">
                <a16:creationId xmlns:a16="http://schemas.microsoft.com/office/drawing/2014/main" id="{7D2F383A-A1B7-40F8-AB6E-CC10793BA7AF}"/>
              </a:ext>
            </a:extLst>
          </p:cNvPr>
          <p:cNvSpPr>
            <a:spLocks noGrp="1"/>
          </p:cNvSpPr>
          <p:nvPr>
            <p:ph idx="1"/>
          </p:nvPr>
        </p:nvSpPr>
        <p:spPr/>
        <p:txBody>
          <a:bodyPr>
            <a:normAutofit lnSpcReduction="10000"/>
          </a:bodyPr>
          <a:lstStyle/>
          <a:p>
            <a:pPr algn="just"/>
            <a:r>
              <a:rPr lang="en-US" b="1" dirty="0"/>
              <a:t>Bandwagon Effect</a:t>
            </a:r>
            <a:r>
              <a:rPr lang="en-US" dirty="0"/>
              <a:t>: This is the most common type of exception to the law of demand wherein the consumer tries to purchase those commodities which are bought by his friends, relatives or neighbors. Here, the person tries to emulate the buying behavior and patterns of the group to which he belongs irrespective of the price of the commodity.</a:t>
            </a:r>
          </a:p>
          <a:p>
            <a:pPr algn="just"/>
            <a:r>
              <a:rPr lang="en-US" dirty="0"/>
              <a:t>For example, if the majority of group members have smart phones then the consumer will also demand for the smartphone even if the prices are high.</a:t>
            </a:r>
          </a:p>
        </p:txBody>
      </p:sp>
    </p:spTree>
    <p:extLst>
      <p:ext uri="{BB962C8B-B14F-4D97-AF65-F5344CB8AC3E}">
        <p14:creationId xmlns:p14="http://schemas.microsoft.com/office/powerpoint/2010/main" val="4070724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8823" y="496390"/>
            <a:ext cx="11416937" cy="5969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7096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Price Elasticity of Demand</a:t>
            </a:r>
            <a:r>
              <a:rPr lang="en-US" dirty="0"/>
              <a:t> </a:t>
            </a:r>
          </a:p>
        </p:txBody>
      </p:sp>
      <p:sp>
        <p:nvSpPr>
          <p:cNvPr id="3" name="Content Placeholder 2"/>
          <p:cNvSpPr>
            <a:spLocks noGrp="1"/>
          </p:cNvSpPr>
          <p:nvPr>
            <p:ph idx="1"/>
          </p:nvPr>
        </p:nvSpPr>
        <p:spPr/>
        <p:txBody>
          <a:bodyPr/>
          <a:lstStyle/>
          <a:p>
            <a:pPr algn="just"/>
            <a:r>
              <a:rPr lang="en-US" i="1" dirty="0"/>
              <a:t>Price Elasticity of Demand</a:t>
            </a:r>
            <a:r>
              <a:rPr lang="en-US" dirty="0"/>
              <a:t> (PED) is defined as the responsiveness of quantity demanded to a change in price. </a:t>
            </a:r>
          </a:p>
          <a:p>
            <a:pPr algn="just"/>
            <a:r>
              <a:rPr lang="en-US" dirty="0"/>
              <a:t>Demand is said to be elastic when the change in demand is proportionally larger than the change in price. In other words, demand is elastic when the demand changes significantly with smaller price changes. </a:t>
            </a:r>
          </a:p>
          <a:p>
            <a:pPr algn="just"/>
            <a:r>
              <a:rPr lang="en-US" dirty="0"/>
              <a:t>Conversely, demand is inelastic when the change in demand is proportionally smaller than the difference in price.</a:t>
            </a:r>
          </a:p>
        </p:txBody>
      </p:sp>
    </p:spTree>
    <p:extLst>
      <p:ext uri="{BB962C8B-B14F-4D97-AF65-F5344CB8AC3E}">
        <p14:creationId xmlns:p14="http://schemas.microsoft.com/office/powerpoint/2010/main" val="4124794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Price Elasticity of Demand</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0686" y="2468880"/>
            <a:ext cx="7707085" cy="2403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67688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Change in QD=(200-186)units=14 units</a:t>
            </a:r>
          </a:p>
          <a:p>
            <a:r>
              <a:rPr lang="en-US" dirty="0"/>
              <a:t>Change in P=(115-100)units=15 TAKA</a:t>
            </a:r>
          </a:p>
        </p:txBody>
      </p:sp>
    </p:spTree>
    <p:extLst>
      <p:ext uri="{BB962C8B-B14F-4D97-AF65-F5344CB8AC3E}">
        <p14:creationId xmlns:p14="http://schemas.microsoft.com/office/powerpoint/2010/main" val="26600308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Price Elasticity of Demand</a:t>
            </a:r>
            <a:endParaRPr lang="en-US" dirty="0"/>
          </a:p>
        </p:txBody>
      </p:sp>
      <p:sp>
        <p:nvSpPr>
          <p:cNvPr id="3" name="Content Placeholder 2"/>
          <p:cNvSpPr>
            <a:spLocks noGrp="1"/>
          </p:cNvSpPr>
          <p:nvPr>
            <p:ph idx="1"/>
          </p:nvPr>
        </p:nvSpPr>
        <p:spPr/>
        <p:txBody>
          <a:bodyPr/>
          <a:lstStyle/>
          <a:p>
            <a:pPr algn="just"/>
            <a:r>
              <a:rPr lang="en-US" dirty="0"/>
              <a:t>%∆ in </a:t>
            </a:r>
            <a:r>
              <a:rPr lang="en-US" dirty="0" err="1"/>
              <a:t>Q</a:t>
            </a:r>
            <a:r>
              <a:rPr lang="en-US" baseline="-25000" dirty="0" err="1"/>
              <a:t>d</a:t>
            </a:r>
            <a:r>
              <a:rPr lang="en-US" dirty="0"/>
              <a:t> = Percentage Change in Quantity Demanded. The Percentage Change in Quantity Demanded is the New Quantity Demanded minus the Old Quantity Demanded divided by the Old Quantity Demanded.</a:t>
            </a:r>
          </a:p>
          <a:p>
            <a:pPr algn="just"/>
            <a:r>
              <a:rPr lang="en-US" dirty="0"/>
              <a:t>%∆ in P = Percentage Change in Price. This is the New Price minus the Old Price divided by the Old Price.</a:t>
            </a:r>
          </a:p>
          <a:p>
            <a:endParaRPr lang="en-US" dirty="0"/>
          </a:p>
        </p:txBody>
      </p:sp>
    </p:spTree>
    <p:extLst>
      <p:ext uri="{BB962C8B-B14F-4D97-AF65-F5344CB8AC3E}">
        <p14:creationId xmlns:p14="http://schemas.microsoft.com/office/powerpoint/2010/main" val="10700226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Perfectly Inelastic Demand, (PED = 0)</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21132" y="1600200"/>
            <a:ext cx="640428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20990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Perfectly Inelastic Demand, (PED = 0)</a:t>
            </a:r>
          </a:p>
        </p:txBody>
      </p:sp>
      <p:sp>
        <p:nvSpPr>
          <p:cNvPr id="3" name="Content Placeholder 2"/>
          <p:cNvSpPr>
            <a:spLocks noGrp="1"/>
          </p:cNvSpPr>
          <p:nvPr>
            <p:ph idx="1"/>
          </p:nvPr>
        </p:nvSpPr>
        <p:spPr/>
        <p:txBody>
          <a:bodyPr/>
          <a:lstStyle/>
          <a:p>
            <a:pPr algn="just"/>
            <a:r>
              <a:rPr lang="en-US" b="0" i="0" dirty="0">
                <a:solidFill>
                  <a:srgbClr val="2A2B2E"/>
                </a:solidFill>
                <a:effectLst/>
                <a:latin typeface="-apple-system"/>
              </a:rPr>
              <a:t>With a perfectly inelastic demand, there is no change in the demand for a product with a change in its price. This means that the demand remains constant for any value of price. The demand curve is represented as a straight vertical line.</a:t>
            </a:r>
          </a:p>
          <a:p>
            <a:pPr algn="just"/>
            <a:r>
              <a:rPr lang="en-US" b="0" i="0" dirty="0">
                <a:solidFill>
                  <a:srgbClr val="2A2B2E"/>
                </a:solidFill>
                <a:effectLst/>
                <a:latin typeface="-apple-system"/>
              </a:rPr>
              <a:t>It is practically impossible to find a product that has a perfectly inelastic demand. The closest thing could be essentials like water or certain food products.</a:t>
            </a:r>
          </a:p>
          <a:p>
            <a:endParaRPr lang="en-US" dirty="0"/>
          </a:p>
        </p:txBody>
      </p:sp>
    </p:spTree>
    <p:extLst>
      <p:ext uri="{BB962C8B-B14F-4D97-AF65-F5344CB8AC3E}">
        <p14:creationId xmlns:p14="http://schemas.microsoft.com/office/powerpoint/2010/main" val="22430719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Relatively Inelastic Demand, (PED = 0 &lt; x &lt; 1)</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6582" y="1600200"/>
            <a:ext cx="565883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51751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prstClr val="black"/>
                </a:solidFill>
              </a:rPr>
              <a:t>Relatively Inelastic Demand, (PED = 0 &lt; x &lt; 1)</a:t>
            </a:r>
            <a:endParaRPr lang="en-US" dirty="0"/>
          </a:p>
        </p:txBody>
      </p:sp>
      <p:sp>
        <p:nvSpPr>
          <p:cNvPr id="3" name="Content Placeholder 2"/>
          <p:cNvSpPr>
            <a:spLocks noGrp="1"/>
          </p:cNvSpPr>
          <p:nvPr>
            <p:ph idx="1"/>
          </p:nvPr>
        </p:nvSpPr>
        <p:spPr/>
        <p:txBody>
          <a:bodyPr/>
          <a:lstStyle/>
          <a:p>
            <a:pPr algn="just"/>
            <a:r>
              <a:rPr lang="en-US" b="0" i="0" dirty="0">
                <a:solidFill>
                  <a:srgbClr val="2A2B2E"/>
                </a:solidFill>
                <a:effectLst/>
                <a:latin typeface="-apple-system"/>
              </a:rPr>
              <a:t>Relatively inelastic demand occurs when the percentage change in demand is less than the percentage change in the price of a product.</a:t>
            </a:r>
          </a:p>
          <a:p>
            <a:pPr algn="just"/>
            <a:r>
              <a:rPr lang="en-US" b="0" i="0" dirty="0">
                <a:solidFill>
                  <a:srgbClr val="2A2B2E"/>
                </a:solidFill>
                <a:effectLst/>
                <a:latin typeface="-apple-system"/>
              </a:rPr>
              <a:t>For example, if the price of a product increases by 15% and the demand for the product decreases only by 7%, then the demand would be called relatively inelastic.</a:t>
            </a:r>
          </a:p>
          <a:p>
            <a:endParaRPr lang="en-US" dirty="0"/>
          </a:p>
        </p:txBody>
      </p:sp>
    </p:spTree>
    <p:extLst>
      <p:ext uri="{BB962C8B-B14F-4D97-AF65-F5344CB8AC3E}">
        <p14:creationId xmlns:p14="http://schemas.microsoft.com/office/powerpoint/2010/main" val="1816257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Elastic Demand, (PED = 1)</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6582" y="1600200"/>
            <a:ext cx="565883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66716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Elastic Demand, (PED = 1)</a:t>
            </a:r>
          </a:p>
        </p:txBody>
      </p:sp>
      <p:sp>
        <p:nvSpPr>
          <p:cNvPr id="3" name="Content Placeholder 2"/>
          <p:cNvSpPr>
            <a:spLocks noGrp="1"/>
          </p:cNvSpPr>
          <p:nvPr>
            <p:ph idx="1"/>
          </p:nvPr>
        </p:nvSpPr>
        <p:spPr/>
        <p:txBody>
          <a:bodyPr/>
          <a:lstStyle/>
          <a:p>
            <a:pPr algn="just"/>
            <a:r>
              <a:rPr lang="en-US" dirty="0"/>
              <a:t>Demand is said to be unit elastic when the proportionate change in demand produces the same change in the price. The quantity demanded changes by the same percentage as the change in price.</a:t>
            </a:r>
          </a:p>
        </p:txBody>
      </p:sp>
    </p:spTree>
    <p:extLst>
      <p:ext uri="{BB962C8B-B14F-4D97-AF65-F5344CB8AC3E}">
        <p14:creationId xmlns:p14="http://schemas.microsoft.com/office/powerpoint/2010/main" val="23193256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Relatively Elastic Demand, (PED = 1 &lt; x &lt; ∞)</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6582" y="1600200"/>
            <a:ext cx="565883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29205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Relatively Elastic Demand, (PED = 1 &lt; x &lt; ∞)</a:t>
            </a:r>
          </a:p>
        </p:txBody>
      </p:sp>
      <p:sp>
        <p:nvSpPr>
          <p:cNvPr id="3" name="Content Placeholder 2"/>
          <p:cNvSpPr>
            <a:spLocks noGrp="1"/>
          </p:cNvSpPr>
          <p:nvPr>
            <p:ph idx="1"/>
          </p:nvPr>
        </p:nvSpPr>
        <p:spPr/>
        <p:txBody>
          <a:bodyPr/>
          <a:lstStyle/>
          <a:p>
            <a:pPr algn="just"/>
            <a:r>
              <a:rPr lang="en-US" dirty="0"/>
              <a:t>Relatively elastic demand is defined as the proportionate change produced in demand is greater than the proportionate change in the price of a product. The quantity demanded changes by a larger percentage than the change in price.</a:t>
            </a:r>
          </a:p>
          <a:p>
            <a:pPr algn="just"/>
            <a:endParaRPr lang="en-US" dirty="0"/>
          </a:p>
          <a:p>
            <a:pPr algn="just"/>
            <a:r>
              <a:rPr lang="en-US" dirty="0"/>
              <a:t>For example, if the price of a product increases by 10% and then the demand for the product decreases by 15%, then the demand would be relatively elastic.</a:t>
            </a:r>
          </a:p>
        </p:txBody>
      </p:sp>
    </p:spTree>
    <p:extLst>
      <p:ext uri="{BB962C8B-B14F-4D97-AF65-F5344CB8AC3E}">
        <p14:creationId xmlns:p14="http://schemas.microsoft.com/office/powerpoint/2010/main" val="28335895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Perfectly Elastic Demand, (PED = ∞)</a:t>
            </a:r>
            <a:br>
              <a:rPr lang="en-US" b="1" dirty="0"/>
            </a:br>
            <a:endParaRPr lang="en-US"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6582" y="1600200"/>
            <a:ext cx="565883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08079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Perfectly Elastic Demand, (PED = ∞)</a:t>
            </a:r>
          </a:p>
        </p:txBody>
      </p:sp>
      <p:sp>
        <p:nvSpPr>
          <p:cNvPr id="3" name="Content Placeholder 2"/>
          <p:cNvSpPr>
            <a:spLocks noGrp="1"/>
          </p:cNvSpPr>
          <p:nvPr>
            <p:ph idx="1"/>
          </p:nvPr>
        </p:nvSpPr>
        <p:spPr/>
        <p:txBody>
          <a:bodyPr>
            <a:normAutofit lnSpcReduction="10000"/>
          </a:bodyPr>
          <a:lstStyle/>
          <a:p>
            <a:pPr algn="just"/>
            <a:r>
              <a:rPr lang="en-US" dirty="0"/>
              <a:t>In Perfectly Elastic Demand, a small rise in price will result in a fall in demand to zero, while a small fall in price will result in the demand to become infinite. Consumers will buy all available at some price, but none at any other price. </a:t>
            </a:r>
          </a:p>
          <a:p>
            <a:pPr algn="just"/>
            <a:r>
              <a:rPr lang="en-US" dirty="0"/>
              <a:t>This is a theoretical concept because it requires perfect competition where the slightest price increase results in zero demand.</a:t>
            </a:r>
          </a:p>
          <a:p>
            <a:pPr algn="just"/>
            <a:r>
              <a:rPr lang="en-US" dirty="0"/>
              <a:t>In a perfectly elastic demand, the demand curve is represented as a horizontal straight line.</a:t>
            </a:r>
          </a:p>
          <a:p>
            <a:endParaRPr lang="en-US" dirty="0"/>
          </a:p>
        </p:txBody>
      </p:sp>
    </p:spTree>
    <p:extLst>
      <p:ext uri="{BB962C8B-B14F-4D97-AF65-F5344CB8AC3E}">
        <p14:creationId xmlns:p14="http://schemas.microsoft.com/office/powerpoint/2010/main" val="11507041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58EF-11B5-4877-ACAD-D081D450DB83}"/>
              </a:ext>
            </a:extLst>
          </p:cNvPr>
          <p:cNvSpPr>
            <a:spLocks noGrp="1"/>
          </p:cNvSpPr>
          <p:nvPr>
            <p:ph type="title"/>
          </p:nvPr>
        </p:nvSpPr>
        <p:spPr/>
        <p:txBody>
          <a:bodyPr>
            <a:normAutofit fontScale="90000"/>
          </a:bodyPr>
          <a:lstStyle/>
          <a:p>
            <a:r>
              <a:rPr lang="en-US" b="0" i="0" dirty="0">
                <a:solidFill>
                  <a:srgbClr val="111111"/>
                </a:solidFill>
                <a:effectLst/>
                <a:latin typeface="SourceSansPro"/>
              </a:rPr>
              <a:t>What Is Utility?</a:t>
            </a:r>
            <a:br>
              <a:rPr lang="en-US" b="0" i="0" dirty="0">
                <a:solidFill>
                  <a:srgbClr val="111111"/>
                </a:solidFill>
                <a:effectLst/>
                <a:latin typeface="SourceSansPro"/>
              </a:rPr>
            </a:br>
            <a:endParaRPr lang="en-US" dirty="0"/>
          </a:p>
        </p:txBody>
      </p:sp>
      <p:sp>
        <p:nvSpPr>
          <p:cNvPr id="3" name="Content Placeholder 2">
            <a:extLst>
              <a:ext uri="{FF2B5EF4-FFF2-40B4-BE49-F238E27FC236}">
                <a16:creationId xmlns:a16="http://schemas.microsoft.com/office/drawing/2014/main" id="{95E934B7-76F9-4E6B-B3F6-B7931C278530}"/>
              </a:ext>
            </a:extLst>
          </p:cNvPr>
          <p:cNvSpPr>
            <a:spLocks noGrp="1"/>
          </p:cNvSpPr>
          <p:nvPr>
            <p:ph idx="1"/>
          </p:nvPr>
        </p:nvSpPr>
        <p:spPr/>
        <p:txBody>
          <a:bodyPr/>
          <a:lstStyle/>
          <a:p>
            <a:pPr algn="just"/>
            <a:r>
              <a:rPr lang="en-US" b="0" i="0" dirty="0">
                <a:solidFill>
                  <a:srgbClr val="111111"/>
                </a:solidFill>
                <a:effectLst/>
                <a:latin typeface="SourceSansPro"/>
              </a:rPr>
              <a:t>Utility is a term in economics that refers to the total satisfaction received from consuming a good or service. </a:t>
            </a:r>
          </a:p>
          <a:p>
            <a:pPr algn="just"/>
            <a:r>
              <a:rPr lang="en-US" b="0" i="0" dirty="0">
                <a:solidFill>
                  <a:srgbClr val="111111"/>
                </a:solidFill>
                <a:effectLst/>
                <a:latin typeface="SourceSansPro"/>
              </a:rPr>
              <a:t>Economic theories based on rational choice usually assume that consumers will strive to maximize their utility. </a:t>
            </a:r>
          </a:p>
          <a:p>
            <a:pPr algn="just"/>
            <a:r>
              <a:rPr lang="en-US" b="0" i="0" dirty="0">
                <a:solidFill>
                  <a:srgbClr val="111111"/>
                </a:solidFill>
                <a:effectLst/>
                <a:latin typeface="SourceSansPro"/>
              </a:rPr>
              <a:t>The economic utility of a good or service is important to understand, because it directly influences the demand, and therefore price, of that good or service. </a:t>
            </a:r>
          </a:p>
          <a:p>
            <a:endParaRPr lang="en-US" dirty="0"/>
          </a:p>
        </p:txBody>
      </p:sp>
    </p:spTree>
    <p:extLst>
      <p:ext uri="{BB962C8B-B14F-4D97-AF65-F5344CB8AC3E}">
        <p14:creationId xmlns:p14="http://schemas.microsoft.com/office/powerpoint/2010/main" val="39003701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Customers </a:t>
            </a:r>
            <a:r>
              <a:rPr lang="en-US" dirty="0" err="1"/>
              <a:t>vs</a:t>
            </a:r>
            <a:r>
              <a:rPr lang="en-US" dirty="0"/>
              <a:t> consumers-final users</a:t>
            </a:r>
          </a:p>
        </p:txBody>
      </p:sp>
    </p:spTree>
    <p:extLst>
      <p:ext uri="{BB962C8B-B14F-4D97-AF65-F5344CB8AC3E}">
        <p14:creationId xmlns:p14="http://schemas.microsoft.com/office/powerpoint/2010/main" val="11479746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93191-49CF-44A9-96F2-46CC2CFCE953}"/>
              </a:ext>
            </a:extLst>
          </p:cNvPr>
          <p:cNvSpPr>
            <a:spLocks noGrp="1"/>
          </p:cNvSpPr>
          <p:nvPr>
            <p:ph type="title"/>
          </p:nvPr>
        </p:nvSpPr>
        <p:spPr/>
        <p:txBody>
          <a:bodyPr>
            <a:normAutofit fontScale="90000"/>
          </a:bodyPr>
          <a:lstStyle/>
          <a:p>
            <a:r>
              <a:rPr lang="en-US" b="0" i="0" dirty="0">
                <a:solidFill>
                  <a:srgbClr val="2E4278"/>
                </a:solidFill>
                <a:effectLst/>
                <a:latin typeface="Oswald"/>
              </a:rPr>
              <a:t>Diminishing Marginal </a:t>
            </a:r>
            <a:r>
              <a:rPr lang="en-US" dirty="0">
                <a:solidFill>
                  <a:srgbClr val="2E4278"/>
                </a:solidFill>
                <a:latin typeface="Oswald"/>
              </a:rPr>
              <a:t>U</a:t>
            </a:r>
            <a:r>
              <a:rPr lang="en-US" b="0" i="0" dirty="0">
                <a:solidFill>
                  <a:srgbClr val="2E4278"/>
                </a:solidFill>
                <a:effectLst/>
                <a:latin typeface="Oswald"/>
              </a:rPr>
              <a:t>tility</a:t>
            </a:r>
            <a:br>
              <a:rPr lang="en-US" b="0" i="0" dirty="0">
                <a:solidFill>
                  <a:srgbClr val="2E4278"/>
                </a:solidFill>
                <a:effectLst/>
                <a:latin typeface="Oswald"/>
              </a:rPr>
            </a:br>
            <a:endParaRPr lang="en-US" dirty="0"/>
          </a:p>
        </p:txBody>
      </p:sp>
      <p:sp>
        <p:nvSpPr>
          <p:cNvPr id="3" name="Content Placeholder 2">
            <a:extLst>
              <a:ext uri="{FF2B5EF4-FFF2-40B4-BE49-F238E27FC236}">
                <a16:creationId xmlns:a16="http://schemas.microsoft.com/office/drawing/2014/main" id="{D97E0003-3D00-4914-B181-DE7F853822E5}"/>
              </a:ext>
            </a:extLst>
          </p:cNvPr>
          <p:cNvSpPr>
            <a:spLocks noGrp="1"/>
          </p:cNvSpPr>
          <p:nvPr>
            <p:ph idx="1"/>
          </p:nvPr>
        </p:nvSpPr>
        <p:spPr/>
        <p:txBody>
          <a:bodyPr>
            <a:normAutofit fontScale="77500" lnSpcReduction="20000"/>
          </a:bodyPr>
          <a:lstStyle/>
          <a:p>
            <a:pPr algn="just"/>
            <a:r>
              <a:rPr lang="en-US" b="0" i="0" dirty="0">
                <a:solidFill>
                  <a:srgbClr val="000000"/>
                </a:solidFill>
                <a:effectLst/>
                <a:latin typeface="Roboto"/>
              </a:rPr>
              <a:t>One of the earliest explanations of the inverse relationship between price and quantity demanded is the law of diminishing marginal utility. This law suggests that as more of a product is consumed the marginal (</a:t>
            </a:r>
            <a:r>
              <a:rPr lang="en-US" b="0" i="0" dirty="0">
                <a:solidFill>
                  <a:srgbClr val="FF0000"/>
                </a:solidFill>
                <a:effectLst/>
                <a:latin typeface="Roboto"/>
              </a:rPr>
              <a:t>additional</a:t>
            </a:r>
            <a:r>
              <a:rPr lang="en-US" b="0" i="0" dirty="0">
                <a:solidFill>
                  <a:srgbClr val="000000"/>
                </a:solidFill>
                <a:effectLst/>
                <a:latin typeface="Roboto"/>
              </a:rPr>
              <a:t>) benefit to the consumer falls, hence consumers are prepared to pay less. This can be explained as follows:</a:t>
            </a:r>
          </a:p>
          <a:p>
            <a:pPr algn="just"/>
            <a:r>
              <a:rPr lang="en-US" b="0" i="0" dirty="0">
                <a:solidFill>
                  <a:srgbClr val="000000"/>
                </a:solidFill>
                <a:effectLst/>
                <a:latin typeface="Roboto"/>
              </a:rPr>
              <a:t>Most benefit is generated by the first unit of a good consumed because it satisfies most of the immediate need or desire.</a:t>
            </a:r>
          </a:p>
          <a:p>
            <a:pPr algn="just"/>
            <a:r>
              <a:rPr lang="en-US" b="0" i="0" dirty="0">
                <a:solidFill>
                  <a:srgbClr val="000000"/>
                </a:solidFill>
                <a:effectLst/>
                <a:latin typeface="Roboto"/>
              </a:rPr>
              <a:t>A second unit consumed would generate less utility – perhaps even zero, given that the consumer has less need or less desire.</a:t>
            </a:r>
          </a:p>
          <a:p>
            <a:pPr algn="just"/>
            <a:r>
              <a:rPr lang="en-US" b="0" i="0" dirty="0">
                <a:solidFill>
                  <a:srgbClr val="000000"/>
                </a:solidFill>
                <a:effectLst/>
                <a:latin typeface="Roboto"/>
              </a:rPr>
              <a:t>With less benefit derived, the rational consumer is prepared to pay rather less for the second, and subsequent, units, given that the marginal utility falls.</a:t>
            </a:r>
            <a:endParaRPr lang="en-US" dirty="0"/>
          </a:p>
        </p:txBody>
      </p:sp>
    </p:spTree>
    <p:extLst>
      <p:ext uri="{BB962C8B-B14F-4D97-AF65-F5344CB8AC3E}">
        <p14:creationId xmlns:p14="http://schemas.microsoft.com/office/powerpoint/2010/main" val="5200914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A1F8A-DA1B-4C87-B4D1-D4D1FCB4C5F5}"/>
              </a:ext>
            </a:extLst>
          </p:cNvPr>
          <p:cNvSpPr>
            <a:spLocks noGrp="1"/>
          </p:cNvSpPr>
          <p:nvPr>
            <p:ph type="title"/>
          </p:nvPr>
        </p:nvSpPr>
        <p:spPr>
          <a:xfrm>
            <a:off x="838200" y="325370"/>
            <a:ext cx="10515600" cy="1325563"/>
          </a:xfrm>
        </p:spPr>
        <p:txBody>
          <a:bodyPr>
            <a:normAutofit fontScale="90000"/>
          </a:bodyPr>
          <a:lstStyle/>
          <a:p>
            <a:r>
              <a:rPr lang="en-US" b="0" i="0" dirty="0">
                <a:solidFill>
                  <a:srgbClr val="2E4278"/>
                </a:solidFill>
                <a:effectLst/>
                <a:latin typeface="Oswald"/>
              </a:rPr>
              <a:t>Diminishing marginal utility</a:t>
            </a:r>
            <a:br>
              <a:rPr lang="en-US" b="0" i="0" dirty="0">
                <a:solidFill>
                  <a:srgbClr val="2E4278"/>
                </a:solidFill>
                <a:effectLst/>
                <a:latin typeface="Oswald"/>
              </a:rPr>
            </a:br>
            <a:endParaRPr lang="en-US" dirty="0"/>
          </a:p>
        </p:txBody>
      </p:sp>
      <p:sp>
        <p:nvSpPr>
          <p:cNvPr id="3" name="Content Placeholder 2">
            <a:extLst>
              <a:ext uri="{FF2B5EF4-FFF2-40B4-BE49-F238E27FC236}">
                <a16:creationId xmlns:a16="http://schemas.microsoft.com/office/drawing/2014/main" id="{456271D6-5315-465C-B877-0B4159222139}"/>
              </a:ext>
            </a:extLst>
          </p:cNvPr>
          <p:cNvSpPr>
            <a:spLocks noGrp="1"/>
          </p:cNvSpPr>
          <p:nvPr>
            <p:ph idx="1"/>
          </p:nvPr>
        </p:nvSpPr>
        <p:spPr/>
        <p:txBody>
          <a:bodyPr/>
          <a:lstStyle/>
          <a:p>
            <a:r>
              <a:rPr lang="en-US" b="0" i="0" dirty="0">
                <a:solidFill>
                  <a:srgbClr val="000000"/>
                </a:solidFill>
                <a:effectLst/>
                <a:latin typeface="Roboto"/>
              </a:rPr>
              <a:t>Consider the following figures for utility derived by an individual when consuming bars of chocolate. </a:t>
            </a:r>
          </a:p>
          <a:p>
            <a:endParaRPr lang="en-US" dirty="0"/>
          </a:p>
        </p:txBody>
      </p:sp>
      <p:graphicFrame>
        <p:nvGraphicFramePr>
          <p:cNvPr id="4" name="Table 3">
            <a:extLst>
              <a:ext uri="{FF2B5EF4-FFF2-40B4-BE49-F238E27FC236}">
                <a16:creationId xmlns:a16="http://schemas.microsoft.com/office/drawing/2014/main" id="{39E99332-EF94-4A13-9A27-8CCC3A1D4C57}"/>
              </a:ext>
            </a:extLst>
          </p:cNvPr>
          <p:cNvGraphicFramePr>
            <a:graphicFrameLocks noGrp="1"/>
          </p:cNvGraphicFramePr>
          <p:nvPr>
            <p:extLst>
              <p:ext uri="{D42A27DB-BD31-4B8C-83A1-F6EECF244321}">
                <p14:modId xmlns:p14="http://schemas.microsoft.com/office/powerpoint/2010/main" val="2108994525"/>
              </p:ext>
            </p:extLst>
          </p:nvPr>
        </p:nvGraphicFramePr>
        <p:xfrm>
          <a:off x="1854926" y="2599508"/>
          <a:ext cx="8773317" cy="3657600"/>
        </p:xfrm>
        <a:graphic>
          <a:graphicData uri="http://schemas.openxmlformats.org/drawingml/2006/table">
            <a:tbl>
              <a:tblPr/>
              <a:tblGrid>
                <a:gridCol w="2924439">
                  <a:extLst>
                    <a:ext uri="{9D8B030D-6E8A-4147-A177-3AD203B41FA5}">
                      <a16:colId xmlns:a16="http://schemas.microsoft.com/office/drawing/2014/main" val="2472045145"/>
                    </a:ext>
                  </a:extLst>
                </a:gridCol>
                <a:gridCol w="2924439">
                  <a:extLst>
                    <a:ext uri="{9D8B030D-6E8A-4147-A177-3AD203B41FA5}">
                      <a16:colId xmlns:a16="http://schemas.microsoft.com/office/drawing/2014/main" val="1529961654"/>
                    </a:ext>
                  </a:extLst>
                </a:gridCol>
                <a:gridCol w="2924439">
                  <a:extLst>
                    <a:ext uri="{9D8B030D-6E8A-4147-A177-3AD203B41FA5}">
                      <a16:colId xmlns:a16="http://schemas.microsoft.com/office/drawing/2014/main" val="1720534055"/>
                    </a:ext>
                  </a:extLst>
                </a:gridCol>
              </a:tblGrid>
              <a:tr h="323058">
                <a:tc>
                  <a:txBody>
                    <a:bodyPr/>
                    <a:lstStyle/>
                    <a:p>
                      <a:r>
                        <a:rPr lang="en-US" b="1" dirty="0">
                          <a:effectLst/>
                        </a:rPr>
                        <a:t>BARS</a:t>
                      </a:r>
                      <a:endParaRPr lang="en-US" dirty="0">
                        <a:effectLst/>
                      </a:endParaRPr>
                    </a:p>
                  </a:txBody>
                  <a:tcPr anchor="ctr">
                    <a:lnL>
                      <a:noFill/>
                    </a:lnL>
                    <a:lnR>
                      <a:noFill/>
                    </a:lnR>
                    <a:lnT>
                      <a:noFill/>
                    </a:lnT>
                    <a:lnB>
                      <a:noFill/>
                    </a:lnB>
                    <a:solidFill>
                      <a:srgbClr val="FFFFFF"/>
                    </a:solidFill>
                  </a:tcPr>
                </a:tc>
                <a:tc>
                  <a:txBody>
                    <a:bodyPr/>
                    <a:lstStyle/>
                    <a:p>
                      <a:r>
                        <a:rPr lang="en-US" b="1">
                          <a:effectLst/>
                        </a:rPr>
                        <a:t>TOTAL UTILITY</a:t>
                      </a:r>
                      <a:endParaRPr lang="en-US">
                        <a:effectLst/>
                      </a:endParaRPr>
                    </a:p>
                  </a:txBody>
                  <a:tcPr anchor="ctr">
                    <a:lnL>
                      <a:noFill/>
                    </a:lnL>
                    <a:lnR>
                      <a:noFill/>
                    </a:lnR>
                    <a:lnT>
                      <a:noFill/>
                    </a:lnT>
                    <a:lnB>
                      <a:noFill/>
                    </a:lnB>
                    <a:solidFill>
                      <a:srgbClr val="FFFFFF"/>
                    </a:solidFill>
                  </a:tcPr>
                </a:tc>
                <a:tc>
                  <a:txBody>
                    <a:bodyPr/>
                    <a:lstStyle/>
                    <a:p>
                      <a:r>
                        <a:rPr lang="en-US" b="1">
                          <a:effectLst/>
                        </a:rPr>
                        <a:t>MARGINAL UTILITY</a:t>
                      </a:r>
                      <a:endParaRPr lang="en-US">
                        <a:effectLst/>
                      </a:endParaRPr>
                    </a:p>
                  </a:txBody>
                  <a:tcPr anchor="ctr">
                    <a:lnL>
                      <a:noFill/>
                    </a:lnL>
                    <a:lnR>
                      <a:noFill/>
                    </a:lnR>
                    <a:lnT>
                      <a:noFill/>
                    </a:lnT>
                    <a:lnB>
                      <a:noFill/>
                    </a:lnB>
                    <a:solidFill>
                      <a:srgbClr val="FFFFFF"/>
                    </a:solidFill>
                  </a:tcPr>
                </a:tc>
                <a:extLst>
                  <a:ext uri="{0D108BD9-81ED-4DB2-BD59-A6C34878D82A}">
                    <a16:rowId xmlns:a16="http://schemas.microsoft.com/office/drawing/2014/main" val="3658653753"/>
                  </a:ext>
                </a:extLst>
              </a:tr>
              <a:tr h="323058">
                <a:tc>
                  <a:txBody>
                    <a:bodyPr/>
                    <a:lstStyle/>
                    <a:p>
                      <a:r>
                        <a:rPr lang="en-US">
                          <a:effectLst/>
                        </a:rPr>
                        <a:t>1</a:t>
                      </a:r>
                    </a:p>
                  </a:txBody>
                  <a:tcPr anchor="ctr">
                    <a:lnL>
                      <a:noFill/>
                    </a:lnL>
                    <a:lnR>
                      <a:noFill/>
                    </a:lnR>
                    <a:lnT>
                      <a:noFill/>
                    </a:lnT>
                    <a:lnB>
                      <a:noFill/>
                    </a:lnB>
                    <a:solidFill>
                      <a:srgbClr val="FFFFFF"/>
                    </a:solidFill>
                  </a:tcPr>
                </a:tc>
                <a:tc>
                  <a:txBody>
                    <a:bodyPr/>
                    <a:lstStyle/>
                    <a:p>
                      <a:r>
                        <a:rPr lang="en-US">
                          <a:effectLst/>
                        </a:rPr>
                        <a:t>100</a:t>
                      </a:r>
                    </a:p>
                  </a:txBody>
                  <a:tcPr anchor="ctr">
                    <a:lnL>
                      <a:noFill/>
                    </a:lnL>
                    <a:lnR>
                      <a:noFill/>
                    </a:lnR>
                    <a:lnT>
                      <a:noFill/>
                    </a:lnT>
                    <a:lnB>
                      <a:noFill/>
                    </a:lnB>
                    <a:solidFill>
                      <a:srgbClr val="FFFFFF"/>
                    </a:solidFill>
                  </a:tcPr>
                </a:tc>
                <a:tc>
                  <a:txBody>
                    <a:bodyPr/>
                    <a:lstStyle/>
                    <a:p>
                      <a:endParaRPr lang="en-US" dirty="0">
                        <a:effectLst/>
                      </a:endParaRPr>
                    </a:p>
                  </a:txBody>
                  <a:tcPr anchor="ctr">
                    <a:lnL>
                      <a:noFill/>
                    </a:lnL>
                    <a:lnR>
                      <a:noFill/>
                    </a:lnR>
                    <a:lnT>
                      <a:noFill/>
                    </a:lnT>
                    <a:lnB>
                      <a:noFill/>
                    </a:lnB>
                    <a:solidFill>
                      <a:srgbClr val="FFFFFF"/>
                    </a:solidFill>
                  </a:tcPr>
                </a:tc>
                <a:extLst>
                  <a:ext uri="{0D108BD9-81ED-4DB2-BD59-A6C34878D82A}">
                    <a16:rowId xmlns:a16="http://schemas.microsoft.com/office/drawing/2014/main" val="2027441645"/>
                  </a:ext>
                </a:extLst>
              </a:tr>
              <a:tr h="323058">
                <a:tc>
                  <a:txBody>
                    <a:bodyPr/>
                    <a:lstStyle/>
                    <a:p>
                      <a:r>
                        <a:rPr lang="en-US">
                          <a:effectLst/>
                        </a:rPr>
                        <a:t>2</a:t>
                      </a:r>
                    </a:p>
                  </a:txBody>
                  <a:tcPr anchor="ctr">
                    <a:lnL>
                      <a:noFill/>
                    </a:lnL>
                    <a:lnR>
                      <a:noFill/>
                    </a:lnR>
                    <a:lnT>
                      <a:noFill/>
                    </a:lnT>
                    <a:lnB>
                      <a:noFill/>
                    </a:lnB>
                    <a:solidFill>
                      <a:srgbClr val="FFFFFF"/>
                    </a:solidFill>
                  </a:tcPr>
                </a:tc>
                <a:tc>
                  <a:txBody>
                    <a:bodyPr/>
                    <a:lstStyle/>
                    <a:p>
                      <a:r>
                        <a:rPr lang="en-US" dirty="0">
                          <a:effectLst/>
                        </a:rPr>
                        <a:t>190</a:t>
                      </a:r>
                    </a:p>
                  </a:txBody>
                  <a:tcPr anchor="ctr">
                    <a:lnL>
                      <a:noFill/>
                    </a:lnL>
                    <a:lnR>
                      <a:noFill/>
                    </a:lnR>
                    <a:lnT>
                      <a:noFill/>
                    </a:lnT>
                    <a:lnB>
                      <a:noFill/>
                    </a:lnB>
                    <a:solidFill>
                      <a:srgbClr val="FFFFFF"/>
                    </a:solidFill>
                  </a:tcPr>
                </a:tc>
                <a:tc>
                  <a:txBody>
                    <a:bodyPr/>
                    <a:lstStyle/>
                    <a:p>
                      <a:r>
                        <a:rPr lang="en-US" dirty="0">
                          <a:effectLst/>
                        </a:rPr>
                        <a:t>90</a:t>
                      </a:r>
                    </a:p>
                  </a:txBody>
                  <a:tcPr anchor="ctr">
                    <a:lnL>
                      <a:noFill/>
                    </a:lnL>
                    <a:lnR>
                      <a:noFill/>
                    </a:lnR>
                    <a:lnT>
                      <a:noFill/>
                    </a:lnT>
                    <a:lnB>
                      <a:noFill/>
                    </a:lnB>
                    <a:solidFill>
                      <a:srgbClr val="FFFFFF"/>
                    </a:solidFill>
                  </a:tcPr>
                </a:tc>
                <a:extLst>
                  <a:ext uri="{0D108BD9-81ED-4DB2-BD59-A6C34878D82A}">
                    <a16:rowId xmlns:a16="http://schemas.microsoft.com/office/drawing/2014/main" val="4214116568"/>
                  </a:ext>
                </a:extLst>
              </a:tr>
              <a:tr h="323058">
                <a:tc>
                  <a:txBody>
                    <a:bodyPr/>
                    <a:lstStyle/>
                    <a:p>
                      <a:r>
                        <a:rPr lang="en-US" dirty="0">
                          <a:effectLst/>
                        </a:rPr>
                        <a:t>3</a:t>
                      </a:r>
                    </a:p>
                  </a:txBody>
                  <a:tcPr anchor="ctr">
                    <a:lnL>
                      <a:noFill/>
                    </a:lnL>
                    <a:lnR>
                      <a:noFill/>
                    </a:lnR>
                    <a:lnT>
                      <a:noFill/>
                    </a:lnT>
                    <a:lnB>
                      <a:noFill/>
                    </a:lnB>
                    <a:solidFill>
                      <a:srgbClr val="FFFFFF"/>
                    </a:solidFill>
                  </a:tcPr>
                </a:tc>
                <a:tc>
                  <a:txBody>
                    <a:bodyPr/>
                    <a:lstStyle/>
                    <a:p>
                      <a:r>
                        <a:rPr lang="en-US">
                          <a:effectLst/>
                        </a:rPr>
                        <a:t>270</a:t>
                      </a:r>
                    </a:p>
                  </a:txBody>
                  <a:tcPr anchor="ctr">
                    <a:lnL>
                      <a:noFill/>
                    </a:lnL>
                    <a:lnR>
                      <a:noFill/>
                    </a:lnR>
                    <a:lnT>
                      <a:noFill/>
                    </a:lnT>
                    <a:lnB>
                      <a:noFill/>
                    </a:lnB>
                    <a:solidFill>
                      <a:srgbClr val="FFFFFF"/>
                    </a:solidFill>
                  </a:tcPr>
                </a:tc>
                <a:tc>
                  <a:txBody>
                    <a:bodyPr/>
                    <a:lstStyle/>
                    <a:p>
                      <a:r>
                        <a:rPr lang="en-US">
                          <a:effectLst/>
                        </a:rPr>
                        <a:t>80</a:t>
                      </a:r>
                    </a:p>
                  </a:txBody>
                  <a:tcPr anchor="ctr">
                    <a:lnL>
                      <a:noFill/>
                    </a:lnL>
                    <a:lnR>
                      <a:noFill/>
                    </a:lnR>
                    <a:lnT>
                      <a:noFill/>
                    </a:lnT>
                    <a:lnB>
                      <a:noFill/>
                    </a:lnB>
                    <a:solidFill>
                      <a:srgbClr val="FFFFFF"/>
                    </a:solidFill>
                  </a:tcPr>
                </a:tc>
                <a:extLst>
                  <a:ext uri="{0D108BD9-81ED-4DB2-BD59-A6C34878D82A}">
                    <a16:rowId xmlns:a16="http://schemas.microsoft.com/office/drawing/2014/main" val="712930142"/>
                  </a:ext>
                </a:extLst>
              </a:tr>
              <a:tr h="323058">
                <a:tc>
                  <a:txBody>
                    <a:bodyPr/>
                    <a:lstStyle/>
                    <a:p>
                      <a:r>
                        <a:rPr lang="en-US" dirty="0">
                          <a:effectLst/>
                        </a:rPr>
                        <a:t>4</a:t>
                      </a:r>
                    </a:p>
                  </a:txBody>
                  <a:tcPr anchor="ctr">
                    <a:lnL>
                      <a:noFill/>
                    </a:lnL>
                    <a:lnR>
                      <a:noFill/>
                    </a:lnR>
                    <a:lnT>
                      <a:noFill/>
                    </a:lnT>
                    <a:lnB>
                      <a:noFill/>
                    </a:lnB>
                    <a:solidFill>
                      <a:srgbClr val="FFFFFF"/>
                    </a:solidFill>
                  </a:tcPr>
                </a:tc>
                <a:tc>
                  <a:txBody>
                    <a:bodyPr/>
                    <a:lstStyle/>
                    <a:p>
                      <a:r>
                        <a:rPr lang="en-US">
                          <a:effectLst/>
                        </a:rPr>
                        <a:t>340</a:t>
                      </a:r>
                    </a:p>
                  </a:txBody>
                  <a:tcPr anchor="ctr">
                    <a:lnL>
                      <a:noFill/>
                    </a:lnL>
                    <a:lnR>
                      <a:noFill/>
                    </a:lnR>
                    <a:lnT>
                      <a:noFill/>
                    </a:lnT>
                    <a:lnB>
                      <a:noFill/>
                    </a:lnB>
                    <a:solidFill>
                      <a:srgbClr val="FFFFFF"/>
                    </a:solidFill>
                  </a:tcPr>
                </a:tc>
                <a:tc>
                  <a:txBody>
                    <a:bodyPr/>
                    <a:lstStyle/>
                    <a:p>
                      <a:r>
                        <a:rPr lang="en-US">
                          <a:effectLst/>
                        </a:rPr>
                        <a:t>70</a:t>
                      </a:r>
                    </a:p>
                  </a:txBody>
                  <a:tcPr anchor="ctr">
                    <a:lnL>
                      <a:noFill/>
                    </a:lnL>
                    <a:lnR>
                      <a:noFill/>
                    </a:lnR>
                    <a:lnT>
                      <a:noFill/>
                    </a:lnT>
                    <a:lnB>
                      <a:noFill/>
                    </a:lnB>
                    <a:solidFill>
                      <a:srgbClr val="FFFFFF"/>
                    </a:solidFill>
                  </a:tcPr>
                </a:tc>
                <a:extLst>
                  <a:ext uri="{0D108BD9-81ED-4DB2-BD59-A6C34878D82A}">
                    <a16:rowId xmlns:a16="http://schemas.microsoft.com/office/drawing/2014/main" val="607636548"/>
                  </a:ext>
                </a:extLst>
              </a:tr>
              <a:tr h="323058">
                <a:tc>
                  <a:txBody>
                    <a:bodyPr/>
                    <a:lstStyle/>
                    <a:p>
                      <a:r>
                        <a:rPr lang="en-US" dirty="0">
                          <a:effectLst/>
                        </a:rPr>
                        <a:t>5</a:t>
                      </a:r>
                    </a:p>
                  </a:txBody>
                  <a:tcPr anchor="ctr">
                    <a:lnL>
                      <a:noFill/>
                    </a:lnL>
                    <a:lnR>
                      <a:noFill/>
                    </a:lnR>
                    <a:lnT>
                      <a:noFill/>
                    </a:lnT>
                    <a:lnB>
                      <a:noFill/>
                    </a:lnB>
                    <a:solidFill>
                      <a:srgbClr val="FFFFFF"/>
                    </a:solidFill>
                  </a:tcPr>
                </a:tc>
                <a:tc>
                  <a:txBody>
                    <a:bodyPr/>
                    <a:lstStyle/>
                    <a:p>
                      <a:r>
                        <a:rPr lang="en-US">
                          <a:effectLst/>
                        </a:rPr>
                        <a:t>400</a:t>
                      </a:r>
                    </a:p>
                  </a:txBody>
                  <a:tcPr anchor="ctr">
                    <a:lnL>
                      <a:noFill/>
                    </a:lnL>
                    <a:lnR>
                      <a:noFill/>
                    </a:lnR>
                    <a:lnT>
                      <a:noFill/>
                    </a:lnT>
                    <a:lnB>
                      <a:noFill/>
                    </a:lnB>
                    <a:solidFill>
                      <a:srgbClr val="FFFFFF"/>
                    </a:solidFill>
                  </a:tcPr>
                </a:tc>
                <a:tc>
                  <a:txBody>
                    <a:bodyPr/>
                    <a:lstStyle/>
                    <a:p>
                      <a:r>
                        <a:rPr lang="en-US" dirty="0">
                          <a:effectLst/>
                        </a:rPr>
                        <a:t>60</a:t>
                      </a:r>
                    </a:p>
                  </a:txBody>
                  <a:tcPr anchor="ctr">
                    <a:lnL>
                      <a:noFill/>
                    </a:lnL>
                    <a:lnR>
                      <a:noFill/>
                    </a:lnR>
                    <a:lnT>
                      <a:noFill/>
                    </a:lnT>
                    <a:lnB>
                      <a:noFill/>
                    </a:lnB>
                    <a:solidFill>
                      <a:srgbClr val="FFFFFF"/>
                    </a:solidFill>
                  </a:tcPr>
                </a:tc>
                <a:extLst>
                  <a:ext uri="{0D108BD9-81ED-4DB2-BD59-A6C34878D82A}">
                    <a16:rowId xmlns:a16="http://schemas.microsoft.com/office/drawing/2014/main" val="1645932712"/>
                  </a:ext>
                </a:extLst>
              </a:tr>
              <a:tr h="323058">
                <a:tc>
                  <a:txBody>
                    <a:bodyPr/>
                    <a:lstStyle/>
                    <a:p>
                      <a:r>
                        <a:rPr lang="en-US" dirty="0">
                          <a:effectLst/>
                        </a:rPr>
                        <a:t>6</a:t>
                      </a:r>
                    </a:p>
                  </a:txBody>
                  <a:tcPr anchor="ctr">
                    <a:lnL>
                      <a:noFill/>
                    </a:lnL>
                    <a:lnR>
                      <a:noFill/>
                    </a:lnR>
                    <a:lnT>
                      <a:noFill/>
                    </a:lnT>
                    <a:lnB>
                      <a:noFill/>
                    </a:lnB>
                    <a:solidFill>
                      <a:srgbClr val="FFFFFF"/>
                    </a:solidFill>
                  </a:tcPr>
                </a:tc>
                <a:tc>
                  <a:txBody>
                    <a:bodyPr/>
                    <a:lstStyle/>
                    <a:p>
                      <a:r>
                        <a:rPr lang="en-US">
                          <a:effectLst/>
                        </a:rPr>
                        <a:t>450</a:t>
                      </a:r>
                    </a:p>
                  </a:txBody>
                  <a:tcPr anchor="ctr">
                    <a:lnL>
                      <a:noFill/>
                    </a:lnL>
                    <a:lnR>
                      <a:noFill/>
                    </a:lnR>
                    <a:lnT>
                      <a:noFill/>
                    </a:lnT>
                    <a:lnB>
                      <a:noFill/>
                    </a:lnB>
                    <a:solidFill>
                      <a:srgbClr val="FFFFFF"/>
                    </a:solidFill>
                  </a:tcPr>
                </a:tc>
                <a:tc>
                  <a:txBody>
                    <a:bodyPr/>
                    <a:lstStyle/>
                    <a:p>
                      <a:r>
                        <a:rPr lang="en-US">
                          <a:effectLst/>
                        </a:rPr>
                        <a:t>50</a:t>
                      </a:r>
                    </a:p>
                  </a:txBody>
                  <a:tcPr anchor="ctr">
                    <a:lnL>
                      <a:noFill/>
                    </a:lnL>
                    <a:lnR>
                      <a:noFill/>
                    </a:lnR>
                    <a:lnT>
                      <a:noFill/>
                    </a:lnT>
                    <a:lnB>
                      <a:noFill/>
                    </a:lnB>
                    <a:solidFill>
                      <a:srgbClr val="FFFFFF"/>
                    </a:solidFill>
                  </a:tcPr>
                </a:tc>
                <a:extLst>
                  <a:ext uri="{0D108BD9-81ED-4DB2-BD59-A6C34878D82A}">
                    <a16:rowId xmlns:a16="http://schemas.microsoft.com/office/drawing/2014/main" val="3497235017"/>
                  </a:ext>
                </a:extLst>
              </a:tr>
              <a:tr h="323058">
                <a:tc>
                  <a:txBody>
                    <a:bodyPr/>
                    <a:lstStyle/>
                    <a:p>
                      <a:r>
                        <a:rPr lang="en-US">
                          <a:effectLst/>
                        </a:rPr>
                        <a:t>7</a:t>
                      </a:r>
                    </a:p>
                  </a:txBody>
                  <a:tcPr anchor="ctr">
                    <a:lnL>
                      <a:noFill/>
                    </a:lnL>
                    <a:lnR>
                      <a:noFill/>
                    </a:lnR>
                    <a:lnT>
                      <a:noFill/>
                    </a:lnT>
                    <a:lnB>
                      <a:noFill/>
                    </a:lnB>
                    <a:solidFill>
                      <a:srgbClr val="FFFFFF"/>
                    </a:solidFill>
                  </a:tcPr>
                </a:tc>
                <a:tc>
                  <a:txBody>
                    <a:bodyPr/>
                    <a:lstStyle/>
                    <a:p>
                      <a:r>
                        <a:rPr lang="en-US">
                          <a:effectLst/>
                        </a:rPr>
                        <a:t>490</a:t>
                      </a:r>
                    </a:p>
                  </a:txBody>
                  <a:tcPr anchor="ctr">
                    <a:lnL>
                      <a:noFill/>
                    </a:lnL>
                    <a:lnR>
                      <a:noFill/>
                    </a:lnR>
                    <a:lnT>
                      <a:noFill/>
                    </a:lnT>
                    <a:lnB>
                      <a:noFill/>
                    </a:lnB>
                    <a:solidFill>
                      <a:srgbClr val="FFFFFF"/>
                    </a:solidFill>
                  </a:tcPr>
                </a:tc>
                <a:tc>
                  <a:txBody>
                    <a:bodyPr/>
                    <a:lstStyle/>
                    <a:p>
                      <a:r>
                        <a:rPr lang="en-US">
                          <a:effectLst/>
                        </a:rPr>
                        <a:t>40</a:t>
                      </a:r>
                    </a:p>
                  </a:txBody>
                  <a:tcPr anchor="ctr">
                    <a:lnL>
                      <a:noFill/>
                    </a:lnL>
                    <a:lnR>
                      <a:noFill/>
                    </a:lnR>
                    <a:lnT>
                      <a:noFill/>
                    </a:lnT>
                    <a:lnB>
                      <a:noFill/>
                    </a:lnB>
                    <a:solidFill>
                      <a:srgbClr val="FFFFFF"/>
                    </a:solidFill>
                  </a:tcPr>
                </a:tc>
                <a:extLst>
                  <a:ext uri="{0D108BD9-81ED-4DB2-BD59-A6C34878D82A}">
                    <a16:rowId xmlns:a16="http://schemas.microsoft.com/office/drawing/2014/main" val="3279223499"/>
                  </a:ext>
                </a:extLst>
              </a:tr>
              <a:tr h="323058">
                <a:tc>
                  <a:txBody>
                    <a:bodyPr/>
                    <a:lstStyle/>
                    <a:p>
                      <a:r>
                        <a:rPr lang="en-US">
                          <a:effectLst/>
                        </a:rPr>
                        <a:t>8</a:t>
                      </a:r>
                    </a:p>
                  </a:txBody>
                  <a:tcPr anchor="ctr">
                    <a:lnL>
                      <a:noFill/>
                    </a:lnL>
                    <a:lnR>
                      <a:noFill/>
                    </a:lnR>
                    <a:lnT>
                      <a:noFill/>
                    </a:lnT>
                    <a:lnB>
                      <a:noFill/>
                    </a:lnB>
                    <a:solidFill>
                      <a:srgbClr val="FFFFFF"/>
                    </a:solidFill>
                  </a:tcPr>
                </a:tc>
                <a:tc>
                  <a:txBody>
                    <a:bodyPr/>
                    <a:lstStyle/>
                    <a:p>
                      <a:r>
                        <a:rPr lang="en-US">
                          <a:effectLst/>
                        </a:rPr>
                        <a:t>520</a:t>
                      </a:r>
                    </a:p>
                  </a:txBody>
                  <a:tcPr anchor="ctr">
                    <a:lnL>
                      <a:noFill/>
                    </a:lnL>
                    <a:lnR>
                      <a:noFill/>
                    </a:lnR>
                    <a:lnT>
                      <a:noFill/>
                    </a:lnT>
                    <a:lnB>
                      <a:noFill/>
                    </a:lnB>
                    <a:solidFill>
                      <a:srgbClr val="FFFFFF"/>
                    </a:solidFill>
                  </a:tcPr>
                </a:tc>
                <a:tc>
                  <a:txBody>
                    <a:bodyPr/>
                    <a:lstStyle/>
                    <a:p>
                      <a:r>
                        <a:rPr lang="en-US">
                          <a:effectLst/>
                        </a:rPr>
                        <a:t>30</a:t>
                      </a:r>
                    </a:p>
                  </a:txBody>
                  <a:tcPr anchor="ctr">
                    <a:lnL>
                      <a:noFill/>
                    </a:lnL>
                    <a:lnR>
                      <a:noFill/>
                    </a:lnR>
                    <a:lnT>
                      <a:noFill/>
                    </a:lnT>
                    <a:lnB>
                      <a:noFill/>
                    </a:lnB>
                    <a:solidFill>
                      <a:srgbClr val="FFFFFF"/>
                    </a:solidFill>
                  </a:tcPr>
                </a:tc>
                <a:extLst>
                  <a:ext uri="{0D108BD9-81ED-4DB2-BD59-A6C34878D82A}">
                    <a16:rowId xmlns:a16="http://schemas.microsoft.com/office/drawing/2014/main" val="3139657527"/>
                  </a:ext>
                </a:extLst>
              </a:tr>
              <a:tr h="323058">
                <a:tc>
                  <a:txBody>
                    <a:bodyPr/>
                    <a:lstStyle/>
                    <a:p>
                      <a:r>
                        <a:rPr lang="en-US">
                          <a:effectLst/>
                        </a:rPr>
                        <a:t>9</a:t>
                      </a:r>
                    </a:p>
                  </a:txBody>
                  <a:tcPr anchor="ctr">
                    <a:lnL>
                      <a:noFill/>
                    </a:lnL>
                    <a:lnR>
                      <a:noFill/>
                    </a:lnR>
                    <a:lnT>
                      <a:noFill/>
                    </a:lnT>
                    <a:lnB>
                      <a:noFill/>
                    </a:lnB>
                    <a:solidFill>
                      <a:srgbClr val="FFFFFF"/>
                    </a:solidFill>
                  </a:tcPr>
                </a:tc>
                <a:tc>
                  <a:txBody>
                    <a:bodyPr/>
                    <a:lstStyle/>
                    <a:p>
                      <a:r>
                        <a:rPr lang="en-US">
                          <a:effectLst/>
                        </a:rPr>
                        <a:t>540</a:t>
                      </a:r>
                    </a:p>
                  </a:txBody>
                  <a:tcPr anchor="ctr">
                    <a:lnL>
                      <a:noFill/>
                    </a:lnL>
                    <a:lnR>
                      <a:noFill/>
                    </a:lnR>
                    <a:lnT>
                      <a:noFill/>
                    </a:lnT>
                    <a:lnB>
                      <a:noFill/>
                    </a:lnB>
                    <a:solidFill>
                      <a:srgbClr val="FFFFFF"/>
                    </a:solidFill>
                  </a:tcPr>
                </a:tc>
                <a:tc>
                  <a:txBody>
                    <a:bodyPr/>
                    <a:lstStyle/>
                    <a:p>
                      <a:r>
                        <a:rPr lang="en-US" dirty="0">
                          <a:effectLst/>
                        </a:rPr>
                        <a:t>20</a:t>
                      </a:r>
                    </a:p>
                  </a:txBody>
                  <a:tcPr anchor="ctr">
                    <a:lnL>
                      <a:noFill/>
                    </a:lnL>
                    <a:lnR>
                      <a:noFill/>
                    </a:lnR>
                    <a:lnT>
                      <a:noFill/>
                    </a:lnT>
                    <a:lnB>
                      <a:noFill/>
                    </a:lnB>
                    <a:solidFill>
                      <a:srgbClr val="FFFFFF"/>
                    </a:solidFill>
                  </a:tcPr>
                </a:tc>
                <a:extLst>
                  <a:ext uri="{0D108BD9-81ED-4DB2-BD59-A6C34878D82A}">
                    <a16:rowId xmlns:a16="http://schemas.microsoft.com/office/drawing/2014/main" val="2715531782"/>
                  </a:ext>
                </a:extLst>
              </a:tr>
            </a:tbl>
          </a:graphicData>
        </a:graphic>
      </p:graphicFrame>
    </p:spTree>
    <p:extLst>
      <p:ext uri="{BB962C8B-B14F-4D97-AF65-F5344CB8AC3E}">
        <p14:creationId xmlns:p14="http://schemas.microsoft.com/office/powerpoint/2010/main" val="19054475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AC8DC-B3B1-4F97-AFFB-6246A8D38684}"/>
              </a:ext>
            </a:extLst>
          </p:cNvPr>
          <p:cNvSpPr>
            <a:spLocks noGrp="1"/>
          </p:cNvSpPr>
          <p:nvPr>
            <p:ph type="title"/>
          </p:nvPr>
        </p:nvSpPr>
        <p:spPr/>
        <p:txBody>
          <a:bodyPr/>
          <a:lstStyle/>
          <a:p>
            <a:r>
              <a:rPr lang="en-US" b="0" i="0" dirty="0">
                <a:solidFill>
                  <a:srgbClr val="2E4278"/>
                </a:solidFill>
                <a:effectLst/>
                <a:latin typeface="Oswald"/>
              </a:rPr>
              <a:t>Diminishing marginal utility</a:t>
            </a:r>
            <a:endParaRPr lang="en-US" dirty="0"/>
          </a:p>
        </p:txBody>
      </p:sp>
      <p:sp>
        <p:nvSpPr>
          <p:cNvPr id="3" name="Content Placeholder 2">
            <a:extLst>
              <a:ext uri="{FF2B5EF4-FFF2-40B4-BE49-F238E27FC236}">
                <a16:creationId xmlns:a16="http://schemas.microsoft.com/office/drawing/2014/main" id="{0D644F56-4132-4F20-B04C-0F939A7A66DF}"/>
              </a:ext>
            </a:extLst>
          </p:cNvPr>
          <p:cNvSpPr>
            <a:spLocks noGrp="1"/>
          </p:cNvSpPr>
          <p:nvPr>
            <p:ph idx="1"/>
          </p:nvPr>
        </p:nvSpPr>
        <p:spPr/>
        <p:txBody>
          <a:bodyPr/>
          <a:lstStyle/>
          <a:p>
            <a:pPr algn="just"/>
            <a:r>
              <a:rPr lang="en-US" b="0" i="0" dirty="0">
                <a:solidFill>
                  <a:srgbClr val="000000"/>
                </a:solidFill>
                <a:effectLst/>
                <a:latin typeface="Roboto"/>
              </a:rPr>
              <a:t>While total utility continues to rise from extra consumption, the additional (marginal) utility from each bar falls. If marginal utility is expressed in a monetary form, the greater the quantity consumed the lower the marginal utility and the less the rational consumer would be prepared to pay.</a:t>
            </a:r>
            <a:endParaRPr lang="en-US" dirty="0"/>
          </a:p>
        </p:txBody>
      </p:sp>
    </p:spTree>
    <p:extLst>
      <p:ext uri="{BB962C8B-B14F-4D97-AF65-F5344CB8AC3E}">
        <p14:creationId xmlns:p14="http://schemas.microsoft.com/office/powerpoint/2010/main" val="28699169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C256A-A131-45DD-881E-AF2E2F328702}"/>
              </a:ext>
            </a:extLst>
          </p:cNvPr>
          <p:cNvSpPr>
            <a:spLocks noGrp="1"/>
          </p:cNvSpPr>
          <p:nvPr>
            <p:ph type="title"/>
          </p:nvPr>
        </p:nvSpPr>
        <p:spPr/>
        <p:txBody>
          <a:bodyPr>
            <a:normAutofit fontScale="90000"/>
          </a:bodyPr>
          <a:lstStyle/>
          <a:p>
            <a:r>
              <a:rPr lang="en-US" b="0" i="0" dirty="0">
                <a:solidFill>
                  <a:srgbClr val="5A6182"/>
                </a:solidFill>
                <a:effectLst/>
                <a:latin typeface="Oswald"/>
              </a:rPr>
              <a:t>Supply</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B06529FD-60FC-4352-B00D-36E2987150C4}"/>
              </a:ext>
            </a:extLst>
          </p:cNvPr>
          <p:cNvSpPr>
            <a:spLocks noGrp="1"/>
          </p:cNvSpPr>
          <p:nvPr>
            <p:ph idx="1"/>
          </p:nvPr>
        </p:nvSpPr>
        <p:spPr/>
        <p:txBody>
          <a:bodyPr>
            <a:normAutofit fontScale="92500" lnSpcReduction="20000"/>
          </a:bodyPr>
          <a:lstStyle/>
          <a:p>
            <a:pPr algn="just"/>
            <a:r>
              <a:rPr lang="en-US" b="0" i="0" dirty="0">
                <a:solidFill>
                  <a:srgbClr val="000000"/>
                </a:solidFill>
                <a:effectLst/>
                <a:latin typeface="Roboto"/>
              </a:rPr>
              <a:t>Production is the process of turning inputs of scarce resources into an output of goods or services. The role of a firm is to organize scarce resources to satisfy consumer demand in a profitable way. </a:t>
            </a:r>
          </a:p>
          <a:p>
            <a:pPr algn="just"/>
            <a:r>
              <a:rPr lang="en-US" b="0" i="0" dirty="0">
                <a:solidFill>
                  <a:srgbClr val="000000"/>
                </a:solidFill>
                <a:effectLst/>
                <a:latin typeface="Roboto"/>
              </a:rPr>
              <a:t>Supply is defined as the willingness and ability of firms to produce a given quantity of output in a given period of time, or at a given point in time, and take it to market. </a:t>
            </a:r>
          </a:p>
          <a:p>
            <a:pPr algn="just"/>
            <a:r>
              <a:rPr lang="en-US" b="0" i="0" dirty="0">
                <a:solidFill>
                  <a:srgbClr val="000000"/>
                </a:solidFill>
                <a:effectLst/>
                <a:latin typeface="Roboto"/>
              </a:rPr>
              <a:t>Not all output is taken to market, and some output may be stored and released onto the market in the future.</a:t>
            </a:r>
          </a:p>
          <a:p>
            <a:pPr algn="just"/>
            <a:r>
              <a:rPr lang="en-US" b="0" i="0" dirty="0">
                <a:solidFill>
                  <a:srgbClr val="000000"/>
                </a:solidFill>
                <a:effectLst/>
                <a:latin typeface="Roboto"/>
              </a:rPr>
              <a:t>Supply can be measured for a single factor of production, for a single firm, for an industry and for the whole economy.</a:t>
            </a:r>
          </a:p>
          <a:p>
            <a:endParaRPr lang="en-US" dirty="0"/>
          </a:p>
        </p:txBody>
      </p:sp>
    </p:spTree>
    <p:extLst>
      <p:ext uri="{BB962C8B-B14F-4D97-AF65-F5344CB8AC3E}">
        <p14:creationId xmlns:p14="http://schemas.microsoft.com/office/powerpoint/2010/main" val="19415266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EC4F-3264-41BC-BD3C-61CD0BA2CA71}"/>
              </a:ext>
            </a:extLst>
          </p:cNvPr>
          <p:cNvSpPr>
            <a:spLocks noGrp="1"/>
          </p:cNvSpPr>
          <p:nvPr>
            <p:ph type="title"/>
          </p:nvPr>
        </p:nvSpPr>
        <p:spPr/>
        <p:txBody>
          <a:bodyPr>
            <a:normAutofit fontScale="90000"/>
          </a:bodyPr>
          <a:lstStyle/>
          <a:p>
            <a:r>
              <a:rPr lang="en-US" b="0" i="0" dirty="0">
                <a:solidFill>
                  <a:srgbClr val="5A6182"/>
                </a:solidFill>
                <a:effectLst/>
                <a:latin typeface="Oswald"/>
              </a:rPr>
              <a:t>Determinants of supply</a:t>
            </a:r>
            <a:br>
              <a:rPr lang="en-US" b="0" i="0" dirty="0">
                <a:solidFill>
                  <a:srgbClr val="5A6182"/>
                </a:solidFill>
                <a:effectLst/>
                <a:latin typeface="Oswald"/>
              </a:rPr>
            </a:br>
            <a:endParaRPr lang="en-US" dirty="0"/>
          </a:p>
        </p:txBody>
      </p:sp>
      <p:sp>
        <p:nvSpPr>
          <p:cNvPr id="3" name="Content Placeholder 2">
            <a:extLst>
              <a:ext uri="{FF2B5EF4-FFF2-40B4-BE49-F238E27FC236}">
                <a16:creationId xmlns:a16="http://schemas.microsoft.com/office/drawing/2014/main" id="{21D88F0C-3577-44A7-A61E-E3D85BD29809}"/>
              </a:ext>
            </a:extLst>
          </p:cNvPr>
          <p:cNvSpPr>
            <a:spLocks noGrp="1"/>
          </p:cNvSpPr>
          <p:nvPr>
            <p:ph idx="1"/>
          </p:nvPr>
        </p:nvSpPr>
        <p:spPr/>
        <p:txBody>
          <a:bodyPr>
            <a:normAutofit fontScale="92500" lnSpcReduction="10000"/>
          </a:bodyPr>
          <a:lstStyle/>
          <a:p>
            <a:pPr marL="0" indent="0" algn="just">
              <a:buNone/>
            </a:pPr>
            <a:r>
              <a:rPr lang="en-US" b="0" i="0" dirty="0">
                <a:solidFill>
                  <a:srgbClr val="2E4278"/>
                </a:solidFill>
                <a:effectLst/>
                <a:latin typeface="Oswald"/>
              </a:rPr>
              <a:t>Price</a:t>
            </a:r>
          </a:p>
          <a:p>
            <a:pPr algn="just"/>
            <a:r>
              <a:rPr lang="en-US" b="0" i="0" dirty="0">
                <a:solidFill>
                  <a:srgbClr val="000000"/>
                </a:solidFill>
                <a:effectLst/>
                <a:latin typeface="Roboto"/>
              </a:rPr>
              <a:t>The </a:t>
            </a:r>
            <a:r>
              <a:rPr lang="en-US" b="1" i="0" u="none" strike="noStrike" dirty="0">
                <a:solidFill>
                  <a:srgbClr val="5B77A3"/>
                </a:solidFill>
                <a:effectLst/>
                <a:latin typeface="Roboto"/>
                <a:hlinkClick r:id="rId2"/>
              </a:rPr>
              <a:t>price</a:t>
            </a:r>
            <a:r>
              <a:rPr lang="en-US" b="0" i="0" dirty="0">
                <a:solidFill>
                  <a:srgbClr val="000000"/>
                </a:solidFill>
                <a:effectLst/>
                <a:latin typeface="Roboto"/>
              </a:rPr>
              <a:t> of the product is the starting point in building a model of supply. The supply model assumes that price and quantity supplied are directly related.</a:t>
            </a:r>
          </a:p>
          <a:p>
            <a:pPr marL="0" indent="0" algn="just">
              <a:buNone/>
            </a:pPr>
            <a:r>
              <a:rPr lang="en-US" b="0" i="0" dirty="0">
                <a:solidFill>
                  <a:srgbClr val="2E4278"/>
                </a:solidFill>
                <a:effectLst/>
                <a:latin typeface="Oswald"/>
              </a:rPr>
              <a:t>The availability of factors of production</a:t>
            </a:r>
          </a:p>
          <a:p>
            <a:pPr algn="just"/>
            <a:r>
              <a:rPr lang="en-US" b="0" i="0" dirty="0">
                <a:solidFill>
                  <a:srgbClr val="000000"/>
                </a:solidFill>
                <a:effectLst/>
                <a:latin typeface="Roboto"/>
              </a:rPr>
              <a:t>The availability of factors of production, such as </a:t>
            </a:r>
            <a:r>
              <a:rPr lang="en-US" b="0" i="0" dirty="0" err="1">
                <a:solidFill>
                  <a:srgbClr val="000000"/>
                </a:solidFill>
                <a:effectLst/>
                <a:latin typeface="Roboto"/>
              </a:rPr>
              <a:t>labour</a:t>
            </a:r>
            <a:r>
              <a:rPr lang="en-US" b="0" i="0" dirty="0">
                <a:solidFill>
                  <a:srgbClr val="000000"/>
                </a:solidFill>
                <a:effectLst/>
                <a:latin typeface="Roboto"/>
              </a:rPr>
              <a:t> or raw materials, can affect the amount that can be produced and supplied. For example, if a firm producing motor vehicles experiences a shortage of steel for its body panels, then its ability to produce vehicles will be reduced.</a:t>
            </a:r>
          </a:p>
          <a:p>
            <a:endParaRPr lang="en-US" dirty="0"/>
          </a:p>
        </p:txBody>
      </p:sp>
    </p:spTree>
    <p:extLst>
      <p:ext uri="{BB962C8B-B14F-4D97-AF65-F5344CB8AC3E}">
        <p14:creationId xmlns:p14="http://schemas.microsoft.com/office/powerpoint/2010/main" val="41289463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1E5E-AB91-47C9-AA13-211791529C51}"/>
              </a:ext>
            </a:extLst>
          </p:cNvPr>
          <p:cNvSpPr>
            <a:spLocks noGrp="1"/>
          </p:cNvSpPr>
          <p:nvPr>
            <p:ph type="title"/>
          </p:nvPr>
        </p:nvSpPr>
        <p:spPr/>
        <p:txBody>
          <a:bodyPr/>
          <a:lstStyle/>
          <a:p>
            <a:r>
              <a:rPr lang="en-US" b="0" i="0" dirty="0">
                <a:solidFill>
                  <a:srgbClr val="5A6182"/>
                </a:solidFill>
                <a:effectLst/>
                <a:latin typeface="Oswald"/>
              </a:rPr>
              <a:t>Determinants of supply</a:t>
            </a:r>
            <a:endParaRPr lang="en-US" dirty="0"/>
          </a:p>
        </p:txBody>
      </p:sp>
      <p:sp>
        <p:nvSpPr>
          <p:cNvPr id="3" name="Content Placeholder 2">
            <a:extLst>
              <a:ext uri="{FF2B5EF4-FFF2-40B4-BE49-F238E27FC236}">
                <a16:creationId xmlns:a16="http://schemas.microsoft.com/office/drawing/2014/main" id="{C0DF153F-6C95-4071-924F-183FC4FE77EE}"/>
              </a:ext>
            </a:extLst>
          </p:cNvPr>
          <p:cNvSpPr>
            <a:spLocks noGrp="1"/>
          </p:cNvSpPr>
          <p:nvPr>
            <p:ph idx="1"/>
          </p:nvPr>
        </p:nvSpPr>
        <p:spPr/>
        <p:txBody>
          <a:bodyPr>
            <a:normAutofit lnSpcReduction="10000"/>
          </a:bodyPr>
          <a:lstStyle/>
          <a:p>
            <a:pPr marL="0" indent="0" algn="l">
              <a:buNone/>
            </a:pPr>
            <a:r>
              <a:rPr lang="en-US" b="0" i="0" dirty="0">
                <a:solidFill>
                  <a:srgbClr val="2E4278"/>
                </a:solidFill>
                <a:effectLst/>
                <a:latin typeface="Oswald"/>
              </a:rPr>
              <a:t>Cost of factors</a:t>
            </a:r>
          </a:p>
          <a:p>
            <a:pPr algn="just"/>
            <a:r>
              <a:rPr lang="en-US" b="0" i="0" dirty="0">
                <a:solidFill>
                  <a:srgbClr val="000000"/>
                </a:solidFill>
                <a:effectLst/>
                <a:latin typeface="Roboto"/>
              </a:rPr>
              <a:t>Changes in </a:t>
            </a:r>
            <a:r>
              <a:rPr lang="en-US" b="1" i="0" u="none" strike="noStrike" dirty="0">
                <a:solidFill>
                  <a:srgbClr val="5B77A3"/>
                </a:solidFill>
                <a:effectLst/>
                <a:latin typeface="Roboto"/>
                <a:hlinkClick r:id="rId2"/>
              </a:rPr>
              <a:t>costs </a:t>
            </a:r>
            <a:r>
              <a:rPr lang="en-US" b="0" i="0" dirty="0">
                <a:solidFill>
                  <a:srgbClr val="000000"/>
                </a:solidFill>
                <a:effectLst/>
                <a:latin typeface="Roboto"/>
              </a:rPr>
              <a:t>will alter a firm’s calculation of how much to supply at a given price. For example, if the same motor manufacturer experiences an increase in </a:t>
            </a:r>
            <a:r>
              <a:rPr lang="en-US" b="0" i="0" dirty="0" err="1">
                <a:solidFill>
                  <a:srgbClr val="000000"/>
                </a:solidFill>
                <a:effectLst/>
                <a:latin typeface="Roboto"/>
              </a:rPr>
              <a:t>labour</a:t>
            </a:r>
            <a:r>
              <a:rPr lang="en-US" b="0" i="0" dirty="0">
                <a:solidFill>
                  <a:srgbClr val="000000"/>
                </a:solidFill>
                <a:effectLst/>
                <a:latin typeface="Roboto"/>
              </a:rPr>
              <a:t> costs due to an increase in the wage rate, the cost of producing each vehicle will rise. </a:t>
            </a:r>
          </a:p>
          <a:p>
            <a:pPr algn="just"/>
            <a:r>
              <a:rPr lang="en-US" b="0" i="0" dirty="0">
                <a:solidFill>
                  <a:srgbClr val="000000"/>
                </a:solidFill>
                <a:effectLst/>
                <a:latin typeface="Roboto"/>
              </a:rPr>
              <a:t>This means that the price the manufacturer expects to receive will increase. If the price does not increase, less will be produced.</a:t>
            </a:r>
          </a:p>
          <a:p>
            <a:endParaRPr lang="en-US" dirty="0"/>
          </a:p>
        </p:txBody>
      </p:sp>
    </p:spTree>
    <p:extLst>
      <p:ext uri="{BB962C8B-B14F-4D97-AF65-F5344CB8AC3E}">
        <p14:creationId xmlns:p14="http://schemas.microsoft.com/office/powerpoint/2010/main" val="23966108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949DA-5C8D-4D07-83FC-AD7E05FEDB66}"/>
              </a:ext>
            </a:extLst>
          </p:cNvPr>
          <p:cNvSpPr>
            <a:spLocks noGrp="1"/>
          </p:cNvSpPr>
          <p:nvPr>
            <p:ph type="title"/>
          </p:nvPr>
        </p:nvSpPr>
        <p:spPr/>
        <p:txBody>
          <a:bodyPr/>
          <a:lstStyle/>
          <a:p>
            <a:r>
              <a:rPr lang="en-US" b="0" i="0" dirty="0">
                <a:solidFill>
                  <a:srgbClr val="5A6182"/>
                </a:solidFill>
                <a:effectLst/>
                <a:latin typeface="Oswald"/>
              </a:rPr>
              <a:t>Determinants of supply</a:t>
            </a:r>
            <a:endParaRPr lang="en-US" dirty="0"/>
          </a:p>
        </p:txBody>
      </p:sp>
      <p:sp>
        <p:nvSpPr>
          <p:cNvPr id="3" name="Content Placeholder 2">
            <a:extLst>
              <a:ext uri="{FF2B5EF4-FFF2-40B4-BE49-F238E27FC236}">
                <a16:creationId xmlns:a16="http://schemas.microsoft.com/office/drawing/2014/main" id="{AF985C6C-0C34-486E-90AB-8E6C5A8A9C02}"/>
              </a:ext>
            </a:extLst>
          </p:cNvPr>
          <p:cNvSpPr>
            <a:spLocks noGrp="1"/>
          </p:cNvSpPr>
          <p:nvPr>
            <p:ph idx="1"/>
          </p:nvPr>
        </p:nvSpPr>
        <p:spPr/>
        <p:txBody>
          <a:bodyPr/>
          <a:lstStyle/>
          <a:p>
            <a:pPr marL="0" indent="0" algn="l">
              <a:buNone/>
            </a:pPr>
            <a:r>
              <a:rPr lang="en-US" b="0" i="0" dirty="0">
                <a:solidFill>
                  <a:srgbClr val="2E4278"/>
                </a:solidFill>
                <a:effectLst/>
                <a:latin typeface="Oswald"/>
              </a:rPr>
              <a:t>New firms entering the market</a:t>
            </a:r>
          </a:p>
          <a:p>
            <a:pPr algn="just"/>
            <a:r>
              <a:rPr lang="en-US" b="0" i="0" dirty="0">
                <a:solidFill>
                  <a:srgbClr val="000000"/>
                </a:solidFill>
                <a:effectLst/>
                <a:latin typeface="Roboto"/>
              </a:rPr>
              <a:t>In terms of total supply to a market, the number of firms in the market will affect the total supply. New firms in a market will increase market supply and firms leaving will reduce supply. </a:t>
            </a:r>
          </a:p>
          <a:p>
            <a:pPr algn="just"/>
            <a:r>
              <a:rPr lang="en-US" b="0" i="0" dirty="0">
                <a:solidFill>
                  <a:srgbClr val="000000"/>
                </a:solidFill>
                <a:effectLst/>
                <a:latin typeface="Roboto"/>
              </a:rPr>
              <a:t>New firms may be attracted into a market because of the expectation of profits and existing firms may leave because they cannot cover their costs, and make losses.</a:t>
            </a:r>
          </a:p>
          <a:p>
            <a:endParaRPr lang="en-US" dirty="0"/>
          </a:p>
        </p:txBody>
      </p:sp>
    </p:spTree>
    <p:extLst>
      <p:ext uri="{BB962C8B-B14F-4D97-AF65-F5344CB8AC3E}">
        <p14:creationId xmlns:p14="http://schemas.microsoft.com/office/powerpoint/2010/main" val="3524325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36B50-B6D1-410F-82D9-04AF9E53D566}"/>
              </a:ext>
            </a:extLst>
          </p:cNvPr>
          <p:cNvSpPr>
            <a:spLocks noGrp="1"/>
          </p:cNvSpPr>
          <p:nvPr>
            <p:ph type="title"/>
          </p:nvPr>
        </p:nvSpPr>
        <p:spPr/>
        <p:txBody>
          <a:bodyPr/>
          <a:lstStyle/>
          <a:p>
            <a:r>
              <a:rPr lang="en-US" b="0" i="0" dirty="0">
                <a:solidFill>
                  <a:srgbClr val="5A6182"/>
                </a:solidFill>
                <a:effectLst/>
                <a:latin typeface="Oswald"/>
              </a:rPr>
              <a:t>Determinants of supply</a:t>
            </a:r>
            <a:endParaRPr lang="en-US" dirty="0"/>
          </a:p>
        </p:txBody>
      </p:sp>
      <p:sp>
        <p:nvSpPr>
          <p:cNvPr id="3" name="Content Placeholder 2">
            <a:extLst>
              <a:ext uri="{FF2B5EF4-FFF2-40B4-BE49-F238E27FC236}">
                <a16:creationId xmlns:a16="http://schemas.microsoft.com/office/drawing/2014/main" id="{9700DA83-8CFB-45C2-A56F-EF61FE1FE5D4}"/>
              </a:ext>
            </a:extLst>
          </p:cNvPr>
          <p:cNvSpPr>
            <a:spLocks noGrp="1"/>
          </p:cNvSpPr>
          <p:nvPr>
            <p:ph idx="1"/>
          </p:nvPr>
        </p:nvSpPr>
        <p:spPr/>
        <p:txBody>
          <a:bodyPr>
            <a:normAutofit fontScale="92500" lnSpcReduction="20000"/>
          </a:bodyPr>
          <a:lstStyle/>
          <a:p>
            <a:pPr marL="0" indent="0" algn="l">
              <a:buNone/>
            </a:pPr>
            <a:r>
              <a:rPr lang="en-US" b="0" i="0" dirty="0">
                <a:solidFill>
                  <a:srgbClr val="2E4278"/>
                </a:solidFill>
                <a:effectLst/>
                <a:latin typeface="Oswald"/>
              </a:rPr>
              <a:t>Weather and other natural factors</a:t>
            </a:r>
          </a:p>
          <a:p>
            <a:pPr algn="just"/>
            <a:r>
              <a:rPr lang="en-US" b="0" i="0" dirty="0">
                <a:solidFill>
                  <a:srgbClr val="000000"/>
                </a:solidFill>
                <a:effectLst/>
                <a:latin typeface="Roboto"/>
              </a:rPr>
              <a:t>Changes in the weather can have a considerable impact on the ability to produce certain products, like farm produce and </a:t>
            </a:r>
            <a:r>
              <a:rPr lang="en-US" b="1" i="0" u="none" strike="noStrike" dirty="0">
                <a:solidFill>
                  <a:srgbClr val="5B77A3"/>
                </a:solidFill>
                <a:effectLst/>
                <a:latin typeface="Roboto"/>
                <a:hlinkClick r:id="rId2"/>
              </a:rPr>
              <a:t>commodities</a:t>
            </a:r>
            <a:r>
              <a:rPr lang="en-US" b="0" i="0" dirty="0">
                <a:solidFill>
                  <a:srgbClr val="000000"/>
                </a:solidFill>
                <a:effectLst/>
                <a:latin typeface="Roboto"/>
              </a:rPr>
              <a:t>. </a:t>
            </a:r>
          </a:p>
          <a:p>
            <a:pPr marL="0" indent="0" algn="just">
              <a:buNone/>
            </a:pPr>
            <a:r>
              <a:rPr lang="en-US" b="0" i="0" dirty="0">
                <a:solidFill>
                  <a:srgbClr val="2E4278"/>
                </a:solidFill>
                <a:effectLst/>
                <a:latin typeface="Oswald"/>
              </a:rPr>
              <a:t>Subsidies</a:t>
            </a:r>
          </a:p>
          <a:p>
            <a:pPr algn="just"/>
            <a:r>
              <a:rPr lang="en-US" b="0" i="0" dirty="0">
                <a:solidFill>
                  <a:srgbClr val="000000"/>
                </a:solidFill>
                <a:effectLst/>
                <a:latin typeface="Roboto"/>
              </a:rPr>
              <a:t>Subsidies are funds given to firms to enable them to increase their supply or to reduce the price of their product to the consumer. </a:t>
            </a:r>
          </a:p>
          <a:p>
            <a:pPr algn="just"/>
            <a:r>
              <a:rPr lang="en-US" b="0" i="0" dirty="0">
                <a:solidFill>
                  <a:srgbClr val="000000"/>
                </a:solidFill>
                <a:effectLst/>
                <a:latin typeface="Roboto"/>
              </a:rPr>
              <a:t>Subsidies can alter the firm’s willingness and ability to produce and supply.</a:t>
            </a:r>
          </a:p>
          <a:p>
            <a:pPr algn="just"/>
            <a:endParaRPr lang="en-US" dirty="0"/>
          </a:p>
        </p:txBody>
      </p:sp>
    </p:spTree>
    <p:extLst>
      <p:ext uri="{BB962C8B-B14F-4D97-AF65-F5344CB8AC3E}">
        <p14:creationId xmlns:p14="http://schemas.microsoft.com/office/powerpoint/2010/main" val="10242025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4812-6590-4B73-A068-127697E8DB10}"/>
              </a:ext>
            </a:extLst>
          </p:cNvPr>
          <p:cNvSpPr>
            <a:spLocks noGrp="1"/>
          </p:cNvSpPr>
          <p:nvPr>
            <p:ph type="title"/>
          </p:nvPr>
        </p:nvSpPr>
        <p:spPr/>
        <p:txBody>
          <a:bodyPr>
            <a:normAutofit fontScale="90000"/>
          </a:bodyPr>
          <a:lstStyle/>
          <a:p>
            <a:r>
              <a:rPr lang="en-US" b="0" i="0" dirty="0">
                <a:solidFill>
                  <a:srgbClr val="111111"/>
                </a:solidFill>
                <a:effectLst/>
                <a:latin typeface="SourceSansPro"/>
              </a:rPr>
              <a:t>What is the Law of Supply?</a:t>
            </a:r>
            <a:br>
              <a:rPr lang="en-US" b="0" i="0" dirty="0">
                <a:solidFill>
                  <a:srgbClr val="111111"/>
                </a:solidFill>
                <a:effectLst/>
                <a:latin typeface="SourceSansPro"/>
              </a:rPr>
            </a:br>
            <a:endParaRPr lang="en-US" dirty="0"/>
          </a:p>
        </p:txBody>
      </p:sp>
      <p:sp>
        <p:nvSpPr>
          <p:cNvPr id="3" name="Content Placeholder 2">
            <a:extLst>
              <a:ext uri="{FF2B5EF4-FFF2-40B4-BE49-F238E27FC236}">
                <a16:creationId xmlns:a16="http://schemas.microsoft.com/office/drawing/2014/main" id="{98AFEDC0-9831-44AD-8C8B-BCA20D1ACF53}"/>
              </a:ext>
            </a:extLst>
          </p:cNvPr>
          <p:cNvSpPr>
            <a:spLocks noGrp="1"/>
          </p:cNvSpPr>
          <p:nvPr>
            <p:ph idx="1"/>
          </p:nvPr>
        </p:nvSpPr>
        <p:spPr/>
        <p:txBody>
          <a:bodyPr/>
          <a:lstStyle/>
          <a:p>
            <a:pPr algn="just"/>
            <a:r>
              <a:rPr lang="en-US" b="0" i="0" dirty="0">
                <a:solidFill>
                  <a:srgbClr val="111111"/>
                </a:solidFill>
                <a:effectLst/>
                <a:latin typeface="SourceSansPro"/>
              </a:rPr>
              <a:t>The law of supply is the </a:t>
            </a:r>
            <a:r>
              <a:rPr lang="en-US" b="0" i="0" u="sng" dirty="0">
                <a:solidFill>
                  <a:srgbClr val="2C40D0"/>
                </a:solidFill>
                <a:effectLst/>
                <a:latin typeface="SourceSansPro"/>
                <a:hlinkClick r:id="rId2"/>
              </a:rPr>
              <a:t>microeconomic</a:t>
            </a:r>
            <a:r>
              <a:rPr lang="en-US" b="0" i="0" dirty="0">
                <a:solidFill>
                  <a:srgbClr val="111111"/>
                </a:solidFill>
                <a:effectLst/>
                <a:latin typeface="SourceSansPro"/>
              </a:rPr>
              <a:t> law that states that, all other factors being equal, as the price of a good or service increases, the quantity of goods or services that suppliers offer will increase, and vice versa. </a:t>
            </a:r>
          </a:p>
          <a:p>
            <a:pPr algn="just"/>
            <a:r>
              <a:rPr lang="en-US" b="0" i="0" dirty="0">
                <a:solidFill>
                  <a:srgbClr val="111111"/>
                </a:solidFill>
                <a:effectLst/>
                <a:latin typeface="SourceSansPro"/>
              </a:rPr>
              <a:t>The law of supply says that as the price of an item goes up, suppliers will attempt to maximize their profits by increasing the quantity offered for sale.</a:t>
            </a:r>
          </a:p>
        </p:txBody>
      </p:sp>
    </p:spTree>
    <p:extLst>
      <p:ext uri="{BB962C8B-B14F-4D97-AF65-F5344CB8AC3E}">
        <p14:creationId xmlns:p14="http://schemas.microsoft.com/office/powerpoint/2010/main" val="28288820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FAAFA-E93B-420E-9D64-79BD87ACFDE5}"/>
              </a:ext>
            </a:extLst>
          </p:cNvPr>
          <p:cNvSpPr>
            <a:spLocks noGrp="1"/>
          </p:cNvSpPr>
          <p:nvPr>
            <p:ph type="title"/>
          </p:nvPr>
        </p:nvSpPr>
        <p:spPr/>
        <p:txBody>
          <a:bodyPr/>
          <a:lstStyle/>
          <a:p>
            <a:r>
              <a:rPr lang="en-US" b="0" i="0" dirty="0">
                <a:solidFill>
                  <a:srgbClr val="111111"/>
                </a:solidFill>
                <a:effectLst/>
                <a:latin typeface="SourceSansPro"/>
              </a:rPr>
              <a:t>Law of Supply</a:t>
            </a:r>
            <a:endParaRPr lang="en-US" dirty="0"/>
          </a:p>
        </p:txBody>
      </p:sp>
      <p:pic>
        <p:nvPicPr>
          <p:cNvPr id="4" name="Content Placeholder 3">
            <a:extLst>
              <a:ext uri="{FF2B5EF4-FFF2-40B4-BE49-F238E27FC236}">
                <a16:creationId xmlns:a16="http://schemas.microsoft.com/office/drawing/2014/main" id="{C86EC7EA-DCD2-4527-89B2-F7770969F777}"/>
              </a:ext>
            </a:extLst>
          </p:cNvPr>
          <p:cNvPicPr>
            <a:picLocks noGrp="1" noChangeAspect="1"/>
          </p:cNvPicPr>
          <p:nvPr>
            <p:ph idx="1"/>
          </p:nvPr>
        </p:nvPicPr>
        <p:blipFill>
          <a:blip r:embed="rId2"/>
          <a:stretch>
            <a:fillRect/>
          </a:stretch>
        </p:blipFill>
        <p:spPr>
          <a:xfrm>
            <a:off x="2701528" y="1600200"/>
            <a:ext cx="6788944" cy="4525963"/>
          </a:xfrm>
          <a:prstGeom prst="rect">
            <a:avLst/>
          </a:prstGeom>
        </p:spPr>
      </p:pic>
    </p:spTree>
    <p:extLst>
      <p:ext uri="{BB962C8B-B14F-4D97-AF65-F5344CB8AC3E}">
        <p14:creationId xmlns:p14="http://schemas.microsoft.com/office/powerpoint/2010/main" val="26068626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31AAE-050A-467C-B193-5F17A7908B40}"/>
              </a:ext>
            </a:extLst>
          </p:cNvPr>
          <p:cNvSpPr>
            <a:spLocks noGrp="1"/>
          </p:cNvSpPr>
          <p:nvPr>
            <p:ph type="title"/>
          </p:nvPr>
        </p:nvSpPr>
        <p:spPr/>
        <p:txBody>
          <a:bodyPr/>
          <a:lstStyle/>
          <a:p>
            <a:r>
              <a:rPr lang="en-US" b="0" i="0" dirty="0">
                <a:solidFill>
                  <a:srgbClr val="111111"/>
                </a:solidFill>
                <a:effectLst/>
                <a:latin typeface="SourceSansPro"/>
              </a:rPr>
              <a:t>Law of Supply</a:t>
            </a:r>
            <a:endParaRPr lang="en-US" dirty="0"/>
          </a:p>
        </p:txBody>
      </p:sp>
      <p:sp>
        <p:nvSpPr>
          <p:cNvPr id="3" name="Content Placeholder 2">
            <a:extLst>
              <a:ext uri="{FF2B5EF4-FFF2-40B4-BE49-F238E27FC236}">
                <a16:creationId xmlns:a16="http://schemas.microsoft.com/office/drawing/2014/main" id="{42007911-4E3C-439A-B21D-4445B878DD86}"/>
              </a:ext>
            </a:extLst>
          </p:cNvPr>
          <p:cNvSpPr>
            <a:spLocks noGrp="1"/>
          </p:cNvSpPr>
          <p:nvPr>
            <p:ph idx="1"/>
          </p:nvPr>
        </p:nvSpPr>
        <p:spPr/>
        <p:txBody>
          <a:bodyPr>
            <a:normAutofit fontScale="85000" lnSpcReduction="20000"/>
          </a:bodyPr>
          <a:lstStyle/>
          <a:p>
            <a:pPr algn="just"/>
            <a:r>
              <a:rPr lang="en-US" b="0" i="0" dirty="0">
                <a:solidFill>
                  <a:srgbClr val="111111"/>
                </a:solidFill>
                <a:effectLst/>
                <a:latin typeface="SourceSansPro"/>
              </a:rPr>
              <a:t>The chart depicts the law of supply using a supply curve, which is upward sloping. A, B and C are points on the supply curve. Each point on the curve reflects a direct correlation between quantity supplied (Q) and price (P). So, at point A, the quantity supplied will be Q1 and the price will be P1, and so on.</a:t>
            </a:r>
          </a:p>
          <a:p>
            <a:pPr algn="just"/>
            <a:r>
              <a:rPr lang="en-US" dirty="0">
                <a:solidFill>
                  <a:srgbClr val="111111"/>
                </a:solidFill>
                <a:latin typeface="SourceSansPro"/>
              </a:rPr>
              <a:t>C</a:t>
            </a:r>
            <a:r>
              <a:rPr lang="en-US" b="0" i="0" dirty="0">
                <a:solidFill>
                  <a:srgbClr val="111111"/>
                </a:solidFill>
                <a:effectLst/>
                <a:latin typeface="SourceSansPro"/>
              </a:rPr>
              <a:t>onsumer demand sets the price and sellers can only charge what the market will bear. If consumer demand rises over time, the price will rise, and suppliers can choose devoted new resources to production (or new suppliers can enter the market) which increases the quantity supplied. Demand ultimately sets the price in a competitive market, supplier response to the price they can expect to receive sets the quantity supplied.  </a:t>
            </a:r>
            <a:endParaRPr lang="en-US" dirty="0"/>
          </a:p>
        </p:txBody>
      </p:sp>
    </p:spTree>
    <p:extLst>
      <p:ext uri="{BB962C8B-B14F-4D97-AF65-F5344CB8AC3E}">
        <p14:creationId xmlns:p14="http://schemas.microsoft.com/office/powerpoint/2010/main" val="20845101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6B465-B453-472A-A998-051B43171773}"/>
              </a:ext>
            </a:extLst>
          </p:cNvPr>
          <p:cNvSpPr>
            <a:spLocks noGrp="1"/>
          </p:cNvSpPr>
          <p:nvPr>
            <p:ph type="title"/>
          </p:nvPr>
        </p:nvSpPr>
        <p:spPr/>
        <p:txBody>
          <a:bodyPr>
            <a:normAutofit fontScale="90000"/>
          </a:bodyPr>
          <a:lstStyle/>
          <a:p>
            <a:r>
              <a:rPr lang="en-US" b="1" i="0" cap="all" dirty="0">
                <a:solidFill>
                  <a:srgbClr val="222222"/>
                </a:solidFill>
                <a:effectLst/>
                <a:latin typeface="Karla"/>
              </a:rPr>
              <a:t>EQUILIBRIUM</a:t>
            </a:r>
            <a:br>
              <a:rPr lang="en-US" b="1" i="0" cap="all" dirty="0">
                <a:solidFill>
                  <a:srgbClr val="222222"/>
                </a:solidFill>
                <a:effectLst/>
                <a:latin typeface="Karla"/>
              </a:rPr>
            </a:br>
            <a:endParaRPr lang="en-US" dirty="0"/>
          </a:p>
        </p:txBody>
      </p:sp>
      <p:sp>
        <p:nvSpPr>
          <p:cNvPr id="3" name="Content Placeholder 2">
            <a:extLst>
              <a:ext uri="{FF2B5EF4-FFF2-40B4-BE49-F238E27FC236}">
                <a16:creationId xmlns:a16="http://schemas.microsoft.com/office/drawing/2014/main" id="{9E11C0BB-9165-45C8-8A75-8056DC236193}"/>
              </a:ext>
            </a:extLst>
          </p:cNvPr>
          <p:cNvSpPr>
            <a:spLocks noGrp="1"/>
          </p:cNvSpPr>
          <p:nvPr>
            <p:ph idx="1"/>
          </p:nvPr>
        </p:nvSpPr>
        <p:spPr/>
        <p:txBody>
          <a:bodyPr>
            <a:normAutofit fontScale="92500" lnSpcReduction="20000"/>
          </a:bodyPr>
          <a:lstStyle/>
          <a:p>
            <a:pPr algn="just"/>
            <a:r>
              <a:rPr lang="en-US" b="0" i="0" dirty="0">
                <a:solidFill>
                  <a:srgbClr val="222222"/>
                </a:solidFill>
                <a:effectLst/>
                <a:latin typeface="Spectral"/>
              </a:rPr>
              <a:t>The equilibrium price and equilibrium quantity occur where the supply and demand Intersect. The equilibrium occurs where the quantity demanded is equal to the quantity supplied. </a:t>
            </a:r>
          </a:p>
          <a:p>
            <a:pPr algn="just"/>
            <a:r>
              <a:rPr lang="en-US" b="0" i="0" dirty="0">
                <a:solidFill>
                  <a:srgbClr val="222222"/>
                </a:solidFill>
                <a:effectLst/>
                <a:latin typeface="Spectral"/>
              </a:rPr>
              <a:t>If the price is below the equilibrium level, then the quantity demanded will exceed the quantity supplied. Excess demand or a shortage will exist. </a:t>
            </a:r>
          </a:p>
          <a:p>
            <a:pPr algn="just"/>
            <a:r>
              <a:rPr lang="en-US" b="0" i="0" dirty="0">
                <a:solidFill>
                  <a:srgbClr val="222222"/>
                </a:solidFill>
                <a:effectLst/>
                <a:latin typeface="Spectral"/>
              </a:rPr>
              <a:t>If the price is above the equilibrium level, then the quantity supplied will exceed the quantity demanded. Excess supply or a surplus will exist.</a:t>
            </a:r>
          </a:p>
          <a:p>
            <a:pPr algn="just"/>
            <a:r>
              <a:rPr lang="en-US" b="0" i="0" dirty="0">
                <a:solidFill>
                  <a:srgbClr val="222222"/>
                </a:solidFill>
                <a:effectLst/>
                <a:latin typeface="Spectral"/>
              </a:rPr>
              <a:t> In either case, economic pressures will push the price toward the equilibrium level.</a:t>
            </a:r>
            <a:endParaRPr lang="en-US" dirty="0"/>
          </a:p>
        </p:txBody>
      </p:sp>
    </p:spTree>
    <p:extLst>
      <p:ext uri="{BB962C8B-B14F-4D97-AF65-F5344CB8AC3E}">
        <p14:creationId xmlns:p14="http://schemas.microsoft.com/office/powerpoint/2010/main" val="33819804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BD27F-470A-45BC-ABD3-0EEC7C3197E8}"/>
              </a:ext>
            </a:extLst>
          </p:cNvPr>
          <p:cNvSpPr>
            <a:spLocks noGrp="1"/>
          </p:cNvSpPr>
          <p:nvPr>
            <p:ph type="title"/>
          </p:nvPr>
        </p:nvSpPr>
        <p:spPr/>
        <p:txBody>
          <a:bodyPr>
            <a:normAutofit fontScale="90000"/>
          </a:bodyPr>
          <a:lstStyle/>
          <a:p>
            <a:r>
              <a:rPr lang="en-US" b="1" i="0" cap="all" dirty="0">
                <a:solidFill>
                  <a:srgbClr val="222222"/>
                </a:solidFill>
                <a:effectLst/>
                <a:latin typeface="Karla"/>
              </a:rPr>
              <a:t>EQUILIBRIUM</a:t>
            </a:r>
            <a:br>
              <a:rPr lang="en-US" b="1" i="0" cap="all" dirty="0">
                <a:solidFill>
                  <a:srgbClr val="222222"/>
                </a:solidFill>
                <a:effectLst/>
                <a:latin typeface="Karla"/>
              </a:rPr>
            </a:br>
            <a:endParaRPr lang="en-US" dirty="0"/>
          </a:p>
        </p:txBody>
      </p:sp>
      <p:pic>
        <p:nvPicPr>
          <p:cNvPr id="4" name="Content Placeholder 3">
            <a:extLst>
              <a:ext uri="{FF2B5EF4-FFF2-40B4-BE49-F238E27FC236}">
                <a16:creationId xmlns:a16="http://schemas.microsoft.com/office/drawing/2014/main" id="{AA4F53AA-2CEF-466F-97AF-483648426CA0}"/>
              </a:ext>
            </a:extLst>
          </p:cNvPr>
          <p:cNvPicPr>
            <a:picLocks noGrp="1" noChangeAspect="1"/>
          </p:cNvPicPr>
          <p:nvPr>
            <p:ph idx="1"/>
          </p:nvPr>
        </p:nvPicPr>
        <p:blipFill>
          <a:blip r:embed="rId2"/>
          <a:stretch>
            <a:fillRect/>
          </a:stretch>
        </p:blipFill>
        <p:spPr>
          <a:xfrm>
            <a:off x="3231466" y="1600200"/>
            <a:ext cx="5729067" cy="4525963"/>
          </a:xfrm>
          <a:prstGeom prst="rect">
            <a:avLst/>
          </a:prstGeom>
        </p:spPr>
      </p:pic>
    </p:spTree>
    <p:extLst>
      <p:ext uri="{BB962C8B-B14F-4D97-AF65-F5344CB8AC3E}">
        <p14:creationId xmlns:p14="http://schemas.microsoft.com/office/powerpoint/2010/main" val="14090193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85F5-A2B7-4149-AAE0-525748F96274}"/>
              </a:ext>
            </a:extLst>
          </p:cNvPr>
          <p:cNvSpPr>
            <a:spLocks noGrp="1"/>
          </p:cNvSpPr>
          <p:nvPr>
            <p:ph type="title"/>
          </p:nvPr>
        </p:nvSpPr>
        <p:spPr/>
        <p:txBody>
          <a:bodyPr>
            <a:normAutofit fontScale="90000"/>
          </a:bodyPr>
          <a:lstStyle/>
          <a:p>
            <a:r>
              <a:rPr lang="en-US" b="1" i="0" cap="all" dirty="0">
                <a:solidFill>
                  <a:srgbClr val="222222"/>
                </a:solidFill>
                <a:effectLst/>
                <a:latin typeface="Karla"/>
              </a:rPr>
              <a:t>EQUILIBRIUM: Example of Low Prices</a:t>
            </a:r>
            <a:br>
              <a:rPr lang="en-US" b="1" i="0" cap="all" dirty="0">
                <a:solidFill>
                  <a:srgbClr val="222222"/>
                </a:solidFill>
                <a:effectLst/>
                <a:latin typeface="Karla"/>
              </a:rPr>
            </a:br>
            <a:endParaRPr lang="en-US" dirty="0"/>
          </a:p>
        </p:txBody>
      </p:sp>
      <p:pic>
        <p:nvPicPr>
          <p:cNvPr id="4" name="Content Placeholder 3">
            <a:extLst>
              <a:ext uri="{FF2B5EF4-FFF2-40B4-BE49-F238E27FC236}">
                <a16:creationId xmlns:a16="http://schemas.microsoft.com/office/drawing/2014/main" id="{30C5C4D4-C805-43C9-9D3B-B4D90C58C72E}"/>
              </a:ext>
            </a:extLst>
          </p:cNvPr>
          <p:cNvPicPr>
            <a:picLocks noGrp="1" noChangeAspect="1"/>
          </p:cNvPicPr>
          <p:nvPr>
            <p:ph idx="1"/>
          </p:nvPr>
        </p:nvPicPr>
        <p:blipFill>
          <a:blip r:embed="rId2"/>
          <a:stretch>
            <a:fillRect/>
          </a:stretch>
        </p:blipFill>
        <p:spPr>
          <a:xfrm>
            <a:off x="2808513" y="1280161"/>
            <a:ext cx="6662057" cy="4885508"/>
          </a:xfrm>
          <a:prstGeom prst="rect">
            <a:avLst/>
          </a:prstGeom>
        </p:spPr>
      </p:pic>
    </p:spTree>
    <p:extLst>
      <p:ext uri="{BB962C8B-B14F-4D97-AF65-F5344CB8AC3E}">
        <p14:creationId xmlns:p14="http://schemas.microsoft.com/office/powerpoint/2010/main" val="25518254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34EEA-22F8-4748-B68F-C5915DE2509E}"/>
              </a:ext>
            </a:extLst>
          </p:cNvPr>
          <p:cNvSpPr>
            <a:spLocks noGrp="1"/>
          </p:cNvSpPr>
          <p:nvPr>
            <p:ph type="title"/>
          </p:nvPr>
        </p:nvSpPr>
        <p:spPr/>
        <p:txBody>
          <a:bodyPr>
            <a:normAutofit fontScale="90000"/>
          </a:bodyPr>
          <a:lstStyle/>
          <a:p>
            <a:r>
              <a:rPr lang="en-US" b="1" i="0" cap="all" dirty="0">
                <a:solidFill>
                  <a:srgbClr val="222222"/>
                </a:solidFill>
                <a:effectLst/>
                <a:latin typeface="Karla"/>
              </a:rPr>
              <a:t>EQUILIBRIUM: </a:t>
            </a:r>
            <a:r>
              <a:rPr kumimoji="0" lang="en-US" sz="4400" b="1" i="0" u="none" strike="noStrike" kern="1200" cap="all" spc="0" normalizeH="0" baseline="0" noProof="0" dirty="0">
                <a:ln>
                  <a:noFill/>
                </a:ln>
                <a:solidFill>
                  <a:srgbClr val="222222"/>
                </a:solidFill>
                <a:effectLst/>
                <a:uLnTx/>
                <a:uFillTx/>
                <a:latin typeface="Karla"/>
                <a:ea typeface="+mj-ea"/>
                <a:cs typeface="+mj-cs"/>
              </a:rPr>
              <a:t>Example of Low Prices</a:t>
            </a:r>
            <a:br>
              <a:rPr lang="en-US" b="1" i="0" cap="all" dirty="0">
                <a:solidFill>
                  <a:srgbClr val="222222"/>
                </a:solidFill>
                <a:effectLst/>
                <a:latin typeface="Karla"/>
              </a:rPr>
            </a:br>
            <a:endParaRPr lang="en-US" dirty="0"/>
          </a:p>
        </p:txBody>
      </p:sp>
      <p:sp>
        <p:nvSpPr>
          <p:cNvPr id="3" name="Content Placeholder 2">
            <a:extLst>
              <a:ext uri="{FF2B5EF4-FFF2-40B4-BE49-F238E27FC236}">
                <a16:creationId xmlns:a16="http://schemas.microsoft.com/office/drawing/2014/main" id="{6AD62FD9-06CA-402A-84C7-A34627EF6861}"/>
              </a:ext>
            </a:extLst>
          </p:cNvPr>
          <p:cNvSpPr>
            <a:spLocks noGrp="1"/>
          </p:cNvSpPr>
          <p:nvPr>
            <p:ph idx="1"/>
          </p:nvPr>
        </p:nvSpPr>
        <p:spPr/>
        <p:txBody>
          <a:bodyPr>
            <a:normAutofit fontScale="92500" lnSpcReduction="10000"/>
          </a:bodyPr>
          <a:lstStyle/>
          <a:p>
            <a:pPr algn="just" fontAlgn="base"/>
            <a:r>
              <a:rPr lang="en-US" b="0" i="0" dirty="0">
                <a:solidFill>
                  <a:srgbClr val="282828"/>
                </a:solidFill>
                <a:effectLst/>
                <a:latin typeface="Georgia" panose="02040502050405020303" pitchFamily="18" charset="0"/>
              </a:rPr>
              <a:t>If the price in a market is lower than P*, the quantity demanded by consumers will be larger than the quantity supplied by producers. A shortage will therefore result.</a:t>
            </a:r>
          </a:p>
          <a:p>
            <a:pPr algn="just" fontAlgn="base"/>
            <a:r>
              <a:rPr lang="en-US" b="0" i="0" dirty="0">
                <a:solidFill>
                  <a:srgbClr val="282828"/>
                </a:solidFill>
                <a:effectLst/>
                <a:latin typeface="Georgia" panose="02040502050405020303" pitchFamily="18" charset="0"/>
              </a:rPr>
              <a:t>Producers will notice this shortage, and the next time they have the opportunity to make production decisions they will increase their output quantity and set a higher price for their products.</a:t>
            </a:r>
          </a:p>
          <a:p>
            <a:pPr algn="just" fontAlgn="base"/>
            <a:r>
              <a:rPr lang="en-US" b="0" i="0" dirty="0">
                <a:solidFill>
                  <a:srgbClr val="282828"/>
                </a:solidFill>
                <a:effectLst/>
                <a:latin typeface="Georgia" panose="02040502050405020303" pitchFamily="18" charset="0"/>
              </a:rPr>
              <a:t>As long as a shortage remains, producers will continue to adjust in this way, bringing the market to the equilibrium price and quantity at the intersection of supply and demand.</a:t>
            </a:r>
          </a:p>
          <a:p>
            <a:pPr algn="just"/>
            <a:endParaRPr lang="en-US" dirty="0"/>
          </a:p>
        </p:txBody>
      </p:sp>
    </p:spTree>
    <p:extLst>
      <p:ext uri="{BB962C8B-B14F-4D97-AF65-F5344CB8AC3E}">
        <p14:creationId xmlns:p14="http://schemas.microsoft.com/office/powerpoint/2010/main" val="10880959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0FC1-F9C6-4ABB-89E1-30965FB344EE}"/>
              </a:ext>
            </a:extLst>
          </p:cNvPr>
          <p:cNvSpPr>
            <a:spLocks noGrp="1"/>
          </p:cNvSpPr>
          <p:nvPr>
            <p:ph type="title"/>
          </p:nvPr>
        </p:nvSpPr>
        <p:spPr/>
        <p:txBody>
          <a:bodyPr>
            <a:normAutofit fontScale="90000"/>
          </a:bodyPr>
          <a:lstStyle/>
          <a:p>
            <a:r>
              <a:rPr lang="en-US" b="1" i="0" cap="all" dirty="0">
                <a:solidFill>
                  <a:srgbClr val="222222"/>
                </a:solidFill>
                <a:effectLst/>
                <a:latin typeface="Karla"/>
              </a:rPr>
              <a:t>EQUILIBRIUM: </a:t>
            </a:r>
            <a:r>
              <a:rPr kumimoji="0" lang="en-US" sz="4400" b="1" i="0" u="none" strike="noStrike" kern="1200" cap="all" spc="0" normalizeH="0" baseline="0" noProof="0" dirty="0">
                <a:ln>
                  <a:noFill/>
                </a:ln>
                <a:solidFill>
                  <a:srgbClr val="222222"/>
                </a:solidFill>
                <a:effectLst/>
                <a:uLnTx/>
                <a:uFillTx/>
                <a:latin typeface="Karla"/>
                <a:ea typeface="+mj-ea"/>
                <a:cs typeface="+mj-cs"/>
              </a:rPr>
              <a:t>Example of high Prices</a:t>
            </a:r>
            <a:endParaRPr lang="en-US" dirty="0"/>
          </a:p>
        </p:txBody>
      </p:sp>
      <p:pic>
        <p:nvPicPr>
          <p:cNvPr id="4" name="Content Placeholder 3">
            <a:extLst>
              <a:ext uri="{FF2B5EF4-FFF2-40B4-BE49-F238E27FC236}">
                <a16:creationId xmlns:a16="http://schemas.microsoft.com/office/drawing/2014/main" id="{E645278E-D1AC-45E6-9329-F84FD4E71D8C}"/>
              </a:ext>
            </a:extLst>
          </p:cNvPr>
          <p:cNvPicPr>
            <a:picLocks noGrp="1" noChangeAspect="1"/>
          </p:cNvPicPr>
          <p:nvPr>
            <p:ph idx="1"/>
          </p:nvPr>
        </p:nvPicPr>
        <p:blipFill>
          <a:blip r:embed="rId2"/>
          <a:stretch>
            <a:fillRect/>
          </a:stretch>
        </p:blipFill>
        <p:spPr>
          <a:xfrm>
            <a:off x="2638697" y="1267097"/>
            <a:ext cx="7249886" cy="4937759"/>
          </a:xfrm>
          <a:prstGeom prst="rect">
            <a:avLst/>
          </a:prstGeom>
        </p:spPr>
      </p:pic>
    </p:spTree>
    <p:extLst>
      <p:ext uri="{BB962C8B-B14F-4D97-AF65-F5344CB8AC3E}">
        <p14:creationId xmlns:p14="http://schemas.microsoft.com/office/powerpoint/2010/main" val="39881055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D07EC-2638-4A52-AC37-EC32C5873A3C}"/>
              </a:ext>
            </a:extLst>
          </p:cNvPr>
          <p:cNvSpPr>
            <a:spLocks noGrp="1"/>
          </p:cNvSpPr>
          <p:nvPr>
            <p:ph type="title"/>
          </p:nvPr>
        </p:nvSpPr>
        <p:spPr/>
        <p:txBody>
          <a:bodyPr>
            <a:normAutofit fontScale="90000"/>
          </a:bodyPr>
          <a:lstStyle/>
          <a:p>
            <a:r>
              <a:rPr lang="en-US" b="1" i="0" cap="all" dirty="0">
                <a:solidFill>
                  <a:srgbClr val="222222"/>
                </a:solidFill>
                <a:effectLst/>
                <a:latin typeface="Karla"/>
              </a:rPr>
              <a:t>EQUILIBRIUM: </a:t>
            </a:r>
            <a:r>
              <a:rPr kumimoji="0" lang="en-US" sz="4400" b="1" i="0" u="none" strike="noStrike" kern="1200" cap="all" spc="0" normalizeH="0" baseline="0" noProof="0" dirty="0">
                <a:ln>
                  <a:noFill/>
                </a:ln>
                <a:solidFill>
                  <a:srgbClr val="222222"/>
                </a:solidFill>
                <a:effectLst/>
                <a:uLnTx/>
                <a:uFillTx/>
                <a:latin typeface="Karla"/>
                <a:ea typeface="+mj-ea"/>
                <a:cs typeface="+mj-cs"/>
              </a:rPr>
              <a:t>Example of high Prices</a:t>
            </a:r>
            <a:endParaRPr lang="en-US" dirty="0"/>
          </a:p>
        </p:txBody>
      </p:sp>
      <p:sp>
        <p:nvSpPr>
          <p:cNvPr id="3" name="Content Placeholder 2">
            <a:extLst>
              <a:ext uri="{FF2B5EF4-FFF2-40B4-BE49-F238E27FC236}">
                <a16:creationId xmlns:a16="http://schemas.microsoft.com/office/drawing/2014/main" id="{F3EE334B-3847-41BC-8C0E-4ADDBC2941E5}"/>
              </a:ext>
            </a:extLst>
          </p:cNvPr>
          <p:cNvSpPr>
            <a:spLocks noGrp="1"/>
          </p:cNvSpPr>
          <p:nvPr>
            <p:ph idx="1"/>
          </p:nvPr>
        </p:nvSpPr>
        <p:spPr/>
        <p:txBody>
          <a:bodyPr>
            <a:normAutofit fontScale="85000" lnSpcReduction="10000"/>
          </a:bodyPr>
          <a:lstStyle/>
          <a:p>
            <a:pPr algn="just" fontAlgn="base"/>
            <a:r>
              <a:rPr lang="en-US" b="0" i="0" dirty="0">
                <a:solidFill>
                  <a:srgbClr val="282828"/>
                </a:solidFill>
                <a:effectLst/>
                <a:latin typeface="Georgia" panose="02040502050405020303" pitchFamily="18" charset="0"/>
              </a:rPr>
              <a:t>If the price is higher than P*, the quantity supplied in that market will be higher than the quantity demanded at the prevailing price, and a surplus will result. </a:t>
            </a:r>
          </a:p>
          <a:p>
            <a:pPr algn="just" fontAlgn="base"/>
            <a:r>
              <a:rPr lang="en-US" b="0" i="0" dirty="0">
                <a:solidFill>
                  <a:srgbClr val="282828"/>
                </a:solidFill>
                <a:effectLst/>
                <a:latin typeface="Georgia" panose="02040502050405020303" pitchFamily="18" charset="0"/>
              </a:rPr>
              <a:t>When a surplus occurs, firms either accumulate inventory (which costs money to store and hold) or they have to discard their extra output. This is clearly not optimal from a profit perspective, so firms will respond by cutting prices and production quantities when they have the opportunity to do so.</a:t>
            </a:r>
          </a:p>
          <a:p>
            <a:pPr algn="just" fontAlgn="base"/>
            <a:r>
              <a:rPr lang="en-US" b="0" i="0" dirty="0">
                <a:solidFill>
                  <a:srgbClr val="282828"/>
                </a:solidFill>
                <a:effectLst/>
                <a:latin typeface="Georgia" panose="02040502050405020303" pitchFamily="18" charset="0"/>
              </a:rPr>
              <a:t>This behavior will continue as long as a surplus remains, again bringing the market back to the intersection of supply and demand.</a:t>
            </a:r>
          </a:p>
          <a:p>
            <a:pPr algn="just"/>
            <a:endParaRPr lang="en-US" dirty="0"/>
          </a:p>
        </p:txBody>
      </p:sp>
    </p:spTree>
    <p:extLst>
      <p:ext uri="{BB962C8B-B14F-4D97-AF65-F5344CB8AC3E}">
        <p14:creationId xmlns:p14="http://schemas.microsoft.com/office/powerpoint/2010/main" val="17253126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535D-0FB8-408F-8F15-0BADD0740BBE}"/>
              </a:ext>
            </a:extLst>
          </p:cNvPr>
          <p:cNvSpPr>
            <a:spLocks noGrp="1"/>
          </p:cNvSpPr>
          <p:nvPr>
            <p:ph type="title"/>
          </p:nvPr>
        </p:nvSpPr>
        <p:spPr/>
        <p:txBody>
          <a:bodyPr>
            <a:normAutofit fontScale="90000"/>
          </a:bodyPr>
          <a:lstStyle/>
          <a:p>
            <a:r>
              <a:rPr lang="en-US" b="1" i="0" dirty="0">
                <a:solidFill>
                  <a:srgbClr val="000000"/>
                </a:solidFill>
                <a:effectLst/>
                <a:latin typeface="Open Sans"/>
              </a:rPr>
              <a:t>What is an Indifference Curve?</a:t>
            </a:r>
            <a:br>
              <a:rPr lang="en-US" b="1" i="0" dirty="0">
                <a:solidFill>
                  <a:srgbClr val="000000"/>
                </a:solidFill>
                <a:effectLst/>
                <a:latin typeface="Open Sans"/>
              </a:rPr>
            </a:br>
            <a:endParaRPr lang="en-US" dirty="0"/>
          </a:p>
        </p:txBody>
      </p:sp>
      <p:sp>
        <p:nvSpPr>
          <p:cNvPr id="3" name="Content Placeholder 2">
            <a:extLst>
              <a:ext uri="{FF2B5EF4-FFF2-40B4-BE49-F238E27FC236}">
                <a16:creationId xmlns:a16="http://schemas.microsoft.com/office/drawing/2014/main" id="{96CB8AA7-7BB0-42A3-86EC-AC6F5BFD18A7}"/>
              </a:ext>
            </a:extLst>
          </p:cNvPr>
          <p:cNvSpPr>
            <a:spLocks noGrp="1"/>
          </p:cNvSpPr>
          <p:nvPr>
            <p:ph idx="1"/>
          </p:nvPr>
        </p:nvSpPr>
        <p:spPr/>
        <p:txBody>
          <a:bodyPr>
            <a:normAutofit lnSpcReduction="10000"/>
          </a:bodyPr>
          <a:lstStyle/>
          <a:p>
            <a:pPr algn="just"/>
            <a:r>
              <a:rPr lang="en-US" b="0" i="0" dirty="0">
                <a:effectLst/>
                <a:latin typeface="Minion Pro"/>
              </a:rPr>
              <a:t>This is based on consumer preference and belief that we cannot quantitatively measure human satisfaction in monetary terms. This approach assigns an order to consumer preferences rather than measure them in terms of money.</a:t>
            </a:r>
          </a:p>
          <a:p>
            <a:pPr algn="just"/>
            <a:r>
              <a:rPr lang="en-US" b="0" i="0" dirty="0">
                <a:effectLst/>
                <a:latin typeface="Minion Pro"/>
              </a:rPr>
              <a:t>An indifference curve is a curve that represents all the </a:t>
            </a:r>
            <a:r>
              <a:rPr lang="en-US" b="0" i="0" u="none" strike="noStrike" dirty="0">
                <a:solidFill>
                  <a:srgbClr val="55BBEA"/>
                </a:solidFill>
                <a:effectLst/>
                <a:latin typeface="Minion Pro"/>
                <a:hlinkClick r:id="rId2"/>
              </a:rPr>
              <a:t>combinations</a:t>
            </a:r>
            <a:r>
              <a:rPr lang="en-US" b="0" i="0" dirty="0">
                <a:effectLst/>
                <a:latin typeface="Minion Pro"/>
              </a:rPr>
              <a:t> of goods that give the same satisfaction to the consumer. Since all the combinations give the same amount of satisfaction, the consumer prefers them equally. Hence the name indifference curve.</a:t>
            </a:r>
          </a:p>
          <a:p>
            <a:endParaRPr lang="en-US" dirty="0"/>
          </a:p>
        </p:txBody>
      </p:sp>
    </p:spTree>
    <p:extLst>
      <p:ext uri="{BB962C8B-B14F-4D97-AF65-F5344CB8AC3E}">
        <p14:creationId xmlns:p14="http://schemas.microsoft.com/office/powerpoint/2010/main" val="26500165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B75E5-6073-4EE6-A7D4-312199416B4D}"/>
              </a:ext>
            </a:extLst>
          </p:cNvPr>
          <p:cNvSpPr>
            <a:spLocks noGrp="1"/>
          </p:cNvSpPr>
          <p:nvPr>
            <p:ph type="title"/>
          </p:nvPr>
        </p:nvSpPr>
        <p:spPr/>
        <p:txBody>
          <a:bodyPr>
            <a:normAutofit fontScale="90000"/>
          </a:bodyPr>
          <a:lstStyle/>
          <a:p>
            <a:r>
              <a:rPr lang="en-US" b="1" i="0" dirty="0">
                <a:solidFill>
                  <a:srgbClr val="000000"/>
                </a:solidFill>
                <a:effectLst/>
                <a:latin typeface="Open Sans"/>
              </a:rPr>
              <a:t>What is an Indifference Curve?</a:t>
            </a:r>
            <a:br>
              <a:rPr lang="en-US" b="1" i="0" dirty="0">
                <a:solidFill>
                  <a:srgbClr val="000000"/>
                </a:solidFill>
                <a:effectLst/>
                <a:latin typeface="Open Sans"/>
              </a:rPr>
            </a:br>
            <a:endParaRPr lang="en-US" dirty="0"/>
          </a:p>
        </p:txBody>
      </p:sp>
      <p:sp>
        <p:nvSpPr>
          <p:cNvPr id="3" name="Content Placeholder 2">
            <a:extLst>
              <a:ext uri="{FF2B5EF4-FFF2-40B4-BE49-F238E27FC236}">
                <a16:creationId xmlns:a16="http://schemas.microsoft.com/office/drawing/2014/main" id="{B873B5D6-1DF3-455B-9D82-CEDCE6B0B406}"/>
              </a:ext>
            </a:extLst>
          </p:cNvPr>
          <p:cNvSpPr>
            <a:spLocks noGrp="1"/>
          </p:cNvSpPr>
          <p:nvPr>
            <p:ph idx="1"/>
          </p:nvPr>
        </p:nvSpPr>
        <p:spPr/>
        <p:txBody>
          <a:bodyPr>
            <a:normAutofit lnSpcReduction="10000"/>
          </a:bodyPr>
          <a:lstStyle/>
          <a:p>
            <a:pPr algn="just"/>
            <a:r>
              <a:rPr lang="en-US" b="0" i="0" dirty="0">
                <a:effectLst/>
                <a:latin typeface="Minion Pro"/>
              </a:rPr>
              <a:t>Peter has 1 unit of food and 12 </a:t>
            </a:r>
            <a:r>
              <a:rPr lang="en-US" b="0" i="0" u="none" strike="noStrike" dirty="0">
                <a:solidFill>
                  <a:srgbClr val="55BBEA"/>
                </a:solidFill>
                <a:effectLst/>
                <a:latin typeface="Minion Pro"/>
                <a:hlinkClick r:id="rId2"/>
              </a:rPr>
              <a:t>units</a:t>
            </a:r>
            <a:r>
              <a:rPr lang="en-US" b="0" i="0" dirty="0">
                <a:effectLst/>
                <a:latin typeface="Minion Pro"/>
              </a:rPr>
              <a:t> of clothing. Now, we ask Peter how many units of clothing is he willing to give up in </a:t>
            </a:r>
            <a:r>
              <a:rPr lang="en-US" b="0" i="0" u="none" strike="noStrike" dirty="0">
                <a:solidFill>
                  <a:srgbClr val="55BBEA"/>
                </a:solidFill>
                <a:effectLst/>
                <a:latin typeface="Minion Pro"/>
                <a:hlinkClick r:id="rId3"/>
              </a:rPr>
              <a:t>exchange</a:t>
            </a:r>
            <a:r>
              <a:rPr lang="en-US" b="0" i="0" dirty="0">
                <a:effectLst/>
                <a:latin typeface="Minion Pro"/>
              </a:rPr>
              <a:t> for an additional unit of food so that his level of satisfaction remains unchanged.</a:t>
            </a:r>
          </a:p>
          <a:p>
            <a:pPr algn="just"/>
            <a:r>
              <a:rPr lang="en-US" b="0" i="0" dirty="0">
                <a:effectLst/>
                <a:latin typeface="Minion Pro"/>
              </a:rPr>
              <a:t>Peter agrees to give up 6 units of clothing for an additional unit of </a:t>
            </a:r>
            <a:r>
              <a:rPr lang="en-US" b="0" i="0" u="none" strike="noStrike" dirty="0">
                <a:solidFill>
                  <a:srgbClr val="55BBEA"/>
                </a:solidFill>
                <a:effectLst/>
                <a:latin typeface="Minion Pro"/>
                <a:hlinkClick r:id="rId4"/>
              </a:rPr>
              <a:t>food</a:t>
            </a:r>
            <a:r>
              <a:rPr lang="en-US" b="0" i="0" dirty="0">
                <a:effectLst/>
                <a:latin typeface="Minion Pro"/>
              </a:rPr>
              <a:t>. Hence, we have two combinations of food and clothing giving equal satisfaction to Peter as follows:</a:t>
            </a:r>
          </a:p>
          <a:p>
            <a:pPr algn="just">
              <a:buFont typeface="Wingdings" pitchFamily="2" charset="2"/>
              <a:buChar char="Ø"/>
            </a:pPr>
            <a:r>
              <a:rPr lang="en-US" b="0" i="0" dirty="0">
                <a:solidFill>
                  <a:srgbClr val="0B0B0B"/>
                </a:solidFill>
                <a:effectLst/>
                <a:latin typeface="Minion Pro"/>
              </a:rPr>
              <a:t>        1 unit of food and 12 units of clothing</a:t>
            </a:r>
          </a:p>
          <a:p>
            <a:pPr algn="just">
              <a:buFont typeface="Wingdings" pitchFamily="2" charset="2"/>
              <a:buChar char="Ø"/>
            </a:pPr>
            <a:r>
              <a:rPr lang="en-US" dirty="0">
                <a:solidFill>
                  <a:srgbClr val="0B0B0B"/>
                </a:solidFill>
                <a:latin typeface="Minion Pro"/>
              </a:rPr>
              <a:t>        </a:t>
            </a:r>
            <a:r>
              <a:rPr lang="en-US" b="0" i="0" dirty="0">
                <a:solidFill>
                  <a:srgbClr val="0B0B0B"/>
                </a:solidFill>
                <a:effectLst/>
                <a:latin typeface="Minion Pro"/>
              </a:rPr>
              <a:t>2 units of food and 6 units of clothing</a:t>
            </a:r>
          </a:p>
          <a:p>
            <a:endParaRPr lang="en-US" dirty="0"/>
          </a:p>
        </p:txBody>
      </p:sp>
    </p:spTree>
    <p:extLst>
      <p:ext uri="{BB962C8B-B14F-4D97-AF65-F5344CB8AC3E}">
        <p14:creationId xmlns:p14="http://schemas.microsoft.com/office/powerpoint/2010/main" val="244651928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7A98C-B016-48A3-B3B5-03630012399D}"/>
              </a:ext>
            </a:extLst>
          </p:cNvPr>
          <p:cNvSpPr>
            <a:spLocks noGrp="1"/>
          </p:cNvSpPr>
          <p:nvPr>
            <p:ph type="title"/>
          </p:nvPr>
        </p:nvSpPr>
        <p:spPr/>
        <p:txBody>
          <a:bodyPr>
            <a:normAutofit fontScale="90000"/>
          </a:bodyPr>
          <a:lstStyle/>
          <a:p>
            <a:r>
              <a:rPr lang="en-US" b="1" i="0" dirty="0">
                <a:solidFill>
                  <a:srgbClr val="000000"/>
                </a:solidFill>
                <a:effectLst/>
                <a:latin typeface="Open Sans"/>
              </a:rPr>
              <a:t>What is an Indifference Curve?</a:t>
            </a:r>
            <a:br>
              <a:rPr lang="en-US" b="1" i="0" dirty="0">
                <a:solidFill>
                  <a:srgbClr val="000000"/>
                </a:solidFill>
                <a:effectLst/>
                <a:latin typeface="Open Sans"/>
              </a:rPr>
            </a:br>
            <a:endParaRPr lang="en-US" dirty="0"/>
          </a:p>
        </p:txBody>
      </p:sp>
      <p:graphicFrame>
        <p:nvGraphicFramePr>
          <p:cNvPr id="4" name="Content Placeholder 3">
            <a:extLst>
              <a:ext uri="{FF2B5EF4-FFF2-40B4-BE49-F238E27FC236}">
                <a16:creationId xmlns:a16="http://schemas.microsoft.com/office/drawing/2014/main" id="{85FE6272-7162-4164-AD2C-1966CD971E65}"/>
              </a:ext>
            </a:extLst>
          </p:cNvPr>
          <p:cNvGraphicFramePr>
            <a:graphicFrameLocks noGrp="1"/>
          </p:cNvGraphicFramePr>
          <p:nvPr>
            <p:ph idx="1"/>
            <p:extLst>
              <p:ext uri="{D42A27DB-BD31-4B8C-83A1-F6EECF244321}">
                <p14:modId xmlns:p14="http://schemas.microsoft.com/office/powerpoint/2010/main" val="2356447524"/>
              </p:ext>
            </p:extLst>
          </p:nvPr>
        </p:nvGraphicFramePr>
        <p:xfrm>
          <a:off x="1856509" y="1825624"/>
          <a:ext cx="6553200" cy="4351340"/>
        </p:xfrm>
        <a:graphic>
          <a:graphicData uri="http://schemas.openxmlformats.org/drawingml/2006/table">
            <a:tbl>
              <a:tblPr/>
              <a:tblGrid>
                <a:gridCol w="2184400">
                  <a:extLst>
                    <a:ext uri="{9D8B030D-6E8A-4147-A177-3AD203B41FA5}">
                      <a16:colId xmlns:a16="http://schemas.microsoft.com/office/drawing/2014/main" val="1194173140"/>
                    </a:ext>
                  </a:extLst>
                </a:gridCol>
                <a:gridCol w="2184400">
                  <a:extLst>
                    <a:ext uri="{9D8B030D-6E8A-4147-A177-3AD203B41FA5}">
                      <a16:colId xmlns:a16="http://schemas.microsoft.com/office/drawing/2014/main" val="3983333498"/>
                    </a:ext>
                  </a:extLst>
                </a:gridCol>
                <a:gridCol w="2184400">
                  <a:extLst>
                    <a:ext uri="{9D8B030D-6E8A-4147-A177-3AD203B41FA5}">
                      <a16:colId xmlns:a16="http://schemas.microsoft.com/office/drawing/2014/main" val="1189329475"/>
                    </a:ext>
                  </a:extLst>
                </a:gridCol>
              </a:tblGrid>
              <a:tr h="870268">
                <a:tc>
                  <a:txBody>
                    <a:bodyPr/>
                    <a:lstStyle/>
                    <a:p>
                      <a:pPr algn="ctr" fontAlgn="ctr"/>
                      <a:r>
                        <a:rPr lang="en-US" sz="2800" b="0" dirty="0">
                          <a:effectLst/>
                        </a:rPr>
                        <a:t>Combination</a:t>
                      </a:r>
                    </a:p>
                  </a:txBody>
                  <a:tcPr marL="86451" marR="86451" marT="86450" marB="86450" anchor="ctr">
                    <a:lnL w="9525" cap="flat" cmpd="sng" algn="ctr">
                      <a:solidFill>
                        <a:srgbClr val="300DF0"/>
                      </a:solidFill>
                      <a:prstDash val="solid"/>
                      <a:round/>
                      <a:headEnd type="none" w="med" len="med"/>
                      <a:tailEnd type="none" w="med" len="med"/>
                    </a:lnL>
                    <a:lnR w="9525" cap="flat" cmpd="sng" algn="ctr">
                      <a:solidFill>
                        <a:srgbClr val="300DF0"/>
                      </a:solidFill>
                      <a:prstDash val="solid"/>
                      <a:round/>
                      <a:headEnd type="none" w="med" len="med"/>
                      <a:tailEnd type="none" w="med" len="med"/>
                    </a:lnR>
                    <a:lnT w="9525" cap="flat" cmpd="sng" algn="ctr">
                      <a:solidFill>
                        <a:srgbClr val="300DF0"/>
                      </a:solidFill>
                      <a:prstDash val="solid"/>
                      <a:round/>
                      <a:headEnd type="none" w="med" len="med"/>
                      <a:tailEnd type="none" w="med" len="med"/>
                    </a:lnT>
                    <a:lnB w="9525" cap="flat" cmpd="sng" algn="ctr">
                      <a:solidFill>
                        <a:srgbClr val="600DF0"/>
                      </a:solidFill>
                      <a:prstDash val="solid"/>
                      <a:round/>
                      <a:headEnd type="none" w="med" len="med"/>
                      <a:tailEnd type="none" w="med" len="med"/>
                    </a:lnB>
                    <a:solidFill>
                      <a:srgbClr val="FFFFFF"/>
                    </a:solidFill>
                  </a:tcPr>
                </a:tc>
                <a:tc>
                  <a:txBody>
                    <a:bodyPr/>
                    <a:lstStyle/>
                    <a:p>
                      <a:pPr algn="ctr" fontAlgn="ctr"/>
                      <a:r>
                        <a:rPr lang="en-US" sz="2800" b="0" dirty="0">
                          <a:effectLst/>
                        </a:rPr>
                        <a:t>Food</a:t>
                      </a:r>
                    </a:p>
                  </a:txBody>
                  <a:tcPr marL="86451" marR="86451" marT="86450" marB="86450" anchor="ctr">
                    <a:lnL w="9525" cap="flat" cmpd="sng" algn="ctr">
                      <a:solidFill>
                        <a:srgbClr val="300DF0"/>
                      </a:solidFill>
                      <a:prstDash val="solid"/>
                      <a:round/>
                      <a:headEnd type="none" w="med" len="med"/>
                      <a:tailEnd type="none" w="med" len="med"/>
                    </a:lnL>
                    <a:lnR w="9525" cap="flat" cmpd="sng" algn="ctr">
                      <a:solidFill>
                        <a:srgbClr val="300DF0"/>
                      </a:solidFill>
                      <a:prstDash val="solid"/>
                      <a:round/>
                      <a:headEnd type="none" w="med" len="med"/>
                      <a:tailEnd type="none" w="med" len="med"/>
                    </a:lnR>
                    <a:lnT w="9525" cap="flat" cmpd="sng" algn="ctr">
                      <a:solidFill>
                        <a:srgbClr val="300DF0"/>
                      </a:solidFill>
                      <a:prstDash val="solid"/>
                      <a:round/>
                      <a:headEnd type="none" w="med" len="med"/>
                      <a:tailEnd type="none" w="med" len="med"/>
                    </a:lnT>
                    <a:lnB w="9525" cap="flat" cmpd="sng" algn="ctr">
                      <a:solidFill>
                        <a:srgbClr val="600DF0"/>
                      </a:solidFill>
                      <a:prstDash val="solid"/>
                      <a:round/>
                      <a:headEnd type="none" w="med" len="med"/>
                      <a:tailEnd type="none" w="med" len="med"/>
                    </a:lnB>
                    <a:solidFill>
                      <a:srgbClr val="FFFFFF"/>
                    </a:solidFill>
                  </a:tcPr>
                </a:tc>
                <a:tc>
                  <a:txBody>
                    <a:bodyPr/>
                    <a:lstStyle/>
                    <a:p>
                      <a:pPr algn="ctr" fontAlgn="ctr"/>
                      <a:r>
                        <a:rPr lang="en-US" sz="2800" b="0" dirty="0">
                          <a:effectLst/>
                        </a:rPr>
                        <a:t>Clothing</a:t>
                      </a:r>
                    </a:p>
                  </a:txBody>
                  <a:tcPr marL="86451" marR="86451" marT="86450" marB="86450" anchor="ctr">
                    <a:lnL w="9525" cap="flat" cmpd="sng" algn="ctr">
                      <a:solidFill>
                        <a:srgbClr val="300DF0"/>
                      </a:solidFill>
                      <a:prstDash val="solid"/>
                      <a:round/>
                      <a:headEnd type="none" w="med" len="med"/>
                      <a:tailEnd type="none" w="med" len="med"/>
                    </a:lnL>
                    <a:lnR w="9525" cap="flat" cmpd="sng" algn="ctr">
                      <a:solidFill>
                        <a:srgbClr val="300DF0"/>
                      </a:solidFill>
                      <a:prstDash val="solid"/>
                      <a:round/>
                      <a:headEnd type="none" w="med" len="med"/>
                      <a:tailEnd type="none" w="med" len="med"/>
                    </a:lnR>
                    <a:lnT w="9525" cap="flat" cmpd="sng" algn="ctr">
                      <a:solidFill>
                        <a:srgbClr val="300DF0"/>
                      </a:solidFill>
                      <a:prstDash val="solid"/>
                      <a:round/>
                      <a:headEnd type="none" w="med" len="med"/>
                      <a:tailEnd type="none" w="med" len="med"/>
                    </a:lnT>
                    <a:lnB w="9525" cap="flat" cmpd="sng" algn="ctr">
                      <a:solidFill>
                        <a:srgbClr val="600DF0"/>
                      </a:solidFill>
                      <a:prstDash val="solid"/>
                      <a:round/>
                      <a:headEnd type="none" w="med" len="med"/>
                      <a:tailEnd type="none" w="med" len="med"/>
                    </a:lnB>
                    <a:solidFill>
                      <a:srgbClr val="FFFFFF"/>
                    </a:solidFill>
                  </a:tcPr>
                </a:tc>
                <a:extLst>
                  <a:ext uri="{0D108BD9-81ED-4DB2-BD59-A6C34878D82A}">
                    <a16:rowId xmlns:a16="http://schemas.microsoft.com/office/drawing/2014/main" val="2808749657"/>
                  </a:ext>
                </a:extLst>
              </a:tr>
              <a:tr h="870268">
                <a:tc>
                  <a:txBody>
                    <a:bodyPr/>
                    <a:lstStyle/>
                    <a:p>
                      <a:pPr algn="ctr" fontAlgn="ctr"/>
                      <a:r>
                        <a:rPr lang="en-US" sz="3200" b="0" dirty="0">
                          <a:effectLst/>
                        </a:rPr>
                        <a:t>A</a:t>
                      </a:r>
                    </a:p>
                  </a:txBody>
                  <a:tcPr marL="86451" marR="86451" marT="86450" marB="86450" anchor="ctr">
                    <a:lnL w="9525" cap="flat" cmpd="sng" algn="ctr">
                      <a:solidFill>
                        <a:srgbClr val="600DF0"/>
                      </a:solidFill>
                      <a:prstDash val="solid"/>
                      <a:round/>
                      <a:headEnd type="none" w="med" len="med"/>
                      <a:tailEnd type="none" w="med" len="med"/>
                    </a:lnL>
                    <a:lnR w="9525" cap="flat" cmpd="sng" algn="ctr">
                      <a:solidFill>
                        <a:srgbClr val="600DF0"/>
                      </a:solidFill>
                      <a:prstDash val="solid"/>
                      <a:round/>
                      <a:headEnd type="none" w="med" len="med"/>
                      <a:tailEnd type="none" w="med" len="med"/>
                    </a:lnR>
                    <a:lnT w="9525" cap="flat" cmpd="sng" algn="ctr">
                      <a:solidFill>
                        <a:srgbClr val="600DF0"/>
                      </a:solidFill>
                      <a:prstDash val="solid"/>
                      <a:round/>
                      <a:headEnd type="none" w="med" len="med"/>
                      <a:tailEnd type="none" w="med" len="med"/>
                    </a:lnT>
                    <a:lnB w="9525" cap="flat" cmpd="sng" algn="ctr">
                      <a:solidFill>
                        <a:srgbClr val="A00FF0"/>
                      </a:solidFill>
                      <a:prstDash val="solid"/>
                      <a:round/>
                      <a:headEnd type="none" w="med" len="med"/>
                      <a:tailEnd type="none" w="med" len="med"/>
                    </a:lnB>
                    <a:solidFill>
                      <a:srgbClr val="FFFFFF"/>
                    </a:solidFill>
                  </a:tcPr>
                </a:tc>
                <a:tc>
                  <a:txBody>
                    <a:bodyPr/>
                    <a:lstStyle/>
                    <a:p>
                      <a:pPr algn="ctr" fontAlgn="ctr"/>
                      <a:r>
                        <a:rPr lang="en-US" sz="3200" b="0" dirty="0">
                          <a:effectLst/>
                        </a:rPr>
                        <a:t>1</a:t>
                      </a:r>
                    </a:p>
                  </a:txBody>
                  <a:tcPr marL="86451" marR="86451" marT="86450" marB="86450" anchor="ctr">
                    <a:lnL w="9525" cap="flat" cmpd="sng" algn="ctr">
                      <a:solidFill>
                        <a:srgbClr val="600DF0"/>
                      </a:solidFill>
                      <a:prstDash val="solid"/>
                      <a:round/>
                      <a:headEnd type="none" w="med" len="med"/>
                      <a:tailEnd type="none" w="med" len="med"/>
                    </a:lnL>
                    <a:lnR w="9525" cap="flat" cmpd="sng" algn="ctr">
                      <a:solidFill>
                        <a:srgbClr val="600DF0"/>
                      </a:solidFill>
                      <a:prstDash val="solid"/>
                      <a:round/>
                      <a:headEnd type="none" w="med" len="med"/>
                      <a:tailEnd type="none" w="med" len="med"/>
                    </a:lnR>
                    <a:lnT w="9525" cap="flat" cmpd="sng" algn="ctr">
                      <a:solidFill>
                        <a:srgbClr val="600DF0"/>
                      </a:solidFill>
                      <a:prstDash val="solid"/>
                      <a:round/>
                      <a:headEnd type="none" w="med" len="med"/>
                      <a:tailEnd type="none" w="med" len="med"/>
                    </a:lnT>
                    <a:lnB w="9525" cap="flat" cmpd="sng" algn="ctr">
                      <a:solidFill>
                        <a:srgbClr val="A00FF0"/>
                      </a:solidFill>
                      <a:prstDash val="solid"/>
                      <a:round/>
                      <a:headEnd type="none" w="med" len="med"/>
                      <a:tailEnd type="none" w="med" len="med"/>
                    </a:lnB>
                    <a:solidFill>
                      <a:srgbClr val="FFFFFF"/>
                    </a:solidFill>
                  </a:tcPr>
                </a:tc>
                <a:tc>
                  <a:txBody>
                    <a:bodyPr/>
                    <a:lstStyle/>
                    <a:p>
                      <a:pPr algn="ctr" fontAlgn="ctr"/>
                      <a:r>
                        <a:rPr lang="en-US" sz="3200" b="0">
                          <a:effectLst/>
                        </a:rPr>
                        <a:t>12</a:t>
                      </a:r>
                    </a:p>
                  </a:txBody>
                  <a:tcPr marL="86451" marR="86451" marT="86450" marB="86450" anchor="ctr">
                    <a:lnL w="9525" cap="flat" cmpd="sng" algn="ctr">
                      <a:solidFill>
                        <a:srgbClr val="600DF0"/>
                      </a:solidFill>
                      <a:prstDash val="solid"/>
                      <a:round/>
                      <a:headEnd type="none" w="med" len="med"/>
                      <a:tailEnd type="none" w="med" len="med"/>
                    </a:lnL>
                    <a:lnR w="9525" cap="flat" cmpd="sng" algn="ctr">
                      <a:solidFill>
                        <a:srgbClr val="600DF0"/>
                      </a:solidFill>
                      <a:prstDash val="solid"/>
                      <a:round/>
                      <a:headEnd type="none" w="med" len="med"/>
                      <a:tailEnd type="none" w="med" len="med"/>
                    </a:lnR>
                    <a:lnT w="9525" cap="flat" cmpd="sng" algn="ctr">
                      <a:solidFill>
                        <a:srgbClr val="600DF0"/>
                      </a:solidFill>
                      <a:prstDash val="solid"/>
                      <a:round/>
                      <a:headEnd type="none" w="med" len="med"/>
                      <a:tailEnd type="none" w="med" len="med"/>
                    </a:lnT>
                    <a:lnB w="9525" cap="flat" cmpd="sng" algn="ctr">
                      <a:solidFill>
                        <a:srgbClr val="A00FF0"/>
                      </a:solidFill>
                      <a:prstDash val="solid"/>
                      <a:round/>
                      <a:headEnd type="none" w="med" len="med"/>
                      <a:tailEnd type="none" w="med" len="med"/>
                    </a:lnB>
                    <a:solidFill>
                      <a:srgbClr val="FFFFFF"/>
                    </a:solidFill>
                  </a:tcPr>
                </a:tc>
                <a:extLst>
                  <a:ext uri="{0D108BD9-81ED-4DB2-BD59-A6C34878D82A}">
                    <a16:rowId xmlns:a16="http://schemas.microsoft.com/office/drawing/2014/main" val="2713425279"/>
                  </a:ext>
                </a:extLst>
              </a:tr>
              <a:tr h="870268">
                <a:tc>
                  <a:txBody>
                    <a:bodyPr/>
                    <a:lstStyle/>
                    <a:p>
                      <a:pPr algn="ctr" fontAlgn="ctr"/>
                      <a:r>
                        <a:rPr lang="en-US" sz="3200" b="0">
                          <a:effectLst/>
                        </a:rPr>
                        <a:t>B</a:t>
                      </a:r>
                    </a:p>
                  </a:txBody>
                  <a:tcPr marL="86451" marR="86451" marT="86450" marB="86450" anchor="ctr">
                    <a:lnL w="9525" cap="flat" cmpd="sng" algn="ctr">
                      <a:solidFill>
                        <a:srgbClr val="A00FF0"/>
                      </a:solidFill>
                      <a:prstDash val="solid"/>
                      <a:round/>
                      <a:headEnd type="none" w="med" len="med"/>
                      <a:tailEnd type="none" w="med" len="med"/>
                    </a:lnL>
                    <a:lnR w="9525" cap="flat" cmpd="sng" algn="ctr">
                      <a:solidFill>
                        <a:srgbClr val="A00FF0"/>
                      </a:solidFill>
                      <a:prstDash val="solid"/>
                      <a:round/>
                      <a:headEnd type="none" w="med" len="med"/>
                      <a:tailEnd type="none" w="med" len="med"/>
                    </a:lnR>
                    <a:lnT w="9525" cap="flat" cmpd="sng" algn="ctr">
                      <a:solidFill>
                        <a:srgbClr val="A00FF0"/>
                      </a:solidFill>
                      <a:prstDash val="solid"/>
                      <a:round/>
                      <a:headEnd type="none" w="med" len="med"/>
                      <a:tailEnd type="none" w="med" len="med"/>
                    </a:lnT>
                    <a:lnB w="9525" cap="flat" cmpd="sng" algn="ctr">
                      <a:solidFill>
                        <a:srgbClr val="001CF0"/>
                      </a:solidFill>
                      <a:prstDash val="solid"/>
                      <a:round/>
                      <a:headEnd type="none" w="med" len="med"/>
                      <a:tailEnd type="none" w="med" len="med"/>
                    </a:lnB>
                    <a:solidFill>
                      <a:srgbClr val="FFFFFF"/>
                    </a:solidFill>
                  </a:tcPr>
                </a:tc>
                <a:tc>
                  <a:txBody>
                    <a:bodyPr/>
                    <a:lstStyle/>
                    <a:p>
                      <a:pPr algn="ctr" fontAlgn="ctr"/>
                      <a:r>
                        <a:rPr lang="en-US" sz="3200" b="0" dirty="0">
                          <a:effectLst/>
                        </a:rPr>
                        <a:t>2</a:t>
                      </a:r>
                    </a:p>
                  </a:txBody>
                  <a:tcPr marL="86451" marR="86451" marT="86450" marB="86450" anchor="ctr">
                    <a:lnL w="9525" cap="flat" cmpd="sng" algn="ctr">
                      <a:solidFill>
                        <a:srgbClr val="A00FF0"/>
                      </a:solidFill>
                      <a:prstDash val="solid"/>
                      <a:round/>
                      <a:headEnd type="none" w="med" len="med"/>
                      <a:tailEnd type="none" w="med" len="med"/>
                    </a:lnL>
                    <a:lnR w="9525" cap="flat" cmpd="sng" algn="ctr">
                      <a:solidFill>
                        <a:srgbClr val="A00FF0"/>
                      </a:solidFill>
                      <a:prstDash val="solid"/>
                      <a:round/>
                      <a:headEnd type="none" w="med" len="med"/>
                      <a:tailEnd type="none" w="med" len="med"/>
                    </a:lnR>
                    <a:lnT w="9525" cap="flat" cmpd="sng" algn="ctr">
                      <a:solidFill>
                        <a:srgbClr val="A00FF0"/>
                      </a:solidFill>
                      <a:prstDash val="solid"/>
                      <a:round/>
                      <a:headEnd type="none" w="med" len="med"/>
                      <a:tailEnd type="none" w="med" len="med"/>
                    </a:lnT>
                    <a:lnB w="9525" cap="flat" cmpd="sng" algn="ctr">
                      <a:solidFill>
                        <a:srgbClr val="001CF0"/>
                      </a:solidFill>
                      <a:prstDash val="solid"/>
                      <a:round/>
                      <a:headEnd type="none" w="med" len="med"/>
                      <a:tailEnd type="none" w="med" len="med"/>
                    </a:lnB>
                    <a:solidFill>
                      <a:srgbClr val="FFFFFF"/>
                    </a:solidFill>
                  </a:tcPr>
                </a:tc>
                <a:tc>
                  <a:txBody>
                    <a:bodyPr/>
                    <a:lstStyle/>
                    <a:p>
                      <a:pPr algn="ctr" fontAlgn="ctr"/>
                      <a:r>
                        <a:rPr lang="en-US" sz="3200" b="0" dirty="0">
                          <a:effectLst/>
                        </a:rPr>
                        <a:t>6</a:t>
                      </a:r>
                    </a:p>
                  </a:txBody>
                  <a:tcPr marL="86451" marR="86451" marT="86450" marB="86450" anchor="ctr">
                    <a:lnL w="9525" cap="flat" cmpd="sng" algn="ctr">
                      <a:solidFill>
                        <a:srgbClr val="A00FF0"/>
                      </a:solidFill>
                      <a:prstDash val="solid"/>
                      <a:round/>
                      <a:headEnd type="none" w="med" len="med"/>
                      <a:tailEnd type="none" w="med" len="med"/>
                    </a:lnL>
                    <a:lnR w="9525" cap="flat" cmpd="sng" algn="ctr">
                      <a:solidFill>
                        <a:srgbClr val="A00FF0"/>
                      </a:solidFill>
                      <a:prstDash val="solid"/>
                      <a:round/>
                      <a:headEnd type="none" w="med" len="med"/>
                      <a:tailEnd type="none" w="med" len="med"/>
                    </a:lnR>
                    <a:lnT w="9525" cap="flat" cmpd="sng" algn="ctr">
                      <a:solidFill>
                        <a:srgbClr val="A00FF0"/>
                      </a:solidFill>
                      <a:prstDash val="solid"/>
                      <a:round/>
                      <a:headEnd type="none" w="med" len="med"/>
                      <a:tailEnd type="none" w="med" len="med"/>
                    </a:lnT>
                    <a:lnB w="9525" cap="flat" cmpd="sng" algn="ctr">
                      <a:solidFill>
                        <a:srgbClr val="001CF0"/>
                      </a:solidFill>
                      <a:prstDash val="solid"/>
                      <a:round/>
                      <a:headEnd type="none" w="med" len="med"/>
                      <a:tailEnd type="none" w="med" len="med"/>
                    </a:lnB>
                    <a:solidFill>
                      <a:srgbClr val="FFFFFF"/>
                    </a:solidFill>
                  </a:tcPr>
                </a:tc>
                <a:extLst>
                  <a:ext uri="{0D108BD9-81ED-4DB2-BD59-A6C34878D82A}">
                    <a16:rowId xmlns:a16="http://schemas.microsoft.com/office/drawing/2014/main" val="882262782"/>
                  </a:ext>
                </a:extLst>
              </a:tr>
              <a:tr h="870268">
                <a:tc>
                  <a:txBody>
                    <a:bodyPr/>
                    <a:lstStyle/>
                    <a:p>
                      <a:pPr algn="ctr" fontAlgn="ctr"/>
                      <a:r>
                        <a:rPr lang="en-US" sz="3200" b="0">
                          <a:effectLst/>
                        </a:rPr>
                        <a:t>C</a:t>
                      </a:r>
                    </a:p>
                  </a:txBody>
                  <a:tcPr marL="86451" marR="86451" marT="86450" marB="86450" anchor="ctr">
                    <a:lnL w="9525" cap="flat" cmpd="sng" algn="ctr">
                      <a:solidFill>
                        <a:srgbClr val="001CF0"/>
                      </a:solidFill>
                      <a:prstDash val="solid"/>
                      <a:round/>
                      <a:headEnd type="none" w="med" len="med"/>
                      <a:tailEnd type="none" w="med" len="med"/>
                    </a:lnL>
                    <a:lnR w="9525" cap="flat" cmpd="sng" algn="ctr">
                      <a:solidFill>
                        <a:srgbClr val="001CF0"/>
                      </a:solidFill>
                      <a:prstDash val="solid"/>
                      <a:round/>
                      <a:headEnd type="none" w="med" len="med"/>
                      <a:tailEnd type="none" w="med" len="med"/>
                    </a:lnR>
                    <a:lnT w="9525" cap="flat" cmpd="sng" algn="ctr">
                      <a:solidFill>
                        <a:srgbClr val="001CF0"/>
                      </a:solidFill>
                      <a:prstDash val="solid"/>
                      <a:round/>
                      <a:headEnd type="none" w="med" len="med"/>
                      <a:tailEnd type="none" w="med" len="med"/>
                    </a:lnT>
                    <a:lnB w="9525" cap="flat" cmpd="sng" algn="ctr">
                      <a:solidFill>
                        <a:srgbClr val="30573D"/>
                      </a:solidFill>
                      <a:prstDash val="solid"/>
                      <a:round/>
                      <a:headEnd type="none" w="med" len="med"/>
                      <a:tailEnd type="none" w="med" len="med"/>
                    </a:lnB>
                    <a:solidFill>
                      <a:srgbClr val="FFFFFF"/>
                    </a:solidFill>
                  </a:tcPr>
                </a:tc>
                <a:tc>
                  <a:txBody>
                    <a:bodyPr/>
                    <a:lstStyle/>
                    <a:p>
                      <a:pPr algn="ctr" fontAlgn="ctr"/>
                      <a:r>
                        <a:rPr lang="en-US" sz="3200" b="0">
                          <a:effectLst/>
                        </a:rPr>
                        <a:t>3</a:t>
                      </a:r>
                    </a:p>
                  </a:txBody>
                  <a:tcPr marL="86451" marR="86451" marT="86450" marB="86450" anchor="ctr">
                    <a:lnL w="9525" cap="flat" cmpd="sng" algn="ctr">
                      <a:solidFill>
                        <a:srgbClr val="001CF0"/>
                      </a:solidFill>
                      <a:prstDash val="solid"/>
                      <a:round/>
                      <a:headEnd type="none" w="med" len="med"/>
                      <a:tailEnd type="none" w="med" len="med"/>
                    </a:lnL>
                    <a:lnR w="9525" cap="flat" cmpd="sng" algn="ctr">
                      <a:solidFill>
                        <a:srgbClr val="001CF0"/>
                      </a:solidFill>
                      <a:prstDash val="solid"/>
                      <a:round/>
                      <a:headEnd type="none" w="med" len="med"/>
                      <a:tailEnd type="none" w="med" len="med"/>
                    </a:lnR>
                    <a:lnT w="9525" cap="flat" cmpd="sng" algn="ctr">
                      <a:solidFill>
                        <a:srgbClr val="001CF0"/>
                      </a:solidFill>
                      <a:prstDash val="solid"/>
                      <a:round/>
                      <a:headEnd type="none" w="med" len="med"/>
                      <a:tailEnd type="none" w="med" len="med"/>
                    </a:lnT>
                    <a:lnB w="9525" cap="flat" cmpd="sng" algn="ctr">
                      <a:solidFill>
                        <a:srgbClr val="30573D"/>
                      </a:solidFill>
                      <a:prstDash val="solid"/>
                      <a:round/>
                      <a:headEnd type="none" w="med" len="med"/>
                      <a:tailEnd type="none" w="med" len="med"/>
                    </a:lnB>
                    <a:solidFill>
                      <a:srgbClr val="FFFFFF"/>
                    </a:solidFill>
                  </a:tcPr>
                </a:tc>
                <a:tc>
                  <a:txBody>
                    <a:bodyPr/>
                    <a:lstStyle/>
                    <a:p>
                      <a:pPr algn="ctr" fontAlgn="ctr"/>
                      <a:r>
                        <a:rPr lang="en-US" sz="3200" b="0" dirty="0">
                          <a:effectLst/>
                        </a:rPr>
                        <a:t>4</a:t>
                      </a:r>
                    </a:p>
                  </a:txBody>
                  <a:tcPr marL="86451" marR="86451" marT="86450" marB="86450" anchor="ctr">
                    <a:lnL w="9525" cap="flat" cmpd="sng" algn="ctr">
                      <a:solidFill>
                        <a:srgbClr val="001CF0"/>
                      </a:solidFill>
                      <a:prstDash val="solid"/>
                      <a:round/>
                      <a:headEnd type="none" w="med" len="med"/>
                      <a:tailEnd type="none" w="med" len="med"/>
                    </a:lnL>
                    <a:lnR w="9525" cap="flat" cmpd="sng" algn="ctr">
                      <a:solidFill>
                        <a:srgbClr val="001CF0"/>
                      </a:solidFill>
                      <a:prstDash val="solid"/>
                      <a:round/>
                      <a:headEnd type="none" w="med" len="med"/>
                      <a:tailEnd type="none" w="med" len="med"/>
                    </a:lnR>
                    <a:lnT w="9525" cap="flat" cmpd="sng" algn="ctr">
                      <a:solidFill>
                        <a:srgbClr val="001CF0"/>
                      </a:solidFill>
                      <a:prstDash val="solid"/>
                      <a:round/>
                      <a:headEnd type="none" w="med" len="med"/>
                      <a:tailEnd type="none" w="med" len="med"/>
                    </a:lnT>
                    <a:lnB w="9525" cap="flat" cmpd="sng" algn="ctr">
                      <a:solidFill>
                        <a:srgbClr val="30573D"/>
                      </a:solidFill>
                      <a:prstDash val="solid"/>
                      <a:round/>
                      <a:headEnd type="none" w="med" len="med"/>
                      <a:tailEnd type="none" w="med" len="med"/>
                    </a:lnB>
                    <a:solidFill>
                      <a:srgbClr val="FFFFFF"/>
                    </a:solidFill>
                  </a:tcPr>
                </a:tc>
                <a:extLst>
                  <a:ext uri="{0D108BD9-81ED-4DB2-BD59-A6C34878D82A}">
                    <a16:rowId xmlns:a16="http://schemas.microsoft.com/office/drawing/2014/main" val="2618455424"/>
                  </a:ext>
                </a:extLst>
              </a:tr>
              <a:tr h="870268">
                <a:tc>
                  <a:txBody>
                    <a:bodyPr/>
                    <a:lstStyle/>
                    <a:p>
                      <a:pPr algn="ctr" fontAlgn="ctr"/>
                      <a:r>
                        <a:rPr lang="en-US" sz="3200" b="0">
                          <a:effectLst/>
                        </a:rPr>
                        <a:t>D</a:t>
                      </a:r>
                    </a:p>
                  </a:txBody>
                  <a:tcPr marL="86451" marR="86451" marT="86450" marB="86450" anchor="ctr">
                    <a:lnL w="9525" cap="flat" cmpd="sng" algn="ctr">
                      <a:solidFill>
                        <a:srgbClr val="30573D"/>
                      </a:solidFill>
                      <a:prstDash val="solid"/>
                      <a:round/>
                      <a:headEnd type="none" w="med" len="med"/>
                      <a:tailEnd type="none" w="med" len="med"/>
                    </a:lnL>
                    <a:lnR w="9525" cap="flat" cmpd="sng" algn="ctr">
                      <a:solidFill>
                        <a:srgbClr val="30573D"/>
                      </a:solidFill>
                      <a:prstDash val="solid"/>
                      <a:round/>
                      <a:headEnd type="none" w="med" len="med"/>
                      <a:tailEnd type="none" w="med" len="med"/>
                    </a:lnR>
                    <a:lnT w="9525" cap="flat" cmpd="sng" algn="ctr">
                      <a:solidFill>
                        <a:srgbClr val="30573D"/>
                      </a:solidFill>
                      <a:prstDash val="solid"/>
                      <a:round/>
                      <a:headEnd type="none" w="med" len="med"/>
                      <a:tailEnd type="none" w="med" len="med"/>
                    </a:lnT>
                    <a:lnB w="9525" cap="flat" cmpd="sng" algn="ctr">
                      <a:solidFill>
                        <a:srgbClr val="30573D"/>
                      </a:solidFill>
                      <a:prstDash val="solid"/>
                      <a:round/>
                      <a:headEnd type="none" w="med" len="med"/>
                      <a:tailEnd type="none" w="med" len="med"/>
                    </a:lnB>
                    <a:solidFill>
                      <a:srgbClr val="FFFFFF"/>
                    </a:solidFill>
                  </a:tcPr>
                </a:tc>
                <a:tc>
                  <a:txBody>
                    <a:bodyPr/>
                    <a:lstStyle/>
                    <a:p>
                      <a:pPr algn="ctr" fontAlgn="ctr"/>
                      <a:r>
                        <a:rPr lang="en-US" sz="3200" b="0">
                          <a:effectLst/>
                        </a:rPr>
                        <a:t>4</a:t>
                      </a:r>
                    </a:p>
                  </a:txBody>
                  <a:tcPr marL="86451" marR="86451" marT="86450" marB="86450" anchor="ctr">
                    <a:lnL w="9525" cap="flat" cmpd="sng" algn="ctr">
                      <a:solidFill>
                        <a:srgbClr val="30573D"/>
                      </a:solidFill>
                      <a:prstDash val="solid"/>
                      <a:round/>
                      <a:headEnd type="none" w="med" len="med"/>
                      <a:tailEnd type="none" w="med" len="med"/>
                    </a:lnL>
                    <a:lnR w="9525" cap="flat" cmpd="sng" algn="ctr">
                      <a:solidFill>
                        <a:srgbClr val="30573D"/>
                      </a:solidFill>
                      <a:prstDash val="solid"/>
                      <a:round/>
                      <a:headEnd type="none" w="med" len="med"/>
                      <a:tailEnd type="none" w="med" len="med"/>
                    </a:lnR>
                    <a:lnT w="9525" cap="flat" cmpd="sng" algn="ctr">
                      <a:solidFill>
                        <a:srgbClr val="30573D"/>
                      </a:solidFill>
                      <a:prstDash val="solid"/>
                      <a:round/>
                      <a:headEnd type="none" w="med" len="med"/>
                      <a:tailEnd type="none" w="med" len="med"/>
                    </a:lnT>
                    <a:lnB w="9525" cap="flat" cmpd="sng" algn="ctr">
                      <a:solidFill>
                        <a:srgbClr val="30573D"/>
                      </a:solidFill>
                      <a:prstDash val="solid"/>
                      <a:round/>
                      <a:headEnd type="none" w="med" len="med"/>
                      <a:tailEnd type="none" w="med" len="med"/>
                    </a:lnB>
                    <a:solidFill>
                      <a:srgbClr val="FFFFFF"/>
                    </a:solidFill>
                  </a:tcPr>
                </a:tc>
                <a:tc>
                  <a:txBody>
                    <a:bodyPr/>
                    <a:lstStyle/>
                    <a:p>
                      <a:pPr algn="ctr" fontAlgn="ctr"/>
                      <a:r>
                        <a:rPr lang="en-US" sz="3200" b="0" dirty="0">
                          <a:effectLst/>
                        </a:rPr>
                        <a:t>3</a:t>
                      </a:r>
                    </a:p>
                  </a:txBody>
                  <a:tcPr marL="86451" marR="86451" marT="86450" marB="86450" anchor="ctr">
                    <a:lnL w="9525" cap="flat" cmpd="sng" algn="ctr">
                      <a:solidFill>
                        <a:srgbClr val="30573D"/>
                      </a:solidFill>
                      <a:prstDash val="solid"/>
                      <a:round/>
                      <a:headEnd type="none" w="med" len="med"/>
                      <a:tailEnd type="none" w="med" len="med"/>
                    </a:lnL>
                    <a:lnR w="9525" cap="flat" cmpd="sng" algn="ctr">
                      <a:solidFill>
                        <a:srgbClr val="30573D"/>
                      </a:solidFill>
                      <a:prstDash val="solid"/>
                      <a:round/>
                      <a:headEnd type="none" w="med" len="med"/>
                      <a:tailEnd type="none" w="med" len="med"/>
                    </a:lnR>
                    <a:lnT w="9525" cap="flat" cmpd="sng" algn="ctr">
                      <a:solidFill>
                        <a:srgbClr val="30573D"/>
                      </a:solidFill>
                      <a:prstDash val="solid"/>
                      <a:round/>
                      <a:headEnd type="none" w="med" len="med"/>
                      <a:tailEnd type="none" w="med" len="med"/>
                    </a:lnT>
                    <a:lnB w="9525" cap="flat" cmpd="sng" algn="ctr">
                      <a:solidFill>
                        <a:srgbClr val="30573D"/>
                      </a:solidFill>
                      <a:prstDash val="solid"/>
                      <a:round/>
                      <a:headEnd type="none" w="med" len="med"/>
                      <a:tailEnd type="none" w="med" len="med"/>
                    </a:lnB>
                    <a:solidFill>
                      <a:srgbClr val="FFFFFF"/>
                    </a:solidFill>
                  </a:tcPr>
                </a:tc>
                <a:extLst>
                  <a:ext uri="{0D108BD9-81ED-4DB2-BD59-A6C34878D82A}">
                    <a16:rowId xmlns:a16="http://schemas.microsoft.com/office/drawing/2014/main" val="2534848993"/>
                  </a:ext>
                </a:extLst>
              </a:tr>
            </a:tbl>
          </a:graphicData>
        </a:graphic>
      </p:graphicFrame>
    </p:spTree>
    <p:extLst>
      <p:ext uri="{BB962C8B-B14F-4D97-AF65-F5344CB8AC3E}">
        <p14:creationId xmlns:p14="http://schemas.microsoft.com/office/powerpoint/2010/main" val="33201379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8E3B-4FA8-4ACE-91AE-627D00568573}"/>
              </a:ext>
            </a:extLst>
          </p:cNvPr>
          <p:cNvSpPr>
            <a:spLocks noGrp="1"/>
          </p:cNvSpPr>
          <p:nvPr>
            <p:ph type="title"/>
          </p:nvPr>
        </p:nvSpPr>
        <p:spPr/>
        <p:txBody>
          <a:bodyPr>
            <a:normAutofit fontScale="90000"/>
          </a:bodyPr>
          <a:lstStyle/>
          <a:p>
            <a:r>
              <a:rPr lang="en-US" b="1" i="0" dirty="0">
                <a:solidFill>
                  <a:srgbClr val="000000"/>
                </a:solidFill>
                <a:effectLst/>
                <a:latin typeface="Open Sans"/>
              </a:rPr>
              <a:t>What is an Indifference Curve?</a:t>
            </a:r>
            <a:br>
              <a:rPr lang="en-US" b="1" i="0" dirty="0">
                <a:solidFill>
                  <a:srgbClr val="000000"/>
                </a:solidFill>
                <a:effectLst/>
                <a:latin typeface="Open Sans"/>
              </a:rPr>
            </a:br>
            <a:endParaRPr lang="en-US" dirty="0"/>
          </a:p>
        </p:txBody>
      </p:sp>
      <p:pic>
        <p:nvPicPr>
          <p:cNvPr id="4" name="Content Placeholder 3">
            <a:extLst>
              <a:ext uri="{FF2B5EF4-FFF2-40B4-BE49-F238E27FC236}">
                <a16:creationId xmlns:a16="http://schemas.microsoft.com/office/drawing/2014/main" id="{62810FE3-D4FF-49FF-B9D8-1BFB35C270D7}"/>
              </a:ext>
            </a:extLst>
          </p:cNvPr>
          <p:cNvPicPr>
            <a:picLocks noGrp="1" noChangeAspect="1"/>
          </p:cNvPicPr>
          <p:nvPr>
            <p:ph idx="1"/>
          </p:nvPr>
        </p:nvPicPr>
        <p:blipFill>
          <a:blip r:embed="rId2"/>
          <a:stretch>
            <a:fillRect/>
          </a:stretch>
        </p:blipFill>
        <p:spPr>
          <a:xfrm>
            <a:off x="2076994" y="1005839"/>
            <a:ext cx="7981406" cy="5264331"/>
          </a:xfrm>
          <a:prstGeom prst="rect">
            <a:avLst/>
          </a:prstGeom>
        </p:spPr>
      </p:pic>
    </p:spTree>
    <p:extLst>
      <p:ext uri="{BB962C8B-B14F-4D97-AF65-F5344CB8AC3E}">
        <p14:creationId xmlns:p14="http://schemas.microsoft.com/office/powerpoint/2010/main" val="18910882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1A4C-9E2D-44AB-9852-10E838FE4D5E}"/>
              </a:ext>
            </a:extLst>
          </p:cNvPr>
          <p:cNvSpPr>
            <a:spLocks noGrp="1"/>
          </p:cNvSpPr>
          <p:nvPr>
            <p:ph type="title"/>
          </p:nvPr>
        </p:nvSpPr>
        <p:spPr/>
        <p:txBody>
          <a:bodyPr>
            <a:normAutofit fontScale="90000"/>
          </a:bodyPr>
          <a:lstStyle/>
          <a:p>
            <a:r>
              <a:rPr lang="en-US" b="1" i="0" dirty="0">
                <a:solidFill>
                  <a:srgbClr val="000000"/>
                </a:solidFill>
                <a:effectLst/>
                <a:latin typeface="Open Sans"/>
              </a:rPr>
              <a:t>Marginal Rate of Substitution</a:t>
            </a:r>
            <a:br>
              <a:rPr lang="en-US" b="1" i="0" dirty="0">
                <a:solidFill>
                  <a:srgbClr val="000000"/>
                </a:solidFill>
                <a:effectLst/>
                <a:latin typeface="Open Sans"/>
              </a:rPr>
            </a:br>
            <a:br>
              <a:rPr lang="en-US" b="1" i="0" dirty="0">
                <a:solidFill>
                  <a:srgbClr val="000000"/>
                </a:solidFill>
                <a:effectLst/>
                <a:latin typeface="Open Sans"/>
              </a:rPr>
            </a:br>
            <a:endParaRPr lang="en-US" dirty="0"/>
          </a:p>
        </p:txBody>
      </p:sp>
      <p:sp>
        <p:nvSpPr>
          <p:cNvPr id="3" name="Content Placeholder 2">
            <a:extLst>
              <a:ext uri="{FF2B5EF4-FFF2-40B4-BE49-F238E27FC236}">
                <a16:creationId xmlns:a16="http://schemas.microsoft.com/office/drawing/2014/main" id="{B532E83F-D227-4A30-921F-E1146C73D8B2}"/>
              </a:ext>
            </a:extLst>
          </p:cNvPr>
          <p:cNvSpPr>
            <a:spLocks noGrp="1"/>
          </p:cNvSpPr>
          <p:nvPr>
            <p:ph idx="1"/>
          </p:nvPr>
        </p:nvSpPr>
        <p:spPr/>
        <p:txBody>
          <a:bodyPr>
            <a:normAutofit fontScale="92500" lnSpcReduction="20000"/>
          </a:bodyPr>
          <a:lstStyle/>
          <a:p>
            <a:pPr algn="just"/>
            <a:r>
              <a:rPr lang="en-US" b="0" i="0" dirty="0">
                <a:effectLst/>
                <a:latin typeface="Minion Pro"/>
              </a:rPr>
              <a:t>This is the rate at which a consumer is prepared to exchange a good X for Y. If we go back to Peter’s example above, we have the following table:</a:t>
            </a:r>
          </a:p>
          <a:p>
            <a:pPr algn="just"/>
            <a:r>
              <a:rPr lang="en-US" b="0" i="0" dirty="0">
                <a:effectLst/>
                <a:latin typeface="Minion Pro"/>
              </a:rPr>
              <a:t>Interestingly, as Peter accumulates more units of food, the MRS starts falling – meaning he is prepared to give up fewer units of clothing for food. There are two reasons for this:</a:t>
            </a:r>
          </a:p>
          <a:p>
            <a:pPr algn="just">
              <a:buFont typeface="+mj-lt"/>
              <a:buAutoNum type="arabicPeriod"/>
            </a:pPr>
            <a:r>
              <a:rPr lang="en-US" b="0" i="0" dirty="0">
                <a:solidFill>
                  <a:srgbClr val="0B0B0B"/>
                </a:solidFill>
                <a:effectLst/>
                <a:latin typeface="Minion Pro"/>
              </a:rPr>
              <a:t>As Peter gets more units of food, his intensity of desire for additional units of food decreases.</a:t>
            </a:r>
          </a:p>
          <a:p>
            <a:pPr algn="just">
              <a:buFont typeface="+mj-lt"/>
              <a:buAutoNum type="arabicPeriod"/>
            </a:pPr>
            <a:r>
              <a:rPr lang="en-US" b="0" i="0" dirty="0">
                <a:solidFill>
                  <a:srgbClr val="0B0B0B"/>
                </a:solidFill>
                <a:effectLst/>
                <a:latin typeface="Minion Pro"/>
              </a:rPr>
              <a:t>Most of the goods are imperfect substitutes for one another. If they could substitute one another perfectly, then MRS would remain constant.</a:t>
            </a:r>
          </a:p>
          <a:p>
            <a:pPr algn="l"/>
            <a:endParaRPr lang="en-US" b="0" i="0" dirty="0">
              <a:effectLst/>
              <a:latin typeface="Minion Pro"/>
            </a:endParaRPr>
          </a:p>
          <a:p>
            <a:endParaRPr lang="en-US" dirty="0"/>
          </a:p>
        </p:txBody>
      </p:sp>
    </p:spTree>
    <p:extLst>
      <p:ext uri="{BB962C8B-B14F-4D97-AF65-F5344CB8AC3E}">
        <p14:creationId xmlns:p14="http://schemas.microsoft.com/office/powerpoint/2010/main" val="281833396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CBFD7-5A70-40D1-B4C3-9333CEF67DAE}"/>
              </a:ext>
            </a:extLst>
          </p:cNvPr>
          <p:cNvSpPr>
            <a:spLocks noGrp="1"/>
          </p:cNvSpPr>
          <p:nvPr>
            <p:ph type="title"/>
          </p:nvPr>
        </p:nvSpPr>
        <p:spPr/>
        <p:txBody>
          <a:bodyPr>
            <a:normAutofit fontScale="90000"/>
          </a:bodyPr>
          <a:lstStyle/>
          <a:p>
            <a:r>
              <a:rPr lang="en-US" b="1" i="0" dirty="0">
                <a:solidFill>
                  <a:srgbClr val="000000"/>
                </a:solidFill>
                <a:effectLst/>
                <a:latin typeface="Open Sans"/>
              </a:rPr>
              <a:t>Marginal Rate of Substitution</a:t>
            </a:r>
            <a:br>
              <a:rPr lang="en-US" b="1" i="0" dirty="0">
                <a:solidFill>
                  <a:srgbClr val="000000"/>
                </a:solidFill>
                <a:effectLst/>
                <a:latin typeface="Open Sans"/>
              </a:rPr>
            </a:br>
            <a:br>
              <a:rPr lang="en-US" b="1" i="0" dirty="0">
                <a:solidFill>
                  <a:srgbClr val="000000"/>
                </a:solidFill>
                <a:effectLst/>
                <a:latin typeface="Open Sans"/>
              </a:rPr>
            </a:br>
            <a:endParaRPr lang="en-US" dirty="0"/>
          </a:p>
        </p:txBody>
      </p:sp>
      <p:graphicFrame>
        <p:nvGraphicFramePr>
          <p:cNvPr id="4" name="Content Placeholder 3">
            <a:extLst>
              <a:ext uri="{FF2B5EF4-FFF2-40B4-BE49-F238E27FC236}">
                <a16:creationId xmlns:a16="http://schemas.microsoft.com/office/drawing/2014/main" id="{D1F42D91-87A9-4DBE-BB5D-BA5C8DDB6B52}"/>
              </a:ext>
            </a:extLst>
          </p:cNvPr>
          <p:cNvGraphicFramePr>
            <a:graphicFrameLocks noGrp="1"/>
          </p:cNvGraphicFramePr>
          <p:nvPr>
            <p:ph idx="1"/>
            <p:extLst>
              <p:ext uri="{D42A27DB-BD31-4B8C-83A1-F6EECF244321}">
                <p14:modId xmlns:p14="http://schemas.microsoft.com/office/powerpoint/2010/main" val="3370660624"/>
              </p:ext>
            </p:extLst>
          </p:nvPr>
        </p:nvGraphicFramePr>
        <p:xfrm>
          <a:off x="1745674" y="1825624"/>
          <a:ext cx="6142396" cy="4351340"/>
        </p:xfrm>
        <a:graphic>
          <a:graphicData uri="http://schemas.openxmlformats.org/drawingml/2006/table">
            <a:tbl>
              <a:tblPr/>
              <a:tblGrid>
                <a:gridCol w="1535599">
                  <a:extLst>
                    <a:ext uri="{9D8B030D-6E8A-4147-A177-3AD203B41FA5}">
                      <a16:colId xmlns:a16="http://schemas.microsoft.com/office/drawing/2014/main" val="1876907391"/>
                    </a:ext>
                  </a:extLst>
                </a:gridCol>
                <a:gridCol w="1535599">
                  <a:extLst>
                    <a:ext uri="{9D8B030D-6E8A-4147-A177-3AD203B41FA5}">
                      <a16:colId xmlns:a16="http://schemas.microsoft.com/office/drawing/2014/main" val="2904309564"/>
                    </a:ext>
                  </a:extLst>
                </a:gridCol>
                <a:gridCol w="1535599">
                  <a:extLst>
                    <a:ext uri="{9D8B030D-6E8A-4147-A177-3AD203B41FA5}">
                      <a16:colId xmlns:a16="http://schemas.microsoft.com/office/drawing/2014/main" val="1064399058"/>
                    </a:ext>
                  </a:extLst>
                </a:gridCol>
                <a:gridCol w="1535599">
                  <a:extLst>
                    <a:ext uri="{9D8B030D-6E8A-4147-A177-3AD203B41FA5}">
                      <a16:colId xmlns:a16="http://schemas.microsoft.com/office/drawing/2014/main" val="474554119"/>
                    </a:ext>
                  </a:extLst>
                </a:gridCol>
              </a:tblGrid>
              <a:tr h="870268">
                <a:tc>
                  <a:txBody>
                    <a:bodyPr/>
                    <a:lstStyle/>
                    <a:p>
                      <a:pPr algn="ctr" fontAlgn="ctr"/>
                      <a:r>
                        <a:rPr lang="en-US" sz="2000" b="0" dirty="0">
                          <a:effectLst/>
                        </a:rPr>
                        <a:t>Combination</a:t>
                      </a:r>
                    </a:p>
                  </a:txBody>
                  <a:tcPr marL="85883" marR="85883" marT="85882" marB="85882" anchor="ctr">
                    <a:lnL w="9525" cap="flat" cmpd="sng" algn="ctr">
                      <a:solidFill>
                        <a:srgbClr val="603678"/>
                      </a:solidFill>
                      <a:prstDash val="solid"/>
                      <a:round/>
                      <a:headEnd type="none" w="med" len="med"/>
                      <a:tailEnd type="none" w="med" len="med"/>
                    </a:lnL>
                    <a:lnR w="9525" cap="flat" cmpd="sng" algn="ctr">
                      <a:solidFill>
                        <a:srgbClr val="603678"/>
                      </a:solidFill>
                      <a:prstDash val="solid"/>
                      <a:round/>
                      <a:headEnd type="none" w="med" len="med"/>
                      <a:tailEnd type="none" w="med" len="med"/>
                    </a:lnR>
                    <a:lnT w="9525" cap="flat" cmpd="sng" algn="ctr">
                      <a:solidFill>
                        <a:srgbClr val="603678"/>
                      </a:solidFill>
                      <a:prstDash val="solid"/>
                      <a:round/>
                      <a:headEnd type="none" w="med" len="med"/>
                      <a:tailEnd type="none" w="med" len="med"/>
                    </a:lnT>
                    <a:lnB w="9525" cap="flat" cmpd="sng" algn="ctr">
                      <a:solidFill>
                        <a:srgbClr val="204C78"/>
                      </a:solidFill>
                      <a:prstDash val="solid"/>
                      <a:round/>
                      <a:headEnd type="none" w="med" len="med"/>
                      <a:tailEnd type="none" w="med" len="med"/>
                    </a:lnB>
                    <a:solidFill>
                      <a:srgbClr val="FFFFFF"/>
                    </a:solidFill>
                  </a:tcPr>
                </a:tc>
                <a:tc>
                  <a:txBody>
                    <a:bodyPr/>
                    <a:lstStyle/>
                    <a:p>
                      <a:pPr algn="ctr" fontAlgn="ctr"/>
                      <a:r>
                        <a:rPr lang="en-US" sz="2000" b="0" dirty="0">
                          <a:effectLst/>
                        </a:rPr>
                        <a:t>Food</a:t>
                      </a:r>
                    </a:p>
                  </a:txBody>
                  <a:tcPr marL="85883" marR="85883" marT="85882" marB="85882" anchor="ctr">
                    <a:lnL w="9525" cap="flat" cmpd="sng" algn="ctr">
                      <a:solidFill>
                        <a:srgbClr val="603678"/>
                      </a:solidFill>
                      <a:prstDash val="solid"/>
                      <a:round/>
                      <a:headEnd type="none" w="med" len="med"/>
                      <a:tailEnd type="none" w="med" len="med"/>
                    </a:lnL>
                    <a:lnR w="9525" cap="flat" cmpd="sng" algn="ctr">
                      <a:solidFill>
                        <a:srgbClr val="603678"/>
                      </a:solidFill>
                      <a:prstDash val="solid"/>
                      <a:round/>
                      <a:headEnd type="none" w="med" len="med"/>
                      <a:tailEnd type="none" w="med" len="med"/>
                    </a:lnR>
                    <a:lnT w="9525" cap="flat" cmpd="sng" algn="ctr">
                      <a:solidFill>
                        <a:srgbClr val="603678"/>
                      </a:solidFill>
                      <a:prstDash val="solid"/>
                      <a:round/>
                      <a:headEnd type="none" w="med" len="med"/>
                      <a:tailEnd type="none" w="med" len="med"/>
                    </a:lnT>
                    <a:lnB w="9525" cap="flat" cmpd="sng" algn="ctr">
                      <a:solidFill>
                        <a:srgbClr val="204C78"/>
                      </a:solidFill>
                      <a:prstDash val="solid"/>
                      <a:round/>
                      <a:headEnd type="none" w="med" len="med"/>
                      <a:tailEnd type="none" w="med" len="med"/>
                    </a:lnB>
                    <a:solidFill>
                      <a:srgbClr val="FFFFFF"/>
                    </a:solidFill>
                  </a:tcPr>
                </a:tc>
                <a:tc>
                  <a:txBody>
                    <a:bodyPr/>
                    <a:lstStyle/>
                    <a:p>
                      <a:pPr algn="ctr" fontAlgn="ctr"/>
                      <a:r>
                        <a:rPr lang="en-US" sz="2000" b="0">
                          <a:effectLst/>
                        </a:rPr>
                        <a:t>Clothing</a:t>
                      </a:r>
                    </a:p>
                  </a:txBody>
                  <a:tcPr marL="85883" marR="85883" marT="85882" marB="85882" anchor="ctr">
                    <a:lnL w="9525" cap="flat" cmpd="sng" algn="ctr">
                      <a:solidFill>
                        <a:srgbClr val="603678"/>
                      </a:solidFill>
                      <a:prstDash val="solid"/>
                      <a:round/>
                      <a:headEnd type="none" w="med" len="med"/>
                      <a:tailEnd type="none" w="med" len="med"/>
                    </a:lnL>
                    <a:lnR w="9525" cap="flat" cmpd="sng" algn="ctr">
                      <a:solidFill>
                        <a:srgbClr val="603678"/>
                      </a:solidFill>
                      <a:prstDash val="solid"/>
                      <a:round/>
                      <a:headEnd type="none" w="med" len="med"/>
                      <a:tailEnd type="none" w="med" len="med"/>
                    </a:lnR>
                    <a:lnT w="9525" cap="flat" cmpd="sng" algn="ctr">
                      <a:solidFill>
                        <a:srgbClr val="603678"/>
                      </a:solidFill>
                      <a:prstDash val="solid"/>
                      <a:round/>
                      <a:headEnd type="none" w="med" len="med"/>
                      <a:tailEnd type="none" w="med" len="med"/>
                    </a:lnT>
                    <a:lnB w="9525" cap="flat" cmpd="sng" algn="ctr">
                      <a:solidFill>
                        <a:srgbClr val="204C78"/>
                      </a:solidFill>
                      <a:prstDash val="solid"/>
                      <a:round/>
                      <a:headEnd type="none" w="med" len="med"/>
                      <a:tailEnd type="none" w="med" len="med"/>
                    </a:lnB>
                    <a:solidFill>
                      <a:srgbClr val="FFFFFF"/>
                    </a:solidFill>
                  </a:tcPr>
                </a:tc>
                <a:tc>
                  <a:txBody>
                    <a:bodyPr/>
                    <a:lstStyle/>
                    <a:p>
                      <a:pPr algn="ctr" fontAlgn="ctr"/>
                      <a:r>
                        <a:rPr lang="en-US" sz="2000" b="0">
                          <a:effectLst/>
                        </a:rPr>
                        <a:t>MRS</a:t>
                      </a:r>
                    </a:p>
                  </a:txBody>
                  <a:tcPr marL="85883" marR="85883" marT="85882" marB="85882" anchor="ctr">
                    <a:lnL w="9525" cap="flat" cmpd="sng" algn="ctr">
                      <a:solidFill>
                        <a:srgbClr val="603678"/>
                      </a:solidFill>
                      <a:prstDash val="solid"/>
                      <a:round/>
                      <a:headEnd type="none" w="med" len="med"/>
                      <a:tailEnd type="none" w="med" len="med"/>
                    </a:lnL>
                    <a:lnR w="9525" cap="flat" cmpd="sng" algn="ctr">
                      <a:solidFill>
                        <a:srgbClr val="603678"/>
                      </a:solidFill>
                      <a:prstDash val="solid"/>
                      <a:round/>
                      <a:headEnd type="none" w="med" len="med"/>
                      <a:tailEnd type="none" w="med" len="med"/>
                    </a:lnR>
                    <a:lnT w="9525" cap="flat" cmpd="sng" algn="ctr">
                      <a:solidFill>
                        <a:srgbClr val="603678"/>
                      </a:solidFill>
                      <a:prstDash val="solid"/>
                      <a:round/>
                      <a:headEnd type="none" w="med" len="med"/>
                      <a:tailEnd type="none" w="med" len="med"/>
                    </a:lnT>
                    <a:lnB w="9525" cap="flat" cmpd="sng" algn="ctr">
                      <a:solidFill>
                        <a:srgbClr val="204C78"/>
                      </a:solidFill>
                      <a:prstDash val="solid"/>
                      <a:round/>
                      <a:headEnd type="none" w="med" len="med"/>
                      <a:tailEnd type="none" w="med" len="med"/>
                    </a:lnB>
                    <a:solidFill>
                      <a:srgbClr val="FFFFFF"/>
                    </a:solidFill>
                  </a:tcPr>
                </a:tc>
                <a:extLst>
                  <a:ext uri="{0D108BD9-81ED-4DB2-BD59-A6C34878D82A}">
                    <a16:rowId xmlns:a16="http://schemas.microsoft.com/office/drawing/2014/main" val="2535451776"/>
                  </a:ext>
                </a:extLst>
              </a:tr>
              <a:tr h="870268">
                <a:tc>
                  <a:txBody>
                    <a:bodyPr/>
                    <a:lstStyle/>
                    <a:p>
                      <a:pPr algn="ctr" fontAlgn="ctr"/>
                      <a:r>
                        <a:rPr lang="en-US" sz="2000" b="0">
                          <a:effectLst/>
                        </a:rPr>
                        <a:t>A</a:t>
                      </a:r>
                    </a:p>
                  </a:txBody>
                  <a:tcPr marL="85883" marR="85883" marT="85882" marB="85882" anchor="ctr">
                    <a:lnL w="9525" cap="flat" cmpd="sng" algn="ctr">
                      <a:solidFill>
                        <a:srgbClr val="204C78"/>
                      </a:solidFill>
                      <a:prstDash val="solid"/>
                      <a:round/>
                      <a:headEnd type="none" w="med" len="med"/>
                      <a:tailEnd type="none" w="med" len="med"/>
                    </a:lnL>
                    <a:lnR w="9525" cap="flat" cmpd="sng" algn="ctr">
                      <a:solidFill>
                        <a:srgbClr val="204C78"/>
                      </a:solidFill>
                      <a:prstDash val="solid"/>
                      <a:round/>
                      <a:headEnd type="none" w="med" len="med"/>
                      <a:tailEnd type="none" w="med" len="med"/>
                    </a:lnR>
                    <a:lnT w="9525" cap="flat" cmpd="sng" algn="ctr">
                      <a:solidFill>
                        <a:srgbClr val="204C78"/>
                      </a:solidFill>
                      <a:prstDash val="solid"/>
                      <a:round/>
                      <a:headEnd type="none" w="med" len="med"/>
                      <a:tailEnd type="none" w="med" len="med"/>
                    </a:lnT>
                    <a:lnB w="9525" cap="flat" cmpd="sng" algn="ctr">
                      <a:solidFill>
                        <a:srgbClr val="004278"/>
                      </a:solidFill>
                      <a:prstDash val="solid"/>
                      <a:round/>
                      <a:headEnd type="none" w="med" len="med"/>
                      <a:tailEnd type="none" w="med" len="med"/>
                    </a:lnB>
                    <a:solidFill>
                      <a:srgbClr val="FFFFFF"/>
                    </a:solidFill>
                  </a:tcPr>
                </a:tc>
                <a:tc>
                  <a:txBody>
                    <a:bodyPr/>
                    <a:lstStyle/>
                    <a:p>
                      <a:pPr algn="ctr" fontAlgn="ctr"/>
                      <a:r>
                        <a:rPr lang="en-US" sz="2000" b="0" dirty="0">
                          <a:effectLst/>
                        </a:rPr>
                        <a:t>1</a:t>
                      </a:r>
                    </a:p>
                  </a:txBody>
                  <a:tcPr marL="85883" marR="85883" marT="85882" marB="85882" anchor="ctr">
                    <a:lnL w="9525" cap="flat" cmpd="sng" algn="ctr">
                      <a:solidFill>
                        <a:srgbClr val="204C78"/>
                      </a:solidFill>
                      <a:prstDash val="solid"/>
                      <a:round/>
                      <a:headEnd type="none" w="med" len="med"/>
                      <a:tailEnd type="none" w="med" len="med"/>
                    </a:lnL>
                    <a:lnR w="9525" cap="flat" cmpd="sng" algn="ctr">
                      <a:solidFill>
                        <a:srgbClr val="204C78"/>
                      </a:solidFill>
                      <a:prstDash val="solid"/>
                      <a:round/>
                      <a:headEnd type="none" w="med" len="med"/>
                      <a:tailEnd type="none" w="med" len="med"/>
                    </a:lnR>
                    <a:lnT w="9525" cap="flat" cmpd="sng" algn="ctr">
                      <a:solidFill>
                        <a:srgbClr val="204C78"/>
                      </a:solidFill>
                      <a:prstDash val="solid"/>
                      <a:round/>
                      <a:headEnd type="none" w="med" len="med"/>
                      <a:tailEnd type="none" w="med" len="med"/>
                    </a:lnT>
                    <a:lnB w="9525" cap="flat" cmpd="sng" algn="ctr">
                      <a:solidFill>
                        <a:srgbClr val="004278"/>
                      </a:solidFill>
                      <a:prstDash val="solid"/>
                      <a:round/>
                      <a:headEnd type="none" w="med" len="med"/>
                      <a:tailEnd type="none" w="med" len="med"/>
                    </a:lnB>
                    <a:solidFill>
                      <a:srgbClr val="FFFFFF"/>
                    </a:solidFill>
                  </a:tcPr>
                </a:tc>
                <a:tc>
                  <a:txBody>
                    <a:bodyPr/>
                    <a:lstStyle/>
                    <a:p>
                      <a:pPr algn="ctr" fontAlgn="ctr"/>
                      <a:r>
                        <a:rPr lang="en-US" sz="2000" b="0" dirty="0">
                          <a:effectLst/>
                        </a:rPr>
                        <a:t>12</a:t>
                      </a:r>
                    </a:p>
                  </a:txBody>
                  <a:tcPr marL="85883" marR="85883" marT="85882" marB="85882" anchor="ctr">
                    <a:lnL w="9525" cap="flat" cmpd="sng" algn="ctr">
                      <a:solidFill>
                        <a:srgbClr val="204C78"/>
                      </a:solidFill>
                      <a:prstDash val="solid"/>
                      <a:round/>
                      <a:headEnd type="none" w="med" len="med"/>
                      <a:tailEnd type="none" w="med" len="med"/>
                    </a:lnL>
                    <a:lnR w="9525" cap="flat" cmpd="sng" algn="ctr">
                      <a:solidFill>
                        <a:srgbClr val="204C78"/>
                      </a:solidFill>
                      <a:prstDash val="solid"/>
                      <a:round/>
                      <a:headEnd type="none" w="med" len="med"/>
                      <a:tailEnd type="none" w="med" len="med"/>
                    </a:lnR>
                    <a:lnT w="9525" cap="flat" cmpd="sng" algn="ctr">
                      <a:solidFill>
                        <a:srgbClr val="204C78"/>
                      </a:solidFill>
                      <a:prstDash val="solid"/>
                      <a:round/>
                      <a:headEnd type="none" w="med" len="med"/>
                      <a:tailEnd type="none" w="med" len="med"/>
                    </a:lnT>
                    <a:lnB w="9525" cap="flat" cmpd="sng" algn="ctr">
                      <a:solidFill>
                        <a:srgbClr val="004278"/>
                      </a:solidFill>
                      <a:prstDash val="solid"/>
                      <a:round/>
                      <a:headEnd type="none" w="med" len="med"/>
                      <a:tailEnd type="none" w="med" len="med"/>
                    </a:lnB>
                    <a:solidFill>
                      <a:srgbClr val="FFFFFF"/>
                    </a:solidFill>
                  </a:tcPr>
                </a:tc>
                <a:tc>
                  <a:txBody>
                    <a:bodyPr/>
                    <a:lstStyle/>
                    <a:p>
                      <a:pPr algn="ctr" fontAlgn="ctr"/>
                      <a:r>
                        <a:rPr lang="en-US" sz="2000" b="0">
                          <a:effectLst/>
                        </a:rPr>
                        <a:t>–</a:t>
                      </a:r>
                    </a:p>
                  </a:txBody>
                  <a:tcPr marL="85883" marR="85883" marT="85882" marB="85882" anchor="ctr">
                    <a:lnL w="9525" cap="flat" cmpd="sng" algn="ctr">
                      <a:solidFill>
                        <a:srgbClr val="204C78"/>
                      </a:solidFill>
                      <a:prstDash val="solid"/>
                      <a:round/>
                      <a:headEnd type="none" w="med" len="med"/>
                      <a:tailEnd type="none" w="med" len="med"/>
                    </a:lnL>
                    <a:lnR w="9525" cap="flat" cmpd="sng" algn="ctr">
                      <a:solidFill>
                        <a:srgbClr val="204C78"/>
                      </a:solidFill>
                      <a:prstDash val="solid"/>
                      <a:round/>
                      <a:headEnd type="none" w="med" len="med"/>
                      <a:tailEnd type="none" w="med" len="med"/>
                    </a:lnR>
                    <a:lnT w="9525" cap="flat" cmpd="sng" algn="ctr">
                      <a:solidFill>
                        <a:srgbClr val="204C78"/>
                      </a:solidFill>
                      <a:prstDash val="solid"/>
                      <a:round/>
                      <a:headEnd type="none" w="med" len="med"/>
                      <a:tailEnd type="none" w="med" len="med"/>
                    </a:lnT>
                    <a:lnB w="9525" cap="flat" cmpd="sng" algn="ctr">
                      <a:solidFill>
                        <a:srgbClr val="004278"/>
                      </a:solidFill>
                      <a:prstDash val="solid"/>
                      <a:round/>
                      <a:headEnd type="none" w="med" len="med"/>
                      <a:tailEnd type="none" w="med" len="med"/>
                    </a:lnB>
                    <a:solidFill>
                      <a:srgbClr val="FFFFFF"/>
                    </a:solidFill>
                  </a:tcPr>
                </a:tc>
                <a:extLst>
                  <a:ext uri="{0D108BD9-81ED-4DB2-BD59-A6C34878D82A}">
                    <a16:rowId xmlns:a16="http://schemas.microsoft.com/office/drawing/2014/main" val="2251685842"/>
                  </a:ext>
                </a:extLst>
              </a:tr>
              <a:tr h="870268">
                <a:tc>
                  <a:txBody>
                    <a:bodyPr/>
                    <a:lstStyle/>
                    <a:p>
                      <a:pPr algn="ctr" fontAlgn="ctr"/>
                      <a:r>
                        <a:rPr lang="en-US" sz="2000" b="0">
                          <a:effectLst/>
                        </a:rPr>
                        <a:t>B</a:t>
                      </a:r>
                    </a:p>
                  </a:txBody>
                  <a:tcPr marL="85883" marR="85883" marT="85882" marB="85882" anchor="ctr">
                    <a:lnL w="9525" cap="flat" cmpd="sng" algn="ctr">
                      <a:solidFill>
                        <a:srgbClr val="004278"/>
                      </a:solidFill>
                      <a:prstDash val="solid"/>
                      <a:round/>
                      <a:headEnd type="none" w="med" len="med"/>
                      <a:tailEnd type="none" w="med" len="med"/>
                    </a:lnL>
                    <a:lnR w="9525" cap="flat" cmpd="sng" algn="ctr">
                      <a:solidFill>
                        <a:srgbClr val="004278"/>
                      </a:solidFill>
                      <a:prstDash val="solid"/>
                      <a:round/>
                      <a:headEnd type="none" w="med" len="med"/>
                      <a:tailEnd type="none" w="med" len="med"/>
                    </a:lnR>
                    <a:lnT w="9525" cap="flat" cmpd="sng" algn="ctr">
                      <a:solidFill>
                        <a:srgbClr val="004278"/>
                      </a:solidFill>
                      <a:prstDash val="solid"/>
                      <a:round/>
                      <a:headEnd type="none" w="med" len="med"/>
                      <a:tailEnd type="none" w="med" len="med"/>
                    </a:lnT>
                    <a:lnB w="9525" cap="flat" cmpd="sng" algn="ctr">
                      <a:solidFill>
                        <a:srgbClr val="D05678"/>
                      </a:solidFill>
                      <a:prstDash val="solid"/>
                      <a:round/>
                      <a:headEnd type="none" w="med" len="med"/>
                      <a:tailEnd type="none" w="med" len="med"/>
                    </a:lnB>
                    <a:solidFill>
                      <a:srgbClr val="FFFFFF"/>
                    </a:solidFill>
                  </a:tcPr>
                </a:tc>
                <a:tc>
                  <a:txBody>
                    <a:bodyPr/>
                    <a:lstStyle/>
                    <a:p>
                      <a:pPr algn="ctr" fontAlgn="ctr"/>
                      <a:r>
                        <a:rPr lang="en-US" sz="2000" b="0">
                          <a:effectLst/>
                        </a:rPr>
                        <a:t>2</a:t>
                      </a:r>
                    </a:p>
                  </a:txBody>
                  <a:tcPr marL="85883" marR="85883" marT="85882" marB="85882" anchor="ctr">
                    <a:lnL w="9525" cap="flat" cmpd="sng" algn="ctr">
                      <a:solidFill>
                        <a:srgbClr val="004278"/>
                      </a:solidFill>
                      <a:prstDash val="solid"/>
                      <a:round/>
                      <a:headEnd type="none" w="med" len="med"/>
                      <a:tailEnd type="none" w="med" len="med"/>
                    </a:lnL>
                    <a:lnR w="9525" cap="flat" cmpd="sng" algn="ctr">
                      <a:solidFill>
                        <a:srgbClr val="004278"/>
                      </a:solidFill>
                      <a:prstDash val="solid"/>
                      <a:round/>
                      <a:headEnd type="none" w="med" len="med"/>
                      <a:tailEnd type="none" w="med" len="med"/>
                    </a:lnR>
                    <a:lnT w="9525" cap="flat" cmpd="sng" algn="ctr">
                      <a:solidFill>
                        <a:srgbClr val="004278"/>
                      </a:solidFill>
                      <a:prstDash val="solid"/>
                      <a:round/>
                      <a:headEnd type="none" w="med" len="med"/>
                      <a:tailEnd type="none" w="med" len="med"/>
                    </a:lnT>
                    <a:lnB w="9525" cap="flat" cmpd="sng" algn="ctr">
                      <a:solidFill>
                        <a:srgbClr val="D05678"/>
                      </a:solidFill>
                      <a:prstDash val="solid"/>
                      <a:round/>
                      <a:headEnd type="none" w="med" len="med"/>
                      <a:tailEnd type="none" w="med" len="med"/>
                    </a:lnB>
                    <a:solidFill>
                      <a:srgbClr val="FFFFFF"/>
                    </a:solidFill>
                  </a:tcPr>
                </a:tc>
                <a:tc>
                  <a:txBody>
                    <a:bodyPr/>
                    <a:lstStyle/>
                    <a:p>
                      <a:pPr algn="ctr" fontAlgn="ctr"/>
                      <a:r>
                        <a:rPr lang="en-US" sz="2000" b="0" dirty="0">
                          <a:effectLst/>
                        </a:rPr>
                        <a:t>6</a:t>
                      </a:r>
                    </a:p>
                  </a:txBody>
                  <a:tcPr marL="85883" marR="85883" marT="85882" marB="85882" anchor="ctr">
                    <a:lnL w="9525" cap="flat" cmpd="sng" algn="ctr">
                      <a:solidFill>
                        <a:srgbClr val="004278"/>
                      </a:solidFill>
                      <a:prstDash val="solid"/>
                      <a:round/>
                      <a:headEnd type="none" w="med" len="med"/>
                      <a:tailEnd type="none" w="med" len="med"/>
                    </a:lnL>
                    <a:lnR w="9525" cap="flat" cmpd="sng" algn="ctr">
                      <a:solidFill>
                        <a:srgbClr val="004278"/>
                      </a:solidFill>
                      <a:prstDash val="solid"/>
                      <a:round/>
                      <a:headEnd type="none" w="med" len="med"/>
                      <a:tailEnd type="none" w="med" len="med"/>
                    </a:lnR>
                    <a:lnT w="9525" cap="flat" cmpd="sng" algn="ctr">
                      <a:solidFill>
                        <a:srgbClr val="004278"/>
                      </a:solidFill>
                      <a:prstDash val="solid"/>
                      <a:round/>
                      <a:headEnd type="none" w="med" len="med"/>
                      <a:tailEnd type="none" w="med" len="med"/>
                    </a:lnT>
                    <a:lnB w="9525" cap="flat" cmpd="sng" algn="ctr">
                      <a:solidFill>
                        <a:srgbClr val="D05678"/>
                      </a:solidFill>
                      <a:prstDash val="solid"/>
                      <a:round/>
                      <a:headEnd type="none" w="med" len="med"/>
                      <a:tailEnd type="none" w="med" len="med"/>
                    </a:lnB>
                    <a:solidFill>
                      <a:srgbClr val="FFFFFF"/>
                    </a:solidFill>
                  </a:tcPr>
                </a:tc>
                <a:tc>
                  <a:txBody>
                    <a:bodyPr/>
                    <a:lstStyle/>
                    <a:p>
                      <a:pPr algn="ctr" fontAlgn="ctr"/>
                      <a:r>
                        <a:rPr lang="en-US" sz="2000" b="0">
                          <a:effectLst/>
                        </a:rPr>
                        <a:t>6</a:t>
                      </a:r>
                    </a:p>
                  </a:txBody>
                  <a:tcPr marL="85883" marR="85883" marT="85882" marB="85882" anchor="ctr">
                    <a:lnL w="9525" cap="flat" cmpd="sng" algn="ctr">
                      <a:solidFill>
                        <a:srgbClr val="004278"/>
                      </a:solidFill>
                      <a:prstDash val="solid"/>
                      <a:round/>
                      <a:headEnd type="none" w="med" len="med"/>
                      <a:tailEnd type="none" w="med" len="med"/>
                    </a:lnL>
                    <a:lnR w="9525" cap="flat" cmpd="sng" algn="ctr">
                      <a:solidFill>
                        <a:srgbClr val="004278"/>
                      </a:solidFill>
                      <a:prstDash val="solid"/>
                      <a:round/>
                      <a:headEnd type="none" w="med" len="med"/>
                      <a:tailEnd type="none" w="med" len="med"/>
                    </a:lnR>
                    <a:lnT w="9525" cap="flat" cmpd="sng" algn="ctr">
                      <a:solidFill>
                        <a:srgbClr val="004278"/>
                      </a:solidFill>
                      <a:prstDash val="solid"/>
                      <a:round/>
                      <a:headEnd type="none" w="med" len="med"/>
                      <a:tailEnd type="none" w="med" len="med"/>
                    </a:lnT>
                    <a:lnB w="9525" cap="flat" cmpd="sng" algn="ctr">
                      <a:solidFill>
                        <a:srgbClr val="D05678"/>
                      </a:solidFill>
                      <a:prstDash val="solid"/>
                      <a:round/>
                      <a:headEnd type="none" w="med" len="med"/>
                      <a:tailEnd type="none" w="med" len="med"/>
                    </a:lnB>
                    <a:solidFill>
                      <a:srgbClr val="FFFFFF"/>
                    </a:solidFill>
                  </a:tcPr>
                </a:tc>
                <a:extLst>
                  <a:ext uri="{0D108BD9-81ED-4DB2-BD59-A6C34878D82A}">
                    <a16:rowId xmlns:a16="http://schemas.microsoft.com/office/drawing/2014/main" val="4067196653"/>
                  </a:ext>
                </a:extLst>
              </a:tr>
              <a:tr h="870268">
                <a:tc>
                  <a:txBody>
                    <a:bodyPr/>
                    <a:lstStyle/>
                    <a:p>
                      <a:pPr algn="ctr" fontAlgn="ctr"/>
                      <a:r>
                        <a:rPr lang="en-US" sz="2000" b="0">
                          <a:effectLst/>
                        </a:rPr>
                        <a:t>C</a:t>
                      </a:r>
                    </a:p>
                  </a:txBody>
                  <a:tcPr marL="85883" marR="85883" marT="85882" marB="85882" anchor="ctr">
                    <a:lnL w="9525" cap="flat" cmpd="sng" algn="ctr">
                      <a:solidFill>
                        <a:srgbClr val="D05678"/>
                      </a:solidFill>
                      <a:prstDash val="solid"/>
                      <a:round/>
                      <a:headEnd type="none" w="med" len="med"/>
                      <a:tailEnd type="none" w="med" len="med"/>
                    </a:lnL>
                    <a:lnR w="9525" cap="flat" cmpd="sng" algn="ctr">
                      <a:solidFill>
                        <a:srgbClr val="D05678"/>
                      </a:solidFill>
                      <a:prstDash val="solid"/>
                      <a:round/>
                      <a:headEnd type="none" w="med" len="med"/>
                      <a:tailEnd type="none" w="med" len="med"/>
                    </a:lnR>
                    <a:lnT w="9525" cap="flat" cmpd="sng" algn="ctr">
                      <a:solidFill>
                        <a:srgbClr val="D05678"/>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tc>
                  <a:txBody>
                    <a:bodyPr/>
                    <a:lstStyle/>
                    <a:p>
                      <a:pPr algn="ctr" fontAlgn="ctr"/>
                      <a:r>
                        <a:rPr lang="en-US" sz="2000" b="0">
                          <a:effectLst/>
                        </a:rPr>
                        <a:t>3</a:t>
                      </a:r>
                    </a:p>
                  </a:txBody>
                  <a:tcPr marL="85883" marR="85883" marT="85882" marB="85882" anchor="ctr">
                    <a:lnL w="9525" cap="flat" cmpd="sng" algn="ctr">
                      <a:solidFill>
                        <a:srgbClr val="D05678"/>
                      </a:solidFill>
                      <a:prstDash val="solid"/>
                      <a:round/>
                      <a:headEnd type="none" w="med" len="med"/>
                      <a:tailEnd type="none" w="med" len="med"/>
                    </a:lnL>
                    <a:lnR w="9525" cap="flat" cmpd="sng" algn="ctr">
                      <a:solidFill>
                        <a:srgbClr val="D05678"/>
                      </a:solidFill>
                      <a:prstDash val="solid"/>
                      <a:round/>
                      <a:headEnd type="none" w="med" len="med"/>
                      <a:tailEnd type="none" w="med" len="med"/>
                    </a:lnR>
                    <a:lnT w="9525" cap="flat" cmpd="sng" algn="ctr">
                      <a:solidFill>
                        <a:srgbClr val="D05678"/>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tc>
                  <a:txBody>
                    <a:bodyPr/>
                    <a:lstStyle/>
                    <a:p>
                      <a:pPr algn="ctr" fontAlgn="ctr"/>
                      <a:r>
                        <a:rPr lang="en-US" sz="2000" b="0" dirty="0">
                          <a:effectLst/>
                        </a:rPr>
                        <a:t>4</a:t>
                      </a:r>
                    </a:p>
                  </a:txBody>
                  <a:tcPr marL="85883" marR="85883" marT="85882" marB="85882" anchor="ctr">
                    <a:lnL w="9525" cap="flat" cmpd="sng" algn="ctr">
                      <a:solidFill>
                        <a:srgbClr val="D05678"/>
                      </a:solidFill>
                      <a:prstDash val="solid"/>
                      <a:round/>
                      <a:headEnd type="none" w="med" len="med"/>
                      <a:tailEnd type="none" w="med" len="med"/>
                    </a:lnL>
                    <a:lnR w="9525" cap="flat" cmpd="sng" algn="ctr">
                      <a:solidFill>
                        <a:srgbClr val="D05678"/>
                      </a:solidFill>
                      <a:prstDash val="solid"/>
                      <a:round/>
                      <a:headEnd type="none" w="med" len="med"/>
                      <a:tailEnd type="none" w="med" len="med"/>
                    </a:lnR>
                    <a:lnT w="9525" cap="flat" cmpd="sng" algn="ctr">
                      <a:solidFill>
                        <a:srgbClr val="D05678"/>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tc>
                  <a:txBody>
                    <a:bodyPr/>
                    <a:lstStyle/>
                    <a:p>
                      <a:pPr algn="ctr" fontAlgn="ctr"/>
                      <a:r>
                        <a:rPr lang="en-US" sz="2000" b="0" dirty="0">
                          <a:effectLst/>
                        </a:rPr>
                        <a:t>2</a:t>
                      </a:r>
                    </a:p>
                  </a:txBody>
                  <a:tcPr marL="85883" marR="85883" marT="85882" marB="85882" anchor="ctr">
                    <a:lnL w="9525" cap="flat" cmpd="sng" algn="ctr">
                      <a:solidFill>
                        <a:srgbClr val="D05678"/>
                      </a:solidFill>
                      <a:prstDash val="solid"/>
                      <a:round/>
                      <a:headEnd type="none" w="med" len="med"/>
                      <a:tailEnd type="none" w="med" len="med"/>
                    </a:lnL>
                    <a:lnR w="9525" cap="flat" cmpd="sng" algn="ctr">
                      <a:solidFill>
                        <a:srgbClr val="D05678"/>
                      </a:solidFill>
                      <a:prstDash val="solid"/>
                      <a:round/>
                      <a:headEnd type="none" w="med" len="med"/>
                      <a:tailEnd type="none" w="med" len="med"/>
                    </a:lnR>
                    <a:lnT w="9525" cap="flat" cmpd="sng" algn="ctr">
                      <a:solidFill>
                        <a:srgbClr val="D05678"/>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extLst>
                  <a:ext uri="{0D108BD9-81ED-4DB2-BD59-A6C34878D82A}">
                    <a16:rowId xmlns:a16="http://schemas.microsoft.com/office/drawing/2014/main" val="1923965780"/>
                  </a:ext>
                </a:extLst>
              </a:tr>
              <a:tr h="870268">
                <a:tc>
                  <a:txBody>
                    <a:bodyPr/>
                    <a:lstStyle/>
                    <a:p>
                      <a:pPr algn="ctr" fontAlgn="ctr"/>
                      <a:r>
                        <a:rPr lang="en-US" sz="2000" b="0">
                          <a:effectLst/>
                        </a:rPr>
                        <a:t>D</a:t>
                      </a:r>
                    </a:p>
                  </a:txBody>
                  <a:tcPr marL="85883" marR="85883" marT="85882" marB="85882" anchor="ctr">
                    <a:lnL w="9525" cap="flat" cmpd="sng" algn="ctr">
                      <a:solidFill>
                        <a:srgbClr val="F00F33"/>
                      </a:solidFill>
                      <a:prstDash val="solid"/>
                      <a:round/>
                      <a:headEnd type="none" w="med" len="med"/>
                      <a:tailEnd type="none" w="med" len="med"/>
                    </a:lnL>
                    <a:lnR w="9525" cap="flat" cmpd="sng" algn="ctr">
                      <a:solidFill>
                        <a:srgbClr val="F00F33"/>
                      </a:solidFill>
                      <a:prstDash val="solid"/>
                      <a:round/>
                      <a:headEnd type="none" w="med" len="med"/>
                      <a:tailEnd type="none" w="med" len="med"/>
                    </a:lnR>
                    <a:lnT w="9525" cap="flat" cmpd="sng" algn="ctr">
                      <a:solidFill>
                        <a:srgbClr val="F00F33"/>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tc>
                  <a:txBody>
                    <a:bodyPr/>
                    <a:lstStyle/>
                    <a:p>
                      <a:pPr algn="ctr" fontAlgn="ctr"/>
                      <a:r>
                        <a:rPr lang="en-US" sz="2000" b="0">
                          <a:effectLst/>
                        </a:rPr>
                        <a:t>4</a:t>
                      </a:r>
                    </a:p>
                  </a:txBody>
                  <a:tcPr marL="85883" marR="85883" marT="85882" marB="85882" anchor="ctr">
                    <a:lnL w="9525" cap="flat" cmpd="sng" algn="ctr">
                      <a:solidFill>
                        <a:srgbClr val="F00F33"/>
                      </a:solidFill>
                      <a:prstDash val="solid"/>
                      <a:round/>
                      <a:headEnd type="none" w="med" len="med"/>
                      <a:tailEnd type="none" w="med" len="med"/>
                    </a:lnL>
                    <a:lnR w="9525" cap="flat" cmpd="sng" algn="ctr">
                      <a:solidFill>
                        <a:srgbClr val="F00F33"/>
                      </a:solidFill>
                      <a:prstDash val="solid"/>
                      <a:round/>
                      <a:headEnd type="none" w="med" len="med"/>
                      <a:tailEnd type="none" w="med" len="med"/>
                    </a:lnR>
                    <a:lnT w="9525" cap="flat" cmpd="sng" algn="ctr">
                      <a:solidFill>
                        <a:srgbClr val="F00F33"/>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tc>
                  <a:txBody>
                    <a:bodyPr/>
                    <a:lstStyle/>
                    <a:p>
                      <a:pPr algn="ctr" fontAlgn="ctr"/>
                      <a:r>
                        <a:rPr lang="en-US" sz="2000" b="0">
                          <a:effectLst/>
                        </a:rPr>
                        <a:t>3</a:t>
                      </a:r>
                    </a:p>
                  </a:txBody>
                  <a:tcPr marL="85883" marR="85883" marT="85882" marB="85882" anchor="ctr">
                    <a:lnL w="9525" cap="flat" cmpd="sng" algn="ctr">
                      <a:solidFill>
                        <a:srgbClr val="F00F33"/>
                      </a:solidFill>
                      <a:prstDash val="solid"/>
                      <a:round/>
                      <a:headEnd type="none" w="med" len="med"/>
                      <a:tailEnd type="none" w="med" len="med"/>
                    </a:lnL>
                    <a:lnR w="9525" cap="flat" cmpd="sng" algn="ctr">
                      <a:solidFill>
                        <a:srgbClr val="F00F33"/>
                      </a:solidFill>
                      <a:prstDash val="solid"/>
                      <a:round/>
                      <a:headEnd type="none" w="med" len="med"/>
                      <a:tailEnd type="none" w="med" len="med"/>
                    </a:lnR>
                    <a:lnT w="9525" cap="flat" cmpd="sng" algn="ctr">
                      <a:solidFill>
                        <a:srgbClr val="F00F33"/>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tc>
                  <a:txBody>
                    <a:bodyPr/>
                    <a:lstStyle/>
                    <a:p>
                      <a:pPr algn="ctr" fontAlgn="ctr"/>
                      <a:r>
                        <a:rPr lang="en-US" sz="2000" b="0" dirty="0">
                          <a:effectLst/>
                        </a:rPr>
                        <a:t>1</a:t>
                      </a:r>
                    </a:p>
                  </a:txBody>
                  <a:tcPr marL="85883" marR="85883" marT="85882" marB="85882" anchor="ctr">
                    <a:lnL w="9525" cap="flat" cmpd="sng" algn="ctr">
                      <a:solidFill>
                        <a:srgbClr val="F00F33"/>
                      </a:solidFill>
                      <a:prstDash val="solid"/>
                      <a:round/>
                      <a:headEnd type="none" w="med" len="med"/>
                      <a:tailEnd type="none" w="med" len="med"/>
                    </a:lnL>
                    <a:lnR w="9525" cap="flat" cmpd="sng" algn="ctr">
                      <a:solidFill>
                        <a:srgbClr val="F00F33"/>
                      </a:solidFill>
                      <a:prstDash val="solid"/>
                      <a:round/>
                      <a:headEnd type="none" w="med" len="med"/>
                      <a:tailEnd type="none" w="med" len="med"/>
                    </a:lnR>
                    <a:lnT w="9525" cap="flat" cmpd="sng" algn="ctr">
                      <a:solidFill>
                        <a:srgbClr val="F00F33"/>
                      </a:solidFill>
                      <a:prstDash val="solid"/>
                      <a:round/>
                      <a:headEnd type="none" w="med" len="med"/>
                      <a:tailEnd type="none" w="med" len="med"/>
                    </a:lnT>
                    <a:lnB w="9525" cap="flat" cmpd="sng" algn="ctr">
                      <a:solidFill>
                        <a:srgbClr val="F00F33"/>
                      </a:solidFill>
                      <a:prstDash val="solid"/>
                      <a:round/>
                      <a:headEnd type="none" w="med" len="med"/>
                      <a:tailEnd type="none" w="med" len="med"/>
                    </a:lnB>
                    <a:solidFill>
                      <a:srgbClr val="FFFFFF"/>
                    </a:solidFill>
                  </a:tcPr>
                </a:tc>
                <a:extLst>
                  <a:ext uri="{0D108BD9-81ED-4DB2-BD59-A6C34878D82A}">
                    <a16:rowId xmlns:a16="http://schemas.microsoft.com/office/drawing/2014/main" val="3628322537"/>
                  </a:ext>
                </a:extLst>
              </a:tr>
            </a:tbl>
          </a:graphicData>
        </a:graphic>
      </p:graphicFrame>
    </p:spTree>
    <p:extLst>
      <p:ext uri="{BB962C8B-B14F-4D97-AF65-F5344CB8AC3E}">
        <p14:creationId xmlns:p14="http://schemas.microsoft.com/office/powerpoint/2010/main" val="366139003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7E70B-7CCD-4FE4-A46D-A52DB8BBBB44}"/>
              </a:ext>
            </a:extLst>
          </p:cNvPr>
          <p:cNvSpPr>
            <a:spLocks noGrp="1"/>
          </p:cNvSpPr>
          <p:nvPr>
            <p:ph type="title"/>
          </p:nvPr>
        </p:nvSpPr>
        <p:spPr/>
        <p:txBody>
          <a:bodyPr>
            <a:normAutofit/>
          </a:bodyPr>
          <a:lstStyle/>
          <a:p>
            <a:r>
              <a:rPr lang="en-US" dirty="0"/>
              <a:t>Properties of an Indifference Curve or IC</a:t>
            </a:r>
          </a:p>
        </p:txBody>
      </p:sp>
      <p:sp>
        <p:nvSpPr>
          <p:cNvPr id="3" name="Content Placeholder 2">
            <a:extLst>
              <a:ext uri="{FF2B5EF4-FFF2-40B4-BE49-F238E27FC236}">
                <a16:creationId xmlns:a16="http://schemas.microsoft.com/office/drawing/2014/main" id="{E95A9A36-E1BF-4CD9-8845-6A4B85F155F9}"/>
              </a:ext>
            </a:extLst>
          </p:cNvPr>
          <p:cNvSpPr>
            <a:spLocks noGrp="1"/>
          </p:cNvSpPr>
          <p:nvPr>
            <p:ph idx="1"/>
          </p:nvPr>
        </p:nvSpPr>
        <p:spPr/>
        <p:txBody>
          <a:bodyPr/>
          <a:lstStyle/>
          <a:p>
            <a:pPr marL="0" indent="0" algn="l">
              <a:buNone/>
            </a:pPr>
            <a:r>
              <a:rPr lang="en-US" b="1" i="0" dirty="0">
                <a:solidFill>
                  <a:srgbClr val="000000"/>
                </a:solidFill>
                <a:effectLst/>
                <a:latin typeface="Open Sans"/>
              </a:rPr>
              <a:t>An IC slopes downwards to the right</a:t>
            </a:r>
            <a:endParaRPr lang="en-US" b="0" i="0" dirty="0">
              <a:solidFill>
                <a:srgbClr val="000000"/>
              </a:solidFill>
              <a:effectLst/>
              <a:latin typeface="Open Sans"/>
            </a:endParaRPr>
          </a:p>
          <a:p>
            <a:pPr algn="just"/>
            <a:r>
              <a:rPr lang="en-US" b="0" i="0" dirty="0">
                <a:effectLst/>
                <a:latin typeface="Minion Pro"/>
              </a:rPr>
              <a:t>This slope signifies that when the quantity of one commodity in combination is increased, the amount of the other commodity reduces. This is essential for the level of satisfaction to remain the same on an indifference curve.</a:t>
            </a:r>
          </a:p>
          <a:p>
            <a:endParaRPr lang="en-US" dirty="0"/>
          </a:p>
        </p:txBody>
      </p:sp>
    </p:spTree>
    <p:extLst>
      <p:ext uri="{BB962C8B-B14F-4D97-AF65-F5344CB8AC3E}">
        <p14:creationId xmlns:p14="http://schemas.microsoft.com/office/powerpoint/2010/main" val="261163071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E4CBA-DDD2-403F-9D7E-172FC8EE01EC}"/>
              </a:ext>
            </a:extLst>
          </p:cNvPr>
          <p:cNvSpPr>
            <a:spLocks noGrp="1"/>
          </p:cNvSpPr>
          <p:nvPr>
            <p:ph type="title"/>
          </p:nvPr>
        </p:nvSpPr>
        <p:spPr/>
        <p:txBody>
          <a:bodyPr>
            <a:normAutofit/>
          </a:bodyPr>
          <a:lstStyle/>
          <a:p>
            <a:r>
              <a:rPr lang="en-US" dirty="0"/>
              <a:t>Properties of an Indifference Curve or IC</a:t>
            </a:r>
          </a:p>
        </p:txBody>
      </p:sp>
      <p:sp>
        <p:nvSpPr>
          <p:cNvPr id="3" name="Content Placeholder 2">
            <a:extLst>
              <a:ext uri="{FF2B5EF4-FFF2-40B4-BE49-F238E27FC236}">
                <a16:creationId xmlns:a16="http://schemas.microsoft.com/office/drawing/2014/main" id="{6DA4727B-BC0F-4405-A68C-A807A25090AB}"/>
              </a:ext>
            </a:extLst>
          </p:cNvPr>
          <p:cNvSpPr>
            <a:spLocks noGrp="1"/>
          </p:cNvSpPr>
          <p:nvPr>
            <p:ph idx="1"/>
          </p:nvPr>
        </p:nvSpPr>
        <p:spPr/>
        <p:txBody>
          <a:bodyPr/>
          <a:lstStyle/>
          <a:p>
            <a:r>
              <a:rPr lang="en-US" b="1" i="0" dirty="0">
                <a:solidFill>
                  <a:srgbClr val="000000"/>
                </a:solidFill>
                <a:effectLst/>
                <a:latin typeface="Open Sans"/>
              </a:rPr>
              <a:t>Indifference curves never intersect each other</a:t>
            </a:r>
            <a:endParaRPr lang="en-US" b="0" i="0" dirty="0">
              <a:solidFill>
                <a:srgbClr val="000000"/>
              </a:solidFill>
              <a:effectLst/>
              <a:latin typeface="Open Sans"/>
            </a:endParaRPr>
          </a:p>
          <a:p>
            <a:endParaRPr lang="en-US" dirty="0"/>
          </a:p>
        </p:txBody>
      </p:sp>
      <p:pic>
        <p:nvPicPr>
          <p:cNvPr id="4" name="Picture 3">
            <a:extLst>
              <a:ext uri="{FF2B5EF4-FFF2-40B4-BE49-F238E27FC236}">
                <a16:creationId xmlns:a16="http://schemas.microsoft.com/office/drawing/2014/main" id="{3EA58083-B0EA-44C1-A01D-4BD2CB53CF0A}"/>
              </a:ext>
            </a:extLst>
          </p:cNvPr>
          <p:cNvPicPr>
            <a:picLocks noChangeAspect="1"/>
          </p:cNvPicPr>
          <p:nvPr/>
        </p:nvPicPr>
        <p:blipFill>
          <a:blip r:embed="rId2"/>
          <a:stretch>
            <a:fillRect/>
          </a:stretch>
        </p:blipFill>
        <p:spPr>
          <a:xfrm>
            <a:off x="1745673" y="2493818"/>
            <a:ext cx="6050539" cy="3546764"/>
          </a:xfrm>
          <a:prstGeom prst="rect">
            <a:avLst/>
          </a:prstGeom>
        </p:spPr>
      </p:pic>
    </p:spTree>
    <p:extLst>
      <p:ext uri="{BB962C8B-B14F-4D97-AF65-F5344CB8AC3E}">
        <p14:creationId xmlns:p14="http://schemas.microsoft.com/office/powerpoint/2010/main" val="18571694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22773-4FD4-4176-980E-7715BD56E634}"/>
              </a:ext>
            </a:extLst>
          </p:cNvPr>
          <p:cNvSpPr>
            <a:spLocks noGrp="1"/>
          </p:cNvSpPr>
          <p:nvPr>
            <p:ph type="title"/>
          </p:nvPr>
        </p:nvSpPr>
        <p:spPr/>
        <p:txBody>
          <a:bodyPr>
            <a:normAutofit/>
          </a:bodyPr>
          <a:lstStyle/>
          <a:p>
            <a:r>
              <a:rPr lang="en-US" dirty="0"/>
              <a:t>Properties of an Indifference Curve or IC</a:t>
            </a:r>
          </a:p>
        </p:txBody>
      </p:sp>
      <p:sp>
        <p:nvSpPr>
          <p:cNvPr id="3" name="Content Placeholder 2">
            <a:extLst>
              <a:ext uri="{FF2B5EF4-FFF2-40B4-BE49-F238E27FC236}">
                <a16:creationId xmlns:a16="http://schemas.microsoft.com/office/drawing/2014/main" id="{B0204592-7383-431B-AA5A-B3334FB8B154}"/>
              </a:ext>
            </a:extLst>
          </p:cNvPr>
          <p:cNvSpPr>
            <a:spLocks noGrp="1"/>
          </p:cNvSpPr>
          <p:nvPr>
            <p:ph idx="1"/>
          </p:nvPr>
        </p:nvSpPr>
        <p:spPr/>
        <p:txBody>
          <a:bodyPr>
            <a:normAutofit fontScale="92500"/>
          </a:bodyPr>
          <a:lstStyle/>
          <a:p>
            <a:pPr algn="just"/>
            <a:r>
              <a:rPr lang="en-US" dirty="0"/>
              <a:t>Since points A and B lie on IC1, they give the same satisfaction level to an individual. Similarly, points A and C give the same satisfaction level, as they lie on IC2. Therefore, we can imply that B and C offer the same level of satisfaction, which is logically absurd. Hence, no two ICs can touch or intersect each other.</a:t>
            </a:r>
          </a:p>
          <a:p>
            <a:pPr marL="0" indent="0" algn="just">
              <a:buNone/>
            </a:pPr>
            <a:r>
              <a:rPr lang="en-US" b="1" i="0" dirty="0">
                <a:solidFill>
                  <a:srgbClr val="000000"/>
                </a:solidFill>
                <a:effectLst/>
                <a:latin typeface="Open Sans"/>
              </a:rPr>
              <a:t>A higher IC indicates a higher level of satisfaction as compared to a lower IC</a:t>
            </a:r>
            <a:endParaRPr lang="en-US" b="0" i="0" dirty="0">
              <a:solidFill>
                <a:srgbClr val="000000"/>
              </a:solidFill>
              <a:effectLst/>
              <a:latin typeface="Open Sans"/>
            </a:endParaRPr>
          </a:p>
          <a:p>
            <a:pPr algn="just"/>
            <a:r>
              <a:rPr lang="en-US" b="0" i="0" dirty="0">
                <a:effectLst/>
                <a:latin typeface="Minion Pro"/>
              </a:rPr>
              <a:t>A higher IC means that a consumer prefers more goods than not.</a:t>
            </a:r>
          </a:p>
          <a:p>
            <a:endParaRPr lang="en-US" dirty="0"/>
          </a:p>
        </p:txBody>
      </p:sp>
    </p:spTree>
    <p:extLst>
      <p:ext uri="{BB962C8B-B14F-4D97-AF65-F5344CB8AC3E}">
        <p14:creationId xmlns:p14="http://schemas.microsoft.com/office/powerpoint/2010/main" val="31681176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D841-7C91-4941-8C92-159C24A86EE5}"/>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Properties of an Indifference Curve or IC</a:t>
            </a:r>
            <a:endParaRPr lang="en-US" dirty="0"/>
          </a:p>
        </p:txBody>
      </p:sp>
      <p:sp>
        <p:nvSpPr>
          <p:cNvPr id="3" name="Content Placeholder 2">
            <a:extLst>
              <a:ext uri="{FF2B5EF4-FFF2-40B4-BE49-F238E27FC236}">
                <a16:creationId xmlns:a16="http://schemas.microsoft.com/office/drawing/2014/main" id="{946A0049-C2AE-4647-846A-9BEEE954E674}"/>
              </a:ext>
            </a:extLst>
          </p:cNvPr>
          <p:cNvSpPr>
            <a:spLocks noGrp="1"/>
          </p:cNvSpPr>
          <p:nvPr>
            <p:ph idx="1"/>
          </p:nvPr>
        </p:nvSpPr>
        <p:spPr/>
        <p:txBody>
          <a:bodyPr/>
          <a:lstStyle/>
          <a:p>
            <a:pPr marL="0" indent="0" algn="just">
              <a:buNone/>
            </a:pPr>
            <a:r>
              <a:rPr lang="en-US" b="1" i="0" dirty="0">
                <a:solidFill>
                  <a:srgbClr val="000000"/>
                </a:solidFill>
                <a:effectLst/>
                <a:latin typeface="Open Sans"/>
              </a:rPr>
              <a:t>An IC does not touch the axis</a:t>
            </a:r>
            <a:endParaRPr lang="en-US" b="0" i="0" dirty="0">
              <a:solidFill>
                <a:srgbClr val="000000"/>
              </a:solidFill>
              <a:effectLst/>
              <a:latin typeface="Open Sans"/>
            </a:endParaRPr>
          </a:p>
          <a:p>
            <a:pPr algn="just"/>
            <a:r>
              <a:rPr lang="en-US" b="0" i="0" dirty="0">
                <a:effectLst/>
                <a:latin typeface="Minion Pro"/>
              </a:rPr>
              <a:t>This is not possible because of our assumption that a consumer considers different combinations of two commodities and wants both of them. </a:t>
            </a:r>
          </a:p>
          <a:p>
            <a:pPr algn="just"/>
            <a:r>
              <a:rPr lang="en-US" b="0" i="0" dirty="0">
                <a:effectLst/>
                <a:latin typeface="Minion Pro"/>
              </a:rPr>
              <a:t>If the curve touches either of the axes, then it means that he is satisfied with only one commodity and does not want the other, which is contrary to our assumption.</a:t>
            </a:r>
          </a:p>
          <a:p>
            <a:endParaRPr lang="en-US" dirty="0"/>
          </a:p>
        </p:txBody>
      </p:sp>
    </p:spTree>
    <p:extLst>
      <p:ext uri="{BB962C8B-B14F-4D97-AF65-F5344CB8AC3E}">
        <p14:creationId xmlns:p14="http://schemas.microsoft.com/office/powerpoint/2010/main" val="28276390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Diminishing Marginal Productivity</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Diminishing marginal productivity in economics states that a small change in a variable input or a factor of production can initially create a small positive impact on the production output, and the positive impact starts reducing after a certain point.</a:t>
            </a:r>
          </a:p>
          <a:p>
            <a:pPr algn="just"/>
            <a:r>
              <a:rPr lang="en-US" dirty="0"/>
              <a:t>This economic principle explains why production increases at a diminishing rate regardless of the increase in a specific input. It also explains the increase in the average cost of production along with the increase in productivity. </a:t>
            </a:r>
          </a:p>
          <a:p>
            <a:pPr algn="just"/>
            <a:r>
              <a:rPr lang="en-US" dirty="0"/>
              <a:t>Therefore, a producer needs to identify the point after which the change will start bringing adverse effects on the process and become inefficient.</a:t>
            </a:r>
          </a:p>
        </p:txBody>
      </p:sp>
    </p:spTree>
    <p:extLst>
      <p:ext uri="{BB962C8B-B14F-4D97-AF65-F5344CB8AC3E}">
        <p14:creationId xmlns:p14="http://schemas.microsoft.com/office/powerpoint/2010/main" val="21499520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Productivity=output/Inputs</a:t>
            </a:r>
          </a:p>
        </p:txBody>
      </p:sp>
    </p:spTree>
    <p:extLst>
      <p:ext uri="{BB962C8B-B14F-4D97-AF65-F5344CB8AC3E}">
        <p14:creationId xmlns:p14="http://schemas.microsoft.com/office/powerpoint/2010/main" val="36223169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Diminishing Marginal Productivity</a:t>
            </a:r>
            <a:br>
              <a:rPr lang="en-US" b="1" dirty="0"/>
            </a:b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A restaurant facing a problem with customer waiting time hires additional two servers to increase productivity. Also, an adequate number of restaurant staff is essential to improve productivity and service. The restaurant also hired an experienced chef to prepare complex dishes. </a:t>
            </a:r>
          </a:p>
          <a:p>
            <a:pPr algn="just"/>
            <a:r>
              <a:rPr lang="en-US" dirty="0"/>
              <a:t>Within months the result of hiring new staff was visible in the revenue figure. The restaurant is more organized now and running at optimal capacity. Motivated by the improvement in restaurant efficiency, the owner again hired two more servers and an experienced chef. However, the new addition didn’t cause a positive impact but increased the cost due to a salary increase. In essence, overstaffing caused a decline in productivity.</a:t>
            </a:r>
          </a:p>
        </p:txBody>
      </p:sp>
    </p:spTree>
    <p:extLst>
      <p:ext uri="{BB962C8B-B14F-4D97-AF65-F5344CB8AC3E}">
        <p14:creationId xmlns:p14="http://schemas.microsoft.com/office/powerpoint/2010/main" val="116642290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Diminishing Marginal Productivity</a:t>
            </a:r>
            <a:br>
              <a:rPr lang="en-US" b="1"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t>It causes if the production process involves fixed assets and becomes intense when inputs are limited in availability, and there is a low demand for the output, etc.</a:t>
            </a:r>
          </a:p>
          <a:p>
            <a:pPr algn="just"/>
            <a:r>
              <a:rPr lang="en-US" dirty="0"/>
              <a:t>Diminishing marginal product is an important concept in economics. It helps to explain why firms may not always hire more workers even when there is an increase in demand. That is because the marginal product of labor decreases as more workers are hired. Thus, the cost of hiring additional workers may outweigh the benefit of increased output.</a:t>
            </a:r>
          </a:p>
        </p:txBody>
      </p:sp>
    </p:spTree>
    <p:extLst>
      <p:ext uri="{BB962C8B-B14F-4D97-AF65-F5344CB8AC3E}">
        <p14:creationId xmlns:p14="http://schemas.microsoft.com/office/powerpoint/2010/main" val="3913847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C9811-717A-4409-B26D-01CC068FFFDB}"/>
              </a:ext>
            </a:extLst>
          </p:cNvPr>
          <p:cNvSpPr>
            <a:spLocks noGrp="1"/>
          </p:cNvSpPr>
          <p:nvPr>
            <p:ph type="title"/>
          </p:nvPr>
        </p:nvSpPr>
        <p:spPr/>
        <p:txBody>
          <a:bodyPr/>
          <a:lstStyle/>
          <a:p>
            <a:pPr algn="ctr"/>
            <a:r>
              <a:rPr lang="en-US" b="1" dirty="0"/>
              <a:t>Market</a:t>
            </a:r>
          </a:p>
        </p:txBody>
      </p:sp>
      <p:sp>
        <p:nvSpPr>
          <p:cNvPr id="3" name="Content Placeholder 2">
            <a:extLst>
              <a:ext uri="{FF2B5EF4-FFF2-40B4-BE49-F238E27FC236}">
                <a16:creationId xmlns:a16="http://schemas.microsoft.com/office/drawing/2014/main" id="{170386CE-B0C7-4DD2-BBC9-F324254AD855}"/>
              </a:ext>
            </a:extLst>
          </p:cNvPr>
          <p:cNvSpPr>
            <a:spLocks noGrp="1"/>
          </p:cNvSpPr>
          <p:nvPr>
            <p:ph idx="1"/>
          </p:nvPr>
        </p:nvSpPr>
        <p:spPr/>
        <p:txBody>
          <a:bodyPr>
            <a:normAutofit/>
          </a:bodyPr>
          <a:lstStyle/>
          <a:p>
            <a:pPr algn="just"/>
            <a:r>
              <a:rPr lang="en-US" dirty="0"/>
              <a:t>In economics, market means a social system through which the sellers and purchasers of a commodity or a service (or a group of commodities and services) can interact with each other.</a:t>
            </a:r>
          </a:p>
          <a:p>
            <a:pPr marL="0" indent="0" algn="just">
              <a:buNone/>
            </a:pPr>
            <a:r>
              <a:rPr lang="en-US" dirty="0"/>
              <a:t> • They can participate in sale and purchase. </a:t>
            </a:r>
          </a:p>
          <a:p>
            <a:pPr marL="0" indent="0" algn="just">
              <a:buNone/>
            </a:pPr>
            <a:r>
              <a:rPr lang="en-US" dirty="0"/>
              <a:t>• Market does not refer to a particular place or location. </a:t>
            </a:r>
          </a:p>
          <a:p>
            <a:pPr marL="0" indent="0" algn="just">
              <a:buNone/>
            </a:pPr>
            <a:r>
              <a:rPr lang="en-US" dirty="0"/>
              <a:t>• It refers to an institutional relationship between purchasers and sellers. </a:t>
            </a:r>
          </a:p>
          <a:p>
            <a:pPr marL="0" indent="0" algn="just">
              <a:buNone/>
            </a:pPr>
            <a:r>
              <a:rPr lang="en-US" dirty="0"/>
              <a:t>• Market is an arrangement which links buyers and sellers.</a:t>
            </a:r>
          </a:p>
        </p:txBody>
      </p:sp>
    </p:spTree>
    <p:extLst>
      <p:ext uri="{BB962C8B-B14F-4D97-AF65-F5344CB8AC3E}">
        <p14:creationId xmlns:p14="http://schemas.microsoft.com/office/powerpoint/2010/main" val="16510197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9DCB2-A975-4418-B9AF-29AEF6E8F1E7}"/>
              </a:ext>
            </a:extLst>
          </p:cNvPr>
          <p:cNvSpPr>
            <a:spLocks noGrp="1"/>
          </p:cNvSpPr>
          <p:nvPr>
            <p:ph type="title"/>
          </p:nvPr>
        </p:nvSpPr>
        <p:spPr/>
        <p:txBody>
          <a:bodyPr/>
          <a:lstStyle/>
          <a:p>
            <a:r>
              <a:rPr lang="en-US" dirty="0"/>
              <a:t>Perfect Competition</a:t>
            </a:r>
          </a:p>
        </p:txBody>
      </p:sp>
      <p:sp>
        <p:nvSpPr>
          <p:cNvPr id="3" name="Content Placeholder 2">
            <a:extLst>
              <a:ext uri="{FF2B5EF4-FFF2-40B4-BE49-F238E27FC236}">
                <a16:creationId xmlns:a16="http://schemas.microsoft.com/office/drawing/2014/main" id="{AD0496AA-BF79-4EE6-9B58-29DAEA4D0527}"/>
              </a:ext>
            </a:extLst>
          </p:cNvPr>
          <p:cNvSpPr>
            <a:spLocks noGrp="1"/>
          </p:cNvSpPr>
          <p:nvPr>
            <p:ph idx="1"/>
          </p:nvPr>
        </p:nvSpPr>
        <p:spPr/>
        <p:txBody>
          <a:bodyPr>
            <a:normAutofit fontScale="92500" lnSpcReduction="10000"/>
          </a:bodyPr>
          <a:lstStyle/>
          <a:p>
            <a:pPr algn="just"/>
            <a:r>
              <a:rPr lang="en-US" b="1" dirty="0"/>
              <a:t>Large number of buyers and sellers </a:t>
            </a:r>
            <a:r>
              <a:rPr lang="en-US" dirty="0"/>
              <a:t>: Under perfect competition, there exists a large number of sellers and the share of an individual seller is too small in the total market output. As a result a single firm cannot influence the market price. Similarly, there are a large number of buyers and an individual buyer buys only a small portion of the total output available. </a:t>
            </a:r>
          </a:p>
          <a:p>
            <a:pPr algn="just"/>
            <a:r>
              <a:rPr lang="en-US" b="1" dirty="0"/>
              <a:t>Homogenous goods </a:t>
            </a:r>
            <a:r>
              <a:rPr lang="en-US" dirty="0"/>
              <a:t>: Under perfect competition all firms sell homogenous goods which are identical in quantity, shape, size, </a:t>
            </a:r>
            <a:r>
              <a:rPr lang="en-US" dirty="0" err="1"/>
              <a:t>colour</a:t>
            </a:r>
            <a:r>
              <a:rPr lang="en-US" dirty="0"/>
              <a:t>, packaging etc. So the products are perfect substitutes of each other</a:t>
            </a:r>
          </a:p>
        </p:txBody>
      </p:sp>
    </p:spTree>
    <p:extLst>
      <p:ext uri="{BB962C8B-B14F-4D97-AF65-F5344CB8AC3E}">
        <p14:creationId xmlns:p14="http://schemas.microsoft.com/office/powerpoint/2010/main" val="42780247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97D7A-CCFA-43F4-BB20-510846E4C371}"/>
              </a:ext>
            </a:extLst>
          </p:cNvPr>
          <p:cNvSpPr>
            <a:spLocks noGrp="1"/>
          </p:cNvSpPr>
          <p:nvPr>
            <p:ph type="title"/>
          </p:nvPr>
        </p:nvSpPr>
        <p:spPr/>
        <p:txBody>
          <a:bodyPr/>
          <a:lstStyle/>
          <a:p>
            <a:r>
              <a:rPr lang="en-US" dirty="0"/>
              <a:t>Perfect Competition</a:t>
            </a:r>
          </a:p>
        </p:txBody>
      </p:sp>
      <p:sp>
        <p:nvSpPr>
          <p:cNvPr id="3" name="Content Placeholder 2">
            <a:extLst>
              <a:ext uri="{FF2B5EF4-FFF2-40B4-BE49-F238E27FC236}">
                <a16:creationId xmlns:a16="http://schemas.microsoft.com/office/drawing/2014/main" id="{52963150-845B-480A-B001-A5FA4640B9D9}"/>
              </a:ext>
            </a:extLst>
          </p:cNvPr>
          <p:cNvSpPr>
            <a:spLocks noGrp="1"/>
          </p:cNvSpPr>
          <p:nvPr>
            <p:ph idx="1"/>
          </p:nvPr>
        </p:nvSpPr>
        <p:spPr/>
        <p:txBody>
          <a:bodyPr>
            <a:normAutofit lnSpcReduction="10000"/>
          </a:bodyPr>
          <a:lstStyle/>
          <a:p>
            <a:pPr marL="0" indent="0" algn="just">
              <a:buNone/>
            </a:pPr>
            <a:r>
              <a:rPr lang="en-US" b="1" dirty="0"/>
              <a:t>Free entry and free exit </a:t>
            </a:r>
            <a:r>
              <a:rPr lang="en-US" dirty="0"/>
              <a:t>: </a:t>
            </a:r>
          </a:p>
          <a:p>
            <a:pPr algn="just"/>
            <a:r>
              <a:rPr lang="en-US" dirty="0"/>
              <a:t>Any firm can enter or leave the industry whenever it wishes. The condition of free entry and free exit ensures that all the firms under perfect competition will earn normal profits in the long run. </a:t>
            </a:r>
          </a:p>
          <a:p>
            <a:pPr algn="just"/>
            <a:r>
              <a:rPr lang="en-US" dirty="0"/>
              <a:t>If the existing firms are earning supernormal profits, new firms would be attracted to enter the industry and increases the total supply. This will reduce the market price and the supernormal profit will not sustain. </a:t>
            </a:r>
          </a:p>
        </p:txBody>
      </p:sp>
    </p:spTree>
    <p:extLst>
      <p:ext uri="{BB962C8B-B14F-4D97-AF65-F5344CB8AC3E}">
        <p14:creationId xmlns:p14="http://schemas.microsoft.com/office/powerpoint/2010/main" val="33364540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7E803-4F02-47D4-B583-962E86F54FB0}"/>
              </a:ext>
            </a:extLst>
          </p:cNvPr>
          <p:cNvSpPr>
            <a:spLocks noGrp="1"/>
          </p:cNvSpPr>
          <p:nvPr>
            <p:ph type="title"/>
          </p:nvPr>
        </p:nvSpPr>
        <p:spPr/>
        <p:txBody>
          <a:bodyPr/>
          <a:lstStyle/>
          <a:p>
            <a:r>
              <a:rPr lang="en-US" dirty="0"/>
              <a:t>Perfect Competition</a:t>
            </a:r>
          </a:p>
        </p:txBody>
      </p:sp>
      <p:sp>
        <p:nvSpPr>
          <p:cNvPr id="3" name="Content Placeholder 2">
            <a:extLst>
              <a:ext uri="{FF2B5EF4-FFF2-40B4-BE49-F238E27FC236}">
                <a16:creationId xmlns:a16="http://schemas.microsoft.com/office/drawing/2014/main" id="{3C306D0E-20CF-497E-9606-DB0DD8898821}"/>
              </a:ext>
            </a:extLst>
          </p:cNvPr>
          <p:cNvSpPr>
            <a:spLocks noGrp="1"/>
          </p:cNvSpPr>
          <p:nvPr>
            <p:ph idx="1"/>
          </p:nvPr>
        </p:nvSpPr>
        <p:spPr/>
        <p:txBody>
          <a:bodyPr>
            <a:normAutofit fontScale="77500" lnSpcReduction="20000"/>
          </a:bodyPr>
          <a:lstStyle/>
          <a:p>
            <a:pPr marL="0" indent="0" algn="just">
              <a:buNone/>
            </a:pPr>
            <a:r>
              <a:rPr lang="en-US" dirty="0"/>
              <a:t>(iv) </a:t>
            </a:r>
            <a:r>
              <a:rPr lang="en-US" b="1" dirty="0"/>
              <a:t>Profit maximization </a:t>
            </a:r>
            <a:r>
              <a:rPr lang="en-US" dirty="0"/>
              <a:t>:- The goal of all firms is maximization of profit. </a:t>
            </a:r>
          </a:p>
          <a:p>
            <a:pPr marL="0" indent="0" algn="just">
              <a:buNone/>
            </a:pPr>
            <a:r>
              <a:rPr lang="en-US" dirty="0"/>
              <a:t>(v) </a:t>
            </a:r>
            <a:r>
              <a:rPr lang="en-US" b="1" dirty="0"/>
              <a:t>No Government regulation </a:t>
            </a:r>
            <a:r>
              <a:rPr lang="en-US" dirty="0"/>
              <a:t>:- There is no Government intervention in the market. </a:t>
            </a:r>
          </a:p>
          <a:p>
            <a:pPr marL="0" indent="0" algn="just">
              <a:buNone/>
            </a:pPr>
            <a:r>
              <a:rPr lang="en-US" dirty="0"/>
              <a:t>(vi) </a:t>
            </a:r>
            <a:r>
              <a:rPr lang="en-US" b="1" dirty="0"/>
              <a:t>Perfect mobility of factors </a:t>
            </a:r>
            <a:r>
              <a:rPr lang="en-US" dirty="0"/>
              <a:t>:- Resources can move freely from one firm to another without any restriction. The </a:t>
            </a:r>
            <a:r>
              <a:rPr lang="en-US" dirty="0" err="1"/>
              <a:t>labours</a:t>
            </a:r>
            <a:r>
              <a:rPr lang="en-US" dirty="0"/>
              <a:t> are not unionized and they can move between jobs and skills. </a:t>
            </a:r>
          </a:p>
          <a:p>
            <a:pPr marL="0" indent="0" algn="just">
              <a:buNone/>
            </a:pPr>
            <a:r>
              <a:rPr lang="en-US" dirty="0"/>
              <a:t>(vii) </a:t>
            </a:r>
            <a:r>
              <a:rPr lang="en-US" b="1" dirty="0"/>
              <a:t>Perfect knowledge </a:t>
            </a:r>
            <a:r>
              <a:rPr lang="en-US" dirty="0"/>
              <a:t>:- Individual buyer and seller have perfect knowledge about market and information is given free of cost. Each firm knows the price prevailing in the market and would not sell the commodity which is higher or lower than the market price. Similarly, each buyer knows the prevailing market price and he is not allowed to pay a higher price than that. The firm also has a perfect knowledge about the techniques of productions. Each firm is able to make use of the best </a:t>
            </a:r>
            <a:r>
              <a:rPr lang="en-US"/>
              <a:t>techniques of </a:t>
            </a:r>
            <a:r>
              <a:rPr lang="en-US" dirty="0"/>
              <a:t>production.</a:t>
            </a:r>
          </a:p>
        </p:txBody>
      </p:sp>
    </p:spTree>
    <p:extLst>
      <p:ext uri="{BB962C8B-B14F-4D97-AF65-F5344CB8AC3E}">
        <p14:creationId xmlns:p14="http://schemas.microsoft.com/office/powerpoint/2010/main" val="17092448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EAE7-FC88-4B19-92EA-C28E069B3507}"/>
              </a:ext>
            </a:extLst>
          </p:cNvPr>
          <p:cNvSpPr>
            <a:spLocks noGrp="1"/>
          </p:cNvSpPr>
          <p:nvPr>
            <p:ph type="title"/>
          </p:nvPr>
        </p:nvSpPr>
        <p:spPr/>
        <p:txBody>
          <a:bodyPr/>
          <a:lstStyle/>
          <a:p>
            <a:r>
              <a:rPr lang="en-US" dirty="0"/>
              <a:t>Monopoly</a:t>
            </a:r>
          </a:p>
        </p:txBody>
      </p:sp>
      <p:sp>
        <p:nvSpPr>
          <p:cNvPr id="3" name="Content Placeholder 2">
            <a:extLst>
              <a:ext uri="{FF2B5EF4-FFF2-40B4-BE49-F238E27FC236}">
                <a16:creationId xmlns:a16="http://schemas.microsoft.com/office/drawing/2014/main" id="{BB87C2BB-EE14-4218-9795-7D972C50CE7F}"/>
              </a:ext>
            </a:extLst>
          </p:cNvPr>
          <p:cNvSpPr>
            <a:spLocks noGrp="1"/>
          </p:cNvSpPr>
          <p:nvPr>
            <p:ph idx="1"/>
          </p:nvPr>
        </p:nvSpPr>
        <p:spPr/>
        <p:txBody>
          <a:bodyPr>
            <a:normAutofit fontScale="85000" lnSpcReduction="10000"/>
          </a:bodyPr>
          <a:lstStyle/>
          <a:p>
            <a:r>
              <a:rPr lang="en-US" dirty="0"/>
              <a:t>Monopoly refers to the market situation where there is one seller and there is no close substitute to the commodities sold by the seller. The seller has full control over the supply of that commodity. Features :</a:t>
            </a:r>
          </a:p>
          <a:p>
            <a:r>
              <a:rPr lang="en-US" dirty="0"/>
              <a:t> (</a:t>
            </a:r>
            <a:r>
              <a:rPr lang="en-US" dirty="0" err="1"/>
              <a:t>i</a:t>
            </a:r>
            <a:r>
              <a:rPr lang="en-US" dirty="0"/>
              <a:t>) Single seller and large number of buyers : Under monopoly there is one seller and therefore a firm faces no competition from other firms. Though there are large numbers of buyers, no single buyer can influence the monopoly price by his action. </a:t>
            </a:r>
          </a:p>
          <a:p>
            <a:r>
              <a:rPr lang="en-US" dirty="0"/>
              <a:t>(ii) No close substitute : Under monopoly there is no close substitute for the product sold by the monopolist. According to Prof. Boulding, a pure monopolist is therefore a firm producing a product which has no substitute among the products of any other firms. </a:t>
            </a:r>
          </a:p>
        </p:txBody>
      </p:sp>
    </p:spTree>
    <p:extLst>
      <p:ext uri="{BB962C8B-B14F-4D97-AF65-F5344CB8AC3E}">
        <p14:creationId xmlns:p14="http://schemas.microsoft.com/office/powerpoint/2010/main" val="35021267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B560-DF2E-438C-A255-F2B1E454AC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06C15D-DE49-46E6-8F1C-0BD233AE5549}"/>
              </a:ext>
            </a:extLst>
          </p:cNvPr>
          <p:cNvSpPr>
            <a:spLocks noGrp="1"/>
          </p:cNvSpPr>
          <p:nvPr>
            <p:ph idx="1"/>
          </p:nvPr>
        </p:nvSpPr>
        <p:spPr/>
        <p:txBody>
          <a:bodyPr>
            <a:normAutofit fontScale="92500" lnSpcReduction="20000"/>
          </a:bodyPr>
          <a:lstStyle/>
          <a:p>
            <a:r>
              <a:rPr lang="en-US" dirty="0"/>
              <a:t>(iii) Restriction on the entry of new firms : Under monopoly new firms cannot enter the industry. </a:t>
            </a:r>
          </a:p>
          <a:p>
            <a:r>
              <a:rPr lang="en-US" dirty="0"/>
              <a:t>(iv) Price maker :- A monopoly firm has full control over the supply of its products and hence it has full control over its price also. A monopoly firm can influence the market price by varying it supply, for </a:t>
            </a:r>
            <a:r>
              <a:rPr lang="en-US" dirty="0" err="1"/>
              <a:t>eg.</a:t>
            </a:r>
            <a:r>
              <a:rPr lang="en-US" dirty="0"/>
              <a:t>, It can make the price of its product by supplying less of it. </a:t>
            </a:r>
          </a:p>
          <a:p>
            <a:r>
              <a:rPr lang="en-US" dirty="0"/>
              <a:t>(v) Possibility of Price Discrimination : Price discrimination is defined as that market situation where a single seller sell the same commodity at two different prices in two different markets at the same time, depending upon the elasticity of demand on the two goods in their respective market. </a:t>
            </a:r>
          </a:p>
        </p:txBody>
      </p:sp>
    </p:spTree>
    <p:extLst>
      <p:ext uri="{BB962C8B-B14F-4D97-AF65-F5344CB8AC3E}">
        <p14:creationId xmlns:p14="http://schemas.microsoft.com/office/powerpoint/2010/main" val="211555035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66DAD-9B70-4BED-9925-A5D43BF80323}"/>
              </a:ext>
            </a:extLst>
          </p:cNvPr>
          <p:cNvSpPr>
            <a:spLocks noGrp="1"/>
          </p:cNvSpPr>
          <p:nvPr>
            <p:ph type="title"/>
          </p:nvPr>
        </p:nvSpPr>
        <p:spPr/>
        <p:txBody>
          <a:bodyPr>
            <a:normAutofit fontScale="90000"/>
          </a:bodyPr>
          <a:lstStyle/>
          <a:p>
            <a:r>
              <a:rPr lang="en-US" b="0" i="0" dirty="0">
                <a:solidFill>
                  <a:srgbClr val="222222"/>
                </a:solidFill>
                <a:effectLst/>
                <a:latin typeface="Rubik"/>
              </a:rPr>
              <a:t>Cost Analysis</a:t>
            </a:r>
            <a:br>
              <a:rPr lang="en-US" b="0" i="0" dirty="0">
                <a:solidFill>
                  <a:srgbClr val="222222"/>
                </a:solidFill>
                <a:effectLst/>
                <a:latin typeface="Rubik"/>
              </a:rPr>
            </a:br>
            <a:endParaRPr lang="en-US" dirty="0"/>
          </a:p>
        </p:txBody>
      </p:sp>
      <p:sp>
        <p:nvSpPr>
          <p:cNvPr id="3" name="Content Placeholder 2">
            <a:extLst>
              <a:ext uri="{FF2B5EF4-FFF2-40B4-BE49-F238E27FC236}">
                <a16:creationId xmlns:a16="http://schemas.microsoft.com/office/drawing/2014/main" id="{B034AF02-3535-4F4F-AF60-13CD87A89483}"/>
              </a:ext>
            </a:extLst>
          </p:cNvPr>
          <p:cNvSpPr>
            <a:spLocks noGrp="1"/>
          </p:cNvSpPr>
          <p:nvPr>
            <p:ph idx="1"/>
          </p:nvPr>
        </p:nvSpPr>
        <p:spPr/>
        <p:txBody>
          <a:bodyPr/>
          <a:lstStyle/>
          <a:p>
            <a:pPr algn="just"/>
            <a:r>
              <a:rPr lang="en-US" b="0" i="0" dirty="0">
                <a:solidFill>
                  <a:srgbClr val="000000"/>
                </a:solidFill>
                <a:effectLst/>
                <a:latin typeface="Rubik"/>
              </a:rPr>
              <a:t>In economics, the </a:t>
            </a:r>
            <a:r>
              <a:rPr lang="en-US" b="1" i="0" dirty="0">
                <a:solidFill>
                  <a:srgbClr val="000000"/>
                </a:solidFill>
                <a:effectLst/>
                <a:latin typeface="Rubik"/>
              </a:rPr>
              <a:t>Cost Analysis</a:t>
            </a:r>
            <a:r>
              <a:rPr lang="en-US" b="0" i="0" dirty="0">
                <a:solidFill>
                  <a:srgbClr val="000000"/>
                </a:solidFill>
                <a:effectLst/>
                <a:latin typeface="Rubik"/>
              </a:rPr>
              <a:t> refers to the measure of the cost – output relationship, i.e. the economists are concerned with determining the cost incurred in hiring the inputs and how well these can be re-arranged to increase the productivity (output) of the firm.</a:t>
            </a:r>
          </a:p>
          <a:p>
            <a:pPr algn="just"/>
            <a:r>
              <a:rPr lang="en-US" b="0" i="0" dirty="0">
                <a:solidFill>
                  <a:srgbClr val="000000"/>
                </a:solidFill>
                <a:effectLst/>
                <a:latin typeface="Rubik"/>
              </a:rPr>
              <a:t>In other words, the cost analysis is concerned with determining money value of inputs (labor, raw material), called as the overall cost of production.</a:t>
            </a:r>
            <a:endParaRPr lang="en-US" dirty="0"/>
          </a:p>
        </p:txBody>
      </p:sp>
    </p:spTree>
    <p:extLst>
      <p:ext uri="{BB962C8B-B14F-4D97-AF65-F5344CB8AC3E}">
        <p14:creationId xmlns:p14="http://schemas.microsoft.com/office/powerpoint/2010/main" val="38831281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14525-C829-4006-99B9-90AE67A26152}"/>
              </a:ext>
            </a:extLst>
          </p:cNvPr>
          <p:cNvSpPr>
            <a:spLocks noGrp="1"/>
          </p:cNvSpPr>
          <p:nvPr>
            <p:ph type="title"/>
          </p:nvPr>
        </p:nvSpPr>
        <p:spPr/>
        <p:txBody>
          <a:bodyPr/>
          <a:lstStyle/>
          <a:p>
            <a:r>
              <a:rPr lang="en-US" dirty="0"/>
              <a:t>Analysis of Costs</a:t>
            </a:r>
          </a:p>
        </p:txBody>
      </p:sp>
      <p:sp>
        <p:nvSpPr>
          <p:cNvPr id="3" name="Content Placeholder 2">
            <a:extLst>
              <a:ext uri="{FF2B5EF4-FFF2-40B4-BE49-F238E27FC236}">
                <a16:creationId xmlns:a16="http://schemas.microsoft.com/office/drawing/2014/main" id="{517CE4BC-1364-4617-8B88-11711C4D2193}"/>
              </a:ext>
            </a:extLst>
          </p:cNvPr>
          <p:cNvSpPr>
            <a:spLocks noGrp="1"/>
          </p:cNvSpPr>
          <p:nvPr>
            <p:ph idx="1"/>
          </p:nvPr>
        </p:nvSpPr>
        <p:spPr/>
        <p:txBody>
          <a:bodyPr>
            <a:normAutofit fontScale="85000" lnSpcReduction="10000"/>
          </a:bodyPr>
          <a:lstStyle/>
          <a:p>
            <a:pPr marL="0" marR="0" algn="just">
              <a:spcBef>
                <a:spcPts val="0"/>
              </a:spcBef>
              <a:spcAft>
                <a:spcPts val="0"/>
              </a:spcAft>
            </a:pPr>
            <a:r>
              <a:rPr lang="en-US" sz="2800" b="1" i="1" dirty="0">
                <a:solidFill>
                  <a:srgbClr val="000000"/>
                </a:solidFill>
                <a:effectLst/>
                <a:latin typeface="Arial" panose="020B0604020202020204" pitchFamily="34" charset="0"/>
              </a:rPr>
              <a:t>Short run</a:t>
            </a:r>
            <a:r>
              <a:rPr lang="en-US" sz="2800" b="0" i="0" dirty="0">
                <a:solidFill>
                  <a:srgbClr val="000000"/>
                </a:solidFill>
                <a:effectLst/>
                <a:latin typeface="Arial" panose="020B0604020202020204" pitchFamily="34" charset="0"/>
              </a:rPr>
              <a:t> is a period of time over which at least one factor must remain fixed. For most of the firms, the fixed resource or factors which cannot be increased to meet the rising demand of the good is capital i.e., plant and machinery.</a:t>
            </a:r>
            <a:endParaRPr lang="en-US" b="0" i="0" dirty="0">
              <a:solidFill>
                <a:srgbClr val="000000"/>
              </a:solidFill>
              <a:effectLst/>
              <a:latin typeface="Times New Roman" panose="02020603050405020304" pitchFamily="18" charset="0"/>
            </a:endParaRPr>
          </a:p>
          <a:p>
            <a:pPr marL="0" marR="0" indent="0" algn="just">
              <a:spcBef>
                <a:spcPts val="0"/>
              </a:spcBef>
              <a:spcAft>
                <a:spcPts val="0"/>
              </a:spcAft>
              <a:buNone/>
            </a:pPr>
            <a:r>
              <a:rPr lang="en-US" b="0" i="0" dirty="0">
                <a:solidFill>
                  <a:srgbClr val="000000"/>
                </a:solidFill>
                <a:effectLst/>
                <a:latin typeface="Times New Roman" panose="02020603050405020304" pitchFamily="18" charset="0"/>
              </a:rPr>
              <a:t> </a:t>
            </a:r>
          </a:p>
          <a:p>
            <a:pPr marL="0" marR="0" algn="just">
              <a:spcBef>
                <a:spcPts val="0"/>
              </a:spcBef>
              <a:spcAft>
                <a:spcPts val="0"/>
              </a:spcAft>
            </a:pPr>
            <a:r>
              <a:rPr lang="en-US" sz="2800" b="0" i="0" dirty="0">
                <a:solidFill>
                  <a:srgbClr val="000000"/>
                </a:solidFill>
                <a:effectLst/>
                <a:latin typeface="Arial" panose="020B0604020202020204" pitchFamily="34" charset="0"/>
              </a:rPr>
              <a:t>Short run, then, is a period of time over which output can be changed by adjusting the quantities of resources such as labor, raw material, fuel but the size or scale of the firm remains fixed.</a:t>
            </a:r>
            <a:endParaRPr lang="en-US" b="0" i="0" dirty="0">
              <a:solidFill>
                <a:srgbClr val="000000"/>
              </a:solidFill>
              <a:effectLst/>
              <a:latin typeface="Times New Roman" panose="02020603050405020304" pitchFamily="18" charset="0"/>
            </a:endParaRPr>
          </a:p>
          <a:p>
            <a:pPr marL="0" marR="0" indent="0" algn="just">
              <a:spcBef>
                <a:spcPts val="0"/>
              </a:spcBef>
              <a:spcAft>
                <a:spcPts val="0"/>
              </a:spcAft>
              <a:buNone/>
            </a:pPr>
            <a:r>
              <a:rPr lang="en-US" b="0" i="0" dirty="0">
                <a:solidFill>
                  <a:srgbClr val="000000"/>
                </a:solidFill>
                <a:effectLst/>
                <a:latin typeface="Times New Roman" panose="02020603050405020304" pitchFamily="18" charset="0"/>
              </a:rPr>
              <a:t> </a:t>
            </a:r>
          </a:p>
          <a:p>
            <a:pPr marL="0" marR="0" algn="just">
              <a:spcBef>
                <a:spcPts val="0"/>
              </a:spcBef>
              <a:spcAft>
                <a:spcPts val="0"/>
              </a:spcAft>
            </a:pPr>
            <a:r>
              <a:rPr lang="en-US" sz="2800" b="0" i="0" dirty="0">
                <a:solidFill>
                  <a:srgbClr val="000000"/>
                </a:solidFill>
                <a:effectLst/>
                <a:latin typeface="Arial" panose="020B0604020202020204" pitchFamily="34" charset="0"/>
              </a:rPr>
              <a:t>In the </a:t>
            </a:r>
            <a:r>
              <a:rPr lang="en-US" sz="2800" b="1" i="0" dirty="0">
                <a:solidFill>
                  <a:srgbClr val="000000"/>
                </a:solidFill>
                <a:effectLst/>
                <a:latin typeface="Arial" panose="020B0604020202020204" pitchFamily="34" charset="0"/>
              </a:rPr>
              <a:t>long run </a:t>
            </a:r>
            <a:r>
              <a:rPr lang="en-US" sz="2800" b="0" i="0" dirty="0">
                <a:solidFill>
                  <a:srgbClr val="000000"/>
                </a:solidFill>
                <a:effectLst/>
                <a:latin typeface="Arial" panose="020B0604020202020204" pitchFamily="34" charset="0"/>
              </a:rPr>
              <a:t>there is no fixed resource. All the factors of production are variable. The length of the long run differs from industry to industry depending upon the nature of production. For</a:t>
            </a:r>
            <a:r>
              <a:rPr lang="en-US" sz="2800" b="1" i="0" dirty="0">
                <a:solidFill>
                  <a:srgbClr val="000000"/>
                </a:solidFill>
                <a:effectLst/>
                <a:latin typeface="Arial" panose="020B0604020202020204" pitchFamily="34" charset="0"/>
              </a:rPr>
              <a:t> example,</a:t>
            </a:r>
            <a:r>
              <a:rPr lang="en-US" sz="2800" b="0" i="0" dirty="0">
                <a:solidFill>
                  <a:srgbClr val="000000"/>
                </a:solidFill>
                <a:effectLst/>
                <a:latin typeface="Arial" panose="020B0604020202020204" pitchFamily="34" charset="0"/>
              </a:rPr>
              <a:t> a balloon making firm can change the size of firm more quickly than a car manufacturing firm.</a:t>
            </a:r>
            <a:endParaRPr lang="en-US" b="0" i="0"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124009705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BFBED-6383-42F4-8F0A-D422388D8E31}"/>
              </a:ext>
            </a:extLst>
          </p:cNvPr>
          <p:cNvSpPr>
            <a:spLocks noGrp="1"/>
          </p:cNvSpPr>
          <p:nvPr>
            <p:ph type="title"/>
          </p:nvPr>
        </p:nvSpPr>
        <p:spPr/>
        <p:txBody>
          <a:bodyPr>
            <a:normAutofit fontScale="90000"/>
          </a:bodyPr>
          <a:lstStyle/>
          <a:p>
            <a:pPr marL="0" marR="0">
              <a:spcBef>
                <a:spcPts val="0"/>
              </a:spcBef>
              <a:spcAft>
                <a:spcPts val="0"/>
              </a:spcAft>
            </a:pPr>
            <a:r>
              <a:rPr lang="en-US" b="1" i="0" dirty="0">
                <a:solidFill>
                  <a:srgbClr val="000000"/>
                </a:solidFill>
                <a:effectLst/>
                <a:latin typeface="Arial" panose="020B0604020202020204" pitchFamily="34" charset="0"/>
              </a:rPr>
              <a:t>Types of </a:t>
            </a:r>
            <a:r>
              <a:rPr lang="en-US" sz="4400" b="1" i="0" dirty="0">
                <a:solidFill>
                  <a:srgbClr val="000000"/>
                </a:solidFill>
                <a:effectLst/>
                <a:latin typeface="Arial" panose="020B0604020202020204" pitchFamily="34" charset="0"/>
              </a:rPr>
              <a:t>Costs in the Short Run</a:t>
            </a:r>
            <a:br>
              <a:rPr lang="en-US" b="1" i="0" dirty="0">
                <a:solidFill>
                  <a:srgbClr val="000000"/>
                </a:solidFill>
                <a:effectLst/>
                <a:latin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AA239A6-2DF8-4EA0-A450-1657480FBDF8}"/>
              </a:ext>
            </a:extLst>
          </p:cNvPr>
          <p:cNvSpPr>
            <a:spLocks noGrp="1"/>
          </p:cNvSpPr>
          <p:nvPr>
            <p:ph idx="1"/>
          </p:nvPr>
        </p:nvSpPr>
        <p:spPr/>
        <p:txBody>
          <a:bodyPr>
            <a:normAutofit fontScale="92500" lnSpcReduction="20000"/>
          </a:bodyPr>
          <a:lstStyle/>
          <a:p>
            <a:pPr marL="0" marR="0" indent="0" algn="just">
              <a:spcBef>
                <a:spcPts val="0"/>
              </a:spcBef>
              <a:spcAft>
                <a:spcPts val="0"/>
              </a:spcAft>
              <a:buNone/>
            </a:pPr>
            <a:r>
              <a:rPr lang="en-US" b="1" i="0" dirty="0">
                <a:solidFill>
                  <a:srgbClr val="000000"/>
                </a:solidFill>
                <a:effectLst/>
                <a:latin typeface="Arial" panose="020B0604020202020204" pitchFamily="34" charset="0"/>
              </a:rPr>
              <a:t>(1) Total Fixed Cost (TFC):</a:t>
            </a:r>
            <a:endParaRPr lang="en-US" b="1" i="0" dirty="0">
              <a:solidFill>
                <a:srgbClr val="000000"/>
              </a:solidFill>
              <a:effectLst/>
              <a:latin typeface="Times New Roman" panose="02020603050405020304" pitchFamily="18" charset="0"/>
            </a:endParaRPr>
          </a:p>
          <a:p>
            <a:pPr marL="0" marR="0" indent="0" algn="just">
              <a:spcBef>
                <a:spcPts val="0"/>
              </a:spcBef>
              <a:spcAft>
                <a:spcPts val="0"/>
              </a:spcAft>
              <a:buNone/>
            </a:pPr>
            <a:endParaRPr lang="en-US" b="0" i="0" dirty="0">
              <a:solidFill>
                <a:srgbClr val="000000"/>
              </a:solidFill>
              <a:effectLst/>
              <a:latin typeface="Times New Roman" panose="02020603050405020304" pitchFamily="18" charset="0"/>
            </a:endParaRPr>
          </a:p>
          <a:p>
            <a:pPr algn="just">
              <a:spcBef>
                <a:spcPts val="0"/>
              </a:spcBef>
            </a:pPr>
            <a:r>
              <a:rPr lang="en-US" sz="2800" b="1" i="1" dirty="0">
                <a:solidFill>
                  <a:srgbClr val="000000"/>
                </a:solidFill>
                <a:effectLst/>
                <a:latin typeface="Arial" panose="020B0604020202020204" pitchFamily="34" charset="0"/>
              </a:rPr>
              <a:t>Total fixed cost</a:t>
            </a:r>
            <a:r>
              <a:rPr lang="en-US" sz="2800" b="0" i="0" dirty="0">
                <a:solidFill>
                  <a:srgbClr val="000000"/>
                </a:solidFill>
                <a:effectLst/>
                <a:latin typeface="Arial" panose="020B0604020202020204" pitchFamily="34" charset="0"/>
              </a:rPr>
              <a:t> occur only in the short run. Total Fixed cost as the name implies is the cost of the firm's fixed resources, Fixed cost remains the same in the short run regardless of how many units of output are produced. </a:t>
            </a:r>
          </a:p>
          <a:p>
            <a:pPr algn="just">
              <a:spcBef>
                <a:spcPts val="0"/>
              </a:spcBef>
            </a:pPr>
            <a:r>
              <a:rPr lang="en-US" sz="2800" b="0" i="0" dirty="0">
                <a:solidFill>
                  <a:srgbClr val="000000"/>
                </a:solidFill>
                <a:effectLst/>
                <a:latin typeface="Arial" panose="020B0604020202020204" pitchFamily="34" charset="0"/>
              </a:rPr>
              <a:t>We can say that fixed cost of a firm is that part of total cost which does not vary with changes in output per period of time. Fixed cost is to be incurred even if the output of the firm is zero.</a:t>
            </a:r>
            <a:endParaRPr lang="en-US" b="0" i="0" dirty="0">
              <a:solidFill>
                <a:srgbClr val="000000"/>
              </a:solidFill>
              <a:effectLst/>
              <a:latin typeface="Times New Roman" panose="02020603050405020304" pitchFamily="18" charset="0"/>
            </a:endParaRPr>
          </a:p>
          <a:p>
            <a:pPr marL="0" marR="0" indent="0" algn="just">
              <a:spcBef>
                <a:spcPts val="0"/>
              </a:spcBef>
              <a:spcAft>
                <a:spcPts val="0"/>
              </a:spcAft>
              <a:buNone/>
            </a:pPr>
            <a:r>
              <a:rPr lang="en-US" b="0" i="0" dirty="0">
                <a:solidFill>
                  <a:srgbClr val="000000"/>
                </a:solidFill>
                <a:effectLst/>
                <a:latin typeface="Times New Roman" panose="02020603050405020304" pitchFamily="18" charset="0"/>
              </a:rPr>
              <a:t> </a:t>
            </a:r>
          </a:p>
          <a:p>
            <a:pPr marL="0" marR="0" algn="just">
              <a:spcBef>
                <a:spcPts val="0"/>
              </a:spcBef>
              <a:spcAft>
                <a:spcPts val="0"/>
              </a:spcAft>
            </a:pPr>
            <a:r>
              <a:rPr lang="en-US" sz="2800" b="1" i="0" dirty="0">
                <a:solidFill>
                  <a:srgbClr val="000000"/>
                </a:solidFill>
                <a:effectLst/>
                <a:latin typeface="Arial" panose="020B0604020202020204" pitchFamily="34" charset="0"/>
              </a:rPr>
              <a:t>For example,</a:t>
            </a:r>
            <a:r>
              <a:rPr lang="en-US" sz="2800" b="0" i="0" dirty="0">
                <a:solidFill>
                  <a:srgbClr val="000000"/>
                </a:solidFill>
                <a:effectLst/>
                <a:latin typeface="Arial" panose="020B0604020202020204" pitchFamily="34" charset="0"/>
              </a:rPr>
              <a:t> the firm's resources which remain fixed in the short run are building, machinery and even staff employed on contract for work over a particular period.</a:t>
            </a:r>
            <a:endParaRPr lang="en-US" b="0" i="0"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301043320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70CDE-5F21-4024-A7BC-A6778CF48617}"/>
              </a:ext>
            </a:extLst>
          </p:cNvPr>
          <p:cNvSpPr>
            <a:spLocks noGrp="1"/>
          </p:cNvSpPr>
          <p:nvPr>
            <p:ph type="title"/>
          </p:nvPr>
        </p:nvSpPr>
        <p:spPr/>
        <p:txBody>
          <a:bodyPr>
            <a:normAutofit fontScale="90000"/>
          </a:bodyPr>
          <a:lstStyle/>
          <a:p>
            <a:pPr marL="0" marR="0">
              <a:spcBef>
                <a:spcPts val="0"/>
              </a:spcBef>
              <a:spcAft>
                <a:spcPts val="0"/>
              </a:spcAft>
            </a:pPr>
            <a:r>
              <a:rPr lang="en-US" b="1" i="0" dirty="0">
                <a:solidFill>
                  <a:srgbClr val="000000"/>
                </a:solidFill>
                <a:effectLst/>
                <a:latin typeface="Arial" panose="020B0604020202020204" pitchFamily="34" charset="0"/>
              </a:rPr>
              <a:t>Types of </a:t>
            </a:r>
            <a:r>
              <a:rPr lang="en-US" sz="4400" b="1" i="0" dirty="0">
                <a:solidFill>
                  <a:srgbClr val="000000"/>
                </a:solidFill>
                <a:effectLst/>
                <a:latin typeface="Arial" panose="020B0604020202020204" pitchFamily="34" charset="0"/>
              </a:rPr>
              <a:t>Costs in the Short Run</a:t>
            </a:r>
            <a:br>
              <a:rPr lang="en-US" b="1" i="0" dirty="0">
                <a:solidFill>
                  <a:srgbClr val="000000"/>
                </a:solidFill>
                <a:effectLst/>
                <a:latin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0F3DA34-C462-4D36-9F53-91E5A01A1D97}"/>
              </a:ext>
            </a:extLst>
          </p:cNvPr>
          <p:cNvSpPr>
            <a:spLocks noGrp="1"/>
          </p:cNvSpPr>
          <p:nvPr>
            <p:ph idx="1"/>
          </p:nvPr>
        </p:nvSpPr>
        <p:spPr/>
        <p:txBody>
          <a:bodyPr>
            <a:normAutofit lnSpcReduction="10000"/>
          </a:bodyPr>
          <a:lstStyle/>
          <a:p>
            <a:pPr marL="0" marR="0" indent="0" algn="just">
              <a:spcBef>
                <a:spcPts val="0"/>
              </a:spcBef>
              <a:spcAft>
                <a:spcPts val="0"/>
              </a:spcAft>
              <a:buNone/>
            </a:pPr>
            <a:r>
              <a:rPr lang="en-US" b="1" i="0" dirty="0">
                <a:solidFill>
                  <a:srgbClr val="000000"/>
                </a:solidFill>
                <a:effectLst/>
                <a:latin typeface="Arial" panose="020B0604020202020204" pitchFamily="34" charset="0"/>
              </a:rPr>
              <a:t>(2) Total Variable Cost (TVC): </a:t>
            </a:r>
            <a:endParaRPr lang="en-US" b="1" i="0" dirty="0">
              <a:solidFill>
                <a:srgbClr val="000000"/>
              </a:solidFill>
              <a:effectLst/>
              <a:latin typeface="Times New Roman" panose="02020603050405020304" pitchFamily="18" charset="0"/>
            </a:endParaRPr>
          </a:p>
          <a:p>
            <a:pPr marL="0" marR="0" indent="0" algn="just">
              <a:spcBef>
                <a:spcPts val="0"/>
              </a:spcBef>
              <a:spcAft>
                <a:spcPts val="0"/>
              </a:spcAft>
              <a:buNone/>
            </a:pPr>
            <a:r>
              <a:rPr lang="en-US" sz="2800" b="0" i="0" dirty="0">
                <a:solidFill>
                  <a:srgbClr val="000000"/>
                </a:solidFill>
                <a:effectLst/>
                <a:latin typeface="Arial" panose="020B0604020202020204" pitchFamily="34" charset="0"/>
              </a:rPr>
              <a:t>  </a:t>
            </a:r>
            <a:endParaRPr lang="en-US" b="0" i="0" dirty="0">
              <a:solidFill>
                <a:srgbClr val="000000"/>
              </a:solidFill>
              <a:effectLst/>
              <a:latin typeface="Times New Roman" panose="02020603050405020304" pitchFamily="18" charset="0"/>
            </a:endParaRPr>
          </a:p>
          <a:p>
            <a:pPr marL="0" marR="0" algn="just">
              <a:spcBef>
                <a:spcPts val="0"/>
              </a:spcBef>
              <a:spcAft>
                <a:spcPts val="0"/>
              </a:spcAft>
            </a:pPr>
            <a:r>
              <a:rPr lang="en-US" sz="2800" b="1" i="1" dirty="0">
                <a:solidFill>
                  <a:srgbClr val="000000"/>
                </a:solidFill>
                <a:effectLst/>
                <a:latin typeface="Arial" panose="020B0604020202020204" pitchFamily="34" charset="0"/>
              </a:rPr>
              <a:t>Total variable cost</a:t>
            </a:r>
            <a:r>
              <a:rPr lang="en-US" sz="2800" b="0" i="0" dirty="0">
                <a:solidFill>
                  <a:srgbClr val="000000"/>
                </a:solidFill>
                <a:effectLst/>
                <a:latin typeface="Arial" panose="020B0604020202020204" pitchFamily="34" charset="0"/>
              </a:rPr>
              <a:t> as the name signifies is the cost of variable resources of a firm that are used along with the firm's existing fixed resources. Total variable cost is linked with the level of output. When output is zero, variable cost is zero. When output increases, variable cost also increases and it decreases with the decrease in output. </a:t>
            </a:r>
          </a:p>
          <a:p>
            <a:pPr marL="0" marR="0" indent="0" algn="just">
              <a:spcBef>
                <a:spcPts val="0"/>
              </a:spcBef>
              <a:spcAft>
                <a:spcPts val="0"/>
              </a:spcAft>
              <a:buNone/>
            </a:pPr>
            <a:r>
              <a:rPr lang="en-US" b="0" i="0" dirty="0">
                <a:solidFill>
                  <a:srgbClr val="000000"/>
                </a:solidFill>
                <a:effectLst/>
                <a:latin typeface="Times New Roman" panose="02020603050405020304" pitchFamily="18" charset="0"/>
              </a:rPr>
              <a:t> </a:t>
            </a:r>
          </a:p>
          <a:p>
            <a:pPr marL="0" marR="0" algn="just">
              <a:spcBef>
                <a:spcPts val="0"/>
              </a:spcBef>
              <a:spcAft>
                <a:spcPts val="0"/>
              </a:spcAft>
            </a:pPr>
            <a:r>
              <a:rPr lang="en-US" sz="2800" b="1" i="0" dirty="0">
                <a:solidFill>
                  <a:srgbClr val="000000"/>
                </a:solidFill>
                <a:effectLst/>
                <a:latin typeface="Arial" panose="020B0604020202020204" pitchFamily="34" charset="0"/>
              </a:rPr>
              <a:t>For example,</a:t>
            </a:r>
            <a:r>
              <a:rPr lang="en-US" sz="2800" b="0" i="0" dirty="0">
                <a:solidFill>
                  <a:srgbClr val="000000"/>
                </a:solidFill>
                <a:effectLst/>
                <a:latin typeface="Arial" panose="020B0604020202020204" pitchFamily="34" charset="0"/>
              </a:rPr>
              <a:t> wages paid to the labor engaged in production, prices of raw material which a firm. incurs on the production of output are variable costs. </a:t>
            </a:r>
          </a:p>
          <a:p>
            <a:endParaRPr lang="en-US" dirty="0"/>
          </a:p>
        </p:txBody>
      </p:sp>
    </p:spTree>
    <p:extLst>
      <p:ext uri="{BB962C8B-B14F-4D97-AF65-F5344CB8AC3E}">
        <p14:creationId xmlns:p14="http://schemas.microsoft.com/office/powerpoint/2010/main" val="21486122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0231C-6416-4020-BFB8-6660EC39A964}"/>
              </a:ext>
            </a:extLst>
          </p:cNvPr>
          <p:cNvSpPr>
            <a:spLocks noGrp="1"/>
          </p:cNvSpPr>
          <p:nvPr>
            <p:ph type="title"/>
          </p:nvPr>
        </p:nvSpPr>
        <p:spPr/>
        <p:txBody>
          <a:bodyPr>
            <a:normAutofit fontScale="90000"/>
          </a:bodyPr>
          <a:lstStyle/>
          <a:p>
            <a:pPr marL="0" marR="0">
              <a:spcBef>
                <a:spcPts val="0"/>
              </a:spcBef>
              <a:spcAft>
                <a:spcPts val="0"/>
              </a:spcAft>
            </a:pPr>
            <a:r>
              <a:rPr lang="en-US" b="1" i="0" dirty="0">
                <a:solidFill>
                  <a:srgbClr val="000000"/>
                </a:solidFill>
                <a:effectLst/>
                <a:latin typeface="Arial" panose="020B0604020202020204" pitchFamily="34" charset="0"/>
              </a:rPr>
              <a:t>Types of </a:t>
            </a:r>
            <a:r>
              <a:rPr lang="en-US" sz="4400" b="1" i="0" dirty="0">
                <a:solidFill>
                  <a:srgbClr val="000000"/>
                </a:solidFill>
                <a:effectLst/>
                <a:latin typeface="Arial" panose="020B0604020202020204" pitchFamily="34" charset="0"/>
              </a:rPr>
              <a:t>Costs in the Short Run</a:t>
            </a:r>
            <a:br>
              <a:rPr lang="en-US" b="1" i="0" dirty="0">
                <a:solidFill>
                  <a:srgbClr val="000000"/>
                </a:solidFill>
                <a:effectLst/>
                <a:latin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F493EB3-06E3-4222-A605-820BA3FA9CBF}"/>
              </a:ext>
            </a:extLst>
          </p:cNvPr>
          <p:cNvSpPr>
            <a:spLocks noGrp="1"/>
          </p:cNvSpPr>
          <p:nvPr>
            <p:ph idx="1"/>
          </p:nvPr>
        </p:nvSpPr>
        <p:spPr/>
        <p:txBody>
          <a:bodyPr>
            <a:normAutofit/>
          </a:bodyPr>
          <a:lstStyle/>
          <a:p>
            <a:pPr algn="just"/>
            <a:r>
              <a:rPr lang="en-US" sz="2800" b="0" i="0" dirty="0">
                <a:solidFill>
                  <a:srgbClr val="000000"/>
                </a:solidFill>
                <a:effectLst/>
                <a:latin typeface="Arial" panose="020B0604020202020204" pitchFamily="34" charset="0"/>
              </a:rPr>
              <a:t>A firm can reduce its variable cost by lowering output but it cannot decrease its fixed cost. These expenses remain fixed in the short run. </a:t>
            </a:r>
          </a:p>
          <a:p>
            <a:pPr algn="just"/>
            <a:r>
              <a:rPr lang="en-US" sz="2800" b="0" i="0" dirty="0">
                <a:solidFill>
                  <a:srgbClr val="000000"/>
                </a:solidFill>
                <a:effectLst/>
                <a:latin typeface="Arial" panose="020B0604020202020204" pitchFamily="34" charset="0"/>
              </a:rPr>
              <a:t>In the long run there are no fixed resources. All resources are variable. Therefore, a firm has no fixed cost in the long run. All long run costs are variable costs.</a:t>
            </a:r>
            <a:endParaRPr lang="en-US" b="0" i="0"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33200826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36C99-D596-4646-8950-4EDE275C4F55}"/>
              </a:ext>
            </a:extLst>
          </p:cNvPr>
          <p:cNvSpPr>
            <a:spLocks noGrp="1"/>
          </p:cNvSpPr>
          <p:nvPr>
            <p:ph type="title"/>
          </p:nvPr>
        </p:nvSpPr>
        <p:spPr/>
        <p:txBody>
          <a:bodyPr>
            <a:normAutofit fontScale="90000"/>
          </a:bodyPr>
          <a:lstStyle/>
          <a:p>
            <a:pPr marL="0" marR="0">
              <a:spcBef>
                <a:spcPts val="0"/>
              </a:spcBef>
              <a:spcAft>
                <a:spcPts val="0"/>
              </a:spcAft>
            </a:pPr>
            <a:r>
              <a:rPr lang="en-US" b="1" i="0" dirty="0">
                <a:solidFill>
                  <a:srgbClr val="000000"/>
                </a:solidFill>
                <a:effectLst/>
                <a:latin typeface="Arial" panose="020B0604020202020204" pitchFamily="34" charset="0"/>
              </a:rPr>
              <a:t>Types of </a:t>
            </a:r>
            <a:r>
              <a:rPr lang="en-US" sz="4400" b="1" i="0" dirty="0">
                <a:solidFill>
                  <a:srgbClr val="000000"/>
                </a:solidFill>
                <a:effectLst/>
                <a:latin typeface="Arial" panose="020B0604020202020204" pitchFamily="34" charset="0"/>
              </a:rPr>
              <a:t>Costs in the Short Run</a:t>
            </a:r>
            <a:br>
              <a:rPr lang="en-US" b="1" i="0" dirty="0">
                <a:solidFill>
                  <a:srgbClr val="000000"/>
                </a:solidFill>
                <a:effectLst/>
                <a:latin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85E1CBC-DC73-46B5-BEF8-F3B24B8FF00F}"/>
              </a:ext>
            </a:extLst>
          </p:cNvPr>
          <p:cNvSpPr>
            <a:spLocks noGrp="1"/>
          </p:cNvSpPr>
          <p:nvPr>
            <p:ph idx="1"/>
          </p:nvPr>
        </p:nvSpPr>
        <p:spPr/>
        <p:txBody>
          <a:bodyPr>
            <a:normAutofit fontScale="92500" lnSpcReduction="20000"/>
          </a:bodyPr>
          <a:lstStyle/>
          <a:p>
            <a:pPr marL="0" marR="0" indent="0" algn="l">
              <a:spcBef>
                <a:spcPts val="0"/>
              </a:spcBef>
              <a:spcAft>
                <a:spcPts val="0"/>
              </a:spcAft>
              <a:buNone/>
            </a:pPr>
            <a:r>
              <a:rPr lang="en-US" b="1" i="0" dirty="0">
                <a:solidFill>
                  <a:srgbClr val="000000"/>
                </a:solidFill>
                <a:effectLst/>
                <a:latin typeface="Arial" panose="020B0604020202020204" pitchFamily="34" charset="0"/>
              </a:rPr>
              <a:t>(3) Total Cost (TC):</a:t>
            </a:r>
            <a:r>
              <a:rPr lang="en-US" sz="2800" b="0" i="0" dirty="0">
                <a:solidFill>
                  <a:srgbClr val="000000"/>
                </a:solidFill>
                <a:effectLst/>
                <a:latin typeface="Arial" panose="020B0604020202020204" pitchFamily="34" charset="0"/>
              </a:rPr>
              <a:t>          </a:t>
            </a:r>
            <a:endParaRPr lang="en-US" b="0" i="0" dirty="0">
              <a:solidFill>
                <a:srgbClr val="000000"/>
              </a:solidFill>
              <a:effectLst/>
              <a:latin typeface="Times New Roman" panose="02020603050405020304" pitchFamily="18" charset="0"/>
            </a:endParaRPr>
          </a:p>
          <a:p>
            <a:pPr marL="0" marR="0" algn="l">
              <a:spcBef>
                <a:spcPts val="0"/>
              </a:spcBef>
              <a:spcAft>
                <a:spcPts val="0"/>
              </a:spcAft>
            </a:pPr>
            <a:r>
              <a:rPr lang="en-US" sz="2800" b="0" i="0" dirty="0">
                <a:solidFill>
                  <a:srgbClr val="000000"/>
                </a:solidFill>
                <a:effectLst/>
                <a:latin typeface="Arial" panose="020B0604020202020204" pitchFamily="34" charset="0"/>
              </a:rPr>
              <a:t>Total cost is the sum of fixed cost and variable cost incurred at each level of output.</a:t>
            </a:r>
            <a:endParaRPr lang="en-US" b="0" i="0" dirty="0">
              <a:solidFill>
                <a:srgbClr val="000000"/>
              </a:solidFill>
              <a:effectLst/>
              <a:latin typeface="Times New Roman" panose="02020603050405020304" pitchFamily="18" charset="0"/>
            </a:endParaRPr>
          </a:p>
          <a:p>
            <a:pPr marL="0" marR="0" algn="ctr">
              <a:spcBef>
                <a:spcPts val="0"/>
              </a:spcBef>
              <a:spcAft>
                <a:spcPts val="0"/>
              </a:spcAft>
            </a:pPr>
            <a:r>
              <a:rPr lang="en-US" sz="2800" b="1" i="0" dirty="0">
                <a:solidFill>
                  <a:srgbClr val="000000"/>
                </a:solidFill>
                <a:effectLst/>
                <a:latin typeface="Arial" panose="020B0604020202020204" pitchFamily="34" charset="0"/>
              </a:rPr>
              <a:t>TC = TFC + TVC</a:t>
            </a:r>
            <a:endParaRPr lang="en-US" b="0" i="0" dirty="0">
              <a:solidFill>
                <a:srgbClr val="000000"/>
              </a:solidFill>
              <a:effectLst/>
              <a:latin typeface="Times New Roman" panose="02020603050405020304" pitchFamily="18" charset="0"/>
            </a:endParaRPr>
          </a:p>
          <a:p>
            <a:pPr marL="0" marR="0" indent="0" algn="l">
              <a:spcBef>
                <a:spcPts val="0"/>
              </a:spcBef>
              <a:spcAft>
                <a:spcPts val="0"/>
              </a:spcAft>
              <a:buNone/>
            </a:pPr>
            <a:r>
              <a:rPr lang="en-US" b="0" i="0" dirty="0">
                <a:solidFill>
                  <a:srgbClr val="000000"/>
                </a:solidFill>
                <a:effectLst/>
                <a:latin typeface="Times New Roman" panose="02020603050405020304" pitchFamily="18" charset="0"/>
              </a:rPr>
              <a:t> </a:t>
            </a:r>
          </a:p>
          <a:p>
            <a:pPr marL="0" marR="0" indent="0" algn="l">
              <a:spcBef>
                <a:spcPts val="0"/>
              </a:spcBef>
              <a:spcAft>
                <a:spcPts val="0"/>
              </a:spcAft>
              <a:buNone/>
            </a:pPr>
            <a:r>
              <a:rPr lang="en-US" sz="2800" b="0" i="0" dirty="0">
                <a:solidFill>
                  <a:srgbClr val="000000"/>
                </a:solidFill>
                <a:effectLst/>
                <a:latin typeface="Arial" panose="020B0604020202020204" pitchFamily="34" charset="0"/>
              </a:rPr>
              <a:t>Where:</a:t>
            </a:r>
            <a:endParaRPr lang="en-US" b="0" i="0" dirty="0">
              <a:solidFill>
                <a:srgbClr val="000000"/>
              </a:solidFill>
              <a:effectLst/>
              <a:latin typeface="Times New Roman" panose="02020603050405020304" pitchFamily="18" charset="0"/>
            </a:endParaRPr>
          </a:p>
          <a:p>
            <a:pPr marL="0" marR="0" indent="0" algn="l">
              <a:spcBef>
                <a:spcPts val="0"/>
              </a:spcBef>
              <a:spcAft>
                <a:spcPts val="0"/>
              </a:spcAft>
              <a:buNone/>
            </a:pPr>
            <a:r>
              <a:rPr lang="en-US" b="0" i="0" dirty="0">
                <a:solidFill>
                  <a:srgbClr val="000000"/>
                </a:solidFill>
                <a:effectLst/>
                <a:latin typeface="Times New Roman" panose="02020603050405020304" pitchFamily="18" charset="0"/>
              </a:rPr>
              <a:t> </a:t>
            </a:r>
          </a:p>
          <a:p>
            <a:pPr marL="0" marR="0" algn="l">
              <a:spcBef>
                <a:spcPts val="0"/>
              </a:spcBef>
              <a:spcAft>
                <a:spcPts val="0"/>
              </a:spcAft>
            </a:pPr>
            <a:r>
              <a:rPr lang="en-US" sz="2800" b="0" i="0" dirty="0">
                <a:solidFill>
                  <a:srgbClr val="000000"/>
                </a:solidFill>
                <a:effectLst/>
                <a:latin typeface="Arial" panose="020B0604020202020204" pitchFamily="34" charset="0"/>
              </a:rPr>
              <a:t>TC = Total cost.</a:t>
            </a:r>
            <a:endParaRPr lang="en-US" b="0" i="0" dirty="0">
              <a:solidFill>
                <a:srgbClr val="000000"/>
              </a:solidFill>
              <a:effectLst/>
              <a:latin typeface="Times New Roman" panose="02020603050405020304" pitchFamily="18" charset="0"/>
            </a:endParaRPr>
          </a:p>
          <a:p>
            <a:pPr marL="0" marR="0" indent="0" algn="l">
              <a:spcBef>
                <a:spcPts val="0"/>
              </a:spcBef>
              <a:spcAft>
                <a:spcPts val="0"/>
              </a:spcAft>
              <a:buNone/>
            </a:pPr>
            <a:r>
              <a:rPr lang="en-US" b="0" i="0" dirty="0">
                <a:solidFill>
                  <a:srgbClr val="000000"/>
                </a:solidFill>
                <a:effectLst/>
                <a:latin typeface="Times New Roman" panose="02020603050405020304" pitchFamily="18" charset="0"/>
              </a:rPr>
              <a:t> </a:t>
            </a:r>
          </a:p>
          <a:p>
            <a:pPr marL="0" marR="0" algn="l">
              <a:spcBef>
                <a:spcPts val="0"/>
              </a:spcBef>
              <a:spcAft>
                <a:spcPts val="0"/>
              </a:spcAft>
            </a:pPr>
            <a:r>
              <a:rPr lang="en-US" sz="2800" b="0" i="0" dirty="0">
                <a:solidFill>
                  <a:srgbClr val="000000"/>
                </a:solidFill>
                <a:effectLst/>
                <a:latin typeface="Arial" panose="020B0604020202020204" pitchFamily="34" charset="0"/>
              </a:rPr>
              <a:t>TFC = Total fixed cost.</a:t>
            </a:r>
            <a:endParaRPr lang="en-US" b="0" i="0" dirty="0">
              <a:solidFill>
                <a:srgbClr val="000000"/>
              </a:solidFill>
              <a:effectLst/>
              <a:latin typeface="Times New Roman" panose="02020603050405020304" pitchFamily="18" charset="0"/>
            </a:endParaRPr>
          </a:p>
          <a:p>
            <a:pPr marL="0" marR="0" indent="0" algn="l">
              <a:spcBef>
                <a:spcPts val="0"/>
              </a:spcBef>
              <a:spcAft>
                <a:spcPts val="0"/>
              </a:spcAft>
              <a:buNone/>
            </a:pPr>
            <a:r>
              <a:rPr lang="en-US" b="0" i="0" dirty="0">
                <a:solidFill>
                  <a:srgbClr val="000000"/>
                </a:solidFill>
                <a:effectLst/>
                <a:latin typeface="Times New Roman" panose="02020603050405020304" pitchFamily="18" charset="0"/>
              </a:rPr>
              <a:t> </a:t>
            </a:r>
          </a:p>
          <a:p>
            <a:pPr marL="0" marR="0" algn="l">
              <a:spcBef>
                <a:spcPts val="0"/>
              </a:spcBef>
              <a:spcAft>
                <a:spcPts val="0"/>
              </a:spcAft>
            </a:pPr>
            <a:r>
              <a:rPr lang="en-US" sz="2800" b="0" i="0" dirty="0">
                <a:solidFill>
                  <a:srgbClr val="000000"/>
                </a:solidFill>
                <a:effectLst/>
                <a:latin typeface="Arial" panose="020B0604020202020204" pitchFamily="34" charset="0"/>
              </a:rPr>
              <a:t>TVC = Total variable cost.</a:t>
            </a:r>
            <a:endParaRPr lang="en-US" b="0" i="0"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1415165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FFA3-5AAE-435C-9B66-036D40D52C05}"/>
              </a:ext>
            </a:extLst>
          </p:cNvPr>
          <p:cNvSpPr>
            <a:spLocks noGrp="1"/>
          </p:cNvSpPr>
          <p:nvPr>
            <p:ph type="title"/>
          </p:nvPr>
        </p:nvSpPr>
        <p:spPr>
          <a:xfrm>
            <a:off x="838200" y="337832"/>
            <a:ext cx="10515600" cy="1325563"/>
          </a:xfrm>
        </p:spPr>
        <p:txBody>
          <a:bodyPr/>
          <a:lstStyle/>
          <a:p>
            <a:r>
              <a:rPr kumimoji="0" lang="en-US" sz="4400" b="1"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Types of Costs in the Short Run</a:t>
            </a:r>
            <a:endParaRPr lang="en-US" dirty="0"/>
          </a:p>
        </p:txBody>
      </p:sp>
      <p:graphicFrame>
        <p:nvGraphicFramePr>
          <p:cNvPr id="4" name="Content Placeholder 3">
            <a:extLst>
              <a:ext uri="{FF2B5EF4-FFF2-40B4-BE49-F238E27FC236}">
                <a16:creationId xmlns:a16="http://schemas.microsoft.com/office/drawing/2014/main" id="{15D8E6FD-601E-4E2B-8CAA-7B29F4AC1C75}"/>
              </a:ext>
            </a:extLst>
          </p:cNvPr>
          <p:cNvGraphicFramePr>
            <a:graphicFrameLocks noGrp="1"/>
          </p:cNvGraphicFramePr>
          <p:nvPr>
            <p:ph idx="1"/>
            <p:extLst>
              <p:ext uri="{D42A27DB-BD31-4B8C-83A1-F6EECF244321}">
                <p14:modId xmlns:p14="http://schemas.microsoft.com/office/powerpoint/2010/main" val="4002364995"/>
              </p:ext>
            </p:extLst>
          </p:nvPr>
        </p:nvGraphicFramePr>
        <p:xfrm>
          <a:off x="1577009" y="1815553"/>
          <a:ext cx="7438405" cy="4093931"/>
        </p:xfrm>
        <a:graphic>
          <a:graphicData uri="http://schemas.openxmlformats.org/drawingml/2006/table">
            <a:tbl>
              <a:tblPr/>
              <a:tblGrid>
                <a:gridCol w="2293407">
                  <a:extLst>
                    <a:ext uri="{9D8B030D-6E8A-4147-A177-3AD203B41FA5}">
                      <a16:colId xmlns:a16="http://schemas.microsoft.com/office/drawing/2014/main" val="504936866"/>
                    </a:ext>
                  </a:extLst>
                </a:gridCol>
                <a:gridCol w="873679">
                  <a:extLst>
                    <a:ext uri="{9D8B030D-6E8A-4147-A177-3AD203B41FA5}">
                      <a16:colId xmlns:a16="http://schemas.microsoft.com/office/drawing/2014/main" val="554864521"/>
                    </a:ext>
                  </a:extLst>
                </a:gridCol>
                <a:gridCol w="2220600">
                  <a:extLst>
                    <a:ext uri="{9D8B030D-6E8A-4147-A177-3AD203B41FA5}">
                      <a16:colId xmlns:a16="http://schemas.microsoft.com/office/drawing/2014/main" val="65933427"/>
                    </a:ext>
                  </a:extLst>
                </a:gridCol>
                <a:gridCol w="2050719">
                  <a:extLst>
                    <a:ext uri="{9D8B030D-6E8A-4147-A177-3AD203B41FA5}">
                      <a16:colId xmlns:a16="http://schemas.microsoft.com/office/drawing/2014/main" val="2150358357"/>
                    </a:ext>
                  </a:extLst>
                </a:gridCol>
              </a:tblGrid>
              <a:tr h="781987">
                <a:tc>
                  <a:txBody>
                    <a:bodyPr/>
                    <a:lstStyle/>
                    <a:p>
                      <a:pPr algn="ctr"/>
                      <a:r>
                        <a:rPr lang="en-US" sz="1400" b="1" dirty="0">
                          <a:effectLst/>
                          <a:latin typeface="Arial" panose="020B0604020202020204" pitchFamily="34" charset="0"/>
                        </a:rPr>
                        <a:t>Units of Output (in Hundred)</a:t>
                      </a:r>
                      <a:endParaRPr lang="en-US" sz="1400" dirty="0">
                        <a:effectLst/>
                      </a:endParaRPr>
                    </a:p>
                  </a:txBody>
                  <a:tcPr marL="9525" marR="9525" marT="9525" marB="9525" anchor="ctr">
                    <a:lnL>
                      <a:noFill/>
                    </a:lnL>
                    <a:lnR>
                      <a:noFill/>
                    </a:lnR>
                    <a:lnT>
                      <a:noFill/>
                    </a:lnT>
                    <a:lnB>
                      <a:noFill/>
                    </a:lnB>
                    <a:solidFill>
                      <a:srgbClr val="C0C0C0"/>
                    </a:solidFill>
                  </a:tcPr>
                </a:tc>
                <a:tc>
                  <a:txBody>
                    <a:bodyPr/>
                    <a:lstStyle/>
                    <a:p>
                      <a:pPr algn="ctr"/>
                      <a:r>
                        <a:rPr lang="en-US" sz="1400" b="1" dirty="0">
                          <a:effectLst/>
                          <a:latin typeface="Arial" panose="020B0604020202020204" pitchFamily="34" charset="0"/>
                        </a:rPr>
                        <a:t>Total Fixed Cost</a:t>
                      </a:r>
                      <a:endParaRPr lang="en-US" sz="1400" dirty="0">
                        <a:effectLst/>
                      </a:endParaRPr>
                    </a:p>
                  </a:txBody>
                  <a:tcPr marL="9525" marR="9525" marT="9525" marB="9525" anchor="ctr">
                    <a:lnL>
                      <a:noFill/>
                    </a:lnL>
                    <a:lnR>
                      <a:noFill/>
                    </a:lnR>
                    <a:lnT>
                      <a:noFill/>
                    </a:lnT>
                    <a:lnB>
                      <a:noFill/>
                    </a:lnB>
                    <a:solidFill>
                      <a:srgbClr val="C0C0C0"/>
                    </a:solidFill>
                  </a:tcPr>
                </a:tc>
                <a:tc>
                  <a:txBody>
                    <a:bodyPr/>
                    <a:lstStyle/>
                    <a:p>
                      <a:pPr algn="ctr"/>
                      <a:r>
                        <a:rPr lang="en-US" sz="1400" b="1" dirty="0">
                          <a:effectLst/>
                          <a:latin typeface="Arial" panose="020B0604020202020204" pitchFamily="34" charset="0"/>
                        </a:rPr>
                        <a:t>Total Variable Cost</a:t>
                      </a:r>
                      <a:endParaRPr lang="en-US" sz="1400" dirty="0">
                        <a:effectLst/>
                      </a:endParaRPr>
                    </a:p>
                  </a:txBody>
                  <a:tcPr marL="9525" marR="9525" marT="9525" marB="9525" anchor="ctr">
                    <a:lnL>
                      <a:noFill/>
                    </a:lnL>
                    <a:lnR>
                      <a:noFill/>
                    </a:lnR>
                    <a:lnT>
                      <a:noFill/>
                    </a:lnT>
                    <a:lnB>
                      <a:noFill/>
                    </a:lnB>
                    <a:solidFill>
                      <a:srgbClr val="C0C0C0"/>
                    </a:solidFill>
                  </a:tcPr>
                </a:tc>
                <a:tc>
                  <a:txBody>
                    <a:bodyPr/>
                    <a:lstStyle/>
                    <a:p>
                      <a:pPr algn="ctr"/>
                      <a:r>
                        <a:rPr lang="en-US" sz="1400" b="1" dirty="0">
                          <a:effectLst/>
                          <a:latin typeface="Arial" panose="020B0604020202020204" pitchFamily="34" charset="0"/>
                        </a:rPr>
                        <a:t>Total Cost</a:t>
                      </a:r>
                      <a:endParaRPr lang="en-US" sz="1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404007413"/>
                  </a:ext>
                </a:extLst>
              </a:tr>
              <a:tr h="413993">
                <a:tc>
                  <a:txBody>
                    <a:bodyPr/>
                    <a:lstStyle/>
                    <a:p>
                      <a:pPr algn="ctr"/>
                      <a:r>
                        <a:rPr lang="en-US" sz="2400" dirty="0">
                          <a:effectLst/>
                          <a:latin typeface="Arial" panose="020B0604020202020204" pitchFamily="34" charset="0"/>
                        </a:rPr>
                        <a:t>0</a:t>
                      </a:r>
                      <a:endParaRPr lang="en-US" sz="2400" dirty="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1000</a:t>
                      </a:r>
                      <a:endParaRPr lang="en-US" sz="2400" dirty="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0</a:t>
                      </a:r>
                      <a:endParaRPr lang="en-US" sz="2400" dirty="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2731401178"/>
                  </a:ext>
                </a:extLst>
              </a:tr>
              <a:tr h="413993">
                <a:tc>
                  <a:txBody>
                    <a:bodyPr/>
                    <a:lstStyle/>
                    <a:p>
                      <a:pPr algn="ctr"/>
                      <a:r>
                        <a:rPr lang="en-US" sz="2400">
                          <a:effectLst/>
                          <a:latin typeface="Arial" panose="020B0604020202020204" pitchFamily="34" charset="0"/>
                        </a:rPr>
                        <a:t>1</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60</a:t>
                      </a:r>
                      <a:endParaRPr lang="en-US" sz="2400" dirty="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1060</a:t>
                      </a:r>
                      <a:endParaRPr lang="en-US" sz="2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1648093556"/>
                  </a:ext>
                </a:extLst>
              </a:tr>
              <a:tr h="413993">
                <a:tc>
                  <a:txBody>
                    <a:bodyPr/>
                    <a:lstStyle/>
                    <a:p>
                      <a:pPr algn="ctr"/>
                      <a:r>
                        <a:rPr lang="en-US" sz="2400">
                          <a:effectLst/>
                          <a:latin typeface="Arial" panose="020B0604020202020204" pitchFamily="34" charset="0"/>
                        </a:rPr>
                        <a:t>2</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1100</a:t>
                      </a:r>
                      <a:endParaRPr lang="en-US" sz="2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1150193189"/>
                  </a:ext>
                </a:extLst>
              </a:tr>
              <a:tr h="413993">
                <a:tc>
                  <a:txBody>
                    <a:bodyPr/>
                    <a:lstStyle/>
                    <a:p>
                      <a:pPr algn="ctr"/>
                      <a:r>
                        <a:rPr lang="en-US" sz="2400">
                          <a:effectLst/>
                          <a:latin typeface="Arial" panose="020B0604020202020204" pitchFamily="34" charset="0"/>
                        </a:rPr>
                        <a:t>3</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150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1150</a:t>
                      </a:r>
                      <a:endParaRPr lang="en-US" sz="2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680029902"/>
                  </a:ext>
                </a:extLst>
              </a:tr>
              <a:tr h="413993">
                <a:tc>
                  <a:txBody>
                    <a:bodyPr/>
                    <a:lstStyle/>
                    <a:p>
                      <a:pPr algn="ctr"/>
                      <a:r>
                        <a:rPr lang="en-US" sz="2400">
                          <a:effectLst/>
                          <a:latin typeface="Arial" panose="020B0604020202020204" pitchFamily="34" charset="0"/>
                        </a:rPr>
                        <a:t>4</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200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1200</a:t>
                      </a:r>
                      <a:endParaRPr lang="en-US" sz="2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4091570364"/>
                  </a:ext>
                </a:extLst>
              </a:tr>
              <a:tr h="413993">
                <a:tc>
                  <a:txBody>
                    <a:bodyPr/>
                    <a:lstStyle/>
                    <a:p>
                      <a:pPr algn="ctr"/>
                      <a:r>
                        <a:rPr lang="en-US" sz="2400">
                          <a:effectLst/>
                          <a:latin typeface="Arial" panose="020B0604020202020204" pitchFamily="34" charset="0"/>
                        </a:rPr>
                        <a:t>5</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400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1400</a:t>
                      </a:r>
                      <a:endParaRPr lang="en-US" sz="2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185868362"/>
                  </a:ext>
                </a:extLst>
              </a:tr>
              <a:tr h="413993">
                <a:tc>
                  <a:txBody>
                    <a:bodyPr/>
                    <a:lstStyle/>
                    <a:p>
                      <a:pPr algn="ctr"/>
                      <a:r>
                        <a:rPr lang="en-US" sz="2400">
                          <a:effectLst/>
                          <a:latin typeface="Arial" panose="020B0604020202020204" pitchFamily="34" charset="0"/>
                        </a:rPr>
                        <a:t>6</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700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1700</a:t>
                      </a:r>
                      <a:endParaRPr lang="en-US" sz="2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2204900394"/>
                  </a:ext>
                </a:extLst>
              </a:tr>
              <a:tr h="413993">
                <a:tc>
                  <a:txBody>
                    <a:bodyPr/>
                    <a:lstStyle/>
                    <a:p>
                      <a:pPr algn="ctr"/>
                      <a:r>
                        <a:rPr lang="en-US" sz="2400">
                          <a:effectLst/>
                          <a:latin typeface="Arial" panose="020B0604020202020204" pitchFamily="34" charset="0"/>
                        </a:rPr>
                        <a:t>7</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1000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a:effectLst/>
                          <a:latin typeface="Arial" panose="020B0604020202020204" pitchFamily="34" charset="0"/>
                        </a:rPr>
                        <a:t>1100</a:t>
                      </a:r>
                      <a:endParaRPr lang="en-US" sz="2400">
                        <a:effectLst/>
                      </a:endParaRPr>
                    </a:p>
                  </a:txBody>
                  <a:tcPr marL="9525" marR="9525" marT="9525" marB="9525" anchor="ctr">
                    <a:lnL>
                      <a:noFill/>
                    </a:lnL>
                    <a:lnR>
                      <a:noFill/>
                    </a:lnR>
                    <a:lnT>
                      <a:noFill/>
                    </a:lnT>
                    <a:lnB>
                      <a:noFill/>
                    </a:lnB>
                    <a:solidFill>
                      <a:srgbClr val="C0C0C0"/>
                    </a:solidFill>
                  </a:tcPr>
                </a:tc>
                <a:tc>
                  <a:txBody>
                    <a:bodyPr/>
                    <a:lstStyle/>
                    <a:p>
                      <a:pPr algn="ctr"/>
                      <a:r>
                        <a:rPr lang="en-US" sz="2400" dirty="0">
                          <a:effectLst/>
                          <a:latin typeface="Arial" panose="020B0604020202020204" pitchFamily="34" charset="0"/>
                        </a:rPr>
                        <a:t>2100</a:t>
                      </a:r>
                      <a:endParaRPr lang="en-US" sz="2400" dirty="0">
                        <a:effectLst/>
                      </a:endParaRPr>
                    </a:p>
                  </a:txBody>
                  <a:tcPr marL="9525" marR="9525" marT="9525" marB="9525" anchor="ctr">
                    <a:lnL>
                      <a:noFill/>
                    </a:lnL>
                    <a:lnR>
                      <a:noFill/>
                    </a:lnR>
                    <a:lnT>
                      <a:noFill/>
                    </a:lnT>
                    <a:lnB>
                      <a:noFill/>
                    </a:lnB>
                    <a:solidFill>
                      <a:srgbClr val="C0C0C0"/>
                    </a:solidFill>
                  </a:tcPr>
                </a:tc>
                <a:extLst>
                  <a:ext uri="{0D108BD9-81ED-4DB2-BD59-A6C34878D82A}">
                    <a16:rowId xmlns:a16="http://schemas.microsoft.com/office/drawing/2014/main" val="2897032423"/>
                  </a:ext>
                </a:extLst>
              </a:tr>
            </a:tbl>
          </a:graphicData>
        </a:graphic>
      </p:graphicFrame>
    </p:spTree>
    <p:extLst>
      <p:ext uri="{BB962C8B-B14F-4D97-AF65-F5344CB8AC3E}">
        <p14:creationId xmlns:p14="http://schemas.microsoft.com/office/powerpoint/2010/main" val="37335302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1865D-31D8-47B4-BAFF-E8B677C4FE89}"/>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Types of Costs in the Short Run</a:t>
            </a:r>
            <a:endParaRPr lang="en-US" dirty="0"/>
          </a:p>
        </p:txBody>
      </p:sp>
      <p:sp>
        <p:nvSpPr>
          <p:cNvPr id="3" name="Content Placeholder 2">
            <a:extLst>
              <a:ext uri="{FF2B5EF4-FFF2-40B4-BE49-F238E27FC236}">
                <a16:creationId xmlns:a16="http://schemas.microsoft.com/office/drawing/2014/main" id="{29A2B642-AC80-44A6-A39D-93D5D6901768}"/>
              </a:ext>
            </a:extLst>
          </p:cNvPr>
          <p:cNvSpPr>
            <a:spLocks noGrp="1"/>
          </p:cNvSpPr>
          <p:nvPr>
            <p:ph idx="1"/>
          </p:nvPr>
        </p:nvSpPr>
        <p:spPr/>
        <p:txBody>
          <a:bodyPr>
            <a:normAutofit/>
          </a:bodyPr>
          <a:lstStyle/>
          <a:p>
            <a:pPr marL="0" marR="0" algn="just">
              <a:spcBef>
                <a:spcPts val="0"/>
              </a:spcBef>
              <a:spcAft>
                <a:spcPts val="0"/>
              </a:spcAft>
            </a:pPr>
            <a:r>
              <a:rPr lang="en-US" sz="2800" b="0" i="0" dirty="0">
                <a:solidFill>
                  <a:srgbClr val="000000"/>
                </a:solidFill>
                <a:effectLst/>
                <a:latin typeface="Arial" panose="020B0604020202020204" pitchFamily="34" charset="0"/>
              </a:rPr>
              <a:t>The short run cost data of the firm shows that total fixed cost TFC (column 2) remains constant at $1000/- regardless of the level of output.</a:t>
            </a:r>
            <a:r>
              <a:rPr lang="en-US" b="0" i="0" dirty="0">
                <a:solidFill>
                  <a:srgbClr val="000000"/>
                </a:solidFill>
                <a:effectLst/>
                <a:latin typeface="Times New Roman" panose="02020603050405020304" pitchFamily="18" charset="0"/>
              </a:rPr>
              <a:t> </a:t>
            </a:r>
          </a:p>
          <a:p>
            <a:pPr marL="0" marR="0" algn="just">
              <a:spcBef>
                <a:spcPts val="0"/>
              </a:spcBef>
              <a:spcAft>
                <a:spcPts val="0"/>
              </a:spcAft>
            </a:pPr>
            <a:r>
              <a:rPr lang="en-US" sz="2800" b="0" i="0" dirty="0">
                <a:solidFill>
                  <a:srgbClr val="000000"/>
                </a:solidFill>
                <a:effectLst/>
                <a:latin typeface="Arial" panose="020B0604020202020204" pitchFamily="34" charset="0"/>
              </a:rPr>
              <a:t>The column 3 indicates variable cost which is associated with the level of output. Total variable cost is zero when production is zero. Total variable cost increases with the increase in output. The variable does not increase by the same amount for each increase in output. Initially the variable cost increases by a smaller amount up to 3</a:t>
            </a:r>
            <a:r>
              <a:rPr lang="en-US" sz="2800" b="0" i="0" baseline="30000" dirty="0">
                <a:solidFill>
                  <a:srgbClr val="000000"/>
                </a:solidFill>
                <a:effectLst/>
                <a:latin typeface="Arial" panose="020B0604020202020204" pitchFamily="34" charset="0"/>
              </a:rPr>
              <a:t>rd</a:t>
            </a:r>
            <a:r>
              <a:rPr lang="en-US" sz="2800" b="0" i="0" dirty="0">
                <a:solidFill>
                  <a:srgbClr val="000000"/>
                </a:solidFill>
                <a:effectLst/>
                <a:latin typeface="Arial" panose="020B0604020202020204" pitchFamily="34" charset="0"/>
              </a:rPr>
              <a:t> unit of output and after which it increases by larger amounts.</a:t>
            </a:r>
            <a:endParaRPr lang="en-US" b="0" i="0"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5148282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4DB-1392-4B01-AD81-34F5AF3A1551}"/>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Types of Costs in the Short Run</a:t>
            </a:r>
            <a:endParaRPr lang="en-US" dirty="0"/>
          </a:p>
        </p:txBody>
      </p:sp>
      <p:pic>
        <p:nvPicPr>
          <p:cNvPr id="2050" name="Picture 2">
            <a:extLst>
              <a:ext uri="{FF2B5EF4-FFF2-40B4-BE49-F238E27FC236}">
                <a16:creationId xmlns:a16="http://schemas.microsoft.com/office/drawing/2014/main" id="{A6CD62F2-A7F3-4E57-97F2-56A6273351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05262" y="2315369"/>
            <a:ext cx="4181475"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44693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47D9F-6F1E-4724-9C84-4DD3CE2FC09A}"/>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Types of Costs in the Short Run</a:t>
            </a:r>
            <a:endParaRPr lang="en-US" dirty="0"/>
          </a:p>
        </p:txBody>
      </p:sp>
      <p:pic>
        <p:nvPicPr>
          <p:cNvPr id="4" name="Content Placeholder 3">
            <a:extLst>
              <a:ext uri="{FF2B5EF4-FFF2-40B4-BE49-F238E27FC236}">
                <a16:creationId xmlns:a16="http://schemas.microsoft.com/office/drawing/2014/main" id="{F0AF14FE-417B-4FDA-AA1A-DC48671024C4}"/>
              </a:ext>
            </a:extLst>
          </p:cNvPr>
          <p:cNvPicPr>
            <a:picLocks noGrp="1" noChangeAspect="1"/>
          </p:cNvPicPr>
          <p:nvPr>
            <p:ph idx="1"/>
          </p:nvPr>
        </p:nvPicPr>
        <p:blipFill>
          <a:blip r:embed="rId2"/>
          <a:stretch>
            <a:fillRect/>
          </a:stretch>
        </p:blipFill>
        <p:spPr>
          <a:xfrm>
            <a:off x="2050869" y="1580606"/>
            <a:ext cx="8151222" cy="3971108"/>
          </a:xfrm>
          <a:prstGeom prst="rect">
            <a:avLst/>
          </a:prstGeom>
        </p:spPr>
      </p:pic>
    </p:spTree>
    <p:extLst>
      <p:ext uri="{BB962C8B-B14F-4D97-AF65-F5344CB8AC3E}">
        <p14:creationId xmlns:p14="http://schemas.microsoft.com/office/powerpoint/2010/main" val="304265940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4448-B1CA-4EB0-BCCB-E66348AC5927}"/>
              </a:ext>
            </a:extLst>
          </p:cNvPr>
          <p:cNvSpPr>
            <a:spLocks noGrp="1"/>
          </p:cNvSpPr>
          <p:nvPr>
            <p:ph type="title"/>
          </p:nvPr>
        </p:nvSpPr>
        <p:spPr/>
        <p:txBody>
          <a:bodyPr/>
          <a:lstStyle/>
          <a:p>
            <a:pPr marL="0" marR="0" algn="l">
              <a:spcBef>
                <a:spcPts val="0"/>
              </a:spcBef>
              <a:spcAft>
                <a:spcPts val="0"/>
              </a:spcAft>
            </a:pPr>
            <a:r>
              <a:rPr lang="en-US" b="1" i="0" dirty="0">
                <a:solidFill>
                  <a:srgbClr val="000000"/>
                </a:solidFill>
                <a:effectLst/>
                <a:latin typeface="Arial" panose="020B0604020202020204" pitchFamily="34" charset="0"/>
              </a:rPr>
              <a:t>Total Cost Curve Curve/Diagram</a:t>
            </a:r>
            <a:endParaRPr lang="en-US" b="1" i="0" dirty="0">
              <a:solidFill>
                <a:srgbClr val="000000"/>
              </a:solidFill>
              <a:effectLst/>
              <a:latin typeface="Times New Roman" panose="02020603050405020304" pitchFamily="18" charset="0"/>
            </a:endParaRPr>
          </a:p>
        </p:txBody>
      </p:sp>
      <p:pic>
        <p:nvPicPr>
          <p:cNvPr id="3074" name="Picture 2">
            <a:extLst>
              <a:ext uri="{FF2B5EF4-FFF2-40B4-BE49-F238E27FC236}">
                <a16:creationId xmlns:a16="http://schemas.microsoft.com/office/drawing/2014/main" id="{6B0B8AA0-921E-4E4A-86F6-B7DA9AAA6E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14850" y="2582069"/>
            <a:ext cx="3162300" cy="256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0062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1FBF4-E35C-44E3-8F2A-B4EBB6DC06E3}"/>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Total Cost Curve Curve/Diagram</a:t>
            </a:r>
            <a:endParaRPr lang="en-US" dirty="0"/>
          </a:p>
        </p:txBody>
      </p:sp>
      <p:sp>
        <p:nvSpPr>
          <p:cNvPr id="3" name="Content Placeholder 2">
            <a:extLst>
              <a:ext uri="{FF2B5EF4-FFF2-40B4-BE49-F238E27FC236}">
                <a16:creationId xmlns:a16="http://schemas.microsoft.com/office/drawing/2014/main" id="{E1F26D68-8049-43FB-87FD-FC28FB126211}"/>
              </a:ext>
            </a:extLst>
          </p:cNvPr>
          <p:cNvSpPr>
            <a:spLocks noGrp="1"/>
          </p:cNvSpPr>
          <p:nvPr>
            <p:ph idx="1"/>
          </p:nvPr>
        </p:nvSpPr>
        <p:spPr/>
        <p:txBody>
          <a:bodyPr/>
          <a:lstStyle/>
          <a:p>
            <a:pPr marL="0" marR="0" algn="l">
              <a:spcBef>
                <a:spcPts val="0"/>
              </a:spcBef>
              <a:spcAft>
                <a:spcPts val="0"/>
              </a:spcAft>
            </a:pPr>
            <a:r>
              <a:rPr lang="en-US" dirty="0">
                <a:solidFill>
                  <a:srgbClr val="000000"/>
                </a:solidFill>
                <a:latin typeface="Arial" panose="020B0604020202020204" pitchFamily="34" charset="0"/>
              </a:rPr>
              <a:t>T</a:t>
            </a:r>
            <a:r>
              <a:rPr lang="en-US" sz="2800" b="0" i="0" dirty="0">
                <a:solidFill>
                  <a:srgbClr val="000000"/>
                </a:solidFill>
                <a:effectLst/>
                <a:latin typeface="Arial" panose="020B0604020202020204" pitchFamily="34" charset="0"/>
              </a:rPr>
              <a:t>otal cost curve which is the sum of the total fixed cost and variable cost at various levels of output has nearly the same shape. The difference between the two is by only a fixed amount of $1,000. </a:t>
            </a:r>
          </a:p>
          <a:p>
            <a:endParaRPr lang="en-US" dirty="0"/>
          </a:p>
        </p:txBody>
      </p:sp>
    </p:spTree>
    <p:extLst>
      <p:ext uri="{BB962C8B-B14F-4D97-AF65-F5344CB8AC3E}">
        <p14:creationId xmlns:p14="http://schemas.microsoft.com/office/powerpoint/2010/main" val="106812009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CB6A-60E7-4DEA-BFE4-BB1D4BB1BB19}"/>
              </a:ext>
            </a:extLst>
          </p:cNvPr>
          <p:cNvSpPr>
            <a:spLocks noGrp="1"/>
          </p:cNvSpPr>
          <p:nvPr>
            <p:ph type="title"/>
          </p:nvPr>
        </p:nvSpPr>
        <p:spPr/>
        <p:txBody>
          <a:bodyPr>
            <a:normAutofit fontScale="90000"/>
          </a:bodyPr>
          <a:lstStyle/>
          <a:p>
            <a:r>
              <a:rPr lang="en-US" dirty="0"/>
              <a:t>Average Cost</a:t>
            </a:r>
            <a:br>
              <a:rPr lang="en-US" dirty="0"/>
            </a:br>
            <a:endParaRPr lang="en-US" dirty="0"/>
          </a:p>
        </p:txBody>
      </p:sp>
      <p:sp>
        <p:nvSpPr>
          <p:cNvPr id="3" name="Content Placeholder 2">
            <a:extLst>
              <a:ext uri="{FF2B5EF4-FFF2-40B4-BE49-F238E27FC236}">
                <a16:creationId xmlns:a16="http://schemas.microsoft.com/office/drawing/2014/main" id="{27DAEAC5-8CC0-42B9-A18B-71AC45429C82}"/>
              </a:ext>
            </a:extLst>
          </p:cNvPr>
          <p:cNvSpPr>
            <a:spLocks noGrp="1"/>
          </p:cNvSpPr>
          <p:nvPr>
            <p:ph idx="1"/>
          </p:nvPr>
        </p:nvSpPr>
        <p:spPr/>
        <p:txBody>
          <a:bodyPr>
            <a:normAutofit fontScale="92500" lnSpcReduction="10000"/>
          </a:bodyPr>
          <a:lstStyle/>
          <a:p>
            <a:r>
              <a:rPr lang="en-US" dirty="0"/>
              <a:t>The Average Cost is the per unit cost of production obtained by dividing the total cost (TC) by the total output (Q). </a:t>
            </a:r>
          </a:p>
          <a:p>
            <a:r>
              <a:rPr lang="en-US" dirty="0"/>
              <a:t>it is also called as Per Unit Total Cost.</a:t>
            </a:r>
          </a:p>
          <a:p>
            <a:pPr algn="l"/>
            <a:r>
              <a:rPr lang="en-US" b="1" i="0" dirty="0">
                <a:solidFill>
                  <a:srgbClr val="000000"/>
                </a:solidFill>
                <a:effectLst/>
                <a:latin typeface="Rubik"/>
              </a:rPr>
              <a:t>AC = TC/Q</a:t>
            </a:r>
            <a:endParaRPr lang="en-US" b="0" i="0" dirty="0">
              <a:solidFill>
                <a:srgbClr val="000000"/>
              </a:solidFill>
              <a:effectLst/>
              <a:latin typeface="Rubik"/>
            </a:endParaRPr>
          </a:p>
          <a:p>
            <a:pPr marL="0" indent="0" algn="l">
              <a:buNone/>
            </a:pPr>
            <a:r>
              <a:rPr lang="en-US" b="0" i="0" dirty="0">
                <a:solidFill>
                  <a:srgbClr val="000000"/>
                </a:solidFill>
                <a:effectLst/>
                <a:latin typeface="Rubik"/>
              </a:rPr>
              <a:t>Also,</a:t>
            </a:r>
          </a:p>
          <a:p>
            <a:pPr algn="l"/>
            <a:r>
              <a:rPr lang="en-US" b="1" i="0" dirty="0">
                <a:solidFill>
                  <a:srgbClr val="000000"/>
                </a:solidFill>
                <a:effectLst/>
                <a:latin typeface="Rubik"/>
              </a:rPr>
              <a:t>AC = Average Variable cost (AVC) + Average Fixed cost (AFC)</a:t>
            </a:r>
            <a:endParaRPr lang="en-US" b="0" i="0" dirty="0">
              <a:solidFill>
                <a:srgbClr val="000000"/>
              </a:solidFill>
              <a:effectLst/>
              <a:latin typeface="Rubik"/>
            </a:endParaRPr>
          </a:p>
          <a:p>
            <a:pPr marL="0" indent="0" algn="l">
              <a:buNone/>
            </a:pPr>
            <a:r>
              <a:rPr lang="en-US" b="0" i="0" dirty="0">
                <a:solidFill>
                  <a:srgbClr val="000000"/>
                </a:solidFill>
                <a:effectLst/>
                <a:latin typeface="Rubik"/>
              </a:rPr>
              <a:t>Where,</a:t>
            </a:r>
          </a:p>
          <a:p>
            <a:pPr marL="0" indent="0" algn="l">
              <a:buNone/>
            </a:pPr>
            <a:r>
              <a:rPr lang="en-US" b="0" i="0" dirty="0">
                <a:solidFill>
                  <a:srgbClr val="000000"/>
                </a:solidFill>
                <a:effectLst/>
                <a:latin typeface="Rubik"/>
              </a:rPr>
              <a:t>Average variable cost = Total Variable Cost (TVC) / Total output (Q)</a:t>
            </a:r>
            <a:br>
              <a:rPr lang="en-US" b="0" i="0" dirty="0">
                <a:solidFill>
                  <a:srgbClr val="000000"/>
                </a:solidFill>
                <a:effectLst/>
                <a:latin typeface="Rubik"/>
              </a:rPr>
            </a:br>
            <a:r>
              <a:rPr lang="en-US" b="0" i="0" dirty="0">
                <a:solidFill>
                  <a:srgbClr val="000000"/>
                </a:solidFill>
                <a:effectLst/>
                <a:latin typeface="Rubik"/>
              </a:rPr>
              <a:t>Average fixed cost = Total Fixed Cost (TFC) / Total output (Q)</a:t>
            </a:r>
          </a:p>
          <a:p>
            <a:endParaRPr lang="en-US" dirty="0"/>
          </a:p>
          <a:p>
            <a:endParaRPr lang="en-US" dirty="0"/>
          </a:p>
        </p:txBody>
      </p:sp>
    </p:spTree>
    <p:extLst>
      <p:ext uri="{BB962C8B-B14F-4D97-AF65-F5344CB8AC3E}">
        <p14:creationId xmlns:p14="http://schemas.microsoft.com/office/powerpoint/2010/main" val="31053510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39BF-6EDD-44A9-88E8-5A916ECA7900}"/>
              </a:ext>
            </a:extLst>
          </p:cNvPr>
          <p:cNvSpPr>
            <a:spLocks noGrp="1"/>
          </p:cNvSpPr>
          <p:nvPr>
            <p:ph type="title"/>
          </p:nvPr>
        </p:nvSpPr>
        <p:spPr/>
        <p:txBody>
          <a:bodyPr>
            <a:normAutofit fontScale="90000"/>
          </a:bodyPr>
          <a:lstStyle/>
          <a:p>
            <a:r>
              <a:rPr lang="en-US" dirty="0"/>
              <a:t>Marginal Cost</a:t>
            </a:r>
            <a:br>
              <a:rPr lang="en-US" dirty="0"/>
            </a:br>
            <a:endParaRPr lang="en-US" dirty="0"/>
          </a:p>
        </p:txBody>
      </p:sp>
      <p:sp>
        <p:nvSpPr>
          <p:cNvPr id="3" name="Content Placeholder 2">
            <a:extLst>
              <a:ext uri="{FF2B5EF4-FFF2-40B4-BE49-F238E27FC236}">
                <a16:creationId xmlns:a16="http://schemas.microsoft.com/office/drawing/2014/main" id="{F481A2DD-F606-4A8E-B888-AA0FC0E977BF}"/>
              </a:ext>
            </a:extLst>
          </p:cNvPr>
          <p:cNvSpPr>
            <a:spLocks noGrp="1"/>
          </p:cNvSpPr>
          <p:nvPr>
            <p:ph idx="1"/>
          </p:nvPr>
        </p:nvSpPr>
        <p:spPr/>
        <p:txBody>
          <a:bodyPr/>
          <a:lstStyle/>
          <a:p>
            <a:pPr algn="just"/>
            <a:r>
              <a:rPr lang="en-US" b="0" i="0" dirty="0">
                <a:solidFill>
                  <a:srgbClr val="2C2F34"/>
                </a:solidFill>
                <a:effectLst/>
                <a:latin typeface="-apple-system"/>
              </a:rPr>
              <a:t>The Marginal cost implies the additional cost incurred by a firm for producing one more unit of a commodity.</a:t>
            </a:r>
          </a:p>
          <a:p>
            <a:pPr algn="just"/>
            <a:r>
              <a:rPr lang="en-US" b="0" i="0" dirty="0">
                <a:solidFill>
                  <a:srgbClr val="2C2F34"/>
                </a:solidFill>
                <a:effectLst/>
                <a:latin typeface="-apple-system"/>
              </a:rPr>
              <a:t>Suppose a firm incurred Rs. 100 for producing 10 units. If it incurs Rs.107- for producing 11 units, the marginal cost of the 11th unit is Rs.7 (Rs. 107- Rs. 100= Rs. 7). </a:t>
            </a:r>
          </a:p>
          <a:p>
            <a:pPr algn="just"/>
            <a:r>
              <a:rPr lang="en-US" b="0" i="0" dirty="0">
                <a:solidFill>
                  <a:srgbClr val="2C2F34"/>
                </a:solidFill>
                <a:effectLst/>
                <a:latin typeface="-apple-system"/>
              </a:rPr>
              <a:t>Marginal cost is the change in the total cost due to the production of one more unit. </a:t>
            </a:r>
          </a:p>
          <a:p>
            <a:endParaRPr lang="en-US" dirty="0"/>
          </a:p>
          <a:p>
            <a:endParaRPr lang="en-US" dirty="0"/>
          </a:p>
        </p:txBody>
      </p:sp>
    </p:spTree>
    <p:extLst>
      <p:ext uri="{BB962C8B-B14F-4D97-AF65-F5344CB8AC3E}">
        <p14:creationId xmlns:p14="http://schemas.microsoft.com/office/powerpoint/2010/main" val="77774151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4F4D3-B772-4E62-9C5F-DF45FA791FC6}"/>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Marginal Cost</a:t>
            </a:r>
            <a:endParaRPr lang="en-US" dirty="0"/>
          </a:p>
        </p:txBody>
      </p:sp>
      <p:sp>
        <p:nvSpPr>
          <p:cNvPr id="3" name="Content Placeholder 2">
            <a:extLst>
              <a:ext uri="{FF2B5EF4-FFF2-40B4-BE49-F238E27FC236}">
                <a16:creationId xmlns:a16="http://schemas.microsoft.com/office/drawing/2014/main" id="{05913790-B738-4889-BE99-4239E3579DE8}"/>
              </a:ext>
            </a:extLst>
          </p:cNvPr>
          <p:cNvSpPr>
            <a:spLocks noGrp="1"/>
          </p:cNvSpPr>
          <p:nvPr>
            <p:ph idx="1"/>
          </p:nvPr>
        </p:nvSpPr>
        <p:spPr/>
        <p:txBody>
          <a:bodyPr/>
          <a:lstStyle/>
          <a:p>
            <a:pPr algn="l"/>
            <a:r>
              <a:rPr lang="en-US" b="0" i="0" dirty="0">
                <a:solidFill>
                  <a:srgbClr val="000000"/>
                </a:solidFill>
                <a:effectLst/>
                <a:latin typeface="Rubik"/>
              </a:rPr>
              <a:t>The marginal cost includes any cost incurred in producing the next unit of the product and hence is expressed as:</a:t>
            </a:r>
          </a:p>
          <a:p>
            <a:pPr algn="l"/>
            <a:r>
              <a:rPr lang="en-US" b="1" i="0" dirty="0">
                <a:solidFill>
                  <a:srgbClr val="000000"/>
                </a:solidFill>
                <a:effectLst/>
                <a:latin typeface="Rubik"/>
              </a:rPr>
              <a:t>MC = ΔTC/ ΔQ</a:t>
            </a:r>
            <a:endParaRPr lang="en-US" b="0" i="0" dirty="0">
              <a:solidFill>
                <a:srgbClr val="000000"/>
              </a:solidFill>
              <a:effectLst/>
              <a:latin typeface="Rubik"/>
            </a:endParaRPr>
          </a:p>
          <a:p>
            <a:pPr algn="l"/>
            <a:r>
              <a:rPr lang="en-US" b="0" i="0" dirty="0">
                <a:solidFill>
                  <a:srgbClr val="000000"/>
                </a:solidFill>
                <a:effectLst/>
                <a:latin typeface="Rubik"/>
              </a:rPr>
              <a:t>Where,</a:t>
            </a:r>
            <a:br>
              <a:rPr lang="en-US" b="0" i="0" dirty="0">
                <a:solidFill>
                  <a:srgbClr val="000000"/>
                </a:solidFill>
                <a:effectLst/>
                <a:latin typeface="Rubik"/>
              </a:rPr>
            </a:br>
            <a:r>
              <a:rPr lang="en-US" b="0" i="0" dirty="0">
                <a:solidFill>
                  <a:srgbClr val="000000"/>
                </a:solidFill>
                <a:effectLst/>
                <a:latin typeface="Rubik"/>
              </a:rPr>
              <a:t>ΔTC = Change in total cost, ΔQ = change in quantity</a:t>
            </a:r>
          </a:p>
          <a:p>
            <a:pPr algn="l"/>
            <a:r>
              <a:rPr lang="en-US" b="0" i="0" dirty="0">
                <a:solidFill>
                  <a:srgbClr val="000000"/>
                </a:solidFill>
                <a:effectLst/>
                <a:latin typeface="Rubik"/>
              </a:rPr>
              <a:t>The purpose of marginal cost is </a:t>
            </a:r>
            <a:r>
              <a:rPr lang="en-US" b="1" i="0" dirty="0">
                <a:solidFill>
                  <a:srgbClr val="000000"/>
                </a:solidFill>
                <a:effectLst/>
                <a:latin typeface="Rubik"/>
              </a:rPr>
              <a:t>to determine the point where the firm reaches its economies of scale. </a:t>
            </a:r>
          </a:p>
          <a:p>
            <a:endParaRPr lang="en-US" dirty="0"/>
          </a:p>
        </p:txBody>
      </p:sp>
    </p:spTree>
    <p:extLst>
      <p:ext uri="{BB962C8B-B14F-4D97-AF65-F5344CB8AC3E}">
        <p14:creationId xmlns:p14="http://schemas.microsoft.com/office/powerpoint/2010/main" val="34415846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778C5-FC58-4DFA-AA4D-F3F18A78814B}"/>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Marginal Cost</a:t>
            </a:r>
            <a:endParaRPr lang="en-US" dirty="0"/>
          </a:p>
        </p:txBody>
      </p:sp>
      <p:pic>
        <p:nvPicPr>
          <p:cNvPr id="4" name="Content Placeholder 3">
            <a:extLst>
              <a:ext uri="{FF2B5EF4-FFF2-40B4-BE49-F238E27FC236}">
                <a16:creationId xmlns:a16="http://schemas.microsoft.com/office/drawing/2014/main" id="{BCBA1B1B-EA69-41C3-9676-B65C01734FA4}"/>
              </a:ext>
            </a:extLst>
          </p:cNvPr>
          <p:cNvPicPr>
            <a:picLocks noGrp="1" noChangeAspect="1"/>
          </p:cNvPicPr>
          <p:nvPr>
            <p:ph idx="1"/>
          </p:nvPr>
        </p:nvPicPr>
        <p:blipFill>
          <a:blip r:embed="rId2"/>
          <a:stretch>
            <a:fillRect/>
          </a:stretch>
        </p:blipFill>
        <p:spPr>
          <a:xfrm>
            <a:off x="2690949" y="1489166"/>
            <a:ext cx="7145382" cy="4002790"/>
          </a:xfrm>
          <a:prstGeom prst="rect">
            <a:avLst/>
          </a:prstGeom>
        </p:spPr>
      </p:pic>
    </p:spTree>
    <p:extLst>
      <p:ext uri="{BB962C8B-B14F-4D97-AF65-F5344CB8AC3E}">
        <p14:creationId xmlns:p14="http://schemas.microsoft.com/office/powerpoint/2010/main" val="224104302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TFC100+VC 10 per unit</a:t>
            </a:r>
          </a:p>
          <a:p>
            <a:pPr marL="0" indent="0">
              <a:buNone/>
            </a:pPr>
            <a:r>
              <a:rPr lang="en-US" dirty="0"/>
              <a:t>5 units, AC=30</a:t>
            </a:r>
          </a:p>
          <a:p>
            <a:pPr marL="0" indent="0">
              <a:buNone/>
            </a:pPr>
            <a:r>
              <a:rPr lang="en-US" dirty="0"/>
              <a:t>10 units, AC=20</a:t>
            </a:r>
          </a:p>
          <a:p>
            <a:pPr marL="0" indent="0">
              <a:buNone/>
            </a:pPr>
            <a:endParaRPr lang="en-US" dirty="0"/>
          </a:p>
        </p:txBody>
      </p:sp>
    </p:spTree>
    <p:extLst>
      <p:ext uri="{BB962C8B-B14F-4D97-AF65-F5344CB8AC3E}">
        <p14:creationId xmlns:p14="http://schemas.microsoft.com/office/powerpoint/2010/main" val="297643305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5E9BA-AFE1-4AE9-89AE-B5D64324012C}"/>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Marginal Cost</a:t>
            </a:r>
            <a:endParaRPr lang="en-US" dirty="0"/>
          </a:p>
        </p:txBody>
      </p:sp>
      <p:sp>
        <p:nvSpPr>
          <p:cNvPr id="3" name="Content Placeholder 2">
            <a:extLst>
              <a:ext uri="{FF2B5EF4-FFF2-40B4-BE49-F238E27FC236}">
                <a16:creationId xmlns:a16="http://schemas.microsoft.com/office/drawing/2014/main" id="{228CFAE5-0892-44F8-8EC1-283D93450AC2}"/>
              </a:ext>
            </a:extLst>
          </p:cNvPr>
          <p:cNvSpPr>
            <a:spLocks noGrp="1"/>
          </p:cNvSpPr>
          <p:nvPr>
            <p:ph idx="1"/>
          </p:nvPr>
        </p:nvSpPr>
        <p:spPr/>
        <p:txBody>
          <a:bodyPr>
            <a:normAutofit fontScale="85000" lnSpcReduction="10000"/>
          </a:bodyPr>
          <a:lstStyle/>
          <a:p>
            <a:pPr algn="l"/>
            <a:r>
              <a:rPr lang="en-US" b="0" i="0" dirty="0">
                <a:solidFill>
                  <a:srgbClr val="000000"/>
                </a:solidFill>
                <a:effectLst/>
                <a:latin typeface="Rubik"/>
              </a:rPr>
              <a:t>The marginal cost curve shows that cost starts at higher point and declines with the increase in the production. The cost declines with the increase in the level of output because of the economies of scale. </a:t>
            </a:r>
          </a:p>
          <a:p>
            <a:pPr algn="l"/>
            <a:r>
              <a:rPr lang="en-US" b="0" i="0" dirty="0">
                <a:solidFill>
                  <a:srgbClr val="000000"/>
                </a:solidFill>
                <a:effectLst/>
                <a:latin typeface="Rubik"/>
              </a:rPr>
              <a:t>But after some time, the marginal costs starts rising, which shows, the cost increases with the increase in the level of output. This is because the curve reaches the point where diseconomies of scale persist. </a:t>
            </a:r>
          </a:p>
          <a:p>
            <a:pPr algn="l"/>
            <a:r>
              <a:rPr lang="en-US" b="0" i="0" dirty="0">
                <a:solidFill>
                  <a:srgbClr val="000000"/>
                </a:solidFill>
                <a:effectLst/>
                <a:latin typeface="Rubik"/>
              </a:rPr>
              <a:t>The costs rise because the resources from the current source might have completely exhausted and the firm purchases raw materials from other sources at a relatively higher price, hire more management, buy more machines and equipment, etc.</a:t>
            </a:r>
          </a:p>
          <a:p>
            <a:endParaRPr lang="en-US" dirty="0"/>
          </a:p>
        </p:txBody>
      </p:sp>
    </p:spTree>
    <p:extLst>
      <p:ext uri="{BB962C8B-B14F-4D97-AF65-F5344CB8AC3E}">
        <p14:creationId xmlns:p14="http://schemas.microsoft.com/office/powerpoint/2010/main" val="91208374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65A1-9D07-4D7F-ACF6-34D67D86B8F7}"/>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Marginal Cost</a:t>
            </a:r>
            <a:endParaRPr lang="en-US" dirty="0"/>
          </a:p>
        </p:txBody>
      </p:sp>
      <p:sp>
        <p:nvSpPr>
          <p:cNvPr id="3" name="Content Placeholder 2">
            <a:extLst>
              <a:ext uri="{FF2B5EF4-FFF2-40B4-BE49-F238E27FC236}">
                <a16:creationId xmlns:a16="http://schemas.microsoft.com/office/drawing/2014/main" id="{2EC92AC5-5638-456F-A82E-8D6F3E1BF334}"/>
              </a:ext>
            </a:extLst>
          </p:cNvPr>
          <p:cNvSpPr>
            <a:spLocks noGrp="1"/>
          </p:cNvSpPr>
          <p:nvPr>
            <p:ph idx="1"/>
          </p:nvPr>
        </p:nvSpPr>
        <p:spPr/>
        <p:txBody>
          <a:bodyPr/>
          <a:lstStyle/>
          <a:p>
            <a:r>
              <a:rPr lang="en-US" dirty="0"/>
              <a:t>Till the price charged for the product is greater than the marginal cost, the revenue will be greater than the added cost and the firm will continue its production. </a:t>
            </a:r>
          </a:p>
          <a:p>
            <a:r>
              <a:rPr lang="en-US" dirty="0"/>
              <a:t>But, as soon as the price charged is less than the marginal cost, the revenue declines, and it is not wise to expand production.</a:t>
            </a:r>
          </a:p>
        </p:txBody>
      </p:sp>
    </p:spTree>
    <p:extLst>
      <p:ext uri="{BB962C8B-B14F-4D97-AF65-F5344CB8AC3E}">
        <p14:creationId xmlns:p14="http://schemas.microsoft.com/office/powerpoint/2010/main" val="30610253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4CBC1-6CE9-4049-8560-2C39A4B22ABB}"/>
              </a:ext>
            </a:extLst>
          </p:cNvPr>
          <p:cNvSpPr>
            <a:spLocks noGrp="1"/>
          </p:cNvSpPr>
          <p:nvPr>
            <p:ph type="title"/>
          </p:nvPr>
        </p:nvSpPr>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Relationship between Average Cost and Marginal Cost</a:t>
            </a:r>
            <a:endParaRPr lang="en-US" dirty="0"/>
          </a:p>
        </p:txBody>
      </p:sp>
      <p:pic>
        <p:nvPicPr>
          <p:cNvPr id="4" name="Content Placeholder 3">
            <a:extLst>
              <a:ext uri="{FF2B5EF4-FFF2-40B4-BE49-F238E27FC236}">
                <a16:creationId xmlns:a16="http://schemas.microsoft.com/office/drawing/2014/main" id="{182492C1-2D24-49B1-B0EA-CCB6378C4507}"/>
              </a:ext>
            </a:extLst>
          </p:cNvPr>
          <p:cNvPicPr>
            <a:picLocks noGrp="1" noChangeAspect="1"/>
          </p:cNvPicPr>
          <p:nvPr>
            <p:ph idx="1"/>
          </p:nvPr>
        </p:nvPicPr>
        <p:blipFill>
          <a:blip r:embed="rId2"/>
          <a:stretch>
            <a:fillRect/>
          </a:stretch>
        </p:blipFill>
        <p:spPr>
          <a:xfrm>
            <a:off x="2138362" y="2048669"/>
            <a:ext cx="7915275" cy="3629025"/>
          </a:xfrm>
          <a:prstGeom prst="rect">
            <a:avLst/>
          </a:prstGeom>
        </p:spPr>
      </p:pic>
    </p:spTree>
    <p:extLst>
      <p:ext uri="{BB962C8B-B14F-4D97-AF65-F5344CB8AC3E}">
        <p14:creationId xmlns:p14="http://schemas.microsoft.com/office/powerpoint/2010/main" val="37130397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CB37-A22C-46F0-B789-187FF843FA0C}"/>
              </a:ext>
            </a:extLst>
          </p:cNvPr>
          <p:cNvSpPr>
            <a:spLocks noGrp="1"/>
          </p:cNvSpPr>
          <p:nvPr>
            <p:ph type="title"/>
          </p:nvPr>
        </p:nvSpPr>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Relationship between Average Cost and Marginal Cost</a:t>
            </a:r>
            <a:endParaRPr lang="en-US" dirty="0"/>
          </a:p>
        </p:txBody>
      </p:sp>
      <p:pic>
        <p:nvPicPr>
          <p:cNvPr id="4" name="Content Placeholder 3">
            <a:extLst>
              <a:ext uri="{FF2B5EF4-FFF2-40B4-BE49-F238E27FC236}">
                <a16:creationId xmlns:a16="http://schemas.microsoft.com/office/drawing/2014/main" id="{17FE65DF-B783-4967-AE10-6EC0CD1C9C0E}"/>
              </a:ext>
            </a:extLst>
          </p:cNvPr>
          <p:cNvPicPr>
            <a:picLocks noGrp="1" noChangeAspect="1"/>
          </p:cNvPicPr>
          <p:nvPr>
            <p:ph idx="1"/>
          </p:nvPr>
        </p:nvPicPr>
        <p:blipFill>
          <a:blip r:embed="rId2"/>
          <a:stretch>
            <a:fillRect/>
          </a:stretch>
        </p:blipFill>
        <p:spPr>
          <a:xfrm>
            <a:off x="4149785" y="1600200"/>
            <a:ext cx="3892429" cy="4525963"/>
          </a:xfrm>
          <a:prstGeom prst="rect">
            <a:avLst/>
          </a:prstGeom>
        </p:spPr>
      </p:pic>
    </p:spTree>
    <p:extLst>
      <p:ext uri="{BB962C8B-B14F-4D97-AF65-F5344CB8AC3E}">
        <p14:creationId xmlns:p14="http://schemas.microsoft.com/office/powerpoint/2010/main" val="276595925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E531B-3279-4A33-BFAA-FAB5C8AE19B1}"/>
              </a:ext>
            </a:extLst>
          </p:cNvPr>
          <p:cNvSpPr>
            <a:spLocks noGrp="1"/>
          </p:cNvSpPr>
          <p:nvPr>
            <p:ph type="title"/>
          </p:nvPr>
        </p:nvSpPr>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Relationship between Average Cost and Marginal Cost</a:t>
            </a:r>
            <a:endParaRPr lang="en-US" dirty="0"/>
          </a:p>
        </p:txBody>
      </p:sp>
      <p:sp>
        <p:nvSpPr>
          <p:cNvPr id="3" name="Content Placeholder 2">
            <a:extLst>
              <a:ext uri="{FF2B5EF4-FFF2-40B4-BE49-F238E27FC236}">
                <a16:creationId xmlns:a16="http://schemas.microsoft.com/office/drawing/2014/main" id="{7F2C6450-9B48-477E-91B5-8F54E05F268F}"/>
              </a:ext>
            </a:extLst>
          </p:cNvPr>
          <p:cNvSpPr>
            <a:spLocks noGrp="1"/>
          </p:cNvSpPr>
          <p:nvPr>
            <p:ph idx="1"/>
          </p:nvPr>
        </p:nvSpPr>
        <p:spPr/>
        <p:txBody>
          <a:bodyPr/>
          <a:lstStyle/>
          <a:p>
            <a:r>
              <a:rPr lang="en-US" dirty="0"/>
              <a:t>When MC is less than AC, AC falls with increase in output, i.e. till 3 units of output. AS MC becomes equal to AC, i.e. when MC curve intersects the AC curve, AC is constant and at its minimum point. </a:t>
            </a:r>
          </a:p>
          <a:p>
            <a:r>
              <a:rPr lang="en-US" dirty="0"/>
              <a:t>When MC is more than AC, AC rises with increase in output, i.e. from 5 units of output. Thereafter, both AC and MC rise, but MC increases at a faster rate as compared to AC. As a result MC </a:t>
            </a:r>
            <a:r>
              <a:rPr lang="en-US"/>
              <a:t>curve is </a:t>
            </a:r>
            <a:r>
              <a:rPr lang="en-US" dirty="0"/>
              <a:t>steeper than the AC curve.</a:t>
            </a:r>
          </a:p>
        </p:txBody>
      </p:sp>
    </p:spTree>
    <p:extLst>
      <p:ext uri="{BB962C8B-B14F-4D97-AF65-F5344CB8AC3E}">
        <p14:creationId xmlns:p14="http://schemas.microsoft.com/office/powerpoint/2010/main" val="7802071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75768-C02F-485F-9373-984A5000CEC3}"/>
              </a:ext>
            </a:extLst>
          </p:cNvPr>
          <p:cNvSpPr>
            <a:spLocks noGrp="1"/>
          </p:cNvSpPr>
          <p:nvPr>
            <p:ph type="title"/>
          </p:nvPr>
        </p:nvSpPr>
        <p:spPr/>
        <p:txBody>
          <a:bodyPr>
            <a:normAutofit fontScale="90000"/>
          </a:bodyPr>
          <a:lstStyle/>
          <a:p>
            <a:r>
              <a:rPr lang="en-US" b="0" i="0" dirty="0">
                <a:solidFill>
                  <a:srgbClr val="222222"/>
                </a:solidFill>
                <a:effectLst/>
                <a:latin typeface="Rubik"/>
              </a:rPr>
              <a:t>National Income</a:t>
            </a:r>
            <a:br>
              <a:rPr lang="en-US" b="0" i="0" dirty="0">
                <a:solidFill>
                  <a:srgbClr val="222222"/>
                </a:solidFill>
                <a:effectLst/>
                <a:latin typeface="Rubik"/>
              </a:rPr>
            </a:br>
            <a:endParaRPr lang="en-US" dirty="0"/>
          </a:p>
        </p:txBody>
      </p:sp>
      <p:sp>
        <p:nvSpPr>
          <p:cNvPr id="3" name="Content Placeholder 2">
            <a:extLst>
              <a:ext uri="{FF2B5EF4-FFF2-40B4-BE49-F238E27FC236}">
                <a16:creationId xmlns:a16="http://schemas.microsoft.com/office/drawing/2014/main" id="{8B448F97-DAD5-448F-B084-1B759F3EDCEC}"/>
              </a:ext>
            </a:extLst>
          </p:cNvPr>
          <p:cNvSpPr>
            <a:spLocks noGrp="1"/>
          </p:cNvSpPr>
          <p:nvPr>
            <p:ph idx="1"/>
          </p:nvPr>
        </p:nvSpPr>
        <p:spPr/>
        <p:txBody>
          <a:bodyPr>
            <a:normAutofit fontScale="85000" lnSpcReduction="20000"/>
          </a:bodyPr>
          <a:lstStyle/>
          <a:p>
            <a:pPr algn="just"/>
            <a:r>
              <a:rPr lang="en-US" b="1" i="0" dirty="0">
                <a:solidFill>
                  <a:srgbClr val="000000"/>
                </a:solidFill>
                <a:effectLst/>
                <a:latin typeface="Rubik"/>
              </a:rPr>
              <a:t>National Income</a:t>
            </a:r>
            <a:r>
              <a:rPr lang="en-US" b="0" i="0" dirty="0">
                <a:solidFill>
                  <a:srgbClr val="000000"/>
                </a:solidFill>
                <a:effectLst/>
                <a:latin typeface="Rubik"/>
              </a:rPr>
              <a:t> refers to the </a:t>
            </a:r>
            <a:r>
              <a:rPr lang="en-US" b="1" i="0" dirty="0">
                <a:solidFill>
                  <a:srgbClr val="000000"/>
                </a:solidFill>
                <a:effectLst/>
                <a:latin typeface="Rubik"/>
              </a:rPr>
              <a:t>money value</a:t>
            </a:r>
            <a:r>
              <a:rPr lang="en-US" b="0" i="0" dirty="0">
                <a:solidFill>
                  <a:srgbClr val="000000"/>
                </a:solidFill>
                <a:effectLst/>
                <a:latin typeface="Rubik"/>
              </a:rPr>
              <a:t> of all the goods and services produced in a country during a financial year.</a:t>
            </a:r>
          </a:p>
          <a:p>
            <a:pPr algn="just"/>
            <a:r>
              <a:rPr lang="en-US" b="0" i="0" dirty="0">
                <a:solidFill>
                  <a:srgbClr val="000000"/>
                </a:solidFill>
                <a:effectLst/>
                <a:latin typeface="Rubik"/>
              </a:rPr>
              <a:t>In other words, the final </a:t>
            </a:r>
            <a:r>
              <a:rPr lang="en-US" b="1" i="0" dirty="0">
                <a:solidFill>
                  <a:srgbClr val="000000"/>
                </a:solidFill>
                <a:effectLst/>
                <a:latin typeface="Rubik"/>
              </a:rPr>
              <a:t>outcome of all the economic activities</a:t>
            </a:r>
            <a:r>
              <a:rPr lang="en-US" b="0" i="0" dirty="0">
                <a:solidFill>
                  <a:srgbClr val="000000"/>
                </a:solidFill>
                <a:effectLst/>
                <a:latin typeface="Rubik"/>
              </a:rPr>
              <a:t> of the nation during a period of one year, valued in terms of </a:t>
            </a:r>
            <a:r>
              <a:rPr lang="en-US" b="1" i="0" dirty="0">
                <a:solidFill>
                  <a:srgbClr val="000000"/>
                </a:solidFill>
                <a:effectLst/>
                <a:latin typeface="Rubik"/>
              </a:rPr>
              <a:t>money</a:t>
            </a:r>
            <a:r>
              <a:rPr lang="en-US" b="0" i="0" dirty="0">
                <a:solidFill>
                  <a:srgbClr val="000000"/>
                </a:solidFill>
                <a:effectLst/>
                <a:latin typeface="Rubik"/>
              </a:rPr>
              <a:t> is called as a National income.</a:t>
            </a:r>
          </a:p>
          <a:p>
            <a:pPr algn="just"/>
            <a:r>
              <a:rPr lang="en-US" dirty="0">
                <a:solidFill>
                  <a:srgbClr val="000000"/>
                </a:solidFill>
                <a:latin typeface="Rubik"/>
              </a:rPr>
              <a:t>T</a:t>
            </a:r>
            <a:r>
              <a:rPr lang="en-US" b="0" i="0" dirty="0">
                <a:solidFill>
                  <a:srgbClr val="000000"/>
                </a:solidFill>
                <a:effectLst/>
                <a:latin typeface="Rubik"/>
              </a:rPr>
              <a:t>he </a:t>
            </a:r>
            <a:r>
              <a:rPr lang="en-US" b="1" i="0" dirty="0">
                <a:solidFill>
                  <a:srgbClr val="000000"/>
                </a:solidFill>
                <a:effectLst/>
                <a:latin typeface="Rubik"/>
              </a:rPr>
              <a:t>economic activities</a:t>
            </a:r>
            <a:r>
              <a:rPr lang="en-US" b="0" i="0" dirty="0">
                <a:solidFill>
                  <a:srgbClr val="000000"/>
                </a:solidFill>
                <a:effectLst/>
                <a:latin typeface="Rubik"/>
              </a:rPr>
              <a:t> include all the human activities that produce goods and services that can be </a:t>
            </a:r>
            <a:r>
              <a:rPr lang="en-US" b="1" i="0" dirty="0">
                <a:solidFill>
                  <a:srgbClr val="000000"/>
                </a:solidFill>
                <a:effectLst/>
                <a:latin typeface="Rubik"/>
              </a:rPr>
              <a:t>valued at market price.</a:t>
            </a:r>
            <a:r>
              <a:rPr lang="en-US" b="0" i="0" dirty="0">
                <a:solidFill>
                  <a:srgbClr val="000000"/>
                </a:solidFill>
                <a:effectLst/>
                <a:latin typeface="Rubik"/>
              </a:rPr>
              <a:t> </a:t>
            </a:r>
          </a:p>
          <a:p>
            <a:pPr algn="just"/>
            <a:r>
              <a:rPr lang="en-US" b="0" i="0" dirty="0">
                <a:solidFill>
                  <a:srgbClr val="000000"/>
                </a:solidFill>
                <a:effectLst/>
                <a:latin typeface="Rubik"/>
              </a:rPr>
              <a:t>Such as production by farmers, production by firms in different industrial sectors, production of goods and services by government, services produced by business intermediaries Viz. Wholesalers and retailers, banks and other financial institutions, educational institutes and professionals like doctors, teachers, lawyers, etc.</a:t>
            </a:r>
            <a:endParaRPr lang="en-US" dirty="0"/>
          </a:p>
        </p:txBody>
      </p:sp>
    </p:spTree>
    <p:extLst>
      <p:ext uri="{BB962C8B-B14F-4D97-AF65-F5344CB8AC3E}">
        <p14:creationId xmlns:p14="http://schemas.microsoft.com/office/powerpoint/2010/main" val="374345450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F6915-53FD-4A7C-A228-3929A29DE0D5}"/>
              </a:ext>
            </a:extLst>
          </p:cNvPr>
          <p:cNvSpPr>
            <a:spLocks noGrp="1"/>
          </p:cNvSpPr>
          <p:nvPr>
            <p:ph type="title"/>
          </p:nvPr>
        </p:nvSpPr>
        <p:spPr/>
        <p:txBody>
          <a:bodyPr/>
          <a:lstStyle/>
          <a:p>
            <a:r>
              <a:rPr lang="en-US" b="0" i="0" dirty="0">
                <a:solidFill>
                  <a:srgbClr val="222222"/>
                </a:solidFill>
                <a:effectLst/>
                <a:latin typeface="Rubik"/>
              </a:rPr>
              <a:t>National Income</a:t>
            </a:r>
            <a:endParaRPr lang="en-US" dirty="0"/>
          </a:p>
        </p:txBody>
      </p:sp>
      <p:sp>
        <p:nvSpPr>
          <p:cNvPr id="3" name="Content Placeholder 2">
            <a:extLst>
              <a:ext uri="{FF2B5EF4-FFF2-40B4-BE49-F238E27FC236}">
                <a16:creationId xmlns:a16="http://schemas.microsoft.com/office/drawing/2014/main" id="{A4BCFD52-E14B-4769-BD11-871D285BEBC7}"/>
              </a:ext>
            </a:extLst>
          </p:cNvPr>
          <p:cNvSpPr>
            <a:spLocks noGrp="1"/>
          </p:cNvSpPr>
          <p:nvPr>
            <p:ph idx="1"/>
          </p:nvPr>
        </p:nvSpPr>
        <p:spPr/>
        <p:txBody>
          <a:bodyPr>
            <a:normAutofit fontScale="92500" lnSpcReduction="10000"/>
          </a:bodyPr>
          <a:lstStyle/>
          <a:p>
            <a:pPr algn="just"/>
            <a:r>
              <a:rPr lang="en-US" b="0" i="0" dirty="0">
                <a:solidFill>
                  <a:srgbClr val="000000"/>
                </a:solidFill>
                <a:effectLst/>
                <a:latin typeface="Rubik"/>
              </a:rPr>
              <a:t>Also, there are </a:t>
            </a:r>
            <a:r>
              <a:rPr lang="en-US" b="1" i="0" dirty="0">
                <a:solidFill>
                  <a:srgbClr val="000000"/>
                </a:solidFill>
                <a:effectLst/>
                <a:latin typeface="Rubik"/>
              </a:rPr>
              <a:t>non-economic activities</a:t>
            </a:r>
            <a:r>
              <a:rPr lang="en-US" b="0" i="0" dirty="0">
                <a:solidFill>
                  <a:srgbClr val="000000"/>
                </a:solidFill>
                <a:effectLst/>
                <a:latin typeface="Rubik"/>
              </a:rPr>
              <a:t> that include the production of goods and services but </a:t>
            </a:r>
            <a:r>
              <a:rPr lang="en-US" b="1" i="0" dirty="0">
                <a:solidFill>
                  <a:srgbClr val="000000"/>
                </a:solidFill>
                <a:effectLst/>
                <a:latin typeface="Rubik"/>
              </a:rPr>
              <a:t>do not have any market value</a:t>
            </a:r>
            <a:r>
              <a:rPr lang="en-US" b="0" i="0" dirty="0">
                <a:solidFill>
                  <a:srgbClr val="000000"/>
                </a:solidFill>
                <a:effectLst/>
                <a:latin typeface="Rubik"/>
              </a:rPr>
              <a:t>. </a:t>
            </a:r>
          </a:p>
          <a:p>
            <a:pPr algn="just"/>
            <a:r>
              <a:rPr lang="en-US" b="0" i="0" dirty="0">
                <a:solidFill>
                  <a:srgbClr val="000000"/>
                </a:solidFill>
                <a:effectLst/>
                <a:latin typeface="Rubik"/>
              </a:rPr>
              <a:t>Such as hobbies, services of housewives, service to self, an exchange of mutual service between neighbors, etc.</a:t>
            </a:r>
          </a:p>
          <a:p>
            <a:pPr algn="just"/>
            <a:r>
              <a:rPr lang="en-US" b="0" i="0" dirty="0">
                <a:solidFill>
                  <a:srgbClr val="000000"/>
                </a:solidFill>
                <a:effectLst/>
                <a:latin typeface="Rubik"/>
              </a:rPr>
              <a:t>The National Income is a vital macroeconomic variable which determines the business level and economic status of the nation. </a:t>
            </a:r>
          </a:p>
          <a:p>
            <a:pPr algn="just"/>
            <a:r>
              <a:rPr lang="en-US" b="0" i="0" dirty="0">
                <a:solidFill>
                  <a:srgbClr val="000000"/>
                </a:solidFill>
                <a:effectLst/>
                <a:latin typeface="Rubik"/>
              </a:rPr>
              <a:t>The level of national income determines the </a:t>
            </a:r>
            <a:r>
              <a:rPr lang="en-US" b="1" i="0" dirty="0">
                <a:solidFill>
                  <a:srgbClr val="000000"/>
                </a:solidFill>
                <a:effectLst/>
                <a:latin typeface="Rubik"/>
              </a:rPr>
              <a:t>aggregate demand</a:t>
            </a:r>
            <a:r>
              <a:rPr lang="en-US" b="0" i="0" dirty="0">
                <a:solidFill>
                  <a:srgbClr val="000000"/>
                </a:solidFill>
                <a:effectLst/>
                <a:latin typeface="Rubik"/>
              </a:rPr>
              <a:t> of goods and services while its distribution defines the pattern of aggregate demand, i.e., what kinds of goods and services are produced and demanded.</a:t>
            </a:r>
            <a:endParaRPr lang="en-US" dirty="0"/>
          </a:p>
        </p:txBody>
      </p:sp>
    </p:spTree>
    <p:extLst>
      <p:ext uri="{BB962C8B-B14F-4D97-AF65-F5344CB8AC3E}">
        <p14:creationId xmlns:p14="http://schemas.microsoft.com/office/powerpoint/2010/main" val="289786247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5B2FF-B01A-412B-A8D7-3618D15B427E}"/>
              </a:ext>
            </a:extLst>
          </p:cNvPr>
          <p:cNvSpPr>
            <a:spLocks noGrp="1"/>
          </p:cNvSpPr>
          <p:nvPr>
            <p:ph type="title"/>
          </p:nvPr>
        </p:nvSpPr>
        <p:spPr/>
        <p:txBody>
          <a:bodyPr>
            <a:normAutofit fontScale="90000"/>
          </a:bodyPr>
          <a:lstStyle/>
          <a:p>
            <a:r>
              <a:rPr lang="en-US" b="0" i="0" dirty="0">
                <a:solidFill>
                  <a:srgbClr val="222222"/>
                </a:solidFill>
                <a:effectLst/>
                <a:latin typeface="Rubik"/>
              </a:rPr>
              <a:t>Measures of National Income</a:t>
            </a:r>
            <a:br>
              <a:rPr lang="en-US" b="0" i="0" dirty="0">
                <a:solidFill>
                  <a:srgbClr val="222222"/>
                </a:solidFill>
                <a:effectLst/>
                <a:latin typeface="Rubik"/>
              </a:rPr>
            </a:br>
            <a:endParaRPr lang="en-US" dirty="0"/>
          </a:p>
        </p:txBody>
      </p:sp>
      <p:sp>
        <p:nvSpPr>
          <p:cNvPr id="3" name="Content Placeholder 2">
            <a:extLst>
              <a:ext uri="{FF2B5EF4-FFF2-40B4-BE49-F238E27FC236}">
                <a16:creationId xmlns:a16="http://schemas.microsoft.com/office/drawing/2014/main" id="{B5C7D788-EA2C-4DEB-B884-8B1F9B9E505E}"/>
              </a:ext>
            </a:extLst>
          </p:cNvPr>
          <p:cNvSpPr>
            <a:spLocks noGrp="1"/>
          </p:cNvSpPr>
          <p:nvPr>
            <p:ph idx="1"/>
          </p:nvPr>
        </p:nvSpPr>
        <p:spPr/>
        <p:txBody>
          <a:bodyPr>
            <a:normAutofit/>
          </a:bodyPr>
          <a:lstStyle/>
          <a:p>
            <a:pPr algn="just"/>
            <a:r>
              <a:rPr lang="en-US" b="1" i="0" dirty="0">
                <a:solidFill>
                  <a:srgbClr val="2C2F34"/>
                </a:solidFill>
                <a:effectLst/>
                <a:latin typeface="-apple-system"/>
              </a:rPr>
              <a:t>Gross National Income </a:t>
            </a:r>
            <a:r>
              <a:rPr lang="en-US" b="0" i="0" dirty="0">
                <a:solidFill>
                  <a:srgbClr val="2C2F34"/>
                </a:solidFill>
                <a:effectLst/>
                <a:latin typeface="-apple-system"/>
              </a:rPr>
              <a:t>and</a:t>
            </a:r>
            <a:r>
              <a:rPr lang="en-US" b="1" i="0" dirty="0">
                <a:solidFill>
                  <a:srgbClr val="2C2F34"/>
                </a:solidFill>
                <a:effectLst/>
                <a:latin typeface="-apple-system"/>
              </a:rPr>
              <a:t> Net National Income</a:t>
            </a:r>
            <a:r>
              <a:rPr lang="en-US" b="0" i="0" dirty="0">
                <a:solidFill>
                  <a:srgbClr val="2C2F34"/>
                </a:solidFill>
                <a:effectLst/>
                <a:latin typeface="-apple-system"/>
              </a:rPr>
              <a:t>. Gross National Income refers to the sum of the money value of goods and services produced in an economy during a year. </a:t>
            </a:r>
          </a:p>
          <a:p>
            <a:pPr algn="just"/>
            <a:r>
              <a:rPr lang="en-US" b="0" i="0" dirty="0">
                <a:solidFill>
                  <a:srgbClr val="2C2F34"/>
                </a:solidFill>
                <a:effectLst/>
                <a:latin typeface="-apple-system"/>
              </a:rPr>
              <a:t>On the other hand, </a:t>
            </a:r>
            <a:r>
              <a:rPr lang="en-US" b="1" i="0" dirty="0">
                <a:solidFill>
                  <a:srgbClr val="2C2F34"/>
                </a:solidFill>
                <a:effectLst/>
                <a:latin typeface="-apple-system"/>
              </a:rPr>
              <a:t>Net National Income </a:t>
            </a:r>
            <a:r>
              <a:rPr lang="en-US" b="0" i="0" dirty="0">
                <a:solidFill>
                  <a:srgbClr val="2C2F34"/>
                </a:solidFill>
                <a:effectLst/>
                <a:latin typeface="-apple-system"/>
              </a:rPr>
              <a:t>refers to the sum of the real value of goods and services expressed in terms of output produced in an economy during a given year. </a:t>
            </a:r>
          </a:p>
          <a:p>
            <a:pPr algn="just"/>
            <a:r>
              <a:rPr lang="en-US" b="0" i="0" dirty="0">
                <a:solidFill>
                  <a:srgbClr val="2C2F34"/>
                </a:solidFill>
                <a:effectLst/>
                <a:latin typeface="-apple-system"/>
              </a:rPr>
              <a:t>Net National income is obtained by deducting the value of depreciation and replacement from the Gross National Income.</a:t>
            </a:r>
            <a:endParaRPr lang="en-US" dirty="0"/>
          </a:p>
        </p:txBody>
      </p:sp>
    </p:spTree>
    <p:extLst>
      <p:ext uri="{BB962C8B-B14F-4D97-AF65-F5344CB8AC3E}">
        <p14:creationId xmlns:p14="http://schemas.microsoft.com/office/powerpoint/2010/main" val="99066070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BB073-73ED-48C4-BFB8-706B2FA69F94}"/>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Gross and Net Concept</a:t>
            </a:r>
            <a:b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endParaRPr lang="en-US" dirty="0"/>
          </a:p>
        </p:txBody>
      </p:sp>
      <p:sp>
        <p:nvSpPr>
          <p:cNvPr id="3" name="Content Placeholder 2">
            <a:extLst>
              <a:ext uri="{FF2B5EF4-FFF2-40B4-BE49-F238E27FC236}">
                <a16:creationId xmlns:a16="http://schemas.microsoft.com/office/drawing/2014/main" id="{E1C60614-19AF-4E3C-907D-6C1D3FFC7C65}"/>
              </a:ext>
            </a:extLst>
          </p:cNvPr>
          <p:cNvSpPr>
            <a:spLocks noGrp="1"/>
          </p:cNvSpPr>
          <p:nvPr>
            <p:ph idx="1"/>
          </p:nvPr>
        </p:nvSpPr>
        <p:spPr/>
        <p:txBody>
          <a:bodyPr/>
          <a:lstStyle/>
          <a:p>
            <a:pPr algn="just"/>
            <a:r>
              <a:rPr lang="en-US" b="0" i="0" dirty="0">
                <a:solidFill>
                  <a:srgbClr val="000000"/>
                </a:solidFill>
                <a:effectLst/>
                <a:latin typeface="Arial" panose="020B0604020202020204" pitchFamily="34" charset="0"/>
              </a:rPr>
              <a:t>Gross emphasizes that no allowance for capital consumption has been made or that depreciation has yet to be deducted. </a:t>
            </a:r>
          </a:p>
          <a:p>
            <a:pPr algn="just"/>
            <a:r>
              <a:rPr lang="en-US" b="0" i="0" dirty="0">
                <a:solidFill>
                  <a:srgbClr val="000000"/>
                </a:solidFill>
                <a:effectLst/>
                <a:latin typeface="Arial" panose="020B0604020202020204" pitchFamily="34" charset="0"/>
              </a:rPr>
              <a:t>Net indicates that provision for capital consumption has already been made or that depreciation has already been deducted.</a:t>
            </a:r>
          </a:p>
          <a:p>
            <a:endParaRPr lang="en-US" dirty="0"/>
          </a:p>
        </p:txBody>
      </p:sp>
    </p:spTree>
    <p:extLst>
      <p:ext uri="{BB962C8B-B14F-4D97-AF65-F5344CB8AC3E}">
        <p14:creationId xmlns:p14="http://schemas.microsoft.com/office/powerpoint/2010/main" val="337724414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79014-0AE7-4070-9272-CA552B5D00CB}"/>
              </a:ext>
            </a:extLst>
          </p:cNvPr>
          <p:cNvSpPr>
            <a:spLocks noGrp="1"/>
          </p:cNvSpPr>
          <p:nvPr>
            <p:ph type="title"/>
          </p:nvPr>
        </p:nvSpPr>
        <p:spPr/>
        <p:txBody>
          <a:bodyPr>
            <a:normAutofit fontScale="90000"/>
          </a:bodyPr>
          <a:lstStyle/>
          <a:p>
            <a:r>
              <a:rPr lang="en-US" b="0" i="0" dirty="0">
                <a:solidFill>
                  <a:srgbClr val="222222"/>
                </a:solidFill>
                <a:effectLst/>
                <a:latin typeface="Rubik"/>
              </a:rPr>
              <a:t>Measures of National Income</a:t>
            </a:r>
            <a:br>
              <a:rPr lang="en-US" b="0" i="0" dirty="0">
                <a:solidFill>
                  <a:srgbClr val="222222"/>
                </a:solidFill>
                <a:effectLst/>
                <a:latin typeface="Rubik"/>
              </a:rPr>
            </a:br>
            <a:endParaRPr lang="en-US" dirty="0"/>
          </a:p>
        </p:txBody>
      </p:sp>
      <p:sp>
        <p:nvSpPr>
          <p:cNvPr id="3" name="Content Placeholder 2">
            <a:extLst>
              <a:ext uri="{FF2B5EF4-FFF2-40B4-BE49-F238E27FC236}">
                <a16:creationId xmlns:a16="http://schemas.microsoft.com/office/drawing/2014/main" id="{526FA91F-2158-498C-8AFA-D5DE67E384A8}"/>
              </a:ext>
            </a:extLst>
          </p:cNvPr>
          <p:cNvSpPr>
            <a:spLocks noGrp="1"/>
          </p:cNvSpPr>
          <p:nvPr>
            <p:ph idx="1"/>
          </p:nvPr>
        </p:nvSpPr>
        <p:spPr/>
        <p:txBody>
          <a:bodyPr>
            <a:normAutofit fontScale="77500" lnSpcReduction="20000"/>
          </a:bodyPr>
          <a:lstStyle/>
          <a:p>
            <a:pPr marL="0" indent="0" algn="l">
              <a:buNone/>
            </a:pPr>
            <a:r>
              <a:rPr lang="en-US" b="1" i="0" dirty="0">
                <a:solidFill>
                  <a:srgbClr val="222222"/>
                </a:solidFill>
                <a:effectLst/>
                <a:latin typeface="Raleway"/>
              </a:rPr>
              <a:t>Definition of GDP</a:t>
            </a:r>
          </a:p>
          <a:p>
            <a:pPr algn="just"/>
            <a:r>
              <a:rPr lang="en-US" b="0" i="0" dirty="0">
                <a:solidFill>
                  <a:srgbClr val="222222"/>
                </a:solidFill>
                <a:effectLst/>
                <a:latin typeface="Georgia" panose="02040502050405020303" pitchFamily="18" charset="0"/>
              </a:rPr>
              <a:t>Gross Domestic Product or GDP, is the value of everything that is produced within the country’s domestic territory in a particular financial year. </a:t>
            </a:r>
          </a:p>
          <a:p>
            <a:pPr algn="just"/>
            <a:r>
              <a:rPr lang="en-US" b="0" i="0" dirty="0">
                <a:solidFill>
                  <a:srgbClr val="222222"/>
                </a:solidFill>
                <a:effectLst/>
                <a:latin typeface="Georgia" panose="02040502050405020303" pitchFamily="18" charset="0"/>
              </a:rPr>
              <a:t>During the calculation of GDP, the primary focus is to capture the goods produced or services rendered within the nation’s border, whether the output is produced by the residents or non-residents of the country. The output produced outside the geographical boundaries of the country are not included in GDP.</a:t>
            </a:r>
          </a:p>
          <a:p>
            <a:pPr algn="just"/>
            <a:r>
              <a:rPr lang="en-US" b="0" i="0" dirty="0">
                <a:solidFill>
                  <a:srgbClr val="222222"/>
                </a:solidFill>
                <a:effectLst/>
                <a:latin typeface="Georgia" panose="02040502050405020303" pitchFamily="18" charset="0"/>
              </a:rPr>
              <a:t>GDP is an indicator of the size of the economy. It reflects the aggregate of consumption, investments, spending by the government and net export (export – import). In general, the GDP is calculated for one year.</a:t>
            </a:r>
          </a:p>
          <a:p>
            <a:pPr algn="just"/>
            <a:endParaRPr lang="en-US" dirty="0"/>
          </a:p>
        </p:txBody>
      </p:sp>
    </p:spTree>
    <p:extLst>
      <p:ext uri="{BB962C8B-B14F-4D97-AF65-F5344CB8AC3E}">
        <p14:creationId xmlns:p14="http://schemas.microsoft.com/office/powerpoint/2010/main" val="248480880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2DA83-153D-4812-955C-FC13CBC00194}"/>
              </a:ext>
            </a:extLst>
          </p:cNvPr>
          <p:cNvSpPr>
            <a:spLocks noGrp="1"/>
          </p:cNvSpPr>
          <p:nvPr>
            <p:ph type="title"/>
          </p:nvPr>
        </p:nvSpPr>
        <p:spPr/>
        <p:txBody>
          <a:bodyPr/>
          <a:lstStyle/>
          <a:p>
            <a:r>
              <a:rPr lang="en-US" dirty="0">
                <a:solidFill>
                  <a:srgbClr val="222222"/>
                </a:solidFill>
                <a:latin typeface="Rubik"/>
              </a:rPr>
              <a:t>Measures of National Income</a:t>
            </a:r>
            <a:endParaRPr lang="en-US" dirty="0"/>
          </a:p>
        </p:txBody>
      </p:sp>
      <p:sp>
        <p:nvSpPr>
          <p:cNvPr id="3" name="Content Placeholder 2">
            <a:extLst>
              <a:ext uri="{FF2B5EF4-FFF2-40B4-BE49-F238E27FC236}">
                <a16:creationId xmlns:a16="http://schemas.microsoft.com/office/drawing/2014/main" id="{A122E5CF-3704-4458-9E56-E04C5F42CBA3}"/>
              </a:ext>
            </a:extLst>
          </p:cNvPr>
          <p:cNvSpPr>
            <a:spLocks noGrp="1"/>
          </p:cNvSpPr>
          <p:nvPr>
            <p:ph idx="1"/>
          </p:nvPr>
        </p:nvSpPr>
        <p:spPr/>
        <p:txBody>
          <a:bodyPr/>
          <a:lstStyle/>
          <a:p>
            <a:pPr algn="just"/>
            <a:r>
              <a:rPr lang="en-US" b="0" i="0" dirty="0">
                <a:solidFill>
                  <a:srgbClr val="000000"/>
                </a:solidFill>
                <a:effectLst/>
                <a:latin typeface="Sohne"/>
              </a:rPr>
              <a:t>GDP, or gross domestic product, measures the total economic value of all final goods and services produced within a country’s borders during a specific period of time.</a:t>
            </a:r>
          </a:p>
          <a:p>
            <a:pPr algn="just"/>
            <a:r>
              <a:rPr lang="en-US" b="0" i="0" dirty="0">
                <a:solidFill>
                  <a:srgbClr val="000000"/>
                </a:solidFill>
                <a:effectLst/>
                <a:latin typeface="Sohne"/>
              </a:rPr>
              <a:t>GDP is </a:t>
            </a:r>
            <a:r>
              <a:rPr lang="en-US" dirty="0">
                <a:solidFill>
                  <a:srgbClr val="000000"/>
                </a:solidFill>
                <a:latin typeface="Sohne"/>
              </a:rPr>
              <a:t>a</a:t>
            </a:r>
            <a:r>
              <a:rPr lang="en-US" b="0" i="0" dirty="0">
                <a:solidFill>
                  <a:srgbClr val="000000"/>
                </a:solidFill>
                <a:effectLst/>
                <a:latin typeface="Sohne"/>
              </a:rPr>
              <a:t>n expression of an economy’s relative health—an increase in GDP indicates a country’s economy is growing and a decrease that it is shrinking.</a:t>
            </a:r>
            <a:endParaRPr lang="en-US" dirty="0"/>
          </a:p>
        </p:txBody>
      </p:sp>
    </p:spTree>
    <p:extLst>
      <p:ext uri="{BB962C8B-B14F-4D97-AF65-F5344CB8AC3E}">
        <p14:creationId xmlns:p14="http://schemas.microsoft.com/office/powerpoint/2010/main" val="85589433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E9DF-E2E8-4A21-AF92-549BD61E00EF}"/>
              </a:ext>
            </a:extLst>
          </p:cNvPr>
          <p:cNvSpPr>
            <a:spLocks noGrp="1"/>
          </p:cNvSpPr>
          <p:nvPr>
            <p:ph type="title"/>
          </p:nvPr>
        </p:nvSpPr>
        <p:spPr/>
        <p:txBody>
          <a:bodyPr/>
          <a:lstStyle/>
          <a:p>
            <a:r>
              <a:rPr lang="en-US" dirty="0">
                <a:solidFill>
                  <a:srgbClr val="000000"/>
                </a:solidFill>
                <a:latin typeface="Sohne"/>
              </a:rPr>
              <a:t>T</a:t>
            </a:r>
            <a:r>
              <a:rPr lang="en-US" b="0" i="0" dirty="0">
                <a:solidFill>
                  <a:srgbClr val="000000"/>
                </a:solidFill>
                <a:effectLst/>
                <a:latin typeface="Sohne"/>
              </a:rPr>
              <a:t>ypes of GDP</a:t>
            </a:r>
            <a:endParaRPr lang="en-US" dirty="0"/>
          </a:p>
        </p:txBody>
      </p:sp>
      <p:sp>
        <p:nvSpPr>
          <p:cNvPr id="3" name="Content Placeholder 2">
            <a:extLst>
              <a:ext uri="{FF2B5EF4-FFF2-40B4-BE49-F238E27FC236}">
                <a16:creationId xmlns:a16="http://schemas.microsoft.com/office/drawing/2014/main" id="{50D1F9F4-37EC-4AA3-8DAB-B2601D881260}"/>
              </a:ext>
            </a:extLst>
          </p:cNvPr>
          <p:cNvSpPr>
            <a:spLocks noGrp="1"/>
          </p:cNvSpPr>
          <p:nvPr>
            <p:ph idx="1"/>
          </p:nvPr>
        </p:nvSpPr>
        <p:spPr/>
        <p:txBody>
          <a:bodyPr>
            <a:normAutofit lnSpcReduction="10000"/>
          </a:bodyPr>
          <a:lstStyle/>
          <a:p>
            <a:pPr algn="just" fontAlgn="base">
              <a:buFont typeface="Arial" panose="020B0604020202020204" pitchFamily="34" charset="0"/>
              <a:buChar char="•"/>
            </a:pPr>
            <a:r>
              <a:rPr lang="en-US" b="0" i="0" dirty="0">
                <a:solidFill>
                  <a:srgbClr val="000000"/>
                </a:solidFill>
                <a:effectLst/>
                <a:latin typeface="Sohne"/>
              </a:rPr>
              <a:t>Nominal GDP is a country’s economic output at current total market value, meaning that it is often shaped as much by currency inflation as it is by increased economic output.</a:t>
            </a:r>
          </a:p>
          <a:p>
            <a:pPr algn="just" fontAlgn="base">
              <a:buFont typeface="Arial" panose="020B0604020202020204" pitchFamily="34" charset="0"/>
              <a:buChar char="•"/>
            </a:pPr>
            <a:r>
              <a:rPr lang="en-US" b="0" i="0" dirty="0">
                <a:solidFill>
                  <a:srgbClr val="000000"/>
                </a:solidFill>
                <a:effectLst/>
                <a:latin typeface="Sohne"/>
              </a:rPr>
              <a:t>Real GDP is a country’s output adjusted for inflation. By comparing the year under study to a base year and keeping prices consistent across both, economists isolate and then remove inflation from the equation, providing a more accurate picture of a nation’s actual increases or decreases in economic output.</a:t>
            </a:r>
          </a:p>
          <a:p>
            <a:endParaRPr lang="en-US" dirty="0"/>
          </a:p>
        </p:txBody>
      </p:sp>
    </p:spTree>
    <p:extLst>
      <p:ext uri="{BB962C8B-B14F-4D97-AF65-F5344CB8AC3E}">
        <p14:creationId xmlns:p14="http://schemas.microsoft.com/office/powerpoint/2010/main" val="301832970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F8A6-4BEC-4C2B-BA24-5EDB5414C26B}"/>
              </a:ext>
            </a:extLst>
          </p:cNvPr>
          <p:cNvSpPr>
            <a:spLocks noGrp="1"/>
          </p:cNvSpPr>
          <p:nvPr>
            <p:ph type="title"/>
          </p:nvPr>
        </p:nvSpPr>
        <p:spPr/>
        <p:txBody>
          <a:bodyPr>
            <a:normAutofit fontScale="90000"/>
          </a:bodyPr>
          <a:lstStyle/>
          <a:p>
            <a:r>
              <a:rPr lang="en-US" b="0" i="0" dirty="0">
                <a:solidFill>
                  <a:srgbClr val="222222"/>
                </a:solidFill>
                <a:effectLst/>
                <a:latin typeface="Rubik"/>
              </a:rPr>
              <a:t>Measures of National Income</a:t>
            </a:r>
            <a:br>
              <a:rPr lang="en-US" b="0" i="0" dirty="0">
                <a:solidFill>
                  <a:srgbClr val="222222"/>
                </a:solidFill>
                <a:effectLst/>
                <a:latin typeface="Rubik"/>
              </a:rPr>
            </a:br>
            <a:endParaRPr lang="en-US" dirty="0"/>
          </a:p>
        </p:txBody>
      </p:sp>
      <p:sp>
        <p:nvSpPr>
          <p:cNvPr id="3" name="Content Placeholder 2">
            <a:extLst>
              <a:ext uri="{FF2B5EF4-FFF2-40B4-BE49-F238E27FC236}">
                <a16:creationId xmlns:a16="http://schemas.microsoft.com/office/drawing/2014/main" id="{5851628D-6766-49E1-A50A-74B6C8B37B04}"/>
              </a:ext>
            </a:extLst>
          </p:cNvPr>
          <p:cNvSpPr>
            <a:spLocks noGrp="1"/>
          </p:cNvSpPr>
          <p:nvPr>
            <p:ph idx="1"/>
          </p:nvPr>
        </p:nvSpPr>
        <p:spPr/>
        <p:txBody>
          <a:bodyPr>
            <a:normAutofit lnSpcReduction="10000"/>
          </a:bodyPr>
          <a:lstStyle/>
          <a:p>
            <a:pPr marL="0" indent="0" algn="l">
              <a:buNone/>
            </a:pPr>
            <a:r>
              <a:rPr lang="en-US" b="1" i="0" dirty="0">
                <a:solidFill>
                  <a:srgbClr val="222222"/>
                </a:solidFill>
                <a:effectLst/>
                <a:latin typeface="Raleway"/>
              </a:rPr>
              <a:t>Definition of GNP</a:t>
            </a:r>
          </a:p>
          <a:p>
            <a:pPr algn="just"/>
            <a:r>
              <a:rPr lang="en-US" b="0" i="0" dirty="0">
                <a:solidFill>
                  <a:srgbClr val="222222"/>
                </a:solidFill>
                <a:effectLst/>
                <a:latin typeface="Georgia" panose="02040502050405020303" pitchFamily="18" charset="0"/>
              </a:rPr>
              <a:t>Gross National Product or GNP is the total market value of everything (i.e. goods and services) produced by the residents of the country during a particular accounting year.</a:t>
            </a:r>
          </a:p>
          <a:p>
            <a:pPr algn="just"/>
            <a:r>
              <a:rPr lang="en-US" b="0" i="0" dirty="0">
                <a:solidFill>
                  <a:srgbClr val="222222"/>
                </a:solidFill>
                <a:effectLst/>
                <a:latin typeface="Georgia" panose="02040502050405020303" pitchFamily="18" charset="0"/>
              </a:rPr>
              <a:t>GNP includes the income earned by the country’s nationals within and outside the country, but it excludes the income earned by the foreign citizens and companies within the country. </a:t>
            </a:r>
          </a:p>
          <a:p>
            <a:endParaRPr lang="en-US" dirty="0"/>
          </a:p>
        </p:txBody>
      </p:sp>
    </p:spTree>
    <p:extLst>
      <p:ext uri="{BB962C8B-B14F-4D97-AF65-F5344CB8AC3E}">
        <p14:creationId xmlns:p14="http://schemas.microsoft.com/office/powerpoint/2010/main" val="197861253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02E33-75F6-4540-8C62-6CFCB6327B58}"/>
              </a:ext>
            </a:extLst>
          </p:cNvPr>
          <p:cNvSpPr>
            <a:spLocks noGrp="1"/>
          </p:cNvSpPr>
          <p:nvPr>
            <p:ph type="title"/>
          </p:nvPr>
        </p:nvSpPr>
        <p:spPr/>
        <p:txBody>
          <a:bodyPr>
            <a:normAutofit fontScale="90000"/>
          </a:bodyPr>
          <a:lstStyle/>
          <a:p>
            <a:r>
              <a:rPr lang="en-US" b="0" i="0" dirty="0">
                <a:solidFill>
                  <a:srgbClr val="222222"/>
                </a:solidFill>
                <a:effectLst/>
                <a:latin typeface="Rubik"/>
              </a:rPr>
              <a:t>Measures of National Income</a:t>
            </a:r>
            <a:br>
              <a:rPr lang="en-US" b="0" i="0" dirty="0">
                <a:solidFill>
                  <a:srgbClr val="222222"/>
                </a:solidFill>
                <a:effectLst/>
                <a:latin typeface="Rubik"/>
              </a:rPr>
            </a:br>
            <a:endParaRPr lang="en-US" dirty="0"/>
          </a:p>
        </p:txBody>
      </p:sp>
      <p:sp>
        <p:nvSpPr>
          <p:cNvPr id="3" name="Content Placeholder 2">
            <a:extLst>
              <a:ext uri="{FF2B5EF4-FFF2-40B4-BE49-F238E27FC236}">
                <a16:creationId xmlns:a16="http://schemas.microsoft.com/office/drawing/2014/main" id="{509BCF4E-719D-45C3-AF9A-E470F5DF64D7}"/>
              </a:ext>
            </a:extLst>
          </p:cNvPr>
          <p:cNvSpPr>
            <a:spLocks noGrp="1"/>
          </p:cNvSpPr>
          <p:nvPr>
            <p:ph idx="1"/>
          </p:nvPr>
        </p:nvSpPr>
        <p:spPr/>
        <p:txBody>
          <a:bodyPr>
            <a:normAutofit lnSpcReduction="10000"/>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There are many enterprises which are operating outside the country. Many citizens of a country work in another country. The income earned by all these persons is known as factor income earned from abroad.</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Likewise, non-residents render factor services within the domestic territory of the country for which they earn income. When you deduct the factor income paid to non-residents for rendering services from factor income received from abroad, the result will be the Net Factor Income received from Abroad (NFIA).</a:t>
            </a:r>
          </a:p>
          <a:p>
            <a:endParaRPr lang="en-US" dirty="0"/>
          </a:p>
        </p:txBody>
      </p:sp>
    </p:spTree>
    <p:extLst>
      <p:ext uri="{BB962C8B-B14F-4D97-AF65-F5344CB8AC3E}">
        <p14:creationId xmlns:p14="http://schemas.microsoft.com/office/powerpoint/2010/main" val="396857522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FAECE-440E-467C-8C14-F8A8A36EE5EB}"/>
              </a:ext>
            </a:extLst>
          </p:cNvPr>
          <p:cNvSpPr>
            <a:spLocks noGrp="1"/>
          </p:cNvSpPr>
          <p:nvPr>
            <p:ph type="title"/>
          </p:nvPr>
        </p:nvSpPr>
        <p:spPr/>
        <p:txBody>
          <a:bodyPr>
            <a:normAutofit fontScale="90000"/>
          </a:bodyPr>
          <a:lstStyle/>
          <a:p>
            <a:pPr fontAlgn="base"/>
            <a:r>
              <a:rPr lang="en-US" b="0" i="0" dirty="0">
                <a:solidFill>
                  <a:srgbClr val="000000"/>
                </a:solidFill>
                <a:effectLst/>
                <a:latin typeface="Sohne"/>
              </a:rPr>
              <a:t>Difference Between GDP and GNP</a:t>
            </a:r>
            <a:br>
              <a:rPr lang="en-US" b="0" i="0" dirty="0">
                <a:solidFill>
                  <a:srgbClr val="000000"/>
                </a:solidFill>
                <a:effectLst/>
                <a:latin typeface="Sohne"/>
              </a:rPr>
            </a:br>
            <a:endParaRPr lang="en-US" dirty="0"/>
          </a:p>
        </p:txBody>
      </p:sp>
      <p:sp>
        <p:nvSpPr>
          <p:cNvPr id="3" name="Content Placeholder 2">
            <a:extLst>
              <a:ext uri="{FF2B5EF4-FFF2-40B4-BE49-F238E27FC236}">
                <a16:creationId xmlns:a16="http://schemas.microsoft.com/office/drawing/2014/main" id="{3E1EFC09-EFF6-4F39-B184-5F4368371163}"/>
              </a:ext>
            </a:extLst>
          </p:cNvPr>
          <p:cNvSpPr>
            <a:spLocks noGrp="1"/>
          </p:cNvSpPr>
          <p:nvPr>
            <p:ph idx="1"/>
          </p:nvPr>
        </p:nvSpPr>
        <p:spPr/>
        <p:txBody>
          <a:bodyPr>
            <a:normAutofit fontScale="85000" lnSpcReduction="20000"/>
          </a:bodyPr>
          <a:lstStyle/>
          <a:p>
            <a:pPr algn="just" fontAlgn="base"/>
            <a:r>
              <a:rPr lang="en-US" b="0" i="0" dirty="0">
                <a:solidFill>
                  <a:srgbClr val="000000"/>
                </a:solidFill>
                <a:effectLst/>
                <a:latin typeface="Sohne"/>
              </a:rPr>
              <a:t>In economics, </a:t>
            </a:r>
            <a:r>
              <a:rPr lang="en-US" b="0" i="0" u="sng" dirty="0">
                <a:solidFill>
                  <a:srgbClr val="000000"/>
                </a:solidFill>
                <a:effectLst/>
                <a:latin typeface="Sohne"/>
                <a:hlinkClick r:id="rId2"/>
              </a:rPr>
              <a:t>Gross Domestic Product (GDP)</a:t>
            </a:r>
            <a:r>
              <a:rPr lang="en-US" b="0" i="0" dirty="0">
                <a:solidFill>
                  <a:srgbClr val="000000"/>
                </a:solidFill>
                <a:effectLst/>
                <a:latin typeface="Sohne"/>
              </a:rPr>
              <a:t> is used to calculate the total value of the goods and services produced within a country’s borders, while Gross National Product (GNP) is used to calculate the total value of the goods and services produced by the residents of a country, no matter their location.</a:t>
            </a:r>
          </a:p>
          <a:p>
            <a:pPr algn="just" fontAlgn="base"/>
            <a:r>
              <a:rPr lang="en-US" b="0" i="0" dirty="0">
                <a:solidFill>
                  <a:srgbClr val="000000"/>
                </a:solidFill>
                <a:effectLst/>
                <a:latin typeface="Sohne"/>
              </a:rPr>
              <a:t>Essentially, GDP looks for the amount of economic activity within a nation’s economy, while GNP looks at the value of the economic activity generated by the nation’s people. </a:t>
            </a:r>
          </a:p>
          <a:p>
            <a:pPr algn="just" fontAlgn="base"/>
            <a:r>
              <a:rPr lang="en-US" b="0" i="0" dirty="0">
                <a:solidFill>
                  <a:srgbClr val="000000"/>
                </a:solidFill>
                <a:effectLst/>
                <a:latin typeface="Sohne"/>
              </a:rPr>
              <a:t>This means that GNP will count the economic activities of expatriates and other citizens outside the country’s borders but GDP will not, and that GDP will consider the activities of non-citizens within those borders, but GNP will not.</a:t>
            </a:r>
          </a:p>
          <a:p>
            <a:endParaRPr lang="en-US" dirty="0"/>
          </a:p>
        </p:txBody>
      </p:sp>
    </p:spTree>
    <p:extLst>
      <p:ext uri="{BB962C8B-B14F-4D97-AF65-F5344CB8AC3E}">
        <p14:creationId xmlns:p14="http://schemas.microsoft.com/office/powerpoint/2010/main" val="210334857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D5B8D-533D-4DA6-AFB1-74A3B66D5450}"/>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000000"/>
                </a:solidFill>
                <a:effectLst/>
                <a:uLnTx/>
                <a:uFillTx/>
                <a:latin typeface="Sohne"/>
                <a:ea typeface="+mj-ea"/>
                <a:cs typeface="+mj-cs"/>
              </a:rPr>
              <a:t>Difference Between GDP and GNP</a:t>
            </a:r>
            <a:endParaRPr lang="en-US" dirty="0"/>
          </a:p>
        </p:txBody>
      </p:sp>
      <p:sp>
        <p:nvSpPr>
          <p:cNvPr id="3" name="Content Placeholder 2">
            <a:extLst>
              <a:ext uri="{FF2B5EF4-FFF2-40B4-BE49-F238E27FC236}">
                <a16:creationId xmlns:a16="http://schemas.microsoft.com/office/drawing/2014/main" id="{A1744CAD-B046-4822-9B70-22BF4B2BD16B}"/>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b="0" i="0" dirty="0">
                <a:solidFill>
                  <a:srgbClr val="111111"/>
                </a:solidFill>
                <a:effectLst/>
                <a:latin typeface="SourceSansPro"/>
              </a:rPr>
              <a:t>Gross domestic product (GDP) and gross national product (GNP) are both widely used measures of a country's aggregate economic output.</a:t>
            </a:r>
          </a:p>
          <a:p>
            <a:pPr algn="just">
              <a:buFont typeface="Arial" panose="020B0604020202020204" pitchFamily="34" charset="0"/>
              <a:buChar char="•"/>
            </a:pPr>
            <a:r>
              <a:rPr lang="en-US" b="0" i="0" dirty="0">
                <a:solidFill>
                  <a:srgbClr val="111111"/>
                </a:solidFill>
                <a:effectLst/>
                <a:latin typeface="SourceSansPro"/>
              </a:rPr>
              <a:t>GDP measures the value of goods and services produced within a country's borders, by citizens and non-citizens alike.</a:t>
            </a:r>
          </a:p>
          <a:p>
            <a:pPr algn="just">
              <a:buFont typeface="Arial" panose="020B0604020202020204" pitchFamily="34" charset="0"/>
              <a:buChar char="•"/>
            </a:pPr>
            <a:r>
              <a:rPr lang="en-US" b="0" i="0" dirty="0">
                <a:solidFill>
                  <a:srgbClr val="111111"/>
                </a:solidFill>
                <a:effectLst/>
                <a:latin typeface="SourceSansPro"/>
              </a:rPr>
              <a:t>GNP measures the value of goods and services produced by only a country's citizens but both domestically and abroad.</a:t>
            </a:r>
          </a:p>
          <a:p>
            <a:pPr algn="just">
              <a:buFont typeface="Arial" panose="020B0604020202020204" pitchFamily="34" charset="0"/>
              <a:buChar char="•"/>
            </a:pPr>
            <a:r>
              <a:rPr lang="en-US" b="0" i="0" dirty="0">
                <a:solidFill>
                  <a:srgbClr val="111111"/>
                </a:solidFill>
                <a:effectLst/>
                <a:latin typeface="SourceSansPro"/>
              </a:rPr>
              <a:t>GDP is the most commonly used by global economies. The United States abandoned the use of GNP in 1991, adopting GDP as its measure to compare itself with other economies.</a:t>
            </a:r>
          </a:p>
          <a:p>
            <a:endParaRPr lang="en-US" dirty="0"/>
          </a:p>
        </p:txBody>
      </p:sp>
    </p:spTree>
    <p:extLst>
      <p:ext uri="{BB962C8B-B14F-4D97-AF65-F5344CB8AC3E}">
        <p14:creationId xmlns:p14="http://schemas.microsoft.com/office/powerpoint/2010/main" val="1036015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C63C-6F1E-4463-9538-B328DFDACF34}"/>
              </a:ext>
            </a:extLst>
          </p:cNvPr>
          <p:cNvSpPr>
            <a:spLocks noGrp="1"/>
          </p:cNvSpPr>
          <p:nvPr>
            <p:ph type="title"/>
          </p:nvPr>
        </p:nvSpPr>
        <p:spPr/>
        <p:txBody>
          <a:bodyPr>
            <a:normAutofit fontScale="90000"/>
          </a:bodyPr>
          <a:lstStyle/>
          <a:p>
            <a:r>
              <a:rPr lang="en-US" b="0" i="0" dirty="0">
                <a:solidFill>
                  <a:srgbClr val="666666"/>
                </a:solidFill>
                <a:effectLst/>
                <a:latin typeface="Rubik"/>
              </a:rPr>
              <a:t>Inflation</a:t>
            </a:r>
            <a:br>
              <a:rPr lang="en-US" b="0" i="0" dirty="0">
                <a:solidFill>
                  <a:srgbClr val="666666"/>
                </a:solidFill>
                <a:effectLst/>
                <a:latin typeface="Rubik"/>
              </a:rPr>
            </a:br>
            <a:endParaRPr lang="en-US" dirty="0"/>
          </a:p>
        </p:txBody>
      </p:sp>
      <p:sp>
        <p:nvSpPr>
          <p:cNvPr id="3" name="Content Placeholder 2">
            <a:extLst>
              <a:ext uri="{FF2B5EF4-FFF2-40B4-BE49-F238E27FC236}">
                <a16:creationId xmlns:a16="http://schemas.microsoft.com/office/drawing/2014/main" id="{20A970FB-CC48-4F10-9ECB-389BBAFF73E3}"/>
              </a:ext>
            </a:extLst>
          </p:cNvPr>
          <p:cNvSpPr>
            <a:spLocks noGrp="1"/>
          </p:cNvSpPr>
          <p:nvPr>
            <p:ph idx="1"/>
          </p:nvPr>
        </p:nvSpPr>
        <p:spPr/>
        <p:txBody>
          <a:bodyPr>
            <a:normAutofit fontScale="92500" lnSpcReduction="20000"/>
          </a:bodyPr>
          <a:lstStyle/>
          <a:p>
            <a:r>
              <a:rPr lang="en-US" dirty="0"/>
              <a:t>Inflation reduces the purchasing power of each unit of currency, which leads to increases in the prices of goods and services over time. </a:t>
            </a:r>
          </a:p>
          <a:p>
            <a:r>
              <a:rPr lang="en-US" dirty="0"/>
              <a:t>It's an economics term that means you have to spend more to fill your gas tank, buy a gallon of milk, or get a haircut. In other words, it increases your cost of living.</a:t>
            </a:r>
          </a:p>
          <a:p>
            <a:r>
              <a:rPr lang="en-US" b="0" i="0" dirty="0">
                <a:solidFill>
                  <a:srgbClr val="3A3A3A"/>
                </a:solidFill>
                <a:effectLst/>
                <a:latin typeface="Open Sans"/>
              </a:rPr>
              <a:t>The rate of inflation measures the annual percentage change in the general price level.</a:t>
            </a:r>
          </a:p>
          <a:p>
            <a:r>
              <a:rPr lang="en-US" dirty="0"/>
              <a:t>The percentage tells you how quickly prices rose during the period. For example, if the inflation rate for a gallon of gas is 2% per year, then gas prices will be 2% higher next year.</a:t>
            </a:r>
          </a:p>
        </p:txBody>
      </p:sp>
    </p:spTree>
    <p:extLst>
      <p:ext uri="{BB962C8B-B14F-4D97-AF65-F5344CB8AC3E}">
        <p14:creationId xmlns:p14="http://schemas.microsoft.com/office/powerpoint/2010/main" val="1483078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980CB-EABB-4FFE-BDEB-C11582B642F7}"/>
              </a:ext>
            </a:extLst>
          </p:cNvPr>
          <p:cNvSpPr>
            <a:spLocks noGrp="1"/>
          </p:cNvSpPr>
          <p:nvPr>
            <p:ph type="title"/>
          </p:nvPr>
        </p:nvSpPr>
        <p:spPr/>
        <p:txBody>
          <a:bodyPr>
            <a:normAutofit fontScale="90000"/>
          </a:bodyPr>
          <a:lstStyle/>
          <a:p>
            <a:r>
              <a:rPr lang="en-US" b="0" i="0" dirty="0">
                <a:solidFill>
                  <a:srgbClr val="666666"/>
                </a:solidFill>
                <a:effectLst/>
                <a:latin typeface="Rubik"/>
              </a:rPr>
              <a:t>Types of inflation</a:t>
            </a:r>
            <a:br>
              <a:rPr lang="en-US" b="0" i="0" dirty="0">
                <a:solidFill>
                  <a:srgbClr val="666666"/>
                </a:solidFill>
                <a:effectLst/>
                <a:latin typeface="Rubik"/>
              </a:rPr>
            </a:br>
            <a:br>
              <a:rPr lang="en-US" b="0" i="0" dirty="0">
                <a:solidFill>
                  <a:srgbClr val="666666"/>
                </a:solidFill>
                <a:effectLst/>
                <a:latin typeface="Rubik"/>
              </a:rPr>
            </a:br>
            <a:endParaRPr lang="en-US" dirty="0"/>
          </a:p>
        </p:txBody>
      </p:sp>
      <p:sp>
        <p:nvSpPr>
          <p:cNvPr id="3" name="Content Placeholder 2">
            <a:extLst>
              <a:ext uri="{FF2B5EF4-FFF2-40B4-BE49-F238E27FC236}">
                <a16:creationId xmlns:a16="http://schemas.microsoft.com/office/drawing/2014/main" id="{7DDAC443-A734-460C-A0D5-8E6FB4A7B33D}"/>
              </a:ext>
            </a:extLst>
          </p:cNvPr>
          <p:cNvSpPr>
            <a:spLocks noGrp="1"/>
          </p:cNvSpPr>
          <p:nvPr>
            <p:ph idx="1"/>
          </p:nvPr>
        </p:nvSpPr>
        <p:spPr/>
        <p:txBody>
          <a:bodyPr>
            <a:noAutofit/>
          </a:bodyPr>
          <a:lstStyle/>
          <a:p>
            <a:pPr marL="0" indent="0" algn="just">
              <a:buNone/>
            </a:pPr>
            <a:r>
              <a:rPr lang="en-US" sz="2800" b="1" dirty="0"/>
              <a:t>Cost-push inflation </a:t>
            </a:r>
            <a:r>
              <a:rPr lang="en-US" sz="2800" dirty="0"/>
              <a:t>– when a rise in prices is caused by a rise in the cost of production, such as higher oil prices.</a:t>
            </a:r>
          </a:p>
          <a:p>
            <a:pPr algn="just"/>
            <a:r>
              <a:rPr lang="en-US" sz="2800" dirty="0"/>
              <a:t> Cost-push inflation is a result of a decrease in aggregate supply. A decrease in aggregate supply is mainly caused by an increase in wage rate or an increase in the price of raw materials. Essentially, prices for consumers are pushed up by increases in the cost of production.</a:t>
            </a:r>
            <a:endParaRPr lang="en-US" sz="2800" b="1" dirty="0"/>
          </a:p>
          <a:p>
            <a:pPr marL="0" indent="0" algn="just">
              <a:buNone/>
            </a:pPr>
            <a:r>
              <a:rPr lang="en-US" sz="2800" b="1" dirty="0"/>
              <a:t>Demand-pull inflation </a:t>
            </a:r>
            <a:r>
              <a:rPr lang="en-US" sz="2800" dirty="0"/>
              <a:t>– when a rise in prices is caused by rising aggregate demand and firms pushing up prices due to the shortage of goods.</a:t>
            </a:r>
            <a:r>
              <a:rPr lang="en-US" sz="2800" b="0" i="0" dirty="0">
                <a:solidFill>
                  <a:srgbClr val="222222"/>
                </a:solidFill>
                <a:effectLst/>
              </a:rPr>
              <a:t> That's when demand outpaces supply for goods or services. Buyers want the product so much that they're willing to pay higher prices. </a:t>
            </a:r>
            <a:endParaRPr lang="en-US" sz="2800" dirty="0"/>
          </a:p>
        </p:txBody>
      </p:sp>
    </p:spTree>
    <p:extLst>
      <p:ext uri="{BB962C8B-B14F-4D97-AF65-F5344CB8AC3E}">
        <p14:creationId xmlns:p14="http://schemas.microsoft.com/office/powerpoint/2010/main" val="87058032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8" name="Picture 4"/>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1230"/>
          <a:stretch/>
        </p:blipFill>
        <p:spPr bwMode="auto">
          <a:xfrm>
            <a:off x="561703" y="248194"/>
            <a:ext cx="11051177" cy="6244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484998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8082-E342-444D-9A07-682E7434B815}"/>
              </a:ext>
            </a:extLst>
          </p:cNvPr>
          <p:cNvSpPr>
            <a:spLocks noGrp="1"/>
          </p:cNvSpPr>
          <p:nvPr>
            <p:ph type="title"/>
          </p:nvPr>
        </p:nvSpPr>
        <p:spPr/>
        <p:txBody>
          <a:bodyPr/>
          <a:lstStyle/>
          <a:p>
            <a:r>
              <a:rPr lang="en-US" b="0" i="0" dirty="0">
                <a:solidFill>
                  <a:srgbClr val="666666"/>
                </a:solidFill>
                <a:effectLst/>
                <a:latin typeface="Rubik"/>
              </a:rPr>
              <a:t>Types of inflation</a:t>
            </a:r>
            <a:endParaRPr lang="en-US" dirty="0"/>
          </a:p>
        </p:txBody>
      </p:sp>
      <p:sp>
        <p:nvSpPr>
          <p:cNvPr id="3" name="Content Placeholder 2">
            <a:extLst>
              <a:ext uri="{FF2B5EF4-FFF2-40B4-BE49-F238E27FC236}">
                <a16:creationId xmlns:a16="http://schemas.microsoft.com/office/drawing/2014/main" id="{F92F72DE-3F86-49C9-A20E-FC5F2871F366}"/>
              </a:ext>
            </a:extLst>
          </p:cNvPr>
          <p:cNvSpPr>
            <a:spLocks noGrp="1"/>
          </p:cNvSpPr>
          <p:nvPr>
            <p:ph idx="1"/>
          </p:nvPr>
        </p:nvSpPr>
        <p:spPr/>
        <p:txBody>
          <a:bodyPr/>
          <a:lstStyle/>
          <a:p>
            <a:pPr marL="0" indent="0">
              <a:buNone/>
            </a:pPr>
            <a:r>
              <a:rPr lang="en-US" b="1" dirty="0"/>
              <a:t>Built In Inflation</a:t>
            </a:r>
          </a:p>
          <a:p>
            <a:pPr algn="just"/>
            <a:r>
              <a:rPr lang="en-US" dirty="0"/>
              <a:t>Induced by adaptive expectations, often linked to the “price/wage spiral.</a:t>
            </a:r>
          </a:p>
          <a:p>
            <a:pPr algn="just"/>
            <a:r>
              <a:rPr lang="en-US" dirty="0"/>
              <a:t>It involves workers trying to keep their wages up with prices and then employers passing higher costs on to consumers as higher prices as part of a “vicious circle.</a:t>
            </a:r>
          </a:p>
        </p:txBody>
      </p:sp>
    </p:spTree>
    <p:extLst>
      <p:ext uri="{BB962C8B-B14F-4D97-AF65-F5344CB8AC3E}">
        <p14:creationId xmlns:p14="http://schemas.microsoft.com/office/powerpoint/2010/main" val="338897292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5E74-8316-4E2D-80B7-8D1FF48E6618}"/>
              </a:ext>
            </a:extLst>
          </p:cNvPr>
          <p:cNvSpPr>
            <a:spLocks noGrp="1"/>
          </p:cNvSpPr>
          <p:nvPr>
            <p:ph type="title"/>
          </p:nvPr>
        </p:nvSpPr>
        <p:spPr/>
        <p:txBody>
          <a:bodyPr>
            <a:normAutofit fontScale="90000"/>
          </a:bodyPr>
          <a:lstStyle/>
          <a:p>
            <a:pPr fontAlgn="base"/>
            <a:r>
              <a:rPr lang="en-US" b="0" i="0" dirty="0">
                <a:solidFill>
                  <a:srgbClr val="000000"/>
                </a:solidFill>
                <a:effectLst/>
                <a:latin typeface="Sohne"/>
              </a:rPr>
              <a:t>Deflation</a:t>
            </a:r>
            <a:br>
              <a:rPr lang="en-US" b="0" i="0" dirty="0">
                <a:solidFill>
                  <a:srgbClr val="000000"/>
                </a:solidFill>
                <a:effectLst/>
                <a:latin typeface="Sohne"/>
              </a:rPr>
            </a:br>
            <a:endParaRPr lang="en-US" dirty="0"/>
          </a:p>
        </p:txBody>
      </p:sp>
      <p:sp>
        <p:nvSpPr>
          <p:cNvPr id="3" name="Content Placeholder 2">
            <a:extLst>
              <a:ext uri="{FF2B5EF4-FFF2-40B4-BE49-F238E27FC236}">
                <a16:creationId xmlns:a16="http://schemas.microsoft.com/office/drawing/2014/main" id="{C2CAA652-6624-4B0B-8080-97D6F38006A1}"/>
              </a:ext>
            </a:extLst>
          </p:cNvPr>
          <p:cNvSpPr>
            <a:spLocks noGrp="1"/>
          </p:cNvSpPr>
          <p:nvPr>
            <p:ph idx="1"/>
          </p:nvPr>
        </p:nvSpPr>
        <p:spPr/>
        <p:txBody>
          <a:bodyPr>
            <a:normAutofit lnSpcReduction="10000"/>
          </a:bodyPr>
          <a:lstStyle/>
          <a:p>
            <a:pPr algn="l" fontAlgn="base"/>
            <a:r>
              <a:rPr lang="en-US" b="0" i="0" dirty="0">
                <a:solidFill>
                  <a:srgbClr val="000000"/>
                </a:solidFill>
                <a:effectLst/>
                <a:latin typeface="Sohne"/>
              </a:rPr>
              <a:t>Negative inflation—or deflation—occurs when the supply of goods or services is higher than the demand for those goods or services. This generally happens because the consumer base has less money or credit than they previously had. This results in falling prices for consumer goods and services.</a:t>
            </a:r>
          </a:p>
          <a:p>
            <a:pPr algn="l" fontAlgn="base"/>
            <a:r>
              <a:rPr lang="en-US" b="0" i="0" dirty="0">
                <a:solidFill>
                  <a:srgbClr val="000000"/>
                </a:solidFill>
                <a:effectLst/>
                <a:latin typeface="Sohne"/>
              </a:rPr>
              <a:t>A great example of deflation is the Great Depression(1930), during which the cost of goods fell because people did not have access to money or credit </a:t>
            </a:r>
            <a:r>
              <a:rPr lang="en-US" b="0" i="0" u="sng" dirty="0">
                <a:solidFill>
                  <a:srgbClr val="000000"/>
                </a:solidFill>
                <a:effectLst/>
                <a:latin typeface="Sohne"/>
                <a:hlinkClick r:id="rId2"/>
              </a:rPr>
              <a:t>due to unemployment</a:t>
            </a:r>
            <a:r>
              <a:rPr lang="en-US" b="0" i="0" dirty="0">
                <a:solidFill>
                  <a:srgbClr val="000000"/>
                </a:solidFill>
                <a:effectLst/>
                <a:latin typeface="Sohne"/>
              </a:rPr>
              <a:t>, the stock market crash, and other factors.</a:t>
            </a:r>
          </a:p>
          <a:p>
            <a:endParaRPr lang="en-US" u="sng" dirty="0"/>
          </a:p>
        </p:txBody>
      </p:sp>
    </p:spTree>
    <p:extLst>
      <p:ext uri="{BB962C8B-B14F-4D97-AF65-F5344CB8AC3E}">
        <p14:creationId xmlns:p14="http://schemas.microsoft.com/office/powerpoint/2010/main" val="267476107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4C8FE-8C73-4F2E-BCC5-7B4151B0408B}"/>
              </a:ext>
            </a:extLst>
          </p:cNvPr>
          <p:cNvSpPr>
            <a:spLocks noGrp="1"/>
          </p:cNvSpPr>
          <p:nvPr>
            <p:ph type="title"/>
          </p:nvPr>
        </p:nvSpPr>
        <p:spPr/>
        <p:txBody>
          <a:bodyPr/>
          <a:lstStyle/>
          <a:p>
            <a:r>
              <a:rPr lang="en-US" dirty="0"/>
              <a:t>Unemployment</a:t>
            </a:r>
          </a:p>
        </p:txBody>
      </p:sp>
      <p:sp>
        <p:nvSpPr>
          <p:cNvPr id="3" name="Content Placeholder 2">
            <a:extLst>
              <a:ext uri="{FF2B5EF4-FFF2-40B4-BE49-F238E27FC236}">
                <a16:creationId xmlns:a16="http://schemas.microsoft.com/office/drawing/2014/main" id="{00717C60-6547-412F-B010-B6FEAC551555}"/>
              </a:ext>
            </a:extLst>
          </p:cNvPr>
          <p:cNvSpPr>
            <a:spLocks noGrp="1"/>
          </p:cNvSpPr>
          <p:nvPr>
            <p:ph idx="1"/>
          </p:nvPr>
        </p:nvSpPr>
        <p:spPr/>
        <p:txBody>
          <a:bodyPr/>
          <a:lstStyle/>
          <a:p>
            <a:r>
              <a:rPr lang="en-US" b="0" i="0" dirty="0">
                <a:solidFill>
                  <a:srgbClr val="373D3F"/>
                </a:solidFill>
                <a:effectLst/>
                <a:latin typeface="proxima-nova"/>
              </a:rPr>
              <a:t>Unemployment, also referred to as joblessness, occurs when people are without work and actively seeking employment.</a:t>
            </a:r>
            <a:endParaRPr lang="en-US" dirty="0"/>
          </a:p>
          <a:p>
            <a:r>
              <a:rPr lang="en-US" b="0" i="0" dirty="0">
                <a:solidFill>
                  <a:srgbClr val="111111"/>
                </a:solidFill>
                <a:effectLst/>
                <a:latin typeface="SourceSansPro"/>
              </a:rPr>
              <a:t>The most frequent measure of unemployment is the unemployment rate, which is the number of unemployed people divided by the number of people in the labor force. </a:t>
            </a:r>
          </a:p>
          <a:p>
            <a:r>
              <a:rPr lang="en-US" dirty="0"/>
              <a:t>Unemployment is often used as a measure of the health of the economy. </a:t>
            </a:r>
          </a:p>
        </p:txBody>
      </p:sp>
    </p:spTree>
    <p:extLst>
      <p:ext uri="{BB962C8B-B14F-4D97-AF65-F5344CB8AC3E}">
        <p14:creationId xmlns:p14="http://schemas.microsoft.com/office/powerpoint/2010/main" val="15189188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3512-9A16-49C1-946D-4E4008BC3E64}"/>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Unemployment</a:t>
            </a:r>
            <a:endParaRPr lang="en-US" dirty="0"/>
          </a:p>
        </p:txBody>
      </p:sp>
      <p:sp>
        <p:nvSpPr>
          <p:cNvPr id="3" name="Content Placeholder 2">
            <a:extLst>
              <a:ext uri="{FF2B5EF4-FFF2-40B4-BE49-F238E27FC236}">
                <a16:creationId xmlns:a16="http://schemas.microsoft.com/office/drawing/2014/main" id="{592CEC7C-BD5C-46FF-BCE4-A6EA81E00F34}"/>
              </a:ext>
            </a:extLst>
          </p:cNvPr>
          <p:cNvSpPr>
            <a:spLocks noGrp="1"/>
          </p:cNvSpPr>
          <p:nvPr>
            <p:ph idx="1"/>
          </p:nvPr>
        </p:nvSpPr>
        <p:spPr/>
        <p:txBody>
          <a:bodyPr>
            <a:normAutofit fontScale="92500"/>
          </a:bodyPr>
          <a:lstStyle/>
          <a:p>
            <a:r>
              <a:rPr lang="en-US" dirty="0"/>
              <a:t>There are two ways of being unemployed, according to economists.</a:t>
            </a:r>
          </a:p>
          <a:p>
            <a:r>
              <a:rPr lang="en-US" b="1" dirty="0"/>
              <a:t>Voluntary unemployment </a:t>
            </a:r>
            <a:r>
              <a:rPr lang="en-US" dirty="0"/>
              <a:t>occurs when a person is jobless by choice, rather than due to a lack of employment opportunities. Quitting your job because you just won the lottery and no longer need a steady paycheck is one example of voluntary unemployment.</a:t>
            </a:r>
          </a:p>
          <a:p>
            <a:r>
              <a:rPr lang="en-US" b="1" dirty="0"/>
              <a:t>Involuntary unemployment </a:t>
            </a:r>
            <a:r>
              <a:rPr lang="en-US" dirty="0"/>
              <a:t>occurs when a person is willing and able to work for a given wage but cannot find a job. Corporate layoffs following a merger or a downturn in the economy are two examples of involuntary unemployment. </a:t>
            </a:r>
          </a:p>
        </p:txBody>
      </p:sp>
    </p:spTree>
    <p:extLst>
      <p:ext uri="{BB962C8B-B14F-4D97-AF65-F5344CB8AC3E}">
        <p14:creationId xmlns:p14="http://schemas.microsoft.com/office/powerpoint/2010/main" val="208721102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CF15-05D2-43D9-8A2A-D029AA040D29}"/>
              </a:ext>
            </a:extLst>
          </p:cNvPr>
          <p:cNvSpPr>
            <a:spLocks noGrp="1"/>
          </p:cNvSpPr>
          <p:nvPr>
            <p:ph type="title"/>
          </p:nvPr>
        </p:nvSpPr>
        <p:spPr/>
        <p:txBody>
          <a:bodyPr/>
          <a:lstStyle/>
          <a:p>
            <a:r>
              <a:rPr lang="en-US" dirty="0"/>
              <a:t>Unemployment</a:t>
            </a:r>
          </a:p>
        </p:txBody>
      </p:sp>
      <p:sp>
        <p:nvSpPr>
          <p:cNvPr id="3" name="Content Placeholder 2">
            <a:extLst>
              <a:ext uri="{FF2B5EF4-FFF2-40B4-BE49-F238E27FC236}">
                <a16:creationId xmlns:a16="http://schemas.microsoft.com/office/drawing/2014/main" id="{21F0BD13-3D73-458C-9FC2-E192A2957E73}"/>
              </a:ext>
            </a:extLst>
          </p:cNvPr>
          <p:cNvSpPr>
            <a:spLocks noGrp="1"/>
          </p:cNvSpPr>
          <p:nvPr>
            <p:ph idx="1"/>
          </p:nvPr>
        </p:nvSpPr>
        <p:spPr/>
        <p:txBody>
          <a:bodyPr>
            <a:normAutofit fontScale="92500" lnSpcReduction="10000"/>
          </a:bodyPr>
          <a:lstStyle/>
          <a:p>
            <a:pPr marL="0" indent="0" algn="l" fontAlgn="base">
              <a:buNone/>
            </a:pPr>
            <a:r>
              <a:rPr lang="en-US" b="1" i="0" dirty="0">
                <a:solidFill>
                  <a:srgbClr val="282828"/>
                </a:solidFill>
                <a:effectLst/>
                <a:latin typeface="Lato"/>
              </a:rPr>
              <a:t>Cyclical Unemployment</a:t>
            </a:r>
          </a:p>
          <a:p>
            <a:pPr algn="l" fontAlgn="base">
              <a:buFont typeface="Arial" panose="020B0604020202020204" pitchFamily="34" charset="0"/>
              <a:buChar char="•"/>
            </a:pPr>
            <a:r>
              <a:rPr lang="en-US" b="1" i="0" dirty="0">
                <a:solidFill>
                  <a:srgbClr val="373D3F"/>
                </a:solidFill>
                <a:effectLst/>
                <a:latin typeface="proxima-nova"/>
              </a:rPr>
              <a:t>Cyclical unemployment</a:t>
            </a:r>
            <a:r>
              <a:rPr lang="en-US" b="0" i="0" dirty="0">
                <a:solidFill>
                  <a:srgbClr val="373D3F"/>
                </a:solidFill>
                <a:effectLst/>
                <a:latin typeface="proxima-nova"/>
              </a:rPr>
              <a:t> occurs when there is not enough aggregate demand in the economy to provide jobs for everyone who wants to work. Demand for goods and services decreases, less production is needed, and fewer workers are needed.</a:t>
            </a:r>
          </a:p>
          <a:p>
            <a:pPr algn="l" fontAlgn="base"/>
            <a:r>
              <a:rPr lang="en-US" b="0" i="0" dirty="0">
                <a:solidFill>
                  <a:srgbClr val="282828"/>
                </a:solidFill>
                <a:effectLst/>
                <a:latin typeface="Georgia" panose="02040502050405020303" pitchFamily="18" charset="0"/>
              </a:rPr>
              <a:t>when demand for goods and services declines and companies respond by cutting production and laying off workers, unemployment occurs.</a:t>
            </a:r>
          </a:p>
          <a:p>
            <a:pPr algn="l" fontAlgn="base"/>
            <a:r>
              <a:rPr lang="en-US" b="0" i="0" dirty="0">
                <a:solidFill>
                  <a:srgbClr val="282828"/>
                </a:solidFill>
                <a:effectLst/>
                <a:latin typeface="Georgia" panose="02040502050405020303" pitchFamily="18" charset="0"/>
              </a:rPr>
              <a:t>When this happens, there are more workers than there are available jobs. Unemployment is the inevitable result.</a:t>
            </a:r>
          </a:p>
          <a:p>
            <a:endParaRPr lang="en-US" dirty="0"/>
          </a:p>
        </p:txBody>
      </p:sp>
    </p:spTree>
    <p:extLst>
      <p:ext uri="{BB962C8B-B14F-4D97-AF65-F5344CB8AC3E}">
        <p14:creationId xmlns:p14="http://schemas.microsoft.com/office/powerpoint/2010/main" val="252733572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CE87B-F7E7-4E19-8A5D-34A1B3BDEF86}"/>
              </a:ext>
            </a:extLst>
          </p:cNvPr>
          <p:cNvSpPr>
            <a:spLocks noGrp="1"/>
          </p:cNvSpPr>
          <p:nvPr>
            <p:ph type="title"/>
          </p:nvPr>
        </p:nvSpPr>
        <p:spPr/>
        <p:txBody>
          <a:bodyPr/>
          <a:lstStyle/>
          <a:p>
            <a:r>
              <a:rPr lang="en-US" dirty="0"/>
              <a:t>Unemployment</a:t>
            </a:r>
          </a:p>
        </p:txBody>
      </p:sp>
      <p:sp>
        <p:nvSpPr>
          <p:cNvPr id="3" name="Content Placeholder 2">
            <a:extLst>
              <a:ext uri="{FF2B5EF4-FFF2-40B4-BE49-F238E27FC236}">
                <a16:creationId xmlns:a16="http://schemas.microsoft.com/office/drawing/2014/main" id="{B324D204-24BF-4A5C-BCCD-F5A7E233A3CB}"/>
              </a:ext>
            </a:extLst>
          </p:cNvPr>
          <p:cNvSpPr>
            <a:spLocks noGrp="1"/>
          </p:cNvSpPr>
          <p:nvPr>
            <p:ph idx="1"/>
          </p:nvPr>
        </p:nvSpPr>
        <p:spPr/>
        <p:txBody>
          <a:bodyPr>
            <a:normAutofit lnSpcReduction="10000"/>
          </a:bodyPr>
          <a:lstStyle/>
          <a:p>
            <a:pPr marL="0" indent="0">
              <a:buNone/>
            </a:pPr>
            <a:r>
              <a:rPr lang="en-US" b="1" dirty="0"/>
              <a:t>Structural unemployment</a:t>
            </a:r>
          </a:p>
          <a:p>
            <a:r>
              <a:rPr lang="en-US" dirty="0"/>
              <a:t>Structural unemployment happens when the skills set of a worker does not match the skills demands of the jobs available or if the worker cannot reach the geographical location of a job. </a:t>
            </a:r>
          </a:p>
          <a:p>
            <a:r>
              <a:rPr lang="en-US" dirty="0"/>
              <a:t>An example is a teaching job that requires relocation to China, but the worker cannot secure a work visa due to certain visa restrictions. </a:t>
            </a:r>
          </a:p>
          <a:p>
            <a:r>
              <a:rPr lang="en-US" dirty="0"/>
              <a:t>It can also happen when there is a technological change in the organization, such as workflow automation.</a:t>
            </a:r>
          </a:p>
        </p:txBody>
      </p:sp>
    </p:spTree>
    <p:extLst>
      <p:ext uri="{BB962C8B-B14F-4D97-AF65-F5344CB8AC3E}">
        <p14:creationId xmlns:p14="http://schemas.microsoft.com/office/powerpoint/2010/main" val="242360622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E77A1-7910-41AE-A467-1AC057B880E7}"/>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Unemployment</a:t>
            </a:r>
            <a:endParaRPr lang="en-US" dirty="0"/>
          </a:p>
        </p:txBody>
      </p:sp>
      <p:sp>
        <p:nvSpPr>
          <p:cNvPr id="3" name="Content Placeholder 2">
            <a:extLst>
              <a:ext uri="{FF2B5EF4-FFF2-40B4-BE49-F238E27FC236}">
                <a16:creationId xmlns:a16="http://schemas.microsoft.com/office/drawing/2014/main" id="{8DE1F1E1-B47B-457D-9B9E-08B45F7C3AA5}"/>
              </a:ext>
            </a:extLst>
          </p:cNvPr>
          <p:cNvSpPr>
            <a:spLocks noGrp="1"/>
          </p:cNvSpPr>
          <p:nvPr>
            <p:ph idx="1"/>
          </p:nvPr>
        </p:nvSpPr>
        <p:spPr/>
        <p:txBody>
          <a:bodyPr/>
          <a:lstStyle/>
          <a:p>
            <a:pPr marL="0" indent="0">
              <a:buNone/>
            </a:pPr>
            <a:r>
              <a:rPr lang="en-US" b="1" i="0" dirty="0">
                <a:solidFill>
                  <a:srgbClr val="373D3F"/>
                </a:solidFill>
                <a:effectLst/>
                <a:latin typeface="proxima-nova"/>
              </a:rPr>
              <a:t>Frictional unemployment</a:t>
            </a:r>
          </a:p>
          <a:p>
            <a:r>
              <a:rPr lang="en-US" i="0" dirty="0">
                <a:solidFill>
                  <a:srgbClr val="373D3F"/>
                </a:solidFill>
                <a:effectLst/>
                <a:latin typeface="proxima-nova"/>
              </a:rPr>
              <a:t>Frictional unemployment occurs as a result of people voluntarily changing jobs within an economy. </a:t>
            </a:r>
          </a:p>
          <a:p>
            <a:r>
              <a:rPr lang="en-US" i="0" dirty="0">
                <a:solidFill>
                  <a:srgbClr val="373D3F"/>
                </a:solidFill>
                <a:effectLst/>
                <a:latin typeface="proxima-nova"/>
              </a:rPr>
              <a:t>After a person leaves a company, it naturally takes time to find another job. Similarly, graduates just entering the workforce add to frictional unemployment. Usually, this type of unemployment is short-lived. </a:t>
            </a:r>
            <a:endParaRPr lang="en-US" dirty="0"/>
          </a:p>
        </p:txBody>
      </p:sp>
    </p:spTree>
    <p:extLst>
      <p:ext uri="{BB962C8B-B14F-4D97-AF65-F5344CB8AC3E}">
        <p14:creationId xmlns:p14="http://schemas.microsoft.com/office/powerpoint/2010/main" val="192863627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BD9A1-9A5F-4CB0-B3FF-B8E3E1D0B4E9}"/>
              </a:ext>
            </a:extLst>
          </p:cNvPr>
          <p:cNvSpPr>
            <a:spLocks noGrp="1"/>
          </p:cNvSpPr>
          <p:nvPr>
            <p:ph type="title"/>
          </p:nvPr>
        </p:nvSpPr>
        <p:spPr/>
        <p:txBody>
          <a:bodyPr>
            <a:normAutofit fontScale="90000"/>
          </a:bodyPr>
          <a:lstStyle/>
          <a:p>
            <a:r>
              <a:rPr lang="en-US" b="0" i="0" dirty="0">
                <a:solidFill>
                  <a:srgbClr val="111111"/>
                </a:solidFill>
                <a:effectLst/>
                <a:latin typeface="SourceSansPro"/>
              </a:rPr>
              <a:t>Cost-Benefit Analysis</a:t>
            </a:r>
            <a:br>
              <a:rPr lang="en-US" b="0" i="0" dirty="0">
                <a:solidFill>
                  <a:srgbClr val="111111"/>
                </a:solidFill>
                <a:effectLst/>
                <a:latin typeface="SourceSansPro"/>
              </a:rPr>
            </a:br>
            <a:endParaRPr lang="en-US" dirty="0"/>
          </a:p>
        </p:txBody>
      </p:sp>
      <p:sp>
        <p:nvSpPr>
          <p:cNvPr id="3" name="Content Placeholder 2">
            <a:extLst>
              <a:ext uri="{FF2B5EF4-FFF2-40B4-BE49-F238E27FC236}">
                <a16:creationId xmlns:a16="http://schemas.microsoft.com/office/drawing/2014/main" id="{A3B8DD48-6281-4F21-A880-C58224D857B5}"/>
              </a:ext>
            </a:extLst>
          </p:cNvPr>
          <p:cNvSpPr>
            <a:spLocks noGrp="1"/>
          </p:cNvSpPr>
          <p:nvPr>
            <p:ph idx="1"/>
          </p:nvPr>
        </p:nvSpPr>
        <p:spPr/>
        <p:txBody>
          <a:bodyPr>
            <a:normAutofit fontScale="92500" lnSpcReduction="20000"/>
          </a:bodyPr>
          <a:lstStyle/>
          <a:p>
            <a:r>
              <a:rPr lang="en-US" b="0" i="0" dirty="0">
                <a:solidFill>
                  <a:srgbClr val="111111"/>
                </a:solidFill>
                <a:effectLst/>
                <a:latin typeface="SourceSansPro"/>
              </a:rPr>
              <a:t>A cost-benefit analysis is a process businesses use to analyze decisions.</a:t>
            </a:r>
          </a:p>
          <a:p>
            <a:r>
              <a:rPr lang="en-US" b="0" i="0" dirty="0">
                <a:solidFill>
                  <a:srgbClr val="111111"/>
                </a:solidFill>
                <a:effectLst/>
                <a:latin typeface="SourceSansPro"/>
              </a:rPr>
              <a:t>The business or analyst sums the benefits of a situation or action and then subtracts the costs associated with taking that action.</a:t>
            </a:r>
          </a:p>
          <a:p>
            <a:r>
              <a:rPr lang="en-US" b="0" i="0" dirty="0">
                <a:solidFill>
                  <a:srgbClr val="111111"/>
                </a:solidFill>
                <a:effectLst/>
                <a:latin typeface="SourceSansPro"/>
              </a:rPr>
              <a:t>Before building a new plant or taking on a new project, prudent managers conduct a cost-benefit analysis to evaluate all the potential costs and revenues that a company might generate from the project. </a:t>
            </a:r>
          </a:p>
          <a:p>
            <a:r>
              <a:rPr lang="en-US" b="0" i="0" dirty="0">
                <a:solidFill>
                  <a:srgbClr val="111111"/>
                </a:solidFill>
                <a:effectLst/>
                <a:latin typeface="SourceSansPro"/>
              </a:rPr>
              <a:t>The outcome of the analysis will determine whether the project is financially feasible or if the company should pursue another project.</a:t>
            </a:r>
            <a:endParaRPr lang="en-US" dirty="0"/>
          </a:p>
        </p:txBody>
      </p:sp>
    </p:spTree>
    <p:extLst>
      <p:ext uri="{BB962C8B-B14F-4D97-AF65-F5344CB8AC3E}">
        <p14:creationId xmlns:p14="http://schemas.microsoft.com/office/powerpoint/2010/main" val="368328359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7AA0F-FC56-48D5-A3CD-DF8A1938C75C}"/>
              </a:ext>
            </a:extLst>
          </p:cNvPr>
          <p:cNvSpPr>
            <a:spLocks noGrp="1"/>
          </p:cNvSpPr>
          <p:nvPr>
            <p:ph type="title"/>
          </p:nvPr>
        </p:nvSpPr>
        <p:spPr/>
        <p:txBody>
          <a:bodyPr>
            <a:normAutofit fontScale="90000"/>
          </a:bodyPr>
          <a:lstStyle/>
          <a:p>
            <a:r>
              <a:rPr lang="en-US" b="0" i="0" dirty="0">
                <a:solidFill>
                  <a:srgbClr val="111111"/>
                </a:solidFill>
                <a:effectLst/>
                <a:latin typeface="SourceSansPro"/>
              </a:rPr>
              <a:t>Cost-Benefit Analysis</a:t>
            </a:r>
            <a:br>
              <a:rPr lang="en-US" b="0" i="0" dirty="0">
                <a:solidFill>
                  <a:srgbClr val="111111"/>
                </a:solidFill>
                <a:effectLst/>
                <a:latin typeface="SourceSansPro"/>
              </a:rPr>
            </a:br>
            <a:endParaRPr lang="en-US" dirty="0"/>
          </a:p>
        </p:txBody>
      </p:sp>
      <p:sp>
        <p:nvSpPr>
          <p:cNvPr id="3" name="Content Placeholder 2">
            <a:extLst>
              <a:ext uri="{FF2B5EF4-FFF2-40B4-BE49-F238E27FC236}">
                <a16:creationId xmlns:a16="http://schemas.microsoft.com/office/drawing/2014/main" id="{2A74DACC-9B2C-451E-AC81-6BB1ECC50D8E}"/>
              </a:ext>
            </a:extLst>
          </p:cNvPr>
          <p:cNvSpPr>
            <a:spLocks noGrp="1"/>
          </p:cNvSpPr>
          <p:nvPr>
            <p:ph idx="1"/>
          </p:nvPr>
        </p:nvSpPr>
        <p:spPr/>
        <p:txBody>
          <a:bodyPr>
            <a:normAutofit/>
          </a:bodyPr>
          <a:lstStyle/>
          <a:p>
            <a:pPr algn="l">
              <a:buFont typeface="Arial" panose="020B0604020202020204" pitchFamily="34" charset="0"/>
              <a:buChar char="•"/>
            </a:pPr>
            <a:r>
              <a:rPr lang="en-US" sz="3200" b="0" i="0" dirty="0">
                <a:solidFill>
                  <a:srgbClr val="111111"/>
                </a:solidFill>
                <a:effectLst/>
                <a:latin typeface="Times New Roman" panose="02020603050405020304" pitchFamily="18" charset="0"/>
                <a:cs typeface="Times New Roman" panose="02020603050405020304" pitchFamily="18" charset="0"/>
              </a:rPr>
              <a:t>A CBA involves measurable financial metrics such as revenue earned or costs saved as a result of the decision to pursue a project.</a:t>
            </a:r>
          </a:p>
          <a:p>
            <a:pPr algn="l">
              <a:buFont typeface="Arial" panose="020B0604020202020204" pitchFamily="34" charset="0"/>
              <a:buChar char="•"/>
            </a:pPr>
            <a:r>
              <a:rPr lang="en-US" sz="3200" b="0" i="0" dirty="0">
                <a:solidFill>
                  <a:srgbClr val="111111"/>
                </a:solidFill>
                <a:effectLst/>
                <a:latin typeface="Times New Roman" panose="02020603050405020304" pitchFamily="18" charset="0"/>
                <a:cs typeface="Times New Roman" panose="02020603050405020304" pitchFamily="18" charset="0"/>
              </a:rPr>
              <a:t>A CBA can also include intangible benefits and costs or effects from a decision such as employee morale(</a:t>
            </a:r>
            <a:r>
              <a:rPr lang="en-US" sz="3200" b="0" i="0" dirty="0">
                <a:solidFill>
                  <a:srgbClr val="525252"/>
                </a:solidFill>
                <a:effectLst/>
                <a:latin typeface="Times New Roman" panose="02020603050405020304" pitchFamily="18" charset="0"/>
                <a:cs typeface="Times New Roman" panose="02020603050405020304" pitchFamily="18" charset="0"/>
              </a:rPr>
              <a:t>Morale is a collection of employee’s feelings, attitudes and sentiments towards their jobs, superiors and organization. It reflects a state of mind of people) </a:t>
            </a:r>
            <a:r>
              <a:rPr lang="en-US" sz="3200" b="0" i="0" dirty="0">
                <a:solidFill>
                  <a:srgbClr val="111111"/>
                </a:solidFill>
                <a:effectLst/>
                <a:latin typeface="Times New Roman" panose="02020603050405020304" pitchFamily="18" charset="0"/>
                <a:cs typeface="Times New Roman" panose="02020603050405020304" pitchFamily="18" charset="0"/>
              </a:rPr>
              <a:t>and customer satisfaction.</a:t>
            </a:r>
          </a:p>
          <a:p>
            <a:endParaRPr lang="en-US" dirty="0"/>
          </a:p>
        </p:txBody>
      </p:sp>
    </p:spTree>
    <p:extLst>
      <p:ext uri="{BB962C8B-B14F-4D97-AF65-F5344CB8AC3E}">
        <p14:creationId xmlns:p14="http://schemas.microsoft.com/office/powerpoint/2010/main" val="354069191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EE39E-BCE3-4ADA-8E9C-F04E8E5EFF87}"/>
              </a:ext>
            </a:extLst>
          </p:cNvPr>
          <p:cNvSpPr>
            <a:spLocks noGrp="1"/>
          </p:cNvSpPr>
          <p:nvPr>
            <p:ph type="title"/>
          </p:nvPr>
        </p:nvSpPr>
        <p:spPr/>
        <p:txBody>
          <a:bodyPr>
            <a:normAutofit fontScale="90000"/>
          </a:bodyPr>
          <a:lstStyle/>
          <a:p>
            <a:r>
              <a:rPr lang="en-US" b="0" i="0" dirty="0">
                <a:solidFill>
                  <a:srgbClr val="111111"/>
                </a:solidFill>
                <a:effectLst/>
                <a:latin typeface="SourceSansPro"/>
              </a:rPr>
              <a:t>Cost-Benefit Analysis Process</a:t>
            </a:r>
            <a:br>
              <a:rPr lang="en-US" b="0" i="0" dirty="0">
                <a:solidFill>
                  <a:srgbClr val="111111"/>
                </a:solidFill>
                <a:effectLst/>
                <a:latin typeface="SourceSansPro"/>
              </a:rPr>
            </a:br>
            <a:endParaRPr lang="en-US" dirty="0"/>
          </a:p>
        </p:txBody>
      </p:sp>
      <p:sp>
        <p:nvSpPr>
          <p:cNvPr id="3" name="Content Placeholder 2">
            <a:extLst>
              <a:ext uri="{FF2B5EF4-FFF2-40B4-BE49-F238E27FC236}">
                <a16:creationId xmlns:a16="http://schemas.microsoft.com/office/drawing/2014/main" id="{D39DDBD1-F83D-4F38-A234-07C2EE77A70A}"/>
              </a:ext>
            </a:extLst>
          </p:cNvPr>
          <p:cNvSpPr>
            <a:spLocks noGrp="1"/>
          </p:cNvSpPr>
          <p:nvPr>
            <p:ph idx="1"/>
          </p:nvPr>
        </p:nvSpPr>
        <p:spPr/>
        <p:txBody>
          <a:bodyPr>
            <a:normAutofit fontScale="77500" lnSpcReduction="20000"/>
          </a:bodyPr>
          <a:lstStyle/>
          <a:p>
            <a:pPr marL="0" indent="0">
              <a:buNone/>
            </a:pPr>
            <a:r>
              <a:rPr lang="en-US" dirty="0"/>
              <a:t>The costs involved in a CBA might include the following:</a:t>
            </a:r>
          </a:p>
          <a:p>
            <a:endParaRPr lang="en-US" dirty="0"/>
          </a:p>
          <a:p>
            <a:r>
              <a:rPr lang="en-US" dirty="0"/>
              <a:t>Direct costs would be direct labor involved in manufacturing, inventory, raw materials, manufacturing expenses.</a:t>
            </a:r>
          </a:p>
          <a:p>
            <a:r>
              <a:rPr lang="en-US" dirty="0"/>
              <a:t>Indirect costs might include electricity, overhead costs from management, rent, utilities.</a:t>
            </a:r>
          </a:p>
          <a:p>
            <a:r>
              <a:rPr lang="en-US" dirty="0"/>
              <a:t>Intangible costs of a decision, such as the impact on customers, employees, or delivery times.</a:t>
            </a:r>
          </a:p>
          <a:p>
            <a:r>
              <a:rPr lang="en-US" dirty="0"/>
              <a:t>Opportunity costs such as alternative investments, or buying a plant versus building one.</a:t>
            </a:r>
          </a:p>
          <a:p>
            <a:r>
              <a:rPr lang="en-US" dirty="0"/>
              <a:t>Cost of potential risks such as regulatory risks, competition, and environmental impacts.</a:t>
            </a:r>
          </a:p>
        </p:txBody>
      </p:sp>
    </p:spTree>
    <p:extLst>
      <p:ext uri="{BB962C8B-B14F-4D97-AF65-F5344CB8AC3E}">
        <p14:creationId xmlns:p14="http://schemas.microsoft.com/office/powerpoint/2010/main" val="217070284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2CA4C-EFC1-49ED-B4A8-752D2A75C78B}"/>
              </a:ext>
            </a:extLst>
          </p:cNvPr>
          <p:cNvSpPr>
            <a:spLocks noGrp="1"/>
          </p:cNvSpPr>
          <p:nvPr>
            <p:ph type="title"/>
          </p:nvPr>
        </p:nvSpPr>
        <p:spPr/>
        <p:txBody>
          <a:bodyPr>
            <a:normAutofit fontScale="90000"/>
          </a:bodyPr>
          <a:lstStyle/>
          <a:p>
            <a:r>
              <a:rPr lang="en-US" b="0" i="0" dirty="0">
                <a:solidFill>
                  <a:srgbClr val="111111"/>
                </a:solidFill>
                <a:effectLst/>
                <a:latin typeface="SourceSansPro"/>
              </a:rPr>
              <a:t>Cost-Benefit Analysis Process</a:t>
            </a:r>
            <a:br>
              <a:rPr lang="en-US" b="0" i="0" dirty="0">
                <a:solidFill>
                  <a:srgbClr val="111111"/>
                </a:solidFill>
                <a:effectLst/>
                <a:latin typeface="SourceSansPro"/>
              </a:rPr>
            </a:br>
            <a:endParaRPr lang="en-US" dirty="0"/>
          </a:p>
        </p:txBody>
      </p:sp>
      <p:sp>
        <p:nvSpPr>
          <p:cNvPr id="3" name="Content Placeholder 2">
            <a:extLst>
              <a:ext uri="{FF2B5EF4-FFF2-40B4-BE49-F238E27FC236}">
                <a16:creationId xmlns:a16="http://schemas.microsoft.com/office/drawing/2014/main" id="{90E09736-C3E1-468A-8CC0-1A6D08991453}"/>
              </a:ext>
            </a:extLst>
          </p:cNvPr>
          <p:cNvSpPr>
            <a:spLocks noGrp="1"/>
          </p:cNvSpPr>
          <p:nvPr>
            <p:ph idx="1"/>
          </p:nvPr>
        </p:nvSpPr>
        <p:spPr/>
        <p:txBody>
          <a:bodyPr>
            <a:normAutofit lnSpcReduction="10000"/>
          </a:bodyPr>
          <a:lstStyle/>
          <a:p>
            <a:pPr marL="0" indent="0">
              <a:buNone/>
            </a:pPr>
            <a:r>
              <a:rPr lang="en-US" dirty="0"/>
              <a:t>Benefits might include the following:</a:t>
            </a:r>
          </a:p>
          <a:p>
            <a:endParaRPr lang="en-US" dirty="0"/>
          </a:p>
          <a:p>
            <a:r>
              <a:rPr lang="en-US" dirty="0"/>
              <a:t>Revenue and sales increases from increased production or new product.</a:t>
            </a:r>
          </a:p>
          <a:p>
            <a:r>
              <a:rPr lang="en-US" dirty="0"/>
              <a:t>Intangible benefits, such as improved employee safety and morale, as well as customer satisfaction due to enhanced product offerings or faster delivery.</a:t>
            </a:r>
          </a:p>
          <a:p>
            <a:r>
              <a:rPr lang="en-US" dirty="0"/>
              <a:t>Competitive advantage or market share gained as a result of the decision.</a:t>
            </a:r>
          </a:p>
        </p:txBody>
      </p:sp>
    </p:spTree>
    <p:extLst>
      <p:ext uri="{BB962C8B-B14F-4D97-AF65-F5344CB8AC3E}">
        <p14:creationId xmlns:p14="http://schemas.microsoft.com/office/powerpoint/2010/main" val="250464872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26DD2-E63F-4796-A59A-0AF42CFA2F25}"/>
              </a:ext>
            </a:extLst>
          </p:cNvPr>
          <p:cNvSpPr>
            <a:spLocks noGrp="1"/>
          </p:cNvSpPr>
          <p:nvPr>
            <p:ph type="title"/>
          </p:nvPr>
        </p:nvSpPr>
        <p:spPr/>
        <p:txBody>
          <a:bodyPr>
            <a:normAutofit fontScale="90000"/>
          </a:bodyPr>
          <a:lstStyle/>
          <a:p>
            <a:r>
              <a:rPr lang="en-US" b="1" i="0" dirty="0">
                <a:solidFill>
                  <a:srgbClr val="000000"/>
                </a:solidFill>
                <a:effectLst/>
                <a:latin typeface="Nunito Sans"/>
              </a:rPr>
              <a:t>Payback Period</a:t>
            </a:r>
            <a:br>
              <a:rPr lang="en-US" b="1" i="0" dirty="0">
                <a:solidFill>
                  <a:srgbClr val="000000"/>
                </a:solidFill>
                <a:effectLst/>
                <a:latin typeface="Nunito Sans"/>
              </a:rPr>
            </a:br>
            <a:endParaRPr lang="en-US" dirty="0"/>
          </a:p>
        </p:txBody>
      </p:sp>
      <p:sp>
        <p:nvSpPr>
          <p:cNvPr id="3" name="Content Placeholder 2">
            <a:extLst>
              <a:ext uri="{FF2B5EF4-FFF2-40B4-BE49-F238E27FC236}">
                <a16:creationId xmlns:a16="http://schemas.microsoft.com/office/drawing/2014/main" id="{E9FDFCAE-DC4F-477C-ADFD-70C02AB5A574}"/>
              </a:ext>
            </a:extLst>
          </p:cNvPr>
          <p:cNvSpPr>
            <a:spLocks noGrp="1"/>
          </p:cNvSpPr>
          <p:nvPr>
            <p:ph idx="1"/>
          </p:nvPr>
        </p:nvSpPr>
        <p:spPr/>
        <p:txBody>
          <a:bodyPr>
            <a:normAutofit fontScale="92500"/>
          </a:bodyPr>
          <a:lstStyle/>
          <a:p>
            <a:r>
              <a:rPr lang="en-US" dirty="0"/>
              <a:t>The payback period refers to the amount of time it takes to recover the cost of an investment. Simply put, the payback period is the length of time an investment reaches a break-even point.</a:t>
            </a:r>
          </a:p>
          <a:p>
            <a:r>
              <a:rPr lang="en-US" dirty="0"/>
              <a:t>The desirability of an investment is directly related to its payback period. </a:t>
            </a:r>
          </a:p>
          <a:p>
            <a:r>
              <a:rPr lang="en-US" dirty="0"/>
              <a:t>Shorter paybacks mean more attractive investments, while longer payback periods are less desirable.</a:t>
            </a:r>
          </a:p>
          <a:p>
            <a:r>
              <a:rPr lang="en-US" dirty="0"/>
              <a:t>The payback period is calculated by dividing the amount of the investment by the annual cash flow.</a:t>
            </a:r>
          </a:p>
        </p:txBody>
      </p:sp>
    </p:spTree>
    <p:extLst>
      <p:ext uri="{BB962C8B-B14F-4D97-AF65-F5344CB8AC3E}">
        <p14:creationId xmlns:p14="http://schemas.microsoft.com/office/powerpoint/2010/main" val="39712888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D6C6-2DD1-40E7-8752-01CB567F44FD}"/>
              </a:ext>
            </a:extLst>
          </p:cNvPr>
          <p:cNvSpPr>
            <a:spLocks noGrp="1"/>
          </p:cNvSpPr>
          <p:nvPr>
            <p:ph type="title"/>
          </p:nvPr>
        </p:nvSpPr>
        <p:spPr/>
        <p:txBody>
          <a:bodyPr>
            <a:normAutofit fontScale="90000"/>
          </a:bodyPr>
          <a:lstStyle/>
          <a:p>
            <a:r>
              <a:rPr lang="en-US" b="1" i="0" dirty="0">
                <a:solidFill>
                  <a:srgbClr val="000000"/>
                </a:solidFill>
                <a:effectLst/>
                <a:latin typeface="Nunito Sans"/>
              </a:rPr>
              <a:t>Payback Period</a:t>
            </a:r>
            <a:br>
              <a:rPr lang="en-US" b="1" i="0" dirty="0">
                <a:solidFill>
                  <a:srgbClr val="000000"/>
                </a:solidFill>
                <a:effectLst/>
                <a:latin typeface="Nunito Sans"/>
              </a:rPr>
            </a:br>
            <a:endParaRPr lang="en-US" dirty="0"/>
          </a:p>
        </p:txBody>
      </p:sp>
      <p:pic>
        <p:nvPicPr>
          <p:cNvPr id="4" name="Content Placeholder 3">
            <a:extLst>
              <a:ext uri="{FF2B5EF4-FFF2-40B4-BE49-F238E27FC236}">
                <a16:creationId xmlns:a16="http://schemas.microsoft.com/office/drawing/2014/main" id="{371DE8C7-ECB6-47B1-83A4-B0AD0A8FDC2E}"/>
              </a:ext>
            </a:extLst>
          </p:cNvPr>
          <p:cNvPicPr>
            <a:picLocks noGrp="1" noChangeAspect="1"/>
          </p:cNvPicPr>
          <p:nvPr>
            <p:ph idx="1"/>
          </p:nvPr>
        </p:nvPicPr>
        <p:blipFill>
          <a:blip r:embed="rId2"/>
          <a:stretch>
            <a:fillRect/>
          </a:stretch>
        </p:blipFill>
        <p:spPr>
          <a:xfrm>
            <a:off x="1690500" y="1600200"/>
            <a:ext cx="8811000" cy="4525963"/>
          </a:xfrm>
          <a:prstGeom prst="rect">
            <a:avLst/>
          </a:prstGeom>
        </p:spPr>
      </p:pic>
    </p:spTree>
    <p:extLst>
      <p:ext uri="{BB962C8B-B14F-4D97-AF65-F5344CB8AC3E}">
        <p14:creationId xmlns:p14="http://schemas.microsoft.com/office/powerpoint/2010/main" val="300843438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A13A-D5AA-43DD-923F-2B743200437E}"/>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000000"/>
                </a:solidFill>
                <a:effectLst/>
                <a:uLnTx/>
                <a:uFillTx/>
                <a:latin typeface="Nunito Sans"/>
                <a:ea typeface="+mj-ea"/>
                <a:cs typeface="+mj-cs"/>
              </a:rPr>
              <a:t>Payback Period</a:t>
            </a:r>
            <a:endParaRPr lang="en-US" dirty="0"/>
          </a:p>
        </p:txBody>
      </p:sp>
      <p:sp>
        <p:nvSpPr>
          <p:cNvPr id="3" name="Content Placeholder 2">
            <a:extLst>
              <a:ext uri="{FF2B5EF4-FFF2-40B4-BE49-F238E27FC236}">
                <a16:creationId xmlns:a16="http://schemas.microsoft.com/office/drawing/2014/main" id="{8D3159FD-DEE9-4996-A8D8-CF3049D6DA58}"/>
              </a:ext>
            </a:extLst>
          </p:cNvPr>
          <p:cNvSpPr>
            <a:spLocks noGrp="1"/>
          </p:cNvSpPr>
          <p:nvPr>
            <p:ph idx="1"/>
          </p:nvPr>
        </p:nvSpPr>
        <p:spPr/>
        <p:txBody>
          <a:bodyPr>
            <a:normAutofit/>
          </a:bodyPr>
          <a:lstStyle/>
          <a:p>
            <a:pPr algn="l"/>
            <a:r>
              <a:rPr lang="en-US" b="0" i="0" dirty="0">
                <a:solidFill>
                  <a:srgbClr val="222222"/>
                </a:solidFill>
                <a:effectLst/>
                <a:latin typeface="Rubik"/>
              </a:rPr>
              <a:t>Let's say you have two machines in your warehouse. Machine A costs $20,000 and your firm expects payback at the rate of $5,000 per year. Machine B costs $12,000 and the firm expects payback at the same rate as Machine A. Calculate the two scenarios as follows:</a:t>
            </a:r>
          </a:p>
          <a:p>
            <a:pPr algn="l"/>
            <a:r>
              <a:rPr lang="en-US" b="0" i="0" dirty="0">
                <a:solidFill>
                  <a:srgbClr val="222222"/>
                </a:solidFill>
                <a:effectLst/>
                <a:latin typeface="Rubik"/>
              </a:rPr>
              <a:t>Machine A = $20,000/$5,000 = 4 years</a:t>
            </a:r>
          </a:p>
          <a:p>
            <a:pPr algn="l"/>
            <a:r>
              <a:rPr lang="en-US" b="0" i="0" dirty="0">
                <a:solidFill>
                  <a:srgbClr val="222222"/>
                </a:solidFill>
                <a:effectLst/>
                <a:latin typeface="Rubik"/>
              </a:rPr>
              <a:t>Machine B = $12,000/$5,000 = 2.4 years</a:t>
            </a:r>
          </a:p>
          <a:p>
            <a:pPr algn="l"/>
            <a:r>
              <a:rPr lang="en-US" b="0" i="0" dirty="0">
                <a:solidFill>
                  <a:srgbClr val="222222"/>
                </a:solidFill>
                <a:effectLst/>
                <a:latin typeface="Rubik"/>
              </a:rPr>
              <a:t>With all other things equal, the firm would choose Machine B.</a:t>
            </a:r>
          </a:p>
          <a:p>
            <a:pPr marL="0" indent="0">
              <a:buNone/>
            </a:pPr>
            <a:endParaRPr lang="en-US" dirty="0"/>
          </a:p>
        </p:txBody>
      </p:sp>
    </p:spTree>
    <p:extLst>
      <p:ext uri="{BB962C8B-B14F-4D97-AF65-F5344CB8AC3E}">
        <p14:creationId xmlns:p14="http://schemas.microsoft.com/office/powerpoint/2010/main" val="177752789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D9AA-D6B7-4176-BB99-F88AE7C2330E}"/>
              </a:ext>
            </a:extLst>
          </p:cNvPr>
          <p:cNvSpPr>
            <a:spLocks noGrp="1"/>
          </p:cNvSpPr>
          <p:nvPr>
            <p:ph type="title"/>
          </p:nvPr>
        </p:nvSpPr>
        <p:spPr/>
        <p:txBody>
          <a:bodyPr>
            <a:normAutofit fontScale="90000"/>
          </a:bodyPr>
          <a:lstStyle/>
          <a:p>
            <a:r>
              <a:rPr lang="en-US" b="1" i="0" dirty="0">
                <a:solidFill>
                  <a:srgbClr val="000000"/>
                </a:solidFill>
                <a:effectLst/>
                <a:latin typeface="Nunito Sans"/>
              </a:rPr>
              <a:t>Payback Period</a:t>
            </a:r>
            <a:br>
              <a:rPr lang="en-US" b="1" i="0" dirty="0">
                <a:solidFill>
                  <a:srgbClr val="000000"/>
                </a:solidFill>
                <a:effectLst/>
                <a:latin typeface="Nunito Sans"/>
              </a:rPr>
            </a:br>
            <a:endParaRPr lang="en-US" dirty="0"/>
          </a:p>
        </p:txBody>
      </p:sp>
      <p:sp>
        <p:nvSpPr>
          <p:cNvPr id="3" name="Content Placeholder 2">
            <a:extLst>
              <a:ext uri="{FF2B5EF4-FFF2-40B4-BE49-F238E27FC236}">
                <a16:creationId xmlns:a16="http://schemas.microsoft.com/office/drawing/2014/main" id="{E8495621-EBE6-4557-9570-B06A5A3955C4}"/>
              </a:ext>
            </a:extLst>
          </p:cNvPr>
          <p:cNvSpPr>
            <a:spLocks noGrp="1"/>
          </p:cNvSpPr>
          <p:nvPr>
            <p:ph idx="1"/>
          </p:nvPr>
        </p:nvSpPr>
        <p:spPr/>
        <p:txBody>
          <a:bodyPr>
            <a:normAutofit fontScale="92500" lnSpcReduction="10000"/>
          </a:bodyPr>
          <a:lstStyle/>
          <a:p>
            <a:r>
              <a:rPr lang="en-US" dirty="0"/>
              <a:t>Suppose ABC ltd is analyzing a project which requires an investment of $2,00,000 and it is expected to generate cash flows as follows</a:t>
            </a:r>
          </a:p>
          <a:p>
            <a:endParaRPr lang="en-US" dirty="0"/>
          </a:p>
          <a:p>
            <a:pPr marL="0" indent="0">
              <a:buNone/>
            </a:pPr>
            <a:r>
              <a:rPr lang="en-US" dirty="0"/>
              <a:t>Year	Annual cash inflows</a:t>
            </a:r>
          </a:p>
          <a:p>
            <a:pPr marL="0" indent="0">
              <a:buNone/>
            </a:pPr>
            <a:r>
              <a:rPr lang="en-US" dirty="0"/>
              <a:t>   1	     80,000</a:t>
            </a:r>
          </a:p>
          <a:p>
            <a:pPr marL="0" indent="0">
              <a:buNone/>
            </a:pPr>
            <a:r>
              <a:rPr lang="en-US" dirty="0"/>
              <a:t>   2	     60,000</a:t>
            </a:r>
          </a:p>
          <a:p>
            <a:pPr marL="0" indent="0">
              <a:buNone/>
            </a:pPr>
            <a:r>
              <a:rPr lang="en-US" dirty="0"/>
              <a:t>   3	     60,000</a:t>
            </a:r>
          </a:p>
          <a:p>
            <a:pPr marL="0" indent="0">
              <a:buNone/>
            </a:pPr>
            <a:r>
              <a:rPr lang="en-US" dirty="0"/>
              <a:t>   4	     20,000</a:t>
            </a:r>
          </a:p>
        </p:txBody>
      </p:sp>
    </p:spTree>
    <p:extLst>
      <p:ext uri="{BB962C8B-B14F-4D97-AF65-F5344CB8AC3E}">
        <p14:creationId xmlns:p14="http://schemas.microsoft.com/office/powerpoint/2010/main" val="141872197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AB6E7-5CC9-422D-A268-5762CDF7F858}"/>
              </a:ext>
            </a:extLst>
          </p:cNvPr>
          <p:cNvSpPr>
            <a:spLocks noGrp="1"/>
          </p:cNvSpPr>
          <p:nvPr>
            <p:ph type="title"/>
          </p:nvPr>
        </p:nvSpPr>
        <p:spPr/>
        <p:txBody>
          <a:bodyPr>
            <a:normAutofit fontScale="90000"/>
          </a:bodyPr>
          <a:lstStyle/>
          <a:p>
            <a:r>
              <a:rPr lang="en-US" b="1" i="0" dirty="0">
                <a:solidFill>
                  <a:srgbClr val="000000"/>
                </a:solidFill>
                <a:effectLst/>
                <a:latin typeface="Nunito Sans"/>
              </a:rPr>
              <a:t>Payback Period</a:t>
            </a:r>
            <a:br>
              <a:rPr lang="en-US" b="1" i="0" dirty="0">
                <a:solidFill>
                  <a:srgbClr val="000000"/>
                </a:solidFill>
                <a:effectLst/>
                <a:latin typeface="Nunito Sans"/>
              </a:rPr>
            </a:br>
            <a:endParaRPr lang="en-US" dirty="0"/>
          </a:p>
        </p:txBody>
      </p:sp>
      <p:graphicFrame>
        <p:nvGraphicFramePr>
          <p:cNvPr id="4" name="Content Placeholder 3">
            <a:extLst>
              <a:ext uri="{FF2B5EF4-FFF2-40B4-BE49-F238E27FC236}">
                <a16:creationId xmlns:a16="http://schemas.microsoft.com/office/drawing/2014/main" id="{E485C114-0C87-47E7-808C-6C290C21E7FF}"/>
              </a:ext>
            </a:extLst>
          </p:cNvPr>
          <p:cNvGraphicFramePr>
            <a:graphicFrameLocks noGrp="1"/>
          </p:cNvGraphicFramePr>
          <p:nvPr>
            <p:ph idx="1"/>
            <p:extLst>
              <p:ext uri="{D42A27DB-BD31-4B8C-83A1-F6EECF244321}">
                <p14:modId xmlns:p14="http://schemas.microsoft.com/office/powerpoint/2010/main" val="3948579200"/>
              </p:ext>
            </p:extLst>
          </p:nvPr>
        </p:nvGraphicFramePr>
        <p:xfrm>
          <a:off x="1298713" y="1404734"/>
          <a:ext cx="9276522" cy="4532245"/>
        </p:xfrm>
        <a:graphic>
          <a:graphicData uri="http://schemas.openxmlformats.org/drawingml/2006/table">
            <a:tbl>
              <a:tblPr/>
              <a:tblGrid>
                <a:gridCol w="974181">
                  <a:extLst>
                    <a:ext uri="{9D8B030D-6E8A-4147-A177-3AD203B41FA5}">
                      <a16:colId xmlns:a16="http://schemas.microsoft.com/office/drawing/2014/main" val="3461115205"/>
                    </a:ext>
                  </a:extLst>
                </a:gridCol>
                <a:gridCol w="2006520">
                  <a:extLst>
                    <a:ext uri="{9D8B030D-6E8A-4147-A177-3AD203B41FA5}">
                      <a16:colId xmlns:a16="http://schemas.microsoft.com/office/drawing/2014/main" val="3199243041"/>
                    </a:ext>
                  </a:extLst>
                </a:gridCol>
                <a:gridCol w="2617200">
                  <a:extLst>
                    <a:ext uri="{9D8B030D-6E8A-4147-A177-3AD203B41FA5}">
                      <a16:colId xmlns:a16="http://schemas.microsoft.com/office/drawing/2014/main" val="942144175"/>
                    </a:ext>
                  </a:extLst>
                </a:gridCol>
                <a:gridCol w="3678621">
                  <a:extLst>
                    <a:ext uri="{9D8B030D-6E8A-4147-A177-3AD203B41FA5}">
                      <a16:colId xmlns:a16="http://schemas.microsoft.com/office/drawing/2014/main" val="487739731"/>
                    </a:ext>
                  </a:extLst>
                </a:gridCol>
              </a:tblGrid>
              <a:tr h="906449">
                <a:tc>
                  <a:txBody>
                    <a:bodyPr/>
                    <a:lstStyle/>
                    <a:p>
                      <a:pPr algn="l"/>
                      <a:r>
                        <a:rPr lang="en-US" b="1">
                          <a:effectLst/>
                        </a:rPr>
                        <a:t>Year</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b="1">
                          <a:effectLst/>
                        </a:rPr>
                        <a:t>Annual cash inflows</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b="1">
                          <a:effectLst/>
                        </a:rPr>
                        <a:t>Cumulative Annual cash inflows</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b="1">
                          <a:effectLst/>
                        </a:rPr>
                        <a:t>Payback period</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extLst>
                  <a:ext uri="{0D108BD9-81ED-4DB2-BD59-A6C34878D82A}">
                    <a16:rowId xmlns:a16="http://schemas.microsoft.com/office/drawing/2014/main" val="1487092178"/>
                  </a:ext>
                </a:extLst>
              </a:tr>
              <a:tr h="531367">
                <a:tc>
                  <a:txBody>
                    <a:bodyPr/>
                    <a:lstStyle/>
                    <a:p>
                      <a:pPr algn="l"/>
                      <a:r>
                        <a:rPr lang="en-US">
                          <a:effectLst/>
                        </a:rPr>
                        <a:t>1</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a:effectLst/>
                        </a:rPr>
                        <a:t>80,000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a:effectLst/>
                        </a:rPr>
                        <a:t>80,000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extLst>
                  <a:ext uri="{0D108BD9-81ED-4DB2-BD59-A6C34878D82A}">
                    <a16:rowId xmlns:a16="http://schemas.microsoft.com/office/drawing/2014/main" val="2355599471"/>
                  </a:ext>
                </a:extLst>
              </a:tr>
              <a:tr h="906449">
                <a:tc>
                  <a:txBody>
                    <a:bodyPr/>
                    <a:lstStyle/>
                    <a:p>
                      <a:pPr algn="l"/>
                      <a:r>
                        <a:rPr lang="en-US">
                          <a:effectLst/>
                        </a:rPr>
                        <a:t>2</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a:effectLst/>
                        </a:rPr>
                        <a:t>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a:effectLst/>
                        </a:rPr>
                        <a:t>1,40,000(80,000+60,000)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extLst>
                  <a:ext uri="{0D108BD9-81ED-4DB2-BD59-A6C34878D82A}">
                    <a16:rowId xmlns:a16="http://schemas.microsoft.com/office/drawing/2014/main" val="3867917131"/>
                  </a:ext>
                </a:extLst>
              </a:tr>
              <a:tr h="1281531">
                <a:tc>
                  <a:txBody>
                    <a:bodyPr/>
                    <a:lstStyle/>
                    <a:p>
                      <a:pPr algn="l"/>
                      <a:r>
                        <a:rPr lang="en-US">
                          <a:effectLst/>
                        </a:rPr>
                        <a:t>3</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a:effectLst/>
                        </a:rPr>
                        <a:t>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a:effectLst/>
                        </a:rPr>
                        <a:t>2,00,000(1,40,000+60,000)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tcPr>
                </a:tc>
                <a:tc>
                  <a:txBody>
                    <a:bodyPr/>
                    <a:lstStyle/>
                    <a:p>
                      <a:pPr algn="l"/>
                      <a:r>
                        <a:rPr lang="en-US" b="1">
                          <a:effectLst/>
                        </a:rPr>
                        <a:t>In this Year 3 we got initial investment of $ 2,00,000 so this is the pay back year</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a:noFill/>
                    </a:lnB>
                  </a:tcPr>
                </a:tc>
                <a:extLst>
                  <a:ext uri="{0D108BD9-81ED-4DB2-BD59-A6C34878D82A}">
                    <a16:rowId xmlns:a16="http://schemas.microsoft.com/office/drawing/2014/main" val="664642297"/>
                  </a:ext>
                </a:extLst>
              </a:tr>
              <a:tr h="906449">
                <a:tc>
                  <a:txBody>
                    <a:bodyPr/>
                    <a:lstStyle/>
                    <a:p>
                      <a:pPr algn="l"/>
                      <a:r>
                        <a:rPr lang="en-US" b="0" i="0">
                          <a:solidFill>
                            <a:srgbClr val="2A3139"/>
                          </a:solidFill>
                          <a:effectLst/>
                          <a:latin typeface="Nunito Sans"/>
                        </a:rPr>
                        <a:t>4</a:t>
                      </a:r>
                    </a:p>
                  </a:txBody>
                  <a:tcPr marT="57150" marB="57150" anchor="ctr">
                    <a:lnL>
                      <a:noFill/>
                    </a:lnL>
                    <a:lnR>
                      <a:noFill/>
                    </a:lnR>
                    <a:lnT w="9525" cap="flat" cmpd="sng" algn="ctr">
                      <a:solidFill>
                        <a:srgbClr val="ECEEF1"/>
                      </a:solidFill>
                      <a:prstDash val="solid"/>
                      <a:round/>
                      <a:headEnd type="none" w="med" len="med"/>
                      <a:tailEnd type="none" w="med" len="med"/>
                    </a:lnT>
                    <a:lnB>
                      <a:noFill/>
                    </a:lnB>
                    <a:solidFill>
                      <a:srgbClr val="FFFFFF"/>
                    </a:solidFill>
                  </a:tcPr>
                </a:tc>
                <a:tc>
                  <a:txBody>
                    <a:bodyPr/>
                    <a:lstStyle/>
                    <a:p>
                      <a:pPr algn="l"/>
                      <a:r>
                        <a:rPr lang="en-US" b="0" i="0">
                          <a:solidFill>
                            <a:srgbClr val="2A3139"/>
                          </a:solidFill>
                          <a:effectLst/>
                          <a:latin typeface="Nunito Sans"/>
                        </a:rPr>
                        <a:t>20,000</a:t>
                      </a:r>
                    </a:p>
                  </a:txBody>
                  <a:tcPr marT="57150" marB="57150" anchor="ctr">
                    <a:lnL>
                      <a:noFill/>
                    </a:lnL>
                    <a:lnR>
                      <a:noFill/>
                    </a:lnR>
                    <a:lnT w="9525" cap="flat" cmpd="sng" algn="ctr">
                      <a:solidFill>
                        <a:srgbClr val="ECEEF1"/>
                      </a:solidFill>
                      <a:prstDash val="solid"/>
                      <a:round/>
                      <a:headEnd type="none" w="med" len="med"/>
                      <a:tailEnd type="none" w="med" len="med"/>
                    </a:lnT>
                    <a:lnB>
                      <a:noFill/>
                    </a:lnB>
                    <a:solidFill>
                      <a:srgbClr val="FFFFFF"/>
                    </a:solidFill>
                  </a:tcPr>
                </a:tc>
                <a:tc>
                  <a:txBody>
                    <a:bodyPr/>
                    <a:lstStyle/>
                    <a:p>
                      <a:pPr algn="l"/>
                      <a:r>
                        <a:rPr lang="en-US" b="0" i="0">
                          <a:solidFill>
                            <a:srgbClr val="2A3139"/>
                          </a:solidFill>
                          <a:effectLst/>
                          <a:latin typeface="Nunito Sans"/>
                        </a:rPr>
                        <a:t>2,20,000(2,00,000+20,000)</a:t>
                      </a:r>
                    </a:p>
                  </a:txBody>
                  <a:tcPr marT="57150" marB="57150" anchor="ctr">
                    <a:lnL>
                      <a:noFill/>
                    </a:lnL>
                    <a:lnR>
                      <a:noFill/>
                    </a:lnR>
                    <a:lnT w="9525" cap="flat" cmpd="sng" algn="ctr">
                      <a:solidFill>
                        <a:srgbClr val="ECEEF1"/>
                      </a:solidFill>
                      <a:prstDash val="solid"/>
                      <a:round/>
                      <a:headEnd type="none" w="med" len="med"/>
                      <a:tailEnd type="none" w="med" len="med"/>
                    </a:lnT>
                    <a:lnB>
                      <a:noFill/>
                    </a:lnB>
                    <a:solidFill>
                      <a:srgbClr val="FFFFFF"/>
                    </a:solidFill>
                  </a:tcPr>
                </a:tc>
                <a:tc>
                  <a:txBody>
                    <a:bodyPr/>
                    <a:lstStyle/>
                    <a:p>
                      <a:endParaRPr lang="en-US" dirty="0"/>
                    </a:p>
                  </a:txBody>
                  <a:tcPr>
                    <a:lnL>
                      <a:noFill/>
                    </a:lnL>
                    <a:lnT>
                      <a:noFill/>
                    </a:lnT>
                  </a:tcPr>
                </a:tc>
                <a:extLst>
                  <a:ext uri="{0D108BD9-81ED-4DB2-BD59-A6C34878D82A}">
                    <a16:rowId xmlns:a16="http://schemas.microsoft.com/office/drawing/2014/main" val="375595509"/>
                  </a:ext>
                </a:extLst>
              </a:tr>
            </a:tbl>
          </a:graphicData>
        </a:graphic>
      </p:graphicFrame>
    </p:spTree>
    <p:extLst>
      <p:ext uri="{BB962C8B-B14F-4D97-AF65-F5344CB8AC3E}">
        <p14:creationId xmlns:p14="http://schemas.microsoft.com/office/powerpoint/2010/main" val="2017280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1D4A-B4B6-4397-B9F4-5F4CA09B18A9}"/>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000000"/>
                </a:solidFill>
                <a:effectLst/>
                <a:uLnTx/>
                <a:uFillTx/>
                <a:latin typeface="Nunito Sans"/>
                <a:ea typeface="+mj-ea"/>
                <a:cs typeface="+mj-cs"/>
              </a:rPr>
              <a:t>Payback Period</a:t>
            </a:r>
            <a:endParaRPr lang="en-US" dirty="0"/>
          </a:p>
        </p:txBody>
      </p:sp>
      <p:sp>
        <p:nvSpPr>
          <p:cNvPr id="3" name="Content Placeholder 2">
            <a:extLst>
              <a:ext uri="{FF2B5EF4-FFF2-40B4-BE49-F238E27FC236}">
                <a16:creationId xmlns:a16="http://schemas.microsoft.com/office/drawing/2014/main" id="{CE8E3F29-B571-42D5-BD8A-0F523534949A}"/>
              </a:ext>
            </a:extLst>
          </p:cNvPr>
          <p:cNvSpPr>
            <a:spLocks noGrp="1"/>
          </p:cNvSpPr>
          <p:nvPr>
            <p:ph idx="1"/>
          </p:nvPr>
        </p:nvSpPr>
        <p:spPr/>
        <p:txBody>
          <a:bodyPr>
            <a:normAutofit fontScale="92500" lnSpcReduction="10000"/>
          </a:bodyPr>
          <a:lstStyle/>
          <a:p>
            <a:r>
              <a:rPr lang="en-US" dirty="0"/>
              <a:t>Suppose, in the above case, if the cash outlay is $2,05,000, then the pay back period will be calculated as follows.</a:t>
            </a:r>
          </a:p>
          <a:p>
            <a:pPr algn="l"/>
            <a:r>
              <a:rPr lang="en-US" b="0" i="0" dirty="0">
                <a:solidFill>
                  <a:srgbClr val="4D5968"/>
                </a:solidFill>
                <a:effectLst/>
                <a:latin typeface="Nunito Sans"/>
              </a:rPr>
              <a:t>For up to three years, a sum of $2,00,000 is recovered, the balance amount of $ 5,000($2,05,000-$2,00,000) is recovered in a fraction of the year, which is as follows.</a:t>
            </a:r>
          </a:p>
          <a:p>
            <a:pPr algn="l"/>
            <a:r>
              <a:rPr lang="en-US" b="0" i="0" dirty="0">
                <a:solidFill>
                  <a:srgbClr val="4D5968"/>
                </a:solidFill>
                <a:effectLst/>
                <a:latin typeface="Nunito Sans"/>
              </a:rPr>
              <a:t>For getting $20,000 additional cash flows, the project is taking complete  12 months. So for getting additional of $ 5,000($2,05,000-$2,00,000) it will take (5,000/20,000) 1/4</a:t>
            </a:r>
            <a:r>
              <a:rPr lang="en-US" b="0" i="0" baseline="30000" dirty="0">
                <a:solidFill>
                  <a:srgbClr val="4D5968"/>
                </a:solidFill>
                <a:effectLst/>
                <a:latin typeface="Nunito Sans"/>
              </a:rPr>
              <a:t>th</a:t>
            </a:r>
            <a:r>
              <a:rPr lang="en-US" b="0" i="0" dirty="0">
                <a:solidFill>
                  <a:srgbClr val="4D5968"/>
                </a:solidFill>
                <a:effectLst/>
                <a:latin typeface="Nunito Sans"/>
              </a:rPr>
              <a:t> Year. i.e., 3 months.</a:t>
            </a:r>
          </a:p>
          <a:p>
            <a:pPr algn="l"/>
            <a:r>
              <a:rPr lang="en-US" b="0" i="0" dirty="0">
                <a:solidFill>
                  <a:srgbClr val="4D5968"/>
                </a:solidFill>
                <a:effectLst/>
                <a:latin typeface="Nunito Sans"/>
              </a:rPr>
              <a:t>So, the project payback period is </a:t>
            </a:r>
            <a:r>
              <a:rPr lang="en-US" b="1" i="0" dirty="0">
                <a:solidFill>
                  <a:srgbClr val="4D5968"/>
                </a:solidFill>
                <a:effectLst/>
                <a:latin typeface="Nunito Sans"/>
              </a:rPr>
              <a:t>3 years 3 months.</a:t>
            </a:r>
            <a:endParaRPr lang="en-US" b="0" i="0" dirty="0">
              <a:solidFill>
                <a:srgbClr val="4D5968"/>
              </a:solidFill>
              <a:effectLst/>
              <a:latin typeface="Nunito Sans"/>
            </a:endParaRPr>
          </a:p>
          <a:p>
            <a:endParaRPr lang="en-US" dirty="0"/>
          </a:p>
        </p:txBody>
      </p:sp>
    </p:spTree>
    <p:extLst>
      <p:ext uri="{BB962C8B-B14F-4D97-AF65-F5344CB8AC3E}">
        <p14:creationId xmlns:p14="http://schemas.microsoft.com/office/powerpoint/2010/main" val="12749617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19C16-1590-4312-B8B7-A4B155F4EACB}"/>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000000"/>
                </a:solidFill>
                <a:effectLst/>
                <a:uLnTx/>
                <a:uFillTx/>
                <a:latin typeface="Nunito Sans"/>
                <a:ea typeface="+mj-ea"/>
                <a:cs typeface="+mj-cs"/>
              </a:rPr>
              <a:t>Payback Period</a:t>
            </a:r>
            <a:endParaRPr lang="en-US" dirty="0"/>
          </a:p>
        </p:txBody>
      </p:sp>
      <p:graphicFrame>
        <p:nvGraphicFramePr>
          <p:cNvPr id="4" name="Content Placeholder 3">
            <a:extLst>
              <a:ext uri="{FF2B5EF4-FFF2-40B4-BE49-F238E27FC236}">
                <a16:creationId xmlns:a16="http://schemas.microsoft.com/office/drawing/2014/main" id="{6A243933-EF33-48BB-9DDB-401A314AF071}"/>
              </a:ext>
            </a:extLst>
          </p:cNvPr>
          <p:cNvGraphicFramePr>
            <a:graphicFrameLocks noGrp="1"/>
          </p:cNvGraphicFramePr>
          <p:nvPr>
            <p:ph idx="1"/>
            <p:extLst>
              <p:ext uri="{D42A27DB-BD31-4B8C-83A1-F6EECF244321}">
                <p14:modId xmlns:p14="http://schemas.microsoft.com/office/powerpoint/2010/main" val="1790013728"/>
              </p:ext>
            </p:extLst>
          </p:nvPr>
        </p:nvGraphicFramePr>
        <p:xfrm>
          <a:off x="1139688" y="2001078"/>
          <a:ext cx="8909191" cy="4055166"/>
        </p:xfrm>
        <a:graphic>
          <a:graphicData uri="http://schemas.openxmlformats.org/drawingml/2006/table">
            <a:tbl>
              <a:tblPr/>
              <a:tblGrid>
                <a:gridCol w="935605">
                  <a:extLst>
                    <a:ext uri="{9D8B030D-6E8A-4147-A177-3AD203B41FA5}">
                      <a16:colId xmlns:a16="http://schemas.microsoft.com/office/drawing/2014/main" val="3242006716"/>
                    </a:ext>
                  </a:extLst>
                </a:gridCol>
                <a:gridCol w="1927067">
                  <a:extLst>
                    <a:ext uri="{9D8B030D-6E8A-4147-A177-3AD203B41FA5}">
                      <a16:colId xmlns:a16="http://schemas.microsoft.com/office/drawing/2014/main" val="2747799348"/>
                    </a:ext>
                  </a:extLst>
                </a:gridCol>
                <a:gridCol w="2513564">
                  <a:extLst>
                    <a:ext uri="{9D8B030D-6E8A-4147-A177-3AD203B41FA5}">
                      <a16:colId xmlns:a16="http://schemas.microsoft.com/office/drawing/2014/main" val="1957730925"/>
                    </a:ext>
                  </a:extLst>
                </a:gridCol>
                <a:gridCol w="3532955">
                  <a:extLst>
                    <a:ext uri="{9D8B030D-6E8A-4147-A177-3AD203B41FA5}">
                      <a16:colId xmlns:a16="http://schemas.microsoft.com/office/drawing/2014/main" val="4196193983"/>
                    </a:ext>
                  </a:extLst>
                </a:gridCol>
              </a:tblGrid>
              <a:tr h="884209">
                <a:tc>
                  <a:txBody>
                    <a:bodyPr/>
                    <a:lstStyle/>
                    <a:p>
                      <a:pPr algn="l"/>
                      <a:r>
                        <a:rPr lang="en-US" b="1">
                          <a:effectLst/>
                        </a:rPr>
                        <a:t>Year</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b="1">
                          <a:effectLst/>
                        </a:rPr>
                        <a:t>Annual cash inflows</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b="1">
                          <a:effectLst/>
                        </a:rPr>
                        <a:t>Cumulative Annual cash inflows</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b="1">
                          <a:effectLst/>
                        </a:rPr>
                        <a:t>Payback period</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extLst>
                  <a:ext uri="{0D108BD9-81ED-4DB2-BD59-A6C34878D82A}">
                    <a16:rowId xmlns:a16="http://schemas.microsoft.com/office/drawing/2014/main" val="4061455233"/>
                  </a:ext>
                </a:extLst>
              </a:tr>
              <a:tr h="518330">
                <a:tc>
                  <a:txBody>
                    <a:bodyPr/>
                    <a:lstStyle/>
                    <a:p>
                      <a:pPr algn="l"/>
                      <a:r>
                        <a:rPr lang="en-US">
                          <a:effectLst/>
                        </a:rPr>
                        <a:t>1</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a:effectLst/>
                        </a:rPr>
                        <a:t>80,000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a:effectLst/>
                        </a:rPr>
                        <a:t>80,000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extLst>
                  <a:ext uri="{0D108BD9-81ED-4DB2-BD59-A6C34878D82A}">
                    <a16:rowId xmlns:a16="http://schemas.microsoft.com/office/drawing/2014/main" val="1406244293"/>
                  </a:ext>
                </a:extLst>
              </a:tr>
              <a:tr h="884209">
                <a:tc>
                  <a:txBody>
                    <a:bodyPr/>
                    <a:lstStyle/>
                    <a:p>
                      <a:pPr algn="l"/>
                      <a:r>
                        <a:rPr lang="en-US">
                          <a:effectLst/>
                        </a:rPr>
                        <a:t>2</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a:effectLst/>
                        </a:rPr>
                        <a:t>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a:effectLst/>
                        </a:rPr>
                        <a:t>1,40,000(80,000+60,000)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extLst>
                  <a:ext uri="{0D108BD9-81ED-4DB2-BD59-A6C34878D82A}">
                    <a16:rowId xmlns:a16="http://schemas.microsoft.com/office/drawing/2014/main" val="3550738520"/>
                  </a:ext>
                </a:extLst>
              </a:tr>
              <a:tr h="884209">
                <a:tc>
                  <a:txBody>
                    <a:bodyPr/>
                    <a:lstStyle/>
                    <a:p>
                      <a:pPr algn="l"/>
                      <a:r>
                        <a:rPr lang="en-US">
                          <a:effectLst/>
                        </a:rPr>
                        <a:t>3</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a:effectLst/>
                        </a:rPr>
                        <a:t>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a:effectLst/>
                        </a:rPr>
                        <a:t>2,00,000(1,40,000+60,000)</a:t>
                      </a: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tc>
                  <a:txBody>
                    <a:bodyPr/>
                    <a:lstStyle/>
                    <a:p>
                      <a:pPr algn="l"/>
                      <a:r>
                        <a:rPr lang="en-US" b="1">
                          <a:effectLst/>
                        </a:rPr>
                        <a:t> </a:t>
                      </a:r>
                      <a:endParaRPr lang="en-US">
                        <a:effectLst/>
                      </a:endParaRPr>
                    </a:p>
                  </a:txBody>
                  <a:tcPr marT="57150" marB="57150" anchor="ctr">
                    <a:lnL>
                      <a:noFill/>
                    </a:lnL>
                    <a:lnR>
                      <a:noFill/>
                    </a:lnR>
                    <a:lnT w="9525" cap="flat" cmpd="sng" algn="ctr">
                      <a:solidFill>
                        <a:srgbClr val="ECEEF1"/>
                      </a:solidFill>
                      <a:prstDash val="solid"/>
                      <a:round/>
                      <a:headEnd type="none" w="med" len="med"/>
                      <a:tailEnd type="none" w="med" len="med"/>
                    </a:lnT>
                    <a:lnB w="9525" cap="flat" cmpd="sng" algn="ctr">
                      <a:solidFill>
                        <a:srgbClr val="ECEEF1"/>
                      </a:solidFill>
                      <a:prstDash val="solid"/>
                      <a:round/>
                      <a:headEnd type="none" w="med" len="med"/>
                      <a:tailEnd type="none" w="med" len="med"/>
                    </a:lnB>
                    <a:solidFill>
                      <a:srgbClr val="FFFFFF"/>
                    </a:solidFill>
                  </a:tcPr>
                </a:tc>
                <a:extLst>
                  <a:ext uri="{0D108BD9-81ED-4DB2-BD59-A6C34878D82A}">
                    <a16:rowId xmlns:a16="http://schemas.microsoft.com/office/drawing/2014/main" val="3845434092"/>
                  </a:ext>
                </a:extLst>
              </a:tr>
              <a:tr h="884209">
                <a:tc>
                  <a:txBody>
                    <a:bodyPr/>
                    <a:lstStyle/>
                    <a:p>
                      <a:pPr algn="l"/>
                      <a:r>
                        <a:rPr lang="en-US">
                          <a:effectLst/>
                        </a:rPr>
                        <a:t>4</a:t>
                      </a:r>
                    </a:p>
                  </a:txBody>
                  <a:tcPr marT="57150" marB="57150" anchor="ctr">
                    <a:lnL>
                      <a:noFill/>
                    </a:lnL>
                    <a:lnR>
                      <a:noFill/>
                    </a:lnR>
                    <a:lnT w="9525" cap="flat" cmpd="sng" algn="ctr">
                      <a:solidFill>
                        <a:srgbClr val="ECEEF1"/>
                      </a:solidFill>
                      <a:prstDash val="solid"/>
                      <a:round/>
                      <a:headEnd type="none" w="med" len="med"/>
                      <a:tailEnd type="none" w="med" len="med"/>
                    </a:lnT>
                    <a:lnB>
                      <a:noFill/>
                    </a:lnB>
                    <a:solidFill>
                      <a:srgbClr val="FFFFFF"/>
                    </a:solidFill>
                  </a:tcPr>
                </a:tc>
                <a:tc>
                  <a:txBody>
                    <a:bodyPr/>
                    <a:lstStyle/>
                    <a:p>
                      <a:pPr algn="l"/>
                      <a:r>
                        <a:rPr lang="en-US">
                          <a:effectLst/>
                        </a:rPr>
                        <a:t>20,000</a:t>
                      </a:r>
                    </a:p>
                  </a:txBody>
                  <a:tcPr marT="57150" marB="57150" anchor="ctr">
                    <a:lnL>
                      <a:noFill/>
                    </a:lnL>
                    <a:lnR>
                      <a:noFill/>
                    </a:lnR>
                    <a:lnT w="9525" cap="flat" cmpd="sng" algn="ctr">
                      <a:solidFill>
                        <a:srgbClr val="ECEEF1"/>
                      </a:solidFill>
                      <a:prstDash val="solid"/>
                      <a:round/>
                      <a:headEnd type="none" w="med" len="med"/>
                      <a:tailEnd type="none" w="med" len="med"/>
                    </a:lnT>
                    <a:lnB>
                      <a:noFill/>
                    </a:lnB>
                    <a:solidFill>
                      <a:srgbClr val="FFFFFF"/>
                    </a:solidFill>
                  </a:tcPr>
                </a:tc>
                <a:tc>
                  <a:txBody>
                    <a:bodyPr/>
                    <a:lstStyle/>
                    <a:p>
                      <a:pPr algn="l"/>
                      <a:r>
                        <a:rPr lang="en-US">
                          <a:effectLst/>
                        </a:rPr>
                        <a:t>2,20,000(2,00,000+20,000)</a:t>
                      </a:r>
                    </a:p>
                  </a:txBody>
                  <a:tcPr marT="57150" marB="57150" anchor="ctr">
                    <a:lnL>
                      <a:noFill/>
                    </a:lnL>
                    <a:lnR>
                      <a:noFill/>
                    </a:lnR>
                    <a:lnT w="9525" cap="flat" cmpd="sng" algn="ctr">
                      <a:solidFill>
                        <a:srgbClr val="ECEEF1"/>
                      </a:solidFill>
                      <a:prstDash val="solid"/>
                      <a:round/>
                      <a:headEnd type="none" w="med" len="med"/>
                      <a:tailEnd type="none" w="med" len="med"/>
                    </a:lnT>
                    <a:lnB>
                      <a:noFill/>
                    </a:lnB>
                    <a:solidFill>
                      <a:srgbClr val="FFFFFF"/>
                    </a:solidFill>
                  </a:tcPr>
                </a:tc>
                <a:tc>
                  <a:txBody>
                    <a:bodyPr/>
                    <a:lstStyle/>
                    <a:p>
                      <a:pPr algn="l"/>
                      <a:r>
                        <a:rPr lang="en-US" dirty="0">
                          <a:effectLst/>
                        </a:rPr>
                        <a:t>The payback period is between 3 and 4 years</a:t>
                      </a:r>
                    </a:p>
                  </a:txBody>
                  <a:tcPr marT="57150" marB="57150" anchor="ctr">
                    <a:lnL>
                      <a:noFill/>
                    </a:lnL>
                    <a:lnR>
                      <a:noFill/>
                    </a:lnR>
                    <a:lnT w="9525" cap="flat" cmpd="sng" algn="ctr">
                      <a:solidFill>
                        <a:srgbClr val="ECEEF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614739596"/>
                  </a:ext>
                </a:extLst>
              </a:tr>
            </a:tbl>
          </a:graphicData>
        </a:graphic>
      </p:graphicFrame>
    </p:spTree>
    <p:extLst>
      <p:ext uri="{BB962C8B-B14F-4D97-AF65-F5344CB8AC3E}">
        <p14:creationId xmlns:p14="http://schemas.microsoft.com/office/powerpoint/2010/main" val="255426526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FC29F-0791-421F-9625-1C3AA7084F76}"/>
              </a:ext>
            </a:extLst>
          </p:cNvPr>
          <p:cNvSpPr>
            <a:spLocks noGrp="1"/>
          </p:cNvSpPr>
          <p:nvPr>
            <p:ph type="title"/>
          </p:nvPr>
        </p:nvSpPr>
        <p:spPr/>
        <p:txBody>
          <a:bodyPr/>
          <a:lstStyle/>
          <a:p>
            <a:pPr algn="l"/>
            <a:r>
              <a:rPr lang="en-US" b="0" i="0" dirty="0">
                <a:solidFill>
                  <a:srgbClr val="111111"/>
                </a:solidFill>
                <a:effectLst/>
                <a:latin typeface="SourceSansPro"/>
              </a:rPr>
              <a:t>Net Present Value (NPV)</a:t>
            </a:r>
          </a:p>
        </p:txBody>
      </p:sp>
      <p:sp>
        <p:nvSpPr>
          <p:cNvPr id="3" name="Content Placeholder 2">
            <a:extLst>
              <a:ext uri="{FF2B5EF4-FFF2-40B4-BE49-F238E27FC236}">
                <a16:creationId xmlns:a16="http://schemas.microsoft.com/office/drawing/2014/main" id="{3C540560-B14E-4552-B044-9A0BDE833F50}"/>
              </a:ext>
            </a:extLst>
          </p:cNvPr>
          <p:cNvSpPr>
            <a:spLocks noGrp="1"/>
          </p:cNvSpPr>
          <p:nvPr>
            <p:ph idx="1"/>
          </p:nvPr>
        </p:nvSpPr>
        <p:spPr/>
        <p:txBody>
          <a:bodyPr>
            <a:normAutofit lnSpcReduction="10000"/>
          </a:bodyPr>
          <a:lstStyle/>
          <a:p>
            <a:r>
              <a:rPr lang="en-US" dirty="0"/>
              <a:t>Net present value (NPV) is the difference between the present value of cash inflows and the present value of cash outflows over a period of time. NPV is used in capital budgeting and investment planning to analyze the profitability of a projected investment or project.</a:t>
            </a:r>
          </a:p>
          <a:p>
            <a:r>
              <a:rPr lang="en-US" dirty="0"/>
              <a:t>Put simply, NPV is used to work out how much money an investment will generate compared with the cost adjusted for the time value of money (one dollar today is worth more than one dollar in the future)</a:t>
            </a:r>
          </a:p>
        </p:txBody>
      </p:sp>
    </p:spTree>
    <p:extLst>
      <p:ext uri="{BB962C8B-B14F-4D97-AF65-F5344CB8AC3E}">
        <p14:creationId xmlns:p14="http://schemas.microsoft.com/office/powerpoint/2010/main" val="224525554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E24A-BC4E-47B8-81F3-A1BD4D8358E7}"/>
              </a:ext>
            </a:extLst>
          </p:cNvPr>
          <p:cNvSpPr>
            <a:spLocks noGrp="1"/>
          </p:cNvSpPr>
          <p:nvPr>
            <p:ph type="title"/>
          </p:nvPr>
        </p:nvSpPr>
        <p:spPr/>
        <p:txBody>
          <a:bodyPr>
            <a:normAutofit fontScale="90000"/>
          </a:bodyPr>
          <a:lstStyle/>
          <a:p>
            <a:r>
              <a:rPr lang="en-US" b="1" i="0" dirty="0">
                <a:solidFill>
                  <a:srgbClr val="132E57"/>
                </a:solidFill>
                <a:effectLst/>
                <a:latin typeface="Open Sans"/>
              </a:rPr>
              <a:t>NPV Formula</a:t>
            </a:r>
            <a:br>
              <a:rPr lang="en-US" b="1" i="0" dirty="0">
                <a:solidFill>
                  <a:srgbClr val="132E57"/>
                </a:solidFill>
                <a:effectLst/>
                <a:latin typeface="Open Sans"/>
              </a:rPr>
            </a:br>
            <a:endParaRPr lang="en-US" dirty="0"/>
          </a:p>
        </p:txBody>
      </p:sp>
      <p:pic>
        <p:nvPicPr>
          <p:cNvPr id="1028" name="Picture 4" descr="Net Present Value (NPV) Formula">
            <a:extLst>
              <a:ext uri="{FF2B5EF4-FFF2-40B4-BE49-F238E27FC236}">
                <a16:creationId xmlns:a16="http://schemas.microsoft.com/office/drawing/2014/main" id="{F5637BD7-471F-41F1-9EBC-9ECE48C4AE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990975" y="3539331"/>
            <a:ext cx="4210050" cy="64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74875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FEB5E-6407-4B0B-9719-7309AAAA11EF}"/>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sp>
        <p:nvSpPr>
          <p:cNvPr id="3" name="Content Placeholder 2">
            <a:extLst>
              <a:ext uri="{FF2B5EF4-FFF2-40B4-BE49-F238E27FC236}">
                <a16:creationId xmlns:a16="http://schemas.microsoft.com/office/drawing/2014/main" id="{63A95E50-7B40-4A53-ABD2-84E684AE1DF5}"/>
              </a:ext>
            </a:extLst>
          </p:cNvPr>
          <p:cNvSpPr>
            <a:spLocks noGrp="1"/>
          </p:cNvSpPr>
          <p:nvPr>
            <p:ph idx="1"/>
          </p:nvPr>
        </p:nvSpPr>
        <p:spPr/>
        <p:txBody>
          <a:bodyPr/>
          <a:lstStyle/>
          <a:p>
            <a:pPr algn="l"/>
            <a:r>
              <a:rPr lang="en-US" b="0" i="0" dirty="0">
                <a:solidFill>
                  <a:srgbClr val="57595D"/>
                </a:solidFill>
                <a:effectLst/>
                <a:latin typeface="Open Sans"/>
              </a:rPr>
              <a:t>Where:</a:t>
            </a:r>
          </a:p>
          <a:p>
            <a:pPr algn="l">
              <a:buFont typeface="Arial" panose="020B0604020202020204" pitchFamily="34" charset="0"/>
              <a:buChar char="•"/>
            </a:pPr>
            <a:r>
              <a:rPr lang="en-US" b="1" i="0" dirty="0">
                <a:solidFill>
                  <a:srgbClr val="57595D"/>
                </a:solidFill>
                <a:effectLst/>
                <a:latin typeface="Open Sans"/>
              </a:rPr>
              <a:t>Z</a:t>
            </a:r>
            <a:r>
              <a:rPr lang="en-US" b="1" i="0" baseline="-25000" dirty="0">
                <a:solidFill>
                  <a:srgbClr val="57595D"/>
                </a:solidFill>
                <a:effectLst/>
                <a:latin typeface="Open Sans"/>
              </a:rPr>
              <a:t>1</a:t>
            </a:r>
            <a:r>
              <a:rPr lang="en-US" b="0" i="0" baseline="-25000" dirty="0">
                <a:solidFill>
                  <a:srgbClr val="57595D"/>
                </a:solidFill>
                <a:effectLst/>
                <a:latin typeface="Open Sans"/>
              </a:rPr>
              <a:t> </a:t>
            </a:r>
            <a:r>
              <a:rPr lang="en-US" b="0" i="0" dirty="0">
                <a:solidFill>
                  <a:srgbClr val="57595D"/>
                </a:solidFill>
                <a:effectLst/>
                <a:latin typeface="Open Sans"/>
              </a:rPr>
              <a:t>= Cash flow in time 1</a:t>
            </a:r>
          </a:p>
          <a:p>
            <a:pPr algn="l">
              <a:buFont typeface="Arial" panose="020B0604020202020204" pitchFamily="34" charset="0"/>
              <a:buChar char="•"/>
            </a:pPr>
            <a:r>
              <a:rPr lang="en-US" b="1" i="0" dirty="0">
                <a:solidFill>
                  <a:srgbClr val="57595D"/>
                </a:solidFill>
                <a:effectLst/>
                <a:latin typeface="Open Sans"/>
              </a:rPr>
              <a:t>Z</a:t>
            </a:r>
            <a:r>
              <a:rPr lang="en-US" b="1" i="0" baseline="-25000" dirty="0">
                <a:solidFill>
                  <a:srgbClr val="57595D"/>
                </a:solidFill>
                <a:effectLst/>
                <a:latin typeface="Open Sans"/>
              </a:rPr>
              <a:t>2</a:t>
            </a:r>
            <a:r>
              <a:rPr lang="en-US" b="0" i="0" baseline="-25000" dirty="0">
                <a:solidFill>
                  <a:srgbClr val="57595D"/>
                </a:solidFill>
                <a:effectLst/>
                <a:latin typeface="Open Sans"/>
              </a:rPr>
              <a:t> </a:t>
            </a:r>
            <a:r>
              <a:rPr lang="en-US" b="0" i="0" dirty="0">
                <a:solidFill>
                  <a:srgbClr val="57595D"/>
                </a:solidFill>
                <a:effectLst/>
                <a:latin typeface="Open Sans"/>
              </a:rPr>
              <a:t>= Cash flow in time 2</a:t>
            </a:r>
          </a:p>
          <a:p>
            <a:pPr algn="l">
              <a:buFont typeface="Arial" panose="020B0604020202020204" pitchFamily="34" charset="0"/>
              <a:buChar char="•"/>
            </a:pPr>
            <a:r>
              <a:rPr lang="en-US" b="1" i="0" dirty="0">
                <a:solidFill>
                  <a:srgbClr val="57595D"/>
                </a:solidFill>
                <a:effectLst/>
                <a:latin typeface="Open Sans"/>
              </a:rPr>
              <a:t>r</a:t>
            </a:r>
            <a:r>
              <a:rPr lang="en-US" b="0" i="0" dirty="0">
                <a:solidFill>
                  <a:srgbClr val="57595D"/>
                </a:solidFill>
                <a:effectLst/>
                <a:latin typeface="Open Sans"/>
              </a:rPr>
              <a:t> = Discount rate</a:t>
            </a:r>
          </a:p>
          <a:p>
            <a:pPr algn="l">
              <a:buFont typeface="Arial" panose="020B0604020202020204" pitchFamily="34" charset="0"/>
              <a:buChar char="•"/>
            </a:pPr>
            <a:r>
              <a:rPr lang="en-US" b="1" i="0" dirty="0">
                <a:solidFill>
                  <a:srgbClr val="57595D"/>
                </a:solidFill>
                <a:effectLst/>
                <a:latin typeface="Open Sans"/>
              </a:rPr>
              <a:t>X</a:t>
            </a:r>
            <a:r>
              <a:rPr lang="en-US" b="1" i="0" baseline="-25000" dirty="0">
                <a:solidFill>
                  <a:srgbClr val="57595D"/>
                </a:solidFill>
                <a:effectLst/>
                <a:latin typeface="Open Sans"/>
              </a:rPr>
              <a:t>0</a:t>
            </a:r>
            <a:r>
              <a:rPr lang="en-US" b="0" i="0" baseline="-25000" dirty="0">
                <a:solidFill>
                  <a:srgbClr val="57595D"/>
                </a:solidFill>
                <a:effectLst/>
                <a:latin typeface="Open Sans"/>
              </a:rPr>
              <a:t> </a:t>
            </a:r>
            <a:r>
              <a:rPr lang="en-US" b="0" i="0" dirty="0">
                <a:solidFill>
                  <a:srgbClr val="57595D"/>
                </a:solidFill>
                <a:effectLst/>
                <a:latin typeface="Open Sans"/>
              </a:rPr>
              <a:t>= Cash outflow in time 0 (i.e. the purchase price / initial investment)</a:t>
            </a:r>
          </a:p>
          <a:p>
            <a:endParaRPr lang="en-US" dirty="0"/>
          </a:p>
        </p:txBody>
      </p:sp>
    </p:spTree>
    <p:extLst>
      <p:ext uri="{BB962C8B-B14F-4D97-AF65-F5344CB8AC3E}">
        <p14:creationId xmlns:p14="http://schemas.microsoft.com/office/powerpoint/2010/main" val="8021882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E9599-91DE-467C-A84A-E693F6FD5AD3}"/>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sp>
        <p:nvSpPr>
          <p:cNvPr id="3" name="Content Placeholder 2">
            <a:extLst>
              <a:ext uri="{FF2B5EF4-FFF2-40B4-BE49-F238E27FC236}">
                <a16:creationId xmlns:a16="http://schemas.microsoft.com/office/drawing/2014/main" id="{617354BE-D21E-43D8-92A6-0834BF5B5E41}"/>
              </a:ext>
            </a:extLst>
          </p:cNvPr>
          <p:cNvSpPr>
            <a:spLocks noGrp="1"/>
          </p:cNvSpPr>
          <p:nvPr>
            <p:ph idx="1"/>
          </p:nvPr>
        </p:nvSpPr>
        <p:spPr/>
        <p:txBody>
          <a:bodyPr/>
          <a:lstStyle/>
          <a:p>
            <a:pPr marL="0" indent="0" algn="l" fontAlgn="base">
              <a:buNone/>
            </a:pPr>
            <a:r>
              <a:rPr lang="en-US" b="1" i="0" dirty="0">
                <a:solidFill>
                  <a:srgbClr val="33475B"/>
                </a:solidFill>
                <a:effectLst/>
                <a:latin typeface="AvenirNext"/>
              </a:rPr>
              <a:t>Project 1</a:t>
            </a:r>
          </a:p>
          <a:p>
            <a:pPr algn="l" fontAlgn="base">
              <a:buFont typeface="Arial" panose="020B0604020202020204" pitchFamily="34" charset="0"/>
              <a:buChar char="•"/>
            </a:pPr>
            <a:r>
              <a:rPr lang="en-US" b="0" i="0" dirty="0">
                <a:solidFill>
                  <a:srgbClr val="33475B"/>
                </a:solidFill>
                <a:effectLst/>
                <a:latin typeface="inherit"/>
              </a:rPr>
              <a:t>Initial investment: $10,000</a:t>
            </a:r>
          </a:p>
          <a:p>
            <a:pPr algn="l" fontAlgn="base">
              <a:buFont typeface="Arial" panose="020B0604020202020204" pitchFamily="34" charset="0"/>
              <a:buChar char="•"/>
            </a:pPr>
            <a:r>
              <a:rPr lang="en-US" b="0" i="0" dirty="0">
                <a:solidFill>
                  <a:srgbClr val="33475B"/>
                </a:solidFill>
                <a:effectLst/>
                <a:latin typeface="inherit"/>
              </a:rPr>
              <a:t>Discount rate: 10%</a:t>
            </a:r>
          </a:p>
          <a:p>
            <a:pPr algn="l" fontAlgn="base">
              <a:buFont typeface="Arial" panose="020B0604020202020204" pitchFamily="34" charset="0"/>
              <a:buChar char="•"/>
            </a:pPr>
            <a:r>
              <a:rPr lang="en-US" b="0" i="0" dirty="0">
                <a:solidFill>
                  <a:srgbClr val="33475B"/>
                </a:solidFill>
                <a:effectLst/>
                <a:latin typeface="inherit"/>
              </a:rPr>
              <a:t>Year 1: $5,000</a:t>
            </a:r>
          </a:p>
          <a:p>
            <a:pPr algn="l" fontAlgn="base">
              <a:buFont typeface="Arial" panose="020B0604020202020204" pitchFamily="34" charset="0"/>
              <a:buChar char="•"/>
            </a:pPr>
            <a:r>
              <a:rPr lang="en-US" b="0" i="0" dirty="0">
                <a:solidFill>
                  <a:srgbClr val="33475B"/>
                </a:solidFill>
                <a:effectLst/>
                <a:latin typeface="inherit"/>
              </a:rPr>
              <a:t>Year 2: $15,000</a:t>
            </a:r>
          </a:p>
          <a:p>
            <a:pPr algn="l" fontAlgn="base">
              <a:buFont typeface="Arial" panose="020B0604020202020204" pitchFamily="34" charset="0"/>
              <a:buChar char="•"/>
            </a:pPr>
            <a:r>
              <a:rPr lang="en-US" b="0" i="0" dirty="0">
                <a:solidFill>
                  <a:srgbClr val="33475B"/>
                </a:solidFill>
                <a:effectLst/>
                <a:latin typeface="inherit"/>
              </a:rPr>
              <a:t>Year 3: $9,000</a:t>
            </a:r>
          </a:p>
          <a:p>
            <a:pPr algn="l" fontAlgn="base">
              <a:buFont typeface="Arial" panose="020B0604020202020204" pitchFamily="34" charset="0"/>
              <a:buChar char="•"/>
            </a:pPr>
            <a:r>
              <a:rPr lang="en-US" b="0" i="0" dirty="0">
                <a:solidFill>
                  <a:srgbClr val="33475B"/>
                </a:solidFill>
                <a:effectLst/>
                <a:latin typeface="inherit"/>
              </a:rPr>
              <a:t>Year 4: $18,000</a:t>
            </a:r>
          </a:p>
          <a:p>
            <a:endParaRPr lang="en-US" dirty="0"/>
          </a:p>
        </p:txBody>
      </p:sp>
    </p:spTree>
    <p:extLst>
      <p:ext uri="{BB962C8B-B14F-4D97-AF65-F5344CB8AC3E}">
        <p14:creationId xmlns:p14="http://schemas.microsoft.com/office/powerpoint/2010/main" val="199675836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C8CA-1B86-4B3F-B99E-F6A3D9524AEB}"/>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sp>
        <p:nvSpPr>
          <p:cNvPr id="3" name="Content Placeholder 2">
            <a:extLst>
              <a:ext uri="{FF2B5EF4-FFF2-40B4-BE49-F238E27FC236}">
                <a16:creationId xmlns:a16="http://schemas.microsoft.com/office/drawing/2014/main" id="{5D70E760-0577-4469-A5F7-0815CBF5A931}"/>
              </a:ext>
            </a:extLst>
          </p:cNvPr>
          <p:cNvSpPr>
            <a:spLocks noGrp="1"/>
          </p:cNvSpPr>
          <p:nvPr>
            <p:ph idx="1"/>
          </p:nvPr>
        </p:nvSpPr>
        <p:spPr/>
        <p:txBody>
          <a:bodyPr>
            <a:normAutofit/>
          </a:bodyPr>
          <a:lstStyle/>
          <a:p>
            <a:pPr algn="l" fontAlgn="base"/>
            <a:r>
              <a:rPr lang="en-US" b="0" i="0" dirty="0">
                <a:solidFill>
                  <a:srgbClr val="33475B"/>
                </a:solidFill>
                <a:effectLst/>
                <a:latin typeface="AvenirNext"/>
              </a:rPr>
              <a:t>Let’s calculate the present values for each year of the project:</a:t>
            </a:r>
          </a:p>
          <a:p>
            <a:pPr algn="l" fontAlgn="base">
              <a:buFont typeface="Arial" panose="020B0604020202020204" pitchFamily="34" charset="0"/>
              <a:buChar char="•"/>
            </a:pPr>
            <a:r>
              <a:rPr lang="en-US" b="0" i="0" dirty="0">
                <a:solidFill>
                  <a:srgbClr val="33475B"/>
                </a:solidFill>
                <a:effectLst/>
                <a:latin typeface="inherit"/>
              </a:rPr>
              <a:t>Year 1: 5,000/(1 + .10)^1 = $4,545</a:t>
            </a:r>
          </a:p>
          <a:p>
            <a:pPr algn="l" fontAlgn="base">
              <a:buFont typeface="Arial" panose="020B0604020202020204" pitchFamily="34" charset="0"/>
              <a:buChar char="•"/>
            </a:pPr>
            <a:r>
              <a:rPr lang="en-US" b="0" i="0" dirty="0">
                <a:solidFill>
                  <a:srgbClr val="33475B"/>
                </a:solidFill>
                <a:effectLst/>
                <a:latin typeface="inherit"/>
              </a:rPr>
              <a:t>Year 2: 15,000/(1 + .10)^2 = $12,397</a:t>
            </a:r>
          </a:p>
          <a:p>
            <a:pPr algn="l" fontAlgn="base">
              <a:buFont typeface="Arial" panose="020B0604020202020204" pitchFamily="34" charset="0"/>
              <a:buChar char="•"/>
            </a:pPr>
            <a:r>
              <a:rPr lang="en-US" b="0" i="0" dirty="0">
                <a:solidFill>
                  <a:srgbClr val="33475B"/>
                </a:solidFill>
                <a:effectLst/>
                <a:latin typeface="inherit"/>
              </a:rPr>
              <a:t>Year 3: 9,000/(1 + .10)^3 = $6,762</a:t>
            </a:r>
          </a:p>
          <a:p>
            <a:pPr algn="l" fontAlgn="base">
              <a:buFont typeface="Arial" panose="020B0604020202020204" pitchFamily="34" charset="0"/>
              <a:buChar char="•"/>
            </a:pPr>
            <a:r>
              <a:rPr lang="en-US" b="0" i="0" dirty="0">
                <a:solidFill>
                  <a:srgbClr val="33475B"/>
                </a:solidFill>
                <a:effectLst/>
                <a:latin typeface="inherit"/>
              </a:rPr>
              <a:t>Year 4: 18,000/(1 + .10)^4 = $12,294</a:t>
            </a:r>
          </a:p>
          <a:p>
            <a:endParaRPr lang="en-US" dirty="0"/>
          </a:p>
        </p:txBody>
      </p:sp>
    </p:spTree>
    <p:extLst>
      <p:ext uri="{BB962C8B-B14F-4D97-AF65-F5344CB8AC3E}">
        <p14:creationId xmlns:p14="http://schemas.microsoft.com/office/powerpoint/2010/main" val="311997722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F4E09-E04A-4018-9353-CA272E768A46}"/>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sp>
        <p:nvSpPr>
          <p:cNvPr id="3" name="Content Placeholder 2">
            <a:extLst>
              <a:ext uri="{FF2B5EF4-FFF2-40B4-BE49-F238E27FC236}">
                <a16:creationId xmlns:a16="http://schemas.microsoft.com/office/drawing/2014/main" id="{38E1AB9D-5E7B-4526-ABA4-33870A51AD8E}"/>
              </a:ext>
            </a:extLst>
          </p:cNvPr>
          <p:cNvSpPr>
            <a:spLocks noGrp="1"/>
          </p:cNvSpPr>
          <p:nvPr>
            <p:ph idx="1"/>
          </p:nvPr>
        </p:nvSpPr>
        <p:spPr/>
        <p:txBody>
          <a:bodyPr/>
          <a:lstStyle/>
          <a:p>
            <a:pPr algn="l" fontAlgn="base"/>
            <a:r>
              <a:rPr lang="en-US" b="0" i="0" dirty="0">
                <a:solidFill>
                  <a:srgbClr val="33475B"/>
                </a:solidFill>
                <a:effectLst/>
                <a:latin typeface="AvenirNext"/>
              </a:rPr>
              <a:t>Find the summation of these present values and subtract the initial investment amount to find the net present value.</a:t>
            </a:r>
          </a:p>
          <a:p>
            <a:pPr marL="0" indent="0" algn="l" fontAlgn="base">
              <a:buNone/>
            </a:pPr>
            <a:endParaRPr lang="en-US" b="0" i="0" dirty="0">
              <a:solidFill>
                <a:srgbClr val="33475B"/>
              </a:solidFill>
              <a:effectLst/>
              <a:latin typeface="AvenirNext"/>
            </a:endParaRPr>
          </a:p>
          <a:p>
            <a:pPr algn="ctr" fontAlgn="base"/>
            <a:r>
              <a:rPr lang="en-US" b="0" i="1" dirty="0">
                <a:solidFill>
                  <a:srgbClr val="33475B"/>
                </a:solidFill>
                <a:effectLst/>
                <a:latin typeface="inherit"/>
              </a:rPr>
              <a:t>NPV = ($4,545 + $12,397 + $6,762 + $12,294) - $10,000</a:t>
            </a:r>
          </a:p>
          <a:p>
            <a:pPr marL="0" indent="0" algn="ctr" fontAlgn="base">
              <a:buNone/>
            </a:pPr>
            <a:endParaRPr lang="en-US" b="0" i="0" dirty="0">
              <a:solidFill>
                <a:srgbClr val="33475B"/>
              </a:solidFill>
              <a:effectLst/>
              <a:latin typeface="AvenirNext"/>
            </a:endParaRPr>
          </a:p>
          <a:p>
            <a:pPr algn="ctr" fontAlgn="base"/>
            <a:r>
              <a:rPr lang="en-US" b="1" i="1" dirty="0">
                <a:solidFill>
                  <a:srgbClr val="33475B"/>
                </a:solidFill>
                <a:effectLst/>
                <a:latin typeface="inherit"/>
              </a:rPr>
              <a:t>NPV = $25,998</a:t>
            </a:r>
            <a:endParaRPr lang="en-US" b="0" i="0" dirty="0">
              <a:solidFill>
                <a:srgbClr val="33475B"/>
              </a:solidFill>
              <a:effectLst/>
              <a:latin typeface="AvenirNext"/>
            </a:endParaRPr>
          </a:p>
          <a:p>
            <a:endParaRPr lang="en-US" dirty="0"/>
          </a:p>
        </p:txBody>
      </p:sp>
    </p:spTree>
    <p:extLst>
      <p:ext uri="{BB962C8B-B14F-4D97-AF65-F5344CB8AC3E}">
        <p14:creationId xmlns:p14="http://schemas.microsoft.com/office/powerpoint/2010/main" val="158957668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76436-6262-4A94-9375-42D2D6FCE12B}"/>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graphicFrame>
        <p:nvGraphicFramePr>
          <p:cNvPr id="4" name="Content Placeholder 3">
            <a:extLst>
              <a:ext uri="{FF2B5EF4-FFF2-40B4-BE49-F238E27FC236}">
                <a16:creationId xmlns:a16="http://schemas.microsoft.com/office/drawing/2014/main" id="{75E21363-FC0E-4F47-9A99-DFC61C431329}"/>
              </a:ext>
            </a:extLst>
          </p:cNvPr>
          <p:cNvGraphicFramePr>
            <a:graphicFrameLocks noGrp="1"/>
          </p:cNvGraphicFramePr>
          <p:nvPr>
            <p:ph idx="1"/>
            <p:extLst>
              <p:ext uri="{D42A27DB-BD31-4B8C-83A1-F6EECF244321}">
                <p14:modId xmlns:p14="http://schemas.microsoft.com/office/powerpoint/2010/main" val="1001317180"/>
              </p:ext>
            </p:extLst>
          </p:nvPr>
        </p:nvGraphicFramePr>
        <p:xfrm>
          <a:off x="1749285" y="1898174"/>
          <a:ext cx="8746435" cy="3108960"/>
        </p:xfrm>
        <a:graphic>
          <a:graphicData uri="http://schemas.openxmlformats.org/drawingml/2006/table">
            <a:tbl>
              <a:tblPr/>
              <a:tblGrid>
                <a:gridCol w="913807">
                  <a:extLst>
                    <a:ext uri="{9D8B030D-6E8A-4147-A177-3AD203B41FA5}">
                      <a16:colId xmlns:a16="http://schemas.microsoft.com/office/drawing/2014/main" val="229248045"/>
                    </a:ext>
                  </a:extLst>
                </a:gridCol>
                <a:gridCol w="3263595">
                  <a:extLst>
                    <a:ext uri="{9D8B030D-6E8A-4147-A177-3AD203B41FA5}">
                      <a16:colId xmlns:a16="http://schemas.microsoft.com/office/drawing/2014/main" val="721685887"/>
                    </a:ext>
                  </a:extLst>
                </a:gridCol>
                <a:gridCol w="4569033">
                  <a:extLst>
                    <a:ext uri="{9D8B030D-6E8A-4147-A177-3AD203B41FA5}">
                      <a16:colId xmlns:a16="http://schemas.microsoft.com/office/drawing/2014/main" val="3067542992"/>
                    </a:ext>
                  </a:extLst>
                </a:gridCol>
              </a:tblGrid>
              <a:tr h="0">
                <a:tc>
                  <a:txBody>
                    <a:bodyPr/>
                    <a:lstStyle/>
                    <a:p>
                      <a:pPr algn="ctr"/>
                      <a:r>
                        <a:rPr lang="en-US">
                          <a:effectLst/>
                        </a:rPr>
                        <a:t>If...</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a:effectLst/>
                        </a:rPr>
                        <a:t>It means...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a:effectLst/>
                        </a:rPr>
                        <a:t>Then...</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3595571533"/>
                  </a:ext>
                </a:extLst>
              </a:tr>
              <a:tr h="0">
                <a:tc>
                  <a:txBody>
                    <a:bodyPr/>
                    <a:lstStyle/>
                    <a:p>
                      <a:pPr algn="ctr"/>
                      <a:r>
                        <a:rPr lang="en-US">
                          <a:effectLst/>
                        </a:rPr>
                        <a:t>NPV &gt; 0</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a:effectLst/>
                        </a:rPr>
                        <a:t>the investment would add value to the firm</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a:effectLst/>
                        </a:rPr>
                        <a:t>the project may be accepted</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466470442"/>
                  </a:ext>
                </a:extLst>
              </a:tr>
              <a:tr h="0">
                <a:tc>
                  <a:txBody>
                    <a:bodyPr/>
                    <a:lstStyle/>
                    <a:p>
                      <a:pPr algn="ctr"/>
                      <a:r>
                        <a:rPr lang="en-US">
                          <a:effectLst/>
                        </a:rPr>
                        <a:t>NPV &lt; 0</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a:effectLst/>
                        </a:rPr>
                        <a:t>the investment would subtract value from the firm</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a:effectLst/>
                        </a:rPr>
                        <a:t>the project may be rejected</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977268446"/>
                  </a:ext>
                </a:extLst>
              </a:tr>
              <a:tr h="0">
                <a:tc>
                  <a:txBody>
                    <a:bodyPr/>
                    <a:lstStyle/>
                    <a:p>
                      <a:pPr algn="ctr"/>
                      <a:r>
                        <a:rPr lang="en-US">
                          <a:effectLst/>
                        </a:rPr>
                        <a:t>NPV = 0</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a:effectLst/>
                        </a:rPr>
                        <a:t>the investment would neither gain nor lose value for the firm</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dirty="0">
                          <a:effectLst/>
                        </a:rPr>
                        <a:t>We should be indifferent in the decision whether to accept or reject the project. This project adds no monetary value. Decision should be based on other  factors not explicitly included in the calculation.</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810400604"/>
                  </a:ext>
                </a:extLst>
              </a:tr>
            </a:tbl>
          </a:graphicData>
        </a:graphic>
      </p:graphicFrame>
    </p:spTree>
    <p:extLst>
      <p:ext uri="{BB962C8B-B14F-4D97-AF65-F5344CB8AC3E}">
        <p14:creationId xmlns:p14="http://schemas.microsoft.com/office/powerpoint/2010/main" val="56056808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C83F1-ABE4-4863-A2A0-C8D3F7A67828}"/>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sp>
        <p:nvSpPr>
          <p:cNvPr id="3" name="Content Placeholder 2">
            <a:extLst>
              <a:ext uri="{FF2B5EF4-FFF2-40B4-BE49-F238E27FC236}">
                <a16:creationId xmlns:a16="http://schemas.microsoft.com/office/drawing/2014/main" id="{1ACE47AF-ED21-457E-AFD0-A622AD0005C4}"/>
              </a:ext>
            </a:extLst>
          </p:cNvPr>
          <p:cNvSpPr>
            <a:spLocks noGrp="1"/>
          </p:cNvSpPr>
          <p:nvPr>
            <p:ph idx="1"/>
          </p:nvPr>
        </p:nvSpPr>
        <p:spPr/>
        <p:txBody>
          <a:bodyPr/>
          <a:lstStyle/>
          <a:p>
            <a:pPr marL="0" indent="0" algn="l" fontAlgn="base">
              <a:buNone/>
            </a:pPr>
            <a:r>
              <a:rPr lang="en-US" b="1" i="0" dirty="0">
                <a:solidFill>
                  <a:srgbClr val="33475B"/>
                </a:solidFill>
                <a:effectLst/>
                <a:latin typeface="AvenirNext"/>
              </a:rPr>
              <a:t>Project 2</a:t>
            </a:r>
          </a:p>
          <a:p>
            <a:pPr algn="l" fontAlgn="base">
              <a:buFont typeface="Arial" panose="020B0604020202020204" pitchFamily="34" charset="0"/>
              <a:buChar char="•"/>
            </a:pPr>
            <a:r>
              <a:rPr lang="en-US" b="0" i="0" dirty="0">
                <a:solidFill>
                  <a:srgbClr val="33475B"/>
                </a:solidFill>
                <a:effectLst/>
                <a:latin typeface="inherit"/>
              </a:rPr>
              <a:t>Initial investment: $5,000</a:t>
            </a:r>
          </a:p>
          <a:p>
            <a:pPr algn="l" fontAlgn="base">
              <a:buFont typeface="Arial" panose="020B0604020202020204" pitchFamily="34" charset="0"/>
              <a:buChar char="•"/>
            </a:pPr>
            <a:r>
              <a:rPr lang="en-US" b="0" i="0" dirty="0">
                <a:solidFill>
                  <a:srgbClr val="33475B"/>
                </a:solidFill>
                <a:effectLst/>
                <a:latin typeface="inherit"/>
              </a:rPr>
              <a:t>Discount rate: 10%</a:t>
            </a:r>
          </a:p>
          <a:p>
            <a:pPr algn="l" fontAlgn="base">
              <a:buFont typeface="Arial" panose="020B0604020202020204" pitchFamily="34" charset="0"/>
              <a:buChar char="•"/>
            </a:pPr>
            <a:r>
              <a:rPr lang="en-US" b="0" i="0" dirty="0">
                <a:solidFill>
                  <a:srgbClr val="33475B"/>
                </a:solidFill>
                <a:effectLst/>
                <a:latin typeface="inherit"/>
              </a:rPr>
              <a:t>Year 1: $8,000</a:t>
            </a:r>
          </a:p>
          <a:p>
            <a:pPr algn="l" fontAlgn="base">
              <a:buFont typeface="Arial" panose="020B0604020202020204" pitchFamily="34" charset="0"/>
              <a:buChar char="•"/>
            </a:pPr>
            <a:r>
              <a:rPr lang="en-US" b="0" i="0" dirty="0">
                <a:solidFill>
                  <a:srgbClr val="33475B"/>
                </a:solidFill>
                <a:effectLst/>
                <a:latin typeface="inherit"/>
              </a:rPr>
              <a:t>Year 2: $16,000</a:t>
            </a:r>
          </a:p>
          <a:p>
            <a:endParaRPr lang="en-US" dirty="0"/>
          </a:p>
        </p:txBody>
      </p:sp>
    </p:spTree>
    <p:extLst>
      <p:ext uri="{BB962C8B-B14F-4D97-AF65-F5344CB8AC3E}">
        <p14:creationId xmlns:p14="http://schemas.microsoft.com/office/powerpoint/2010/main" val="204765878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75A65-A425-459F-B370-E796C3C1B147}"/>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sp>
        <p:nvSpPr>
          <p:cNvPr id="3" name="Content Placeholder 2">
            <a:extLst>
              <a:ext uri="{FF2B5EF4-FFF2-40B4-BE49-F238E27FC236}">
                <a16:creationId xmlns:a16="http://schemas.microsoft.com/office/drawing/2014/main" id="{9F4D7741-E20F-4714-B6D8-3136FCB29FA4}"/>
              </a:ext>
            </a:extLst>
          </p:cNvPr>
          <p:cNvSpPr>
            <a:spLocks noGrp="1"/>
          </p:cNvSpPr>
          <p:nvPr>
            <p:ph idx="1"/>
          </p:nvPr>
        </p:nvSpPr>
        <p:spPr/>
        <p:txBody>
          <a:bodyPr/>
          <a:lstStyle/>
          <a:p>
            <a:pPr algn="l" fontAlgn="base"/>
            <a:r>
              <a:rPr lang="en-US" b="0" i="0" dirty="0">
                <a:solidFill>
                  <a:srgbClr val="33475B"/>
                </a:solidFill>
                <a:effectLst/>
                <a:latin typeface="AvenirNext"/>
              </a:rPr>
              <a:t>Let’s calculate the present values for each year of the project:</a:t>
            </a:r>
          </a:p>
          <a:p>
            <a:pPr algn="l" fontAlgn="base">
              <a:buFont typeface="Arial" panose="020B0604020202020204" pitchFamily="34" charset="0"/>
              <a:buChar char="•"/>
            </a:pPr>
            <a:r>
              <a:rPr lang="en-US" b="0" i="0" dirty="0">
                <a:solidFill>
                  <a:srgbClr val="33475B"/>
                </a:solidFill>
                <a:effectLst/>
                <a:latin typeface="inherit"/>
              </a:rPr>
              <a:t>Year 1: 8,000/(1 + .10)^1 = $7,273</a:t>
            </a:r>
          </a:p>
          <a:p>
            <a:pPr algn="l" fontAlgn="base">
              <a:buFont typeface="Arial" panose="020B0604020202020204" pitchFamily="34" charset="0"/>
              <a:buChar char="•"/>
            </a:pPr>
            <a:r>
              <a:rPr lang="en-US" b="0" i="0" dirty="0">
                <a:solidFill>
                  <a:srgbClr val="33475B"/>
                </a:solidFill>
                <a:effectLst/>
                <a:latin typeface="inherit"/>
              </a:rPr>
              <a:t>Year 2: 16,000/(1 + .10)^2 = $13,223</a:t>
            </a:r>
          </a:p>
          <a:p>
            <a:pPr algn="l" fontAlgn="base"/>
            <a:r>
              <a:rPr lang="en-US" b="0" i="0" dirty="0">
                <a:solidFill>
                  <a:srgbClr val="33475B"/>
                </a:solidFill>
                <a:effectLst/>
                <a:latin typeface="AvenirNext"/>
              </a:rPr>
              <a:t>Here is the resulting formula after the present value is calculated for each cash flow and time period:</a:t>
            </a:r>
          </a:p>
          <a:p>
            <a:pPr algn="ctr" fontAlgn="base"/>
            <a:r>
              <a:rPr lang="en-US" b="0" i="1" dirty="0">
                <a:solidFill>
                  <a:srgbClr val="33475B"/>
                </a:solidFill>
                <a:effectLst/>
                <a:latin typeface="inherit"/>
              </a:rPr>
              <a:t>NPV = ($7,273 + $13,223) - $5,000</a:t>
            </a:r>
            <a:endParaRPr lang="en-US" b="0" i="0" dirty="0">
              <a:solidFill>
                <a:srgbClr val="33475B"/>
              </a:solidFill>
              <a:effectLst/>
              <a:latin typeface="AvenirNext"/>
            </a:endParaRPr>
          </a:p>
          <a:p>
            <a:pPr algn="ctr" fontAlgn="base"/>
            <a:r>
              <a:rPr lang="en-US" b="1" i="1" dirty="0">
                <a:solidFill>
                  <a:srgbClr val="33475B"/>
                </a:solidFill>
                <a:effectLst/>
                <a:latin typeface="inherit"/>
              </a:rPr>
              <a:t>NPV = $15,496</a:t>
            </a:r>
            <a:endParaRPr lang="en-US" b="0" i="0" dirty="0">
              <a:solidFill>
                <a:srgbClr val="33475B"/>
              </a:solidFill>
              <a:effectLst/>
              <a:latin typeface="AvenirNext"/>
            </a:endParaRPr>
          </a:p>
          <a:p>
            <a:endParaRPr lang="en-US" dirty="0"/>
          </a:p>
        </p:txBody>
      </p:sp>
    </p:spTree>
    <p:extLst>
      <p:ext uri="{BB962C8B-B14F-4D97-AF65-F5344CB8AC3E}">
        <p14:creationId xmlns:p14="http://schemas.microsoft.com/office/powerpoint/2010/main" val="135738162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264A-053A-4133-A8DD-B25493AFF451}"/>
              </a:ext>
            </a:extLst>
          </p:cNvPr>
          <p:cNvSpPr>
            <a:spLocks noGrp="1"/>
          </p:cNvSpPr>
          <p:nvPr>
            <p:ph type="title"/>
          </p:nvPr>
        </p:nvSpPr>
        <p:spPr/>
        <p:txBody>
          <a:bodyPr/>
          <a:lstStyle/>
          <a:p>
            <a:r>
              <a:rPr lang="en-US" b="0" i="0" dirty="0">
                <a:solidFill>
                  <a:srgbClr val="111111"/>
                </a:solidFill>
                <a:effectLst/>
                <a:latin typeface="SourceSansPro"/>
              </a:rPr>
              <a:t>Net Present Value (NPV)</a:t>
            </a:r>
            <a:endParaRPr lang="en-US" dirty="0"/>
          </a:p>
        </p:txBody>
      </p:sp>
      <p:sp>
        <p:nvSpPr>
          <p:cNvPr id="3" name="Content Placeholder 2">
            <a:extLst>
              <a:ext uri="{FF2B5EF4-FFF2-40B4-BE49-F238E27FC236}">
                <a16:creationId xmlns:a16="http://schemas.microsoft.com/office/drawing/2014/main" id="{7ECE6A22-0DE5-4626-AD13-1F377A75603A}"/>
              </a:ext>
            </a:extLst>
          </p:cNvPr>
          <p:cNvSpPr>
            <a:spLocks noGrp="1"/>
          </p:cNvSpPr>
          <p:nvPr>
            <p:ph idx="1"/>
          </p:nvPr>
        </p:nvSpPr>
        <p:spPr/>
        <p:txBody>
          <a:bodyPr/>
          <a:lstStyle/>
          <a:p>
            <a:r>
              <a:rPr lang="en-US" dirty="0"/>
              <a:t>The NPV for Project 1 is $25,998 and Project 2 is $15,496. Since Project 1 has a higher NPV value, Pet Supply Company should invest in that project.</a:t>
            </a:r>
          </a:p>
        </p:txBody>
      </p:sp>
    </p:spTree>
    <p:extLst>
      <p:ext uri="{BB962C8B-B14F-4D97-AF65-F5344CB8AC3E}">
        <p14:creationId xmlns:p14="http://schemas.microsoft.com/office/powerpoint/2010/main" val="91309836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3A7D1-585B-4010-A4C5-CBD3B3B8ABF8}"/>
              </a:ext>
            </a:extLst>
          </p:cNvPr>
          <p:cNvSpPr>
            <a:spLocks noGrp="1"/>
          </p:cNvSpPr>
          <p:nvPr>
            <p:ph type="title"/>
          </p:nvPr>
        </p:nvSpPr>
        <p:spPr/>
        <p:txBody>
          <a:bodyPr>
            <a:normAutofit fontScale="90000"/>
          </a:bodyPr>
          <a:lstStyle/>
          <a:p>
            <a:r>
              <a:rPr lang="en-US" b="1" i="0" dirty="0">
                <a:solidFill>
                  <a:srgbClr val="323643"/>
                </a:solidFill>
                <a:effectLst/>
                <a:latin typeface="Arial" panose="020B0604020202020204" pitchFamily="34" charset="0"/>
              </a:rPr>
              <a:t>Internal Rate of Return (IRR)</a:t>
            </a:r>
            <a:br>
              <a:rPr lang="en-US" b="1" i="0" dirty="0">
                <a:solidFill>
                  <a:srgbClr val="323643"/>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3D68A27C-7597-42D5-80AA-A4ADEA9D403C}"/>
              </a:ext>
            </a:extLst>
          </p:cNvPr>
          <p:cNvSpPr>
            <a:spLocks noGrp="1"/>
          </p:cNvSpPr>
          <p:nvPr>
            <p:ph idx="1"/>
          </p:nvPr>
        </p:nvSpPr>
        <p:spPr/>
        <p:txBody>
          <a:bodyPr/>
          <a:lstStyle/>
          <a:p>
            <a:r>
              <a:rPr lang="en-US" dirty="0"/>
              <a:t>The IRR for a specific project is the rate that equates the net present value of future cash flows from the project to zero. </a:t>
            </a:r>
          </a:p>
          <a:p>
            <a:r>
              <a:rPr lang="en-US" dirty="0"/>
              <a:t>In other words, if we computed the present value of future cash flows from a potential project using the internal rate as the discount rate and subtracted out the original investment, our net present value of the project would be zero.</a:t>
            </a:r>
          </a:p>
        </p:txBody>
      </p:sp>
    </p:spTree>
    <p:extLst>
      <p:ext uri="{BB962C8B-B14F-4D97-AF65-F5344CB8AC3E}">
        <p14:creationId xmlns:p14="http://schemas.microsoft.com/office/powerpoint/2010/main" val="51649236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80B2-B3D1-42C7-AFB6-C0CE2B8DE68A}"/>
              </a:ext>
            </a:extLst>
          </p:cNvPr>
          <p:cNvSpPr>
            <a:spLocks noGrp="1"/>
          </p:cNvSpPr>
          <p:nvPr>
            <p:ph type="title"/>
          </p:nvPr>
        </p:nvSpPr>
        <p:spPr/>
        <p:txBody>
          <a:bodyPr>
            <a:normAutofit fontScale="90000"/>
          </a:bodyPr>
          <a:lstStyle/>
          <a:p>
            <a:r>
              <a:rPr lang="en-US" b="1" i="0" dirty="0">
                <a:solidFill>
                  <a:srgbClr val="323643"/>
                </a:solidFill>
                <a:effectLst/>
                <a:latin typeface="Arial" panose="020B0604020202020204" pitchFamily="34" charset="0"/>
              </a:rPr>
              <a:t>Internal Rate of Return (IRR)</a:t>
            </a:r>
            <a:br>
              <a:rPr lang="en-US" b="1" i="0" dirty="0">
                <a:solidFill>
                  <a:srgbClr val="323643"/>
                </a:solidFill>
                <a:effectLst/>
                <a:latin typeface="Arial" panose="020B0604020202020204" pitchFamily="34" charset="0"/>
              </a:rPr>
            </a:br>
            <a:endParaRPr lang="en-US" dirty="0"/>
          </a:p>
        </p:txBody>
      </p:sp>
      <p:pic>
        <p:nvPicPr>
          <p:cNvPr id="4" name="Content Placeholder 3">
            <a:extLst>
              <a:ext uri="{FF2B5EF4-FFF2-40B4-BE49-F238E27FC236}">
                <a16:creationId xmlns:a16="http://schemas.microsoft.com/office/drawing/2014/main" id="{C5306D3A-269A-406B-AE1D-24DFB5056254}"/>
              </a:ext>
            </a:extLst>
          </p:cNvPr>
          <p:cNvPicPr>
            <a:picLocks noGrp="1" noChangeAspect="1"/>
          </p:cNvPicPr>
          <p:nvPr>
            <p:ph idx="1"/>
          </p:nvPr>
        </p:nvPicPr>
        <p:blipFill>
          <a:blip r:embed="rId2"/>
          <a:stretch>
            <a:fillRect/>
          </a:stretch>
        </p:blipFill>
        <p:spPr>
          <a:xfrm>
            <a:off x="1179445" y="1690691"/>
            <a:ext cx="10296939" cy="25632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1637338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855-7EE9-408D-A0CA-5A6A2B92C8BC}"/>
              </a:ext>
            </a:extLst>
          </p:cNvPr>
          <p:cNvSpPr>
            <a:spLocks noGrp="1"/>
          </p:cNvSpPr>
          <p:nvPr>
            <p:ph type="title"/>
          </p:nvPr>
        </p:nvSpPr>
        <p:spPr/>
        <p:txBody>
          <a:bodyPr>
            <a:normAutofit fontScale="90000"/>
          </a:bodyPr>
          <a:lstStyle/>
          <a:p>
            <a:r>
              <a:rPr lang="en-US" b="1" i="0" dirty="0">
                <a:solidFill>
                  <a:srgbClr val="323643"/>
                </a:solidFill>
                <a:effectLst/>
                <a:latin typeface="Arial" panose="020B0604020202020204" pitchFamily="34" charset="0"/>
              </a:rPr>
              <a:t>Internal Rate of Return (IRR)</a:t>
            </a:r>
            <a:br>
              <a:rPr lang="en-US" b="1" i="0" dirty="0">
                <a:solidFill>
                  <a:srgbClr val="323643"/>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3DE5940D-8C2C-43C1-B587-D779FE843383}"/>
              </a:ext>
            </a:extLst>
          </p:cNvPr>
          <p:cNvSpPr>
            <a:spLocks noGrp="1"/>
          </p:cNvSpPr>
          <p:nvPr>
            <p:ph idx="1"/>
          </p:nvPr>
        </p:nvSpPr>
        <p:spPr/>
        <p:txBody>
          <a:bodyPr/>
          <a:lstStyle/>
          <a:p>
            <a:r>
              <a:rPr lang="en-US" dirty="0"/>
              <a:t> The only variable in the internal rate of return equation that management won’t know is the IRR. They will know how much capital is required to start the project and they will have a reasonable estimate of the future income of the investment. </a:t>
            </a:r>
          </a:p>
          <a:p>
            <a:r>
              <a:rPr lang="en-US" dirty="0"/>
              <a:t>This means we will have solve for the discount rate that will make the NPV equal to zero.</a:t>
            </a:r>
          </a:p>
          <a:p>
            <a:endParaRPr lang="en-US" dirty="0"/>
          </a:p>
          <a:p>
            <a:endParaRPr lang="en-US" dirty="0"/>
          </a:p>
        </p:txBody>
      </p:sp>
    </p:spTree>
    <p:extLst>
      <p:ext uri="{BB962C8B-B14F-4D97-AF65-F5344CB8AC3E}">
        <p14:creationId xmlns:p14="http://schemas.microsoft.com/office/powerpoint/2010/main" val="425052873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77A0-23D3-4D05-9B6A-E39747EE5582}"/>
              </a:ext>
            </a:extLst>
          </p:cNvPr>
          <p:cNvSpPr>
            <a:spLocks noGrp="1"/>
          </p:cNvSpPr>
          <p:nvPr>
            <p:ph type="title"/>
          </p:nvPr>
        </p:nvSpPr>
        <p:spPr/>
        <p:txBody>
          <a:bodyPr>
            <a:normAutofit fontScale="90000"/>
          </a:bodyPr>
          <a:lstStyle/>
          <a:p>
            <a:r>
              <a:rPr lang="en-US" b="1" i="0" dirty="0">
                <a:solidFill>
                  <a:srgbClr val="323643"/>
                </a:solidFill>
                <a:effectLst/>
                <a:latin typeface="Arial" panose="020B0604020202020204" pitchFamily="34" charset="0"/>
              </a:rPr>
              <a:t>Internal Rate of Return (IRR)</a:t>
            </a:r>
            <a:br>
              <a:rPr lang="en-US" b="1" i="0" dirty="0">
                <a:solidFill>
                  <a:srgbClr val="323643"/>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1C84580D-A83D-4F80-B23E-822C89038186}"/>
              </a:ext>
            </a:extLst>
          </p:cNvPr>
          <p:cNvSpPr>
            <a:spLocks noGrp="1"/>
          </p:cNvSpPr>
          <p:nvPr>
            <p:ph idx="1"/>
          </p:nvPr>
        </p:nvSpPr>
        <p:spPr/>
        <p:txBody>
          <a:bodyPr/>
          <a:lstStyle/>
          <a:p>
            <a:r>
              <a:rPr lang="en-US" dirty="0"/>
              <a:t>Tom is considering purchasing a new machine, but he is unsure if it’s the best use of company funds at this point in time. With the new $100,000 machine, Tom will be able to take on a new order that will pay $20,000, $30,000, $40,000, and $40,000 in revenue.</a:t>
            </a:r>
          </a:p>
          <a:p>
            <a:r>
              <a:rPr lang="en-US" dirty="0"/>
              <a:t>You can start with an approximate rate and adjust from there(trial and error basis). Let’s start with 8 percent.</a:t>
            </a:r>
          </a:p>
        </p:txBody>
      </p:sp>
    </p:spTree>
    <p:extLst>
      <p:ext uri="{BB962C8B-B14F-4D97-AF65-F5344CB8AC3E}">
        <p14:creationId xmlns:p14="http://schemas.microsoft.com/office/powerpoint/2010/main" val="368686142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DD4FE-C8CC-4409-9AE2-95D7A1BDFCFB}"/>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323643"/>
                </a:solidFill>
                <a:effectLst/>
                <a:uLnTx/>
                <a:uFillTx/>
                <a:latin typeface="Arial" panose="020B0604020202020204" pitchFamily="34" charset="0"/>
                <a:ea typeface="+mj-ea"/>
                <a:cs typeface="+mj-cs"/>
              </a:rPr>
              <a:t>Internal Rate of Return (IRR)</a:t>
            </a:r>
            <a:endParaRPr lang="en-US" dirty="0"/>
          </a:p>
        </p:txBody>
      </p:sp>
      <p:pic>
        <p:nvPicPr>
          <p:cNvPr id="3074" name="Picture 2" descr="Internal Rate of Return IRR Formula">
            <a:extLst>
              <a:ext uri="{FF2B5EF4-FFF2-40B4-BE49-F238E27FC236}">
                <a16:creationId xmlns:a16="http://schemas.microsoft.com/office/drawing/2014/main" id="{DB83BACE-E196-4110-B554-9F538D97A59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89043" y="2199862"/>
            <a:ext cx="8481392" cy="2027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43615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FDE7B-40AF-45F3-9A96-C11855224202}"/>
              </a:ext>
            </a:extLst>
          </p:cNvPr>
          <p:cNvSpPr>
            <a:spLocks noGrp="1"/>
          </p:cNvSpPr>
          <p:nvPr>
            <p:ph type="title"/>
          </p:nvPr>
        </p:nvSpPr>
        <p:spPr/>
        <p:txBody>
          <a:bodyPr/>
          <a:lstStyle/>
          <a:p>
            <a:r>
              <a:rPr lang="en-US" b="1" i="0" dirty="0">
                <a:solidFill>
                  <a:srgbClr val="323643"/>
                </a:solidFill>
                <a:effectLst/>
                <a:latin typeface="Arial" panose="020B0604020202020204" pitchFamily="34" charset="0"/>
              </a:rPr>
              <a:t>Internal Rate of Return (IRR)</a:t>
            </a:r>
            <a:endParaRPr lang="en-US" dirty="0"/>
          </a:p>
        </p:txBody>
      </p:sp>
      <p:sp>
        <p:nvSpPr>
          <p:cNvPr id="3" name="Content Placeholder 2">
            <a:extLst>
              <a:ext uri="{FF2B5EF4-FFF2-40B4-BE49-F238E27FC236}">
                <a16:creationId xmlns:a16="http://schemas.microsoft.com/office/drawing/2014/main" id="{E8C0FC1F-1F87-4663-AD04-9437C875671D}"/>
              </a:ext>
            </a:extLst>
          </p:cNvPr>
          <p:cNvSpPr>
            <a:spLocks noGrp="1"/>
          </p:cNvSpPr>
          <p:nvPr>
            <p:ph idx="1"/>
          </p:nvPr>
        </p:nvSpPr>
        <p:spPr/>
        <p:txBody>
          <a:bodyPr/>
          <a:lstStyle/>
          <a:p>
            <a:r>
              <a:rPr lang="en-US" dirty="0"/>
              <a:t>As you can see, our ending NPV is not equal to zero. </a:t>
            </a:r>
          </a:p>
          <a:p>
            <a:r>
              <a:rPr lang="en-US" dirty="0"/>
              <a:t>Since it’s a positive number, we need to increase the estimated internal rate. Let’s increase it to 10 percent and recalculate.</a:t>
            </a:r>
          </a:p>
        </p:txBody>
      </p:sp>
    </p:spTree>
    <p:extLst>
      <p:ext uri="{BB962C8B-B14F-4D97-AF65-F5344CB8AC3E}">
        <p14:creationId xmlns:p14="http://schemas.microsoft.com/office/powerpoint/2010/main" val="2554265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6C2C-C292-4577-A11F-289EE1CFD16D}"/>
              </a:ext>
            </a:extLst>
          </p:cNvPr>
          <p:cNvSpPr>
            <a:spLocks noGrp="1"/>
          </p:cNvSpPr>
          <p:nvPr>
            <p:ph type="title"/>
          </p:nvPr>
        </p:nvSpPr>
        <p:spPr/>
        <p:txBody>
          <a:bodyPr/>
          <a:lstStyle/>
          <a:p>
            <a:r>
              <a:rPr lang="en-US" b="1" i="0" dirty="0">
                <a:solidFill>
                  <a:srgbClr val="323643"/>
                </a:solidFill>
                <a:effectLst/>
                <a:latin typeface="Arial" panose="020B0604020202020204" pitchFamily="34" charset="0"/>
              </a:rPr>
              <a:t>Internal Rate of Return (IRR)</a:t>
            </a:r>
            <a:endParaRPr lang="en-US" dirty="0"/>
          </a:p>
        </p:txBody>
      </p:sp>
      <p:pic>
        <p:nvPicPr>
          <p:cNvPr id="4" name="Content Placeholder 3">
            <a:extLst>
              <a:ext uri="{FF2B5EF4-FFF2-40B4-BE49-F238E27FC236}">
                <a16:creationId xmlns:a16="http://schemas.microsoft.com/office/drawing/2014/main" id="{4D6CB22E-F571-46FE-9942-42B0D89A372E}"/>
              </a:ext>
            </a:extLst>
          </p:cNvPr>
          <p:cNvPicPr>
            <a:picLocks noGrp="1" noChangeAspect="1"/>
          </p:cNvPicPr>
          <p:nvPr>
            <p:ph idx="1"/>
          </p:nvPr>
        </p:nvPicPr>
        <p:blipFill>
          <a:blip r:embed="rId2"/>
          <a:stretch>
            <a:fillRect/>
          </a:stretch>
        </p:blipFill>
        <p:spPr>
          <a:xfrm>
            <a:off x="3119437" y="3601244"/>
            <a:ext cx="5953125" cy="523875"/>
          </a:xfrm>
          <a:prstGeom prst="rect">
            <a:avLst/>
          </a:prstGeom>
        </p:spPr>
      </p:pic>
    </p:spTree>
    <p:extLst>
      <p:ext uri="{BB962C8B-B14F-4D97-AF65-F5344CB8AC3E}">
        <p14:creationId xmlns:p14="http://schemas.microsoft.com/office/powerpoint/2010/main" val="392047528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04BB2-7FF9-49EC-97CF-AD42AB3F3699}"/>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323643"/>
                </a:solidFill>
                <a:effectLst/>
                <a:uLnTx/>
                <a:uFillTx/>
                <a:latin typeface="Arial" panose="020B0604020202020204" pitchFamily="34" charset="0"/>
                <a:ea typeface="+mj-ea"/>
                <a:cs typeface="+mj-cs"/>
              </a:rPr>
              <a:t>Internal Rate of Return (IRR)</a:t>
            </a:r>
            <a:endParaRPr lang="en-US" dirty="0"/>
          </a:p>
        </p:txBody>
      </p:sp>
      <p:sp>
        <p:nvSpPr>
          <p:cNvPr id="3" name="Content Placeholder 2">
            <a:extLst>
              <a:ext uri="{FF2B5EF4-FFF2-40B4-BE49-F238E27FC236}">
                <a16:creationId xmlns:a16="http://schemas.microsoft.com/office/drawing/2014/main" id="{E5A55639-BD25-4CFA-AA34-922632A7178F}"/>
              </a:ext>
            </a:extLst>
          </p:cNvPr>
          <p:cNvSpPr>
            <a:spLocks noGrp="1"/>
          </p:cNvSpPr>
          <p:nvPr>
            <p:ph idx="1"/>
          </p:nvPr>
        </p:nvSpPr>
        <p:spPr/>
        <p:txBody>
          <a:bodyPr>
            <a:normAutofit fontScale="92500" lnSpcReduction="20000"/>
          </a:bodyPr>
          <a:lstStyle/>
          <a:p>
            <a:r>
              <a:rPr lang="en-US" b="0" i="0" dirty="0">
                <a:solidFill>
                  <a:srgbClr val="212121"/>
                </a:solidFill>
                <a:effectLst/>
                <a:latin typeface="Arial" panose="020B0604020202020204" pitchFamily="34" charset="0"/>
              </a:rPr>
              <a:t>Based on IRR, a company will decide to either accept or reject a project.</a:t>
            </a:r>
          </a:p>
          <a:p>
            <a:r>
              <a:rPr lang="en-US" b="0" i="0" dirty="0">
                <a:solidFill>
                  <a:srgbClr val="212121"/>
                </a:solidFill>
                <a:effectLst/>
                <a:latin typeface="Arial" panose="020B0604020202020204" pitchFamily="34" charset="0"/>
              </a:rPr>
              <a:t>If the IRR of a new project exceeds a company’s required rate of return, that project will most likely be accepted. If IRR falls below the required rate of return, the project should be rejected.</a:t>
            </a:r>
          </a:p>
          <a:p>
            <a:r>
              <a:rPr lang="en-US" dirty="0"/>
              <a:t>The hurdle rate or required rate of return is a minimum return expected by an organization on the investment they are making. Most organizations keep a hurdle rate, and any project with an Internal Rate of Return exceeding the hurdle rate is considered profitable.</a:t>
            </a:r>
          </a:p>
        </p:txBody>
      </p:sp>
    </p:spTree>
    <p:extLst>
      <p:ext uri="{BB962C8B-B14F-4D97-AF65-F5344CB8AC3E}">
        <p14:creationId xmlns:p14="http://schemas.microsoft.com/office/powerpoint/2010/main" val="398974198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BB84-3B90-478A-A7A1-63F4E1195FB8}"/>
              </a:ext>
            </a:extLst>
          </p:cNvPr>
          <p:cNvSpPr>
            <a:spLocks noGrp="1"/>
          </p:cNvSpPr>
          <p:nvPr>
            <p:ph type="title"/>
          </p:nvPr>
        </p:nvSpPr>
        <p:spPr/>
        <p:txBody>
          <a:bodyPr/>
          <a:lstStyle/>
          <a:p>
            <a:r>
              <a:rPr lang="en-US" dirty="0"/>
              <a:t>Banking System </a:t>
            </a:r>
          </a:p>
        </p:txBody>
      </p:sp>
      <p:sp>
        <p:nvSpPr>
          <p:cNvPr id="3" name="Content Placeholder 2">
            <a:extLst>
              <a:ext uri="{FF2B5EF4-FFF2-40B4-BE49-F238E27FC236}">
                <a16:creationId xmlns:a16="http://schemas.microsoft.com/office/drawing/2014/main" id="{1BF7A70F-F633-4F82-8E3F-993E764E2FE1}"/>
              </a:ext>
            </a:extLst>
          </p:cNvPr>
          <p:cNvSpPr>
            <a:spLocks noGrp="1"/>
          </p:cNvSpPr>
          <p:nvPr>
            <p:ph idx="1"/>
          </p:nvPr>
        </p:nvSpPr>
        <p:spPr/>
        <p:txBody>
          <a:bodyPr/>
          <a:lstStyle/>
          <a:p>
            <a:pPr marL="0" indent="0">
              <a:buNone/>
            </a:pPr>
            <a:r>
              <a:rPr lang="en-US" b="1" dirty="0"/>
              <a:t>Roles of Bangladesh Bank.</a:t>
            </a:r>
          </a:p>
          <a:p>
            <a:r>
              <a:rPr lang="en-US" b="1" dirty="0"/>
              <a:t> Roles of Commercial Banks.</a:t>
            </a:r>
          </a:p>
          <a:p>
            <a:endParaRPr lang="en-US" dirty="0"/>
          </a:p>
        </p:txBody>
      </p:sp>
    </p:spTree>
    <p:extLst>
      <p:ext uri="{BB962C8B-B14F-4D97-AF65-F5344CB8AC3E}">
        <p14:creationId xmlns:p14="http://schemas.microsoft.com/office/powerpoint/2010/main" val="32789304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577" y="0"/>
            <a:ext cx="11220994" cy="701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437614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Bangladesh: From LDCs to Developing Nation</a:t>
            </a:r>
          </a:p>
        </p:txBody>
      </p:sp>
      <p:sp>
        <p:nvSpPr>
          <p:cNvPr id="3" name="Content Placeholder 2"/>
          <p:cNvSpPr>
            <a:spLocks noGrp="1"/>
          </p:cNvSpPr>
          <p:nvPr>
            <p:ph idx="1"/>
          </p:nvPr>
        </p:nvSpPr>
        <p:spPr/>
        <p:txBody>
          <a:bodyPr/>
          <a:lstStyle/>
          <a:p>
            <a:pPr algn="just"/>
            <a:r>
              <a:rPr lang="en-US" dirty="0"/>
              <a:t>BD’s per capita GNI was USD 1274 in 2018 which is above the UN threshold of USD 1230.</a:t>
            </a:r>
          </a:p>
          <a:p>
            <a:pPr algn="just"/>
            <a:r>
              <a:rPr lang="en-US" dirty="0"/>
              <a:t>In case HAI, BD has scored 73.2, higher than the UN threshold level of 66. Human Assets Index.</a:t>
            </a:r>
          </a:p>
          <a:p>
            <a:pPr algn="just"/>
            <a:r>
              <a:rPr lang="en-US" dirty="0"/>
              <a:t>On the EVI, BD scored 25.2 which has to be below 32.Economic Vulnerability index</a:t>
            </a:r>
          </a:p>
          <a:p>
            <a:endParaRPr lang="en-US" dirty="0"/>
          </a:p>
        </p:txBody>
      </p:sp>
    </p:spTree>
    <p:extLst>
      <p:ext uri="{BB962C8B-B14F-4D97-AF65-F5344CB8AC3E}">
        <p14:creationId xmlns:p14="http://schemas.microsoft.com/office/powerpoint/2010/main" val="213871011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Bangladesh: From LDCs to Developing Nation</a:t>
            </a:r>
          </a:p>
        </p:txBody>
      </p:sp>
      <p:sp>
        <p:nvSpPr>
          <p:cNvPr id="3" name="Content Placeholder 2"/>
          <p:cNvSpPr>
            <a:spLocks noGrp="1"/>
          </p:cNvSpPr>
          <p:nvPr>
            <p:ph idx="1"/>
          </p:nvPr>
        </p:nvSpPr>
        <p:spPr/>
        <p:txBody>
          <a:bodyPr>
            <a:normAutofit fontScale="92500" lnSpcReduction="10000"/>
          </a:bodyPr>
          <a:lstStyle/>
          <a:p>
            <a:pPr marL="137160" indent="0">
              <a:buNone/>
            </a:pPr>
            <a:r>
              <a:rPr lang="en-US" sz="4000" b="1" u="sng" dirty="0">
                <a:solidFill>
                  <a:schemeClr val="accent2">
                    <a:lumMod val="40000"/>
                    <a:lumOff val="60000"/>
                  </a:schemeClr>
                </a:solidFill>
              </a:rPr>
              <a:t>Positive Impacts of Graduation:</a:t>
            </a:r>
          </a:p>
          <a:p>
            <a:pPr algn="just">
              <a:buFont typeface="Wingdings" pitchFamily="2" charset="2"/>
              <a:buChar char="q"/>
            </a:pPr>
            <a:r>
              <a:rPr lang="en-US" dirty="0">
                <a:solidFill>
                  <a:schemeClr val="accent2">
                    <a:lumMod val="40000"/>
                    <a:lumOff val="60000"/>
                  </a:schemeClr>
                </a:solidFill>
              </a:rPr>
              <a:t>The new status will help in branding BD.</a:t>
            </a:r>
          </a:p>
          <a:p>
            <a:pPr algn="just">
              <a:buFont typeface="Wingdings" pitchFamily="2" charset="2"/>
              <a:buChar char="q"/>
            </a:pPr>
            <a:r>
              <a:rPr lang="en-US" dirty="0">
                <a:solidFill>
                  <a:schemeClr val="accent2">
                    <a:lumMod val="40000"/>
                    <a:lumOff val="60000"/>
                  </a:schemeClr>
                </a:solidFill>
              </a:rPr>
              <a:t>Investors will be interested to invest in the country given its strength in certain areas such as the size of GDP, exports and population compared to other LDCs.</a:t>
            </a:r>
          </a:p>
          <a:p>
            <a:pPr algn="just">
              <a:buFont typeface="Wingdings" pitchFamily="2" charset="2"/>
              <a:buChar char="q"/>
            </a:pPr>
            <a:r>
              <a:rPr lang="en-US" dirty="0">
                <a:solidFill>
                  <a:schemeClr val="accent2">
                    <a:lumMod val="40000"/>
                    <a:lumOff val="60000"/>
                  </a:schemeClr>
                </a:solidFill>
              </a:rPr>
              <a:t>BD will have more opportunities for taking commercial loans from the international market at a competitive interest rate.</a:t>
            </a:r>
          </a:p>
          <a:p>
            <a:pPr algn="just">
              <a:buFont typeface="Wingdings" pitchFamily="2" charset="2"/>
              <a:buChar char="q"/>
            </a:pPr>
            <a:r>
              <a:rPr lang="en-US" dirty="0">
                <a:solidFill>
                  <a:schemeClr val="accent2">
                    <a:lumMod val="40000"/>
                    <a:lumOff val="60000"/>
                  </a:schemeClr>
                </a:solidFill>
              </a:rPr>
              <a:t>The private sector will also have the opportunity to generate capital from the global financial market.</a:t>
            </a:r>
          </a:p>
          <a:p>
            <a:endParaRPr lang="en-US" dirty="0"/>
          </a:p>
        </p:txBody>
      </p:sp>
    </p:spTree>
    <p:extLst>
      <p:ext uri="{BB962C8B-B14F-4D97-AF65-F5344CB8AC3E}">
        <p14:creationId xmlns:p14="http://schemas.microsoft.com/office/powerpoint/2010/main" val="325517351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Bangladesh: From LDCs to Developing Nation</a:t>
            </a:r>
          </a:p>
        </p:txBody>
      </p:sp>
      <p:sp>
        <p:nvSpPr>
          <p:cNvPr id="3" name="Content Placeholder 2"/>
          <p:cNvSpPr>
            <a:spLocks noGrp="1"/>
          </p:cNvSpPr>
          <p:nvPr>
            <p:ph idx="1"/>
          </p:nvPr>
        </p:nvSpPr>
        <p:spPr/>
        <p:txBody>
          <a:bodyPr>
            <a:normAutofit fontScale="92500" lnSpcReduction="20000"/>
          </a:bodyPr>
          <a:lstStyle/>
          <a:p>
            <a:pPr marL="137160" indent="0">
              <a:buNone/>
            </a:pPr>
            <a:r>
              <a:rPr lang="en-US" sz="4000" b="1" u="sng" dirty="0"/>
              <a:t>Challenges </a:t>
            </a:r>
          </a:p>
          <a:p>
            <a:pPr algn="just"/>
            <a:r>
              <a:rPr lang="en-US" dirty="0"/>
              <a:t>Following the LDC graduation, Bangladesh’s market access scenario will change quite significantly. At present, the country enjoys duty free-quota free (DFQF) market access for almost all items in most developed countries including the EU, Canada, Japan, and the US (excepting for apparels) as also in a number of developing countries including India, Japan and South Korea and many others. On graduation, in 2026, Bangladesh will no longer be eligible for DF-QF market access. </a:t>
            </a:r>
          </a:p>
          <a:p>
            <a:pPr algn="just"/>
            <a:r>
              <a:rPr lang="en-US" dirty="0"/>
              <a:t>The major challenges come in the form of losing various international support measures.</a:t>
            </a:r>
          </a:p>
          <a:p>
            <a:endParaRPr lang="en-US" dirty="0"/>
          </a:p>
        </p:txBody>
      </p:sp>
    </p:spTree>
    <p:extLst>
      <p:ext uri="{BB962C8B-B14F-4D97-AF65-F5344CB8AC3E}">
        <p14:creationId xmlns:p14="http://schemas.microsoft.com/office/powerpoint/2010/main" val="298390901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Bangladesh: From LDCs to Developing Nation</a:t>
            </a:r>
          </a:p>
        </p:txBody>
      </p:sp>
      <p:sp>
        <p:nvSpPr>
          <p:cNvPr id="3" name="Content Placeholder 2"/>
          <p:cNvSpPr>
            <a:spLocks noGrp="1"/>
          </p:cNvSpPr>
          <p:nvPr>
            <p:ph idx="1"/>
          </p:nvPr>
        </p:nvSpPr>
        <p:spPr/>
        <p:txBody>
          <a:bodyPr>
            <a:normAutofit fontScale="92500"/>
          </a:bodyPr>
          <a:lstStyle/>
          <a:p>
            <a:pPr algn="just"/>
            <a:r>
              <a:rPr lang="en-US" dirty="0"/>
              <a:t>There may be a situation where importers of Bangladeshi apparels will be required to pay customs duties while Vietnam will be able to enjoy duty-free market access thanks to its membership in various trading blocs: in the EU (thanks to the EU-Vietnam bilateral FTA) and in China, Japan and Australia (thanks to the RCEP). </a:t>
            </a:r>
          </a:p>
          <a:p>
            <a:pPr algn="just"/>
            <a:r>
              <a:rPr lang="en-US" dirty="0"/>
              <a:t>The difference in price terms could be as high as 20-25 per cent tariff equivalent since average tariffs on apparel tend to be high compared to most other items in most developed countries (ranging between 10-15 per cent).</a:t>
            </a:r>
          </a:p>
          <a:p>
            <a:endParaRPr lang="en-US" dirty="0"/>
          </a:p>
        </p:txBody>
      </p:sp>
    </p:spTree>
    <p:extLst>
      <p:ext uri="{BB962C8B-B14F-4D97-AF65-F5344CB8AC3E}">
        <p14:creationId xmlns:p14="http://schemas.microsoft.com/office/powerpoint/2010/main" val="139803855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Bangladesh: From LDCs to Developing Nation</a:t>
            </a:r>
          </a:p>
        </p:txBody>
      </p:sp>
      <p:sp>
        <p:nvSpPr>
          <p:cNvPr id="3" name="Content Placeholder 2"/>
          <p:cNvSpPr>
            <a:spLocks noGrp="1"/>
          </p:cNvSpPr>
          <p:nvPr>
            <p:ph idx="1"/>
          </p:nvPr>
        </p:nvSpPr>
        <p:spPr/>
        <p:txBody>
          <a:bodyPr/>
          <a:lstStyle/>
          <a:p>
            <a:pPr marL="137160" indent="0">
              <a:buNone/>
            </a:pPr>
            <a:r>
              <a:rPr lang="en-US" b="1" u="sng" dirty="0"/>
              <a:t>REQUIRED STEPS:</a:t>
            </a:r>
          </a:p>
          <a:p>
            <a:pPr algn="just"/>
            <a:r>
              <a:rPr lang="en-US" dirty="0"/>
              <a:t>The strategy for the exporter will need to be to raise price-competitiveness through reduction in costs of production to compensate for the loss of tariff preferences.</a:t>
            </a:r>
          </a:p>
          <a:p>
            <a:pPr algn="just"/>
            <a:r>
              <a:rPr lang="en-US" dirty="0"/>
              <a:t>Export and market diversification has to be ensured by translating comparative advantage into competitive advantages through up-gradation of process and products and by way of improving </a:t>
            </a:r>
            <a:r>
              <a:rPr lang="en-US" dirty="0" err="1"/>
              <a:t>labour</a:t>
            </a:r>
            <a:r>
              <a:rPr lang="en-US" dirty="0"/>
              <a:t> and capital productivity.</a:t>
            </a:r>
            <a:endParaRPr lang="en-US" u="sng" dirty="0"/>
          </a:p>
          <a:p>
            <a:endParaRPr lang="en-US" dirty="0"/>
          </a:p>
        </p:txBody>
      </p:sp>
    </p:spTree>
    <p:extLst>
      <p:ext uri="{BB962C8B-B14F-4D97-AF65-F5344CB8AC3E}">
        <p14:creationId xmlns:p14="http://schemas.microsoft.com/office/powerpoint/2010/main" val="105114389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Bangladesh: From LDCs to Developing Nation</a:t>
            </a:r>
          </a:p>
        </p:txBody>
      </p:sp>
      <p:sp>
        <p:nvSpPr>
          <p:cNvPr id="3" name="Content Placeholder 2"/>
          <p:cNvSpPr>
            <a:spLocks noGrp="1"/>
          </p:cNvSpPr>
          <p:nvPr>
            <p:ph idx="1"/>
          </p:nvPr>
        </p:nvSpPr>
        <p:spPr/>
        <p:txBody>
          <a:bodyPr/>
          <a:lstStyle/>
          <a:p>
            <a:pPr algn="just"/>
            <a:r>
              <a:rPr lang="en-US" dirty="0"/>
              <a:t>A supportive environment will be required where Bangladesh’s investors feel stimulated, encouraged and incentivized to invest, keeping in the purview opportunities in domestic and global markets, and the emerging global demand scenario. </a:t>
            </a:r>
          </a:p>
          <a:p>
            <a:pPr algn="just"/>
            <a:r>
              <a:rPr lang="en-US" dirty="0"/>
              <a:t>Bangladesh will be required to aggressively pursue the Comprehensive Economic Partnership Agreement (CEPA) type of negotiations with partners who matter.</a:t>
            </a:r>
          </a:p>
          <a:p>
            <a:endParaRPr lang="en-US" dirty="0"/>
          </a:p>
        </p:txBody>
      </p:sp>
    </p:spTree>
    <p:extLst>
      <p:ext uri="{BB962C8B-B14F-4D97-AF65-F5344CB8AC3E}">
        <p14:creationId xmlns:p14="http://schemas.microsoft.com/office/powerpoint/2010/main" val="271005902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Bangladesh: From LDCs to Developing Nation</a:t>
            </a:r>
          </a:p>
        </p:txBody>
      </p:sp>
      <p:sp>
        <p:nvSpPr>
          <p:cNvPr id="3" name="Content Placeholder 2"/>
          <p:cNvSpPr>
            <a:spLocks noGrp="1"/>
          </p:cNvSpPr>
          <p:nvPr>
            <p:ph idx="1"/>
          </p:nvPr>
        </p:nvSpPr>
        <p:spPr/>
        <p:txBody>
          <a:bodyPr/>
          <a:lstStyle/>
          <a:p>
            <a:r>
              <a:rPr lang="en-US" dirty="0"/>
              <a:t>Attracting FDI through triangulation of investment, transport logistics and trade connectivity will be key to product and market diversification. Development of regional value chains and production networks will be called for. Trade and tariff policies will need to be reformed and revised to make these WTO-compatible.</a:t>
            </a:r>
          </a:p>
          <a:p>
            <a:endParaRPr lang="en-US" dirty="0"/>
          </a:p>
        </p:txBody>
      </p:sp>
    </p:spTree>
    <p:extLst>
      <p:ext uri="{BB962C8B-B14F-4D97-AF65-F5344CB8AC3E}">
        <p14:creationId xmlns:p14="http://schemas.microsoft.com/office/powerpoint/2010/main" val="224548015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18B26-24C3-4F0A-9768-55FC60071BEF}"/>
              </a:ext>
            </a:extLst>
          </p:cNvPr>
          <p:cNvSpPr>
            <a:spLocks noGrp="1"/>
          </p:cNvSpPr>
          <p:nvPr>
            <p:ph type="title"/>
          </p:nvPr>
        </p:nvSpPr>
        <p:spPr/>
        <p:txBody>
          <a:bodyPr>
            <a:normAutofit fontScale="90000"/>
          </a:bodyPr>
          <a:lstStyle/>
          <a:p>
            <a:r>
              <a:rPr lang="en-US" b="0" i="0" dirty="0">
                <a:solidFill>
                  <a:srgbClr val="222222"/>
                </a:solidFill>
                <a:effectLst/>
                <a:latin typeface="Publico"/>
              </a:rPr>
              <a:t>The World Bank</a:t>
            </a:r>
            <a:br>
              <a:rPr lang="en-US" b="0" i="0" dirty="0">
                <a:solidFill>
                  <a:srgbClr val="222222"/>
                </a:solidFill>
                <a:effectLst/>
                <a:latin typeface="Publico"/>
              </a:rPr>
            </a:br>
            <a:endParaRPr lang="en-US" dirty="0"/>
          </a:p>
        </p:txBody>
      </p:sp>
      <p:sp>
        <p:nvSpPr>
          <p:cNvPr id="3" name="Content Placeholder 2">
            <a:extLst>
              <a:ext uri="{FF2B5EF4-FFF2-40B4-BE49-F238E27FC236}">
                <a16:creationId xmlns:a16="http://schemas.microsoft.com/office/drawing/2014/main" id="{3808CA10-41BC-4668-A0BC-7F47C94C493C}"/>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111111"/>
                </a:solidFill>
                <a:effectLst/>
                <a:latin typeface="SourceSansPro"/>
              </a:rPr>
              <a:t>The World Bank is an international organization that offers developmental assistance to middle-income and low-income countries. </a:t>
            </a:r>
          </a:p>
          <a:p>
            <a:pPr algn="just">
              <a:buFont typeface="Arial" panose="020B0604020202020204" pitchFamily="34" charset="0"/>
              <a:buChar char="•"/>
            </a:pPr>
            <a:r>
              <a:rPr lang="en-US" b="0" i="0" dirty="0">
                <a:solidFill>
                  <a:srgbClr val="111111"/>
                </a:solidFill>
                <a:effectLst/>
                <a:latin typeface="SourceSansPro"/>
              </a:rPr>
              <a:t>Founded in 1944, the World Bank has 189 member nations and aims to reduce poverty in the developing world.</a:t>
            </a:r>
          </a:p>
          <a:p>
            <a:pPr algn="just">
              <a:buFont typeface="Arial" panose="020B0604020202020204" pitchFamily="34" charset="0"/>
              <a:buChar char="•"/>
            </a:pPr>
            <a:r>
              <a:rPr lang="en-US" b="0" i="0" dirty="0">
                <a:solidFill>
                  <a:srgbClr val="111111"/>
                </a:solidFill>
                <a:effectLst/>
                <a:latin typeface="SourceSansPro"/>
              </a:rPr>
              <a:t>By giving loans and offering advice and training in both the private and public sectors, the World Bank aims to eliminate poverty by helping people help themselves.</a:t>
            </a:r>
          </a:p>
          <a:p>
            <a:endParaRPr lang="en-US" dirty="0"/>
          </a:p>
        </p:txBody>
      </p:sp>
    </p:spTree>
    <p:extLst>
      <p:ext uri="{BB962C8B-B14F-4D97-AF65-F5344CB8AC3E}">
        <p14:creationId xmlns:p14="http://schemas.microsoft.com/office/powerpoint/2010/main" val="231071324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354E-0A1C-4EE3-9943-7587AEB654A4}"/>
              </a:ext>
            </a:extLst>
          </p:cNvPr>
          <p:cNvSpPr>
            <a:spLocks noGrp="1"/>
          </p:cNvSpPr>
          <p:nvPr>
            <p:ph type="title"/>
          </p:nvPr>
        </p:nvSpPr>
        <p:spPr/>
        <p:txBody>
          <a:bodyPr>
            <a:normAutofit fontScale="90000"/>
          </a:bodyPr>
          <a:lstStyle/>
          <a:p>
            <a:r>
              <a:rPr lang="en-US" b="0" i="0" dirty="0">
                <a:solidFill>
                  <a:srgbClr val="222222"/>
                </a:solidFill>
                <a:effectLst/>
                <a:latin typeface="Publico"/>
              </a:rPr>
              <a:t>The World Bank</a:t>
            </a:r>
            <a:br>
              <a:rPr lang="en-US" b="0" i="0" dirty="0">
                <a:solidFill>
                  <a:srgbClr val="222222"/>
                </a:solidFill>
                <a:effectLst/>
                <a:latin typeface="Publico"/>
              </a:rPr>
            </a:br>
            <a:endParaRPr lang="en-US" dirty="0"/>
          </a:p>
        </p:txBody>
      </p:sp>
      <p:sp>
        <p:nvSpPr>
          <p:cNvPr id="3" name="Content Placeholder 2">
            <a:extLst>
              <a:ext uri="{FF2B5EF4-FFF2-40B4-BE49-F238E27FC236}">
                <a16:creationId xmlns:a16="http://schemas.microsoft.com/office/drawing/2014/main" id="{B91CDDEC-E56C-466E-A1C8-44005AAA2C40}"/>
              </a:ext>
            </a:extLst>
          </p:cNvPr>
          <p:cNvSpPr>
            <a:spLocks noGrp="1"/>
          </p:cNvSpPr>
          <p:nvPr>
            <p:ph idx="1"/>
          </p:nvPr>
        </p:nvSpPr>
        <p:spPr/>
        <p:txBody>
          <a:bodyPr>
            <a:normAutofit fontScale="92500" lnSpcReduction="10000"/>
          </a:bodyPr>
          <a:lstStyle/>
          <a:p>
            <a:pPr algn="just"/>
            <a:r>
              <a:rPr lang="en-US" b="0" i="0" dirty="0">
                <a:solidFill>
                  <a:srgbClr val="111111"/>
                </a:solidFill>
                <a:effectLst/>
                <a:latin typeface="SourceSansPro"/>
              </a:rPr>
              <a:t>The IBRD was the original arm of the World Bank that was responsible for the reconstruction of post-war Europe.</a:t>
            </a:r>
          </a:p>
          <a:p>
            <a:pPr algn="just"/>
            <a:r>
              <a:rPr lang="en-US" dirty="0"/>
              <a:t>The International Development Association offers loans to the world's poorest countries. These loans come in the form of "credits" and are essentially interest-free. </a:t>
            </a:r>
          </a:p>
          <a:p>
            <a:pPr algn="just"/>
            <a:r>
              <a:rPr lang="en-US" dirty="0"/>
              <a:t>The International Finance Corporation (IFC) works to promote private sector investments by both foreign and local investors. It provides advice to investors and businesses, and it offers normalized financial market information through its publications, which can be used to compare across markets.</a:t>
            </a:r>
          </a:p>
        </p:txBody>
      </p:sp>
    </p:spTree>
    <p:extLst>
      <p:ext uri="{BB962C8B-B14F-4D97-AF65-F5344CB8AC3E}">
        <p14:creationId xmlns:p14="http://schemas.microsoft.com/office/powerpoint/2010/main" val="387152532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0E5BC-2460-4CCB-B264-B4BA6C2E53CD}"/>
              </a:ext>
            </a:extLst>
          </p:cNvPr>
          <p:cNvSpPr>
            <a:spLocks noGrp="1"/>
          </p:cNvSpPr>
          <p:nvPr>
            <p:ph type="title"/>
          </p:nvPr>
        </p:nvSpPr>
        <p:spPr/>
        <p:txBody>
          <a:bodyPr/>
          <a:lstStyle/>
          <a:p>
            <a:r>
              <a:rPr lang="en-US" b="0" i="0" dirty="0">
                <a:solidFill>
                  <a:srgbClr val="222222"/>
                </a:solidFill>
                <a:effectLst/>
                <a:latin typeface="Publico"/>
              </a:rPr>
              <a:t>The World Bank</a:t>
            </a:r>
            <a:endParaRPr lang="en-US" dirty="0"/>
          </a:p>
        </p:txBody>
      </p:sp>
      <p:sp>
        <p:nvSpPr>
          <p:cNvPr id="3" name="Content Placeholder 2">
            <a:extLst>
              <a:ext uri="{FF2B5EF4-FFF2-40B4-BE49-F238E27FC236}">
                <a16:creationId xmlns:a16="http://schemas.microsoft.com/office/drawing/2014/main" id="{BB77053B-E113-4F43-8D00-4A3C3BD2F7C4}"/>
              </a:ext>
            </a:extLst>
          </p:cNvPr>
          <p:cNvSpPr>
            <a:spLocks noGrp="1"/>
          </p:cNvSpPr>
          <p:nvPr>
            <p:ph idx="1"/>
          </p:nvPr>
        </p:nvSpPr>
        <p:spPr/>
        <p:txBody>
          <a:bodyPr>
            <a:normAutofit lnSpcReduction="10000"/>
          </a:bodyPr>
          <a:lstStyle/>
          <a:p>
            <a:pPr algn="just"/>
            <a:r>
              <a:rPr lang="en-US" dirty="0"/>
              <a:t>The Multilateral Investment Guarantee Agency (MIGA) supports direct foreign investment into a country by offering security against the investment in the event of political turmoil. These guarantees come in the form of political risk insurance, meaning that MIGA offers insurance against the political risk that an investment in a developing country may bear.</a:t>
            </a:r>
          </a:p>
          <a:p>
            <a:pPr algn="just"/>
            <a:r>
              <a:rPr lang="en-US" dirty="0"/>
              <a:t>The International Centre for Settlement of Investment Disputes facilitates and works toward a settlement in the event of a dispute between a foreign investor and a local country.</a:t>
            </a:r>
          </a:p>
        </p:txBody>
      </p:sp>
    </p:spTree>
    <p:extLst>
      <p:ext uri="{BB962C8B-B14F-4D97-AF65-F5344CB8AC3E}">
        <p14:creationId xmlns:p14="http://schemas.microsoft.com/office/powerpoint/2010/main" val="216739497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06650-4BBC-4759-B533-566046AAAC25}"/>
              </a:ext>
            </a:extLst>
          </p:cNvPr>
          <p:cNvSpPr>
            <a:spLocks noGrp="1"/>
          </p:cNvSpPr>
          <p:nvPr>
            <p:ph type="title"/>
          </p:nvPr>
        </p:nvSpPr>
        <p:spPr/>
        <p:txBody>
          <a:bodyPr/>
          <a:lstStyle/>
          <a:p>
            <a:r>
              <a:rPr lang="en-US" dirty="0"/>
              <a:t>World Trade Organization </a:t>
            </a:r>
          </a:p>
        </p:txBody>
      </p:sp>
      <p:sp>
        <p:nvSpPr>
          <p:cNvPr id="3" name="Content Placeholder 2">
            <a:extLst>
              <a:ext uri="{FF2B5EF4-FFF2-40B4-BE49-F238E27FC236}">
                <a16:creationId xmlns:a16="http://schemas.microsoft.com/office/drawing/2014/main" id="{341236AA-C58B-418E-A1A5-D21B5A832CBA}"/>
              </a:ext>
            </a:extLst>
          </p:cNvPr>
          <p:cNvSpPr>
            <a:spLocks noGrp="1"/>
          </p:cNvSpPr>
          <p:nvPr>
            <p:ph idx="1"/>
          </p:nvPr>
        </p:nvSpPr>
        <p:spPr/>
        <p:txBody>
          <a:bodyPr>
            <a:normAutofit/>
          </a:bodyPr>
          <a:lstStyle/>
          <a:p>
            <a:r>
              <a:rPr lang="en-US" dirty="0"/>
              <a:t>The World Trade Organization is a global membership group that promotes and manages free trade. </a:t>
            </a:r>
          </a:p>
          <a:p>
            <a:r>
              <a:rPr lang="en-US" dirty="0"/>
              <a:t>The World Trade Organization (WTO) is a multilateral organization headquartered in Geneva, Switzerland. </a:t>
            </a:r>
          </a:p>
          <a:p>
            <a:r>
              <a:rPr lang="en-US" dirty="0"/>
              <a:t>It came into existence on January 1, 1995, as a successor to the General Agreement on Tariffs and Trade (GATT). The organization functions as a central body that facilitates global trade.</a:t>
            </a:r>
          </a:p>
          <a:p>
            <a:endParaRPr lang="en-US" dirty="0"/>
          </a:p>
        </p:txBody>
      </p:sp>
    </p:spTree>
    <p:extLst>
      <p:ext uri="{BB962C8B-B14F-4D97-AF65-F5344CB8AC3E}">
        <p14:creationId xmlns:p14="http://schemas.microsoft.com/office/powerpoint/2010/main" val="294893321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5EDF9-706C-4A8C-8C4C-4E33930A9750}"/>
              </a:ext>
            </a:extLst>
          </p:cNvPr>
          <p:cNvSpPr>
            <a:spLocks noGrp="1"/>
          </p:cNvSpPr>
          <p:nvPr>
            <p:ph type="title"/>
          </p:nvPr>
        </p:nvSpPr>
        <p:spPr/>
        <p:txBody>
          <a:bodyPr>
            <a:normAutofit/>
          </a:bodyPr>
          <a:lstStyle/>
          <a:p>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World Trade Organization</a:t>
            </a:r>
            <a:endParaRPr lang="en-US" sz="4800" dirty="0"/>
          </a:p>
        </p:txBody>
      </p:sp>
      <p:sp>
        <p:nvSpPr>
          <p:cNvPr id="3" name="Content Placeholder 2">
            <a:extLst>
              <a:ext uri="{FF2B5EF4-FFF2-40B4-BE49-F238E27FC236}">
                <a16:creationId xmlns:a16="http://schemas.microsoft.com/office/drawing/2014/main" id="{A8F0DB1C-D16C-4CF0-A79B-59A519F36819}"/>
              </a:ext>
            </a:extLst>
          </p:cNvPr>
          <p:cNvSpPr>
            <a:spLocks noGrp="1"/>
          </p:cNvSpPr>
          <p:nvPr>
            <p:ph idx="1"/>
          </p:nvPr>
        </p:nvSpPr>
        <p:spPr/>
        <p:txBody>
          <a:bodyPr>
            <a:normAutofit fontScale="92500" lnSpcReduction="20000"/>
          </a:bodyPr>
          <a:lstStyle/>
          <a:p>
            <a:r>
              <a:rPr lang="en-US" dirty="0"/>
              <a:t>It creates an international legal framework that ensures the smooth exchange of goods and services among the member countries.</a:t>
            </a:r>
          </a:p>
          <a:p>
            <a:r>
              <a:rPr lang="en-US" dirty="0"/>
              <a:t>Second, it settles trade disputes. Most conflicts occur when one member accuses another of dumping. That's when it exports goods at a lower price than it costs to produce it. The WTO staff investigates, and if a violation has occurred, the WTO will levy sanctions.</a:t>
            </a:r>
          </a:p>
          <a:p>
            <a:r>
              <a:rPr lang="en-US" dirty="0"/>
              <a:t>Once the agreements are negotiated, the job of the WTO is to ensure that the signatory countries adhere to their commitments in practice. It also produces research based on the impact of the agreements on the economies of the countries involved.</a:t>
            </a:r>
          </a:p>
        </p:txBody>
      </p:sp>
    </p:spTree>
    <p:extLst>
      <p:ext uri="{BB962C8B-B14F-4D97-AF65-F5344CB8AC3E}">
        <p14:creationId xmlns:p14="http://schemas.microsoft.com/office/powerpoint/2010/main" val="165980920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02227-DBD4-4D08-8124-D0202818CE50}"/>
              </a:ext>
            </a:extLst>
          </p:cNvPr>
          <p:cNvSpPr>
            <a:spLocks noGrp="1"/>
          </p:cNvSpPr>
          <p:nvPr>
            <p:ph type="title"/>
          </p:nvPr>
        </p:nvSpPr>
        <p:spPr/>
        <p:txBody>
          <a:bodyPr/>
          <a:lstStyle/>
          <a:p>
            <a:r>
              <a:rPr lang="en-US" dirty="0"/>
              <a:t>International Monetary Fund</a:t>
            </a:r>
          </a:p>
        </p:txBody>
      </p:sp>
      <p:sp>
        <p:nvSpPr>
          <p:cNvPr id="3" name="Content Placeholder 2">
            <a:extLst>
              <a:ext uri="{FF2B5EF4-FFF2-40B4-BE49-F238E27FC236}">
                <a16:creationId xmlns:a16="http://schemas.microsoft.com/office/drawing/2014/main" id="{A2D95B8B-19E0-4E76-85C9-059E55832997}"/>
              </a:ext>
            </a:extLst>
          </p:cNvPr>
          <p:cNvSpPr>
            <a:spLocks noGrp="1"/>
          </p:cNvSpPr>
          <p:nvPr>
            <p:ph idx="1"/>
          </p:nvPr>
        </p:nvSpPr>
        <p:spPr/>
        <p:txBody>
          <a:bodyPr>
            <a:normAutofit lnSpcReduction="10000"/>
          </a:bodyPr>
          <a:lstStyle/>
          <a:p>
            <a:r>
              <a:rPr lang="en-US" dirty="0"/>
              <a:t>The International Monetary Fund is a 189-member organization that works to stabilize the global economy.</a:t>
            </a:r>
          </a:p>
          <a:p>
            <a:r>
              <a:rPr lang="en-US" dirty="0"/>
              <a:t>The IMF meets its goal by targeting three objectives:</a:t>
            </a:r>
          </a:p>
          <a:p>
            <a:pPr marL="514350" indent="-514350">
              <a:buFont typeface="+mj-lt"/>
              <a:buAutoNum type="arabicPeriod"/>
            </a:pPr>
            <a:r>
              <a:rPr lang="en-US" dirty="0"/>
              <a:t>It monitors global conditions and identifies risks among its member countries.</a:t>
            </a:r>
          </a:p>
          <a:p>
            <a:pPr marL="0" indent="0">
              <a:buNone/>
            </a:pPr>
            <a:r>
              <a:rPr lang="en-US" dirty="0"/>
              <a:t>2.   It advises its members on how to improve their economies.</a:t>
            </a:r>
          </a:p>
          <a:p>
            <a:pPr marL="0" indent="0">
              <a:buNone/>
            </a:pPr>
            <a:r>
              <a:rPr lang="en-US" dirty="0"/>
              <a:t>3.   It provides technical assistance and short-term loans to prevent financial crises. The IMF's goal is to prevent these disasters by guiding its members.</a:t>
            </a:r>
          </a:p>
        </p:txBody>
      </p:sp>
    </p:spTree>
    <p:extLst>
      <p:ext uri="{BB962C8B-B14F-4D97-AF65-F5344CB8AC3E}">
        <p14:creationId xmlns:p14="http://schemas.microsoft.com/office/powerpoint/2010/main" val="277893873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053BD-F63F-4827-B8BB-EFCB91E76842}"/>
              </a:ext>
            </a:extLst>
          </p:cNvPr>
          <p:cNvSpPr>
            <a:spLocks noGrp="1"/>
          </p:cNvSpPr>
          <p:nvPr>
            <p:ph type="title"/>
          </p:nvPr>
        </p:nvSpPr>
        <p:spPr/>
        <p:txBody>
          <a:bodyPr/>
          <a:lstStyle/>
          <a:p>
            <a:r>
              <a:rPr lang="en-US" dirty="0"/>
              <a:t>International Monetary Fund</a:t>
            </a:r>
          </a:p>
        </p:txBody>
      </p:sp>
      <p:sp>
        <p:nvSpPr>
          <p:cNvPr id="3" name="Content Placeholder 2">
            <a:extLst>
              <a:ext uri="{FF2B5EF4-FFF2-40B4-BE49-F238E27FC236}">
                <a16:creationId xmlns:a16="http://schemas.microsoft.com/office/drawing/2014/main" id="{8BA6513A-C306-4D65-8EB4-DF1A71ADD2F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76699677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B859-F42C-4EE6-976D-575DAE17932D}"/>
              </a:ext>
            </a:extLst>
          </p:cNvPr>
          <p:cNvSpPr>
            <a:spLocks noGrp="1"/>
          </p:cNvSpPr>
          <p:nvPr>
            <p:ph type="title"/>
          </p:nvPr>
        </p:nvSpPr>
        <p:spPr/>
        <p:txBody>
          <a:bodyPr/>
          <a:lstStyle/>
          <a:p>
            <a:r>
              <a:rPr lang="en-US" dirty="0"/>
              <a:t>National Budget</a:t>
            </a:r>
          </a:p>
        </p:txBody>
      </p:sp>
      <p:sp>
        <p:nvSpPr>
          <p:cNvPr id="3" name="Content Placeholder 2">
            <a:extLst>
              <a:ext uri="{FF2B5EF4-FFF2-40B4-BE49-F238E27FC236}">
                <a16:creationId xmlns:a16="http://schemas.microsoft.com/office/drawing/2014/main" id="{EEF24FBA-4D5C-4869-8148-DC921FD60869}"/>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166390664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2EC2D-9CC3-4E08-9504-C7BF787C5B4A}"/>
              </a:ext>
            </a:extLst>
          </p:cNvPr>
          <p:cNvSpPr>
            <a:spLocks noGrp="1"/>
          </p:cNvSpPr>
          <p:nvPr>
            <p:ph type="title"/>
          </p:nvPr>
        </p:nvSpPr>
        <p:spPr/>
        <p:txBody>
          <a:bodyPr/>
          <a:lstStyle/>
          <a:p>
            <a:r>
              <a:rPr lang="en-US" dirty="0"/>
              <a:t>National Budget</a:t>
            </a:r>
          </a:p>
        </p:txBody>
      </p:sp>
      <p:sp>
        <p:nvSpPr>
          <p:cNvPr id="3" name="Content Placeholder 2">
            <a:extLst>
              <a:ext uri="{FF2B5EF4-FFF2-40B4-BE49-F238E27FC236}">
                <a16:creationId xmlns:a16="http://schemas.microsoft.com/office/drawing/2014/main" id="{9CEAB2C3-4B98-44BA-A84A-4BB69B866BE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74871094"/>
      </p:ext>
    </p:extLst>
  </p:cSld>
  <p:clrMapOvr>
    <a:masterClrMapping/>
  </p:clrMapOvr>
</p:sld>
</file>

<file path=ppt/theme/theme1.xml><?xml version="1.0" encoding="utf-8"?>
<a:theme xmlns:a="http://schemas.openxmlformats.org/drawingml/2006/main" name="Office Them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3062</TotalTime>
  <Words>13707</Words>
  <Application>Microsoft Office PowerPoint</Application>
  <PresentationFormat>Widescreen</PresentationFormat>
  <Paragraphs>887</Paragraphs>
  <Slides>199</Slides>
  <Notes>0</Notes>
  <HiddenSlides>0</HiddenSlides>
  <MMClips>0</MMClips>
  <ScaleCrop>false</ScaleCrop>
  <HeadingPairs>
    <vt:vector size="6" baseType="variant">
      <vt:variant>
        <vt:lpstr>Fonts Used</vt:lpstr>
      </vt:variant>
      <vt:variant>
        <vt:i4>24</vt:i4>
      </vt:variant>
      <vt:variant>
        <vt:lpstr>Theme</vt:lpstr>
      </vt:variant>
      <vt:variant>
        <vt:i4>1</vt:i4>
      </vt:variant>
      <vt:variant>
        <vt:lpstr>Slide Titles</vt:lpstr>
      </vt:variant>
      <vt:variant>
        <vt:i4>199</vt:i4>
      </vt:variant>
    </vt:vector>
  </HeadingPairs>
  <TitlesOfParts>
    <vt:vector size="224" baseType="lpstr">
      <vt:lpstr>-apple-system</vt:lpstr>
      <vt:lpstr>Arial</vt:lpstr>
      <vt:lpstr>AvenirNext</vt:lpstr>
      <vt:lpstr>Calibri</vt:lpstr>
      <vt:lpstr>Calibri Light</vt:lpstr>
      <vt:lpstr>Georgia</vt:lpstr>
      <vt:lpstr>inherit</vt:lpstr>
      <vt:lpstr>Karla</vt:lpstr>
      <vt:lpstr>Lato</vt:lpstr>
      <vt:lpstr>Minion Pro</vt:lpstr>
      <vt:lpstr>Nunito Sans</vt:lpstr>
      <vt:lpstr>Open Sans</vt:lpstr>
      <vt:lpstr>Oswald</vt:lpstr>
      <vt:lpstr>Poppins</vt:lpstr>
      <vt:lpstr>proxima-nova</vt:lpstr>
      <vt:lpstr>Publico</vt:lpstr>
      <vt:lpstr>Raleway</vt:lpstr>
      <vt:lpstr>Roboto</vt:lpstr>
      <vt:lpstr>Rubik</vt:lpstr>
      <vt:lpstr>Sohne</vt:lpstr>
      <vt:lpstr>SourceSansPro</vt:lpstr>
      <vt:lpstr>Spectral</vt:lpstr>
      <vt:lpstr>Times New Roman</vt:lpstr>
      <vt:lpstr>Wingdings</vt:lpstr>
      <vt:lpstr>Office Theme</vt:lpstr>
      <vt:lpstr>Engineering Economics</vt:lpstr>
      <vt:lpstr>PowerPoint Presentation</vt:lpstr>
      <vt:lpstr>PowerPoint Presentation</vt:lpstr>
      <vt:lpstr>PowerPoint Presentation</vt:lpstr>
      <vt:lpstr>PowerPoint Presentation</vt:lpstr>
      <vt:lpstr>Definition of Economics</vt:lpstr>
      <vt:lpstr>Two branches of Economics</vt:lpstr>
      <vt:lpstr>Micro-economics </vt:lpstr>
      <vt:lpstr>Macroeconomics</vt:lpstr>
      <vt:lpstr>Why is Economics Important?</vt:lpstr>
      <vt:lpstr>Why studying Economics is Important?</vt:lpstr>
      <vt:lpstr>Engineering economics as a distinct branch</vt:lpstr>
      <vt:lpstr>Engineering economics as a distinct branch</vt:lpstr>
      <vt:lpstr>Questions we can answer from this lecture</vt:lpstr>
      <vt:lpstr>Engineering Economics</vt:lpstr>
      <vt:lpstr>The economic problem </vt:lpstr>
      <vt:lpstr>The economic problem </vt:lpstr>
      <vt:lpstr>Choice and Opportunity cost </vt:lpstr>
      <vt:lpstr>Choice and Opportunity cost</vt:lpstr>
      <vt:lpstr>The economic problem </vt:lpstr>
      <vt:lpstr>Factors of Production</vt:lpstr>
      <vt:lpstr>The economic problem</vt:lpstr>
      <vt:lpstr>Production Possibility Frontier (PPF)</vt:lpstr>
      <vt:lpstr>Production Possibility Frontier (PPF)</vt:lpstr>
      <vt:lpstr>Production Possibility Frontier (PPF)</vt:lpstr>
      <vt:lpstr>Production Possibility Frontier (PPF)</vt:lpstr>
      <vt:lpstr>Production Possibility Frontier (PPF)</vt:lpstr>
      <vt:lpstr>Production Possibility Frontier (PPF)</vt:lpstr>
      <vt:lpstr>Production Possibility Frontier (PPF)</vt:lpstr>
      <vt:lpstr>Production Possibility Frontier (PPF)</vt:lpstr>
      <vt:lpstr>Economic systems </vt:lpstr>
      <vt:lpstr>Economic systems</vt:lpstr>
      <vt:lpstr>PowerPoint Presentation</vt:lpstr>
      <vt:lpstr>Economic systems</vt:lpstr>
      <vt:lpstr>Economic systems </vt:lpstr>
      <vt:lpstr>Economic systems</vt:lpstr>
      <vt:lpstr>Economic systems </vt:lpstr>
      <vt:lpstr>Economic systems </vt:lpstr>
      <vt:lpstr>Consumer Demand  </vt:lpstr>
      <vt:lpstr>law of Demand</vt:lpstr>
      <vt:lpstr>Demand curve formula </vt:lpstr>
      <vt:lpstr>Demand Schedule</vt:lpstr>
      <vt:lpstr>Demand Curve</vt:lpstr>
      <vt:lpstr>law of demand</vt:lpstr>
      <vt:lpstr>Non-price Determinants </vt:lpstr>
      <vt:lpstr>Non-price determinants </vt:lpstr>
      <vt:lpstr>Non-price determinants </vt:lpstr>
      <vt:lpstr>PowerPoint Presentation</vt:lpstr>
      <vt:lpstr>Non-price determinants</vt:lpstr>
      <vt:lpstr>Non-price determinants</vt:lpstr>
      <vt:lpstr>Exceptions to the Law of Demand </vt:lpstr>
      <vt:lpstr>Exceptions to the Law of Demand</vt:lpstr>
      <vt:lpstr>Exceptions to the Law of Demand  </vt:lpstr>
      <vt:lpstr>Exceptions to the Law of Demand</vt:lpstr>
      <vt:lpstr>Exceptions to the Law of Demand</vt:lpstr>
      <vt:lpstr>PowerPoint Presentation</vt:lpstr>
      <vt:lpstr>Price Elasticity of Demand </vt:lpstr>
      <vt:lpstr>Price Elasticity of Demand</vt:lpstr>
      <vt:lpstr>PowerPoint Presentation</vt:lpstr>
      <vt:lpstr>Price Elasticity of Demand</vt:lpstr>
      <vt:lpstr> Perfectly Inelastic Demand, (PED = 0)</vt:lpstr>
      <vt:lpstr>Perfectly Inelastic Demand, (PED = 0)</vt:lpstr>
      <vt:lpstr> Relatively Inelastic Demand, (PED = 0 &lt; x &lt; 1)</vt:lpstr>
      <vt:lpstr>Relatively Inelastic Demand, (PED = 0 &lt; x &lt; 1)</vt:lpstr>
      <vt:lpstr>Unit Elastic Demand, (PED = 1)</vt:lpstr>
      <vt:lpstr>Unit Elastic Demand, (PED = 1)</vt:lpstr>
      <vt:lpstr>Relatively Elastic Demand, (PED = 1 &lt; x &lt; ∞)</vt:lpstr>
      <vt:lpstr>Relatively Elastic Demand, (PED = 1 &lt; x &lt; ∞)</vt:lpstr>
      <vt:lpstr>Perfectly Elastic Demand, (PED = ∞) </vt:lpstr>
      <vt:lpstr>Perfectly Elastic Demand, (PED = ∞)</vt:lpstr>
      <vt:lpstr>What Is Utility? </vt:lpstr>
      <vt:lpstr>PowerPoint Presentation</vt:lpstr>
      <vt:lpstr>Diminishing Marginal Utility </vt:lpstr>
      <vt:lpstr>Diminishing marginal utility </vt:lpstr>
      <vt:lpstr>Diminishing marginal utility</vt:lpstr>
      <vt:lpstr>Supply </vt:lpstr>
      <vt:lpstr>Determinants of supply </vt:lpstr>
      <vt:lpstr>Determinants of supply</vt:lpstr>
      <vt:lpstr>Determinants of supply</vt:lpstr>
      <vt:lpstr>Determinants of supply</vt:lpstr>
      <vt:lpstr>What is the Law of Supply? </vt:lpstr>
      <vt:lpstr>Law of Supply</vt:lpstr>
      <vt:lpstr>Law of Supply</vt:lpstr>
      <vt:lpstr>EQUILIBRIUM </vt:lpstr>
      <vt:lpstr>EQUILIBRIUM </vt:lpstr>
      <vt:lpstr>EQUILIBRIUM: Example of Low Prices </vt:lpstr>
      <vt:lpstr>EQUILIBRIUM: Example of Low Prices </vt:lpstr>
      <vt:lpstr>EQUILIBRIUM: Example of high Prices</vt:lpstr>
      <vt:lpstr>EQUILIBRIUM: Example of high Prices</vt:lpstr>
      <vt:lpstr>What is an Indifference Curve? </vt:lpstr>
      <vt:lpstr>What is an Indifference Curve? </vt:lpstr>
      <vt:lpstr>What is an Indifference Curve? </vt:lpstr>
      <vt:lpstr>What is an Indifference Curve? </vt:lpstr>
      <vt:lpstr>Marginal Rate of Substitution  </vt:lpstr>
      <vt:lpstr>Marginal Rate of Substitution  </vt:lpstr>
      <vt:lpstr>Properties of an Indifference Curve or IC</vt:lpstr>
      <vt:lpstr>Properties of an Indifference Curve or IC</vt:lpstr>
      <vt:lpstr>Properties of an Indifference Curve or IC</vt:lpstr>
      <vt:lpstr>Properties of an Indifference Curve or IC</vt:lpstr>
      <vt:lpstr>Diminishing Marginal Productivity </vt:lpstr>
      <vt:lpstr>PowerPoint Presentation</vt:lpstr>
      <vt:lpstr>Diminishing Marginal Productivity </vt:lpstr>
      <vt:lpstr>Diminishing Marginal Productivity </vt:lpstr>
      <vt:lpstr>Market</vt:lpstr>
      <vt:lpstr>Perfect Competition</vt:lpstr>
      <vt:lpstr>Perfect Competition</vt:lpstr>
      <vt:lpstr>Perfect Competition</vt:lpstr>
      <vt:lpstr>Monopoly</vt:lpstr>
      <vt:lpstr>PowerPoint Presentation</vt:lpstr>
      <vt:lpstr>Cost Analysis </vt:lpstr>
      <vt:lpstr>Analysis of Costs</vt:lpstr>
      <vt:lpstr>Types of Costs in the Short Run </vt:lpstr>
      <vt:lpstr>Types of Costs in the Short Run </vt:lpstr>
      <vt:lpstr>Types of Costs in the Short Run </vt:lpstr>
      <vt:lpstr>Types of Costs in the Short Run </vt:lpstr>
      <vt:lpstr>Types of Costs in the Short Run</vt:lpstr>
      <vt:lpstr>Types of Costs in the Short Run</vt:lpstr>
      <vt:lpstr>Types of Costs in the Short Run</vt:lpstr>
      <vt:lpstr>Types of Costs in the Short Run</vt:lpstr>
      <vt:lpstr>Total Cost Curve Curve/Diagram</vt:lpstr>
      <vt:lpstr>Total Cost Curve Curve/Diagram</vt:lpstr>
      <vt:lpstr>Average Cost </vt:lpstr>
      <vt:lpstr>Marginal Cost </vt:lpstr>
      <vt:lpstr>Marginal Cost</vt:lpstr>
      <vt:lpstr>Marginal Cost</vt:lpstr>
      <vt:lpstr>PowerPoint Presentation</vt:lpstr>
      <vt:lpstr>Marginal Cost</vt:lpstr>
      <vt:lpstr>Marginal Cost</vt:lpstr>
      <vt:lpstr>Relationship between Average Cost and Marginal Cost</vt:lpstr>
      <vt:lpstr>Relationship between Average Cost and Marginal Cost</vt:lpstr>
      <vt:lpstr>Relationship between Average Cost and Marginal Cost</vt:lpstr>
      <vt:lpstr>National Income </vt:lpstr>
      <vt:lpstr>National Income</vt:lpstr>
      <vt:lpstr>Measures of National Income </vt:lpstr>
      <vt:lpstr>Gross and Net Concept </vt:lpstr>
      <vt:lpstr>Measures of National Income </vt:lpstr>
      <vt:lpstr>Measures of National Income</vt:lpstr>
      <vt:lpstr>Types of GDP</vt:lpstr>
      <vt:lpstr>Measures of National Income </vt:lpstr>
      <vt:lpstr>Measures of National Income </vt:lpstr>
      <vt:lpstr>Difference Between GDP and GNP </vt:lpstr>
      <vt:lpstr>Difference Between GDP and GNP</vt:lpstr>
      <vt:lpstr>Inflation </vt:lpstr>
      <vt:lpstr>Types of inflation  </vt:lpstr>
      <vt:lpstr>PowerPoint Presentation</vt:lpstr>
      <vt:lpstr>Types of inflation</vt:lpstr>
      <vt:lpstr>Deflation </vt:lpstr>
      <vt:lpstr>Unemployment</vt:lpstr>
      <vt:lpstr>Unemployment</vt:lpstr>
      <vt:lpstr>Unemployment</vt:lpstr>
      <vt:lpstr>Unemployment</vt:lpstr>
      <vt:lpstr>Unemployment</vt:lpstr>
      <vt:lpstr>Cost-Benefit Analysis </vt:lpstr>
      <vt:lpstr>Cost-Benefit Analysis </vt:lpstr>
      <vt:lpstr>Cost-Benefit Analysis Process </vt:lpstr>
      <vt:lpstr>Cost-Benefit Analysis Process </vt:lpstr>
      <vt:lpstr>Payback Period </vt:lpstr>
      <vt:lpstr>Payback Period </vt:lpstr>
      <vt:lpstr>Payback Period</vt:lpstr>
      <vt:lpstr>Payback Period </vt:lpstr>
      <vt:lpstr>Payback Period </vt:lpstr>
      <vt:lpstr>Payback Period</vt:lpstr>
      <vt:lpstr>Payback Period</vt:lpstr>
      <vt:lpstr>Net Present Value (NPV)</vt:lpstr>
      <vt:lpstr>NPV Formula </vt:lpstr>
      <vt:lpstr>Net Present Value (NPV)</vt:lpstr>
      <vt:lpstr>Net Present Value (NPV)</vt:lpstr>
      <vt:lpstr>Net Present Value (NPV)</vt:lpstr>
      <vt:lpstr>Net Present Value (NPV)</vt:lpstr>
      <vt:lpstr>Net Present Value (NPV)</vt:lpstr>
      <vt:lpstr>Net Present Value (NPV)</vt:lpstr>
      <vt:lpstr>Net Present Value (NPV)</vt:lpstr>
      <vt:lpstr>Net Present Value (NPV)</vt:lpstr>
      <vt:lpstr>Internal Rate of Return (IRR) </vt:lpstr>
      <vt:lpstr>Internal Rate of Return (IRR) </vt:lpstr>
      <vt:lpstr>Internal Rate of Return (IRR) </vt:lpstr>
      <vt:lpstr>Internal Rate of Return (IRR) </vt:lpstr>
      <vt:lpstr>Internal Rate of Return (IRR)</vt:lpstr>
      <vt:lpstr>Internal Rate of Return (IRR)</vt:lpstr>
      <vt:lpstr>Internal Rate of Return (IRR)</vt:lpstr>
      <vt:lpstr>Internal Rate of Return (IRR)</vt:lpstr>
      <vt:lpstr>Banking System </vt:lpstr>
      <vt:lpstr>PowerPoint Presentation</vt:lpstr>
      <vt:lpstr>Bangladesh: From LDCs to Developing Nation</vt:lpstr>
      <vt:lpstr>Bangladesh: From LDCs to Developing Nation</vt:lpstr>
      <vt:lpstr>Bangladesh: From LDCs to Developing Nation</vt:lpstr>
      <vt:lpstr>Bangladesh: From LDCs to Developing Nation</vt:lpstr>
      <vt:lpstr>Bangladesh: From LDCs to Developing Nation</vt:lpstr>
      <vt:lpstr>Bangladesh: From LDCs to Developing Nation</vt:lpstr>
      <vt:lpstr>Bangladesh: From LDCs to Developing Nation</vt:lpstr>
      <vt:lpstr>The World Bank </vt:lpstr>
      <vt:lpstr>The World Bank </vt:lpstr>
      <vt:lpstr>The World Bank</vt:lpstr>
      <vt:lpstr>World Trade Organization </vt:lpstr>
      <vt:lpstr>World Trade Organization</vt:lpstr>
      <vt:lpstr>International Monetary Fund</vt:lpstr>
      <vt:lpstr>International Monetary Fund</vt:lpstr>
      <vt:lpstr>National Budget</vt:lpstr>
      <vt:lpstr>National Budget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User</dc:creator>
  <cp:lastModifiedBy>Abdullah</cp:lastModifiedBy>
  <cp:revision>518</cp:revision>
  <dcterms:created xsi:type="dcterms:W3CDTF">2020-10-25T11:09:19Z</dcterms:created>
  <dcterms:modified xsi:type="dcterms:W3CDTF">2025-04-07T15:20:30Z</dcterms:modified>
</cp:coreProperties>
</file>