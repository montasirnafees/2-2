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Lato"/>
      <p:regular r:id="rId22"/>
      <p:bold r:id="rId23"/>
      <p:italic r:id="rId24"/>
      <p:boldItalic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itlzP0Vbh91LZGrvEZWYqeNVgh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Lato-regular.fntdata"/><Relationship Id="rId21" Type="http://schemas.openxmlformats.org/officeDocument/2006/relationships/slide" Target="slides/slide16.xml"/><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regular.fntdata"/><Relationship Id="rId25" Type="http://schemas.openxmlformats.org/officeDocument/2006/relationships/font" Target="fonts/Lato-boldItalic.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62" name="Shape 62"/>
        <p:cNvGrpSpPr/>
        <p:nvPr/>
      </p:nvGrpSpPr>
      <p:grpSpPr>
        <a:xfrm>
          <a:off x="0" y="0"/>
          <a:ext cx="0" cy="0"/>
          <a:chOff x="0" y="0"/>
          <a:chExt cx="0" cy="0"/>
        </a:xfrm>
      </p:grpSpPr>
      <p:sp>
        <p:nvSpPr>
          <p:cNvPr id="63" name="Google Shape;63;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6"/>
          <p:cNvSpPr/>
          <p:nvPr>
            <p:ph idx="2" type="pic"/>
          </p:nvPr>
        </p:nvSpPr>
        <p:spPr>
          <a:xfrm>
            <a:off x="5183188" y="987425"/>
            <a:ext cx="6172200" cy="4873625"/>
          </a:xfrm>
          <a:prstGeom prst="rect">
            <a:avLst/>
          </a:prstGeom>
          <a:noFill/>
          <a:ln>
            <a:noFill/>
          </a:ln>
        </p:spPr>
      </p:sp>
      <p:sp>
        <p:nvSpPr>
          <p:cNvPr id="65" name="Google Shape;65;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85" name="Shape 85"/>
        <p:cNvGrpSpPr/>
        <p:nvPr/>
      </p:nvGrpSpPr>
      <p:grpSpPr>
        <a:xfrm>
          <a:off x="0" y="0"/>
          <a:ext cx="0" cy="0"/>
          <a:chOff x="0" y="0"/>
          <a:chExt cx="0" cy="0"/>
        </a:xfrm>
      </p:grpSpPr>
      <p:sp>
        <p:nvSpPr>
          <p:cNvPr id="86" name="Google Shape;86;p1"/>
          <p:cNvSpPr/>
          <p:nvPr/>
        </p:nvSpPr>
        <p:spPr>
          <a:xfrm>
            <a:off x="0" y="-135131"/>
            <a:ext cx="12192000" cy="3309257"/>
          </a:xfrm>
          <a:prstGeom prst="rect">
            <a:avLst/>
          </a:prstGeom>
          <a:solidFill>
            <a:srgbClr val="2B38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7" name="Google Shape;87;p1"/>
          <p:cNvGrpSpPr/>
          <p:nvPr/>
        </p:nvGrpSpPr>
        <p:grpSpPr>
          <a:xfrm>
            <a:off x="441583" y="1148704"/>
            <a:ext cx="10710267" cy="5070341"/>
            <a:chOff x="570541" y="900896"/>
            <a:chExt cx="10710267" cy="5070341"/>
          </a:xfrm>
        </p:grpSpPr>
        <p:sp>
          <p:nvSpPr>
            <p:cNvPr id="88" name="Google Shape;88;p1"/>
            <p:cNvSpPr/>
            <p:nvPr/>
          </p:nvSpPr>
          <p:spPr>
            <a:xfrm>
              <a:off x="911192" y="900896"/>
              <a:ext cx="10369616" cy="5070341"/>
            </a:xfrm>
            <a:prstGeom prst="rect">
              <a:avLst/>
            </a:prstGeom>
            <a:solidFill>
              <a:schemeClr val="lt1"/>
            </a:solidFill>
            <a:ln>
              <a:noFill/>
            </a:ln>
            <a:effectLst>
              <a:outerShdw blurRad="63500" sx="102000" rotWithShape="0" algn="ctr" sy="102000">
                <a:srgbClr val="000000">
                  <a:alpha val="10196"/>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b="1" lang="en-US" sz="1800">
                  <a:solidFill>
                    <a:srgbClr val="2F5496"/>
                  </a:solidFill>
                  <a:latin typeface="Times New Roman"/>
                  <a:ea typeface="Times New Roman"/>
                  <a:cs typeface="Times New Roman"/>
                  <a:sym typeface="Times New Roman"/>
                </a:rPr>
                <a:t>Welcome to the Presentation</a:t>
              </a:r>
              <a:br>
                <a:rPr lang="en-US" sz="1800">
                  <a:solidFill>
                    <a:srgbClr val="2F5496"/>
                  </a:solidFill>
                  <a:latin typeface="Times New Roman"/>
                  <a:ea typeface="Times New Roman"/>
                  <a:cs typeface="Times New Roman"/>
                  <a:sym typeface="Times New Roman"/>
                </a:rPr>
              </a:br>
              <a:endParaRPr sz="1800">
                <a:solidFill>
                  <a:srgbClr val="2F5496"/>
                </a:solidFill>
                <a:latin typeface="Times New Roman"/>
                <a:ea typeface="Times New Roman"/>
                <a:cs typeface="Times New Roman"/>
                <a:sym typeface="Times New Roman"/>
              </a:endParaRPr>
            </a:p>
            <a:p>
              <a:pPr indent="0" lvl="0" marL="0" rtl="0" algn="ctr">
                <a:spcBef>
                  <a:spcPts val="0"/>
                </a:spcBef>
                <a:spcAft>
                  <a:spcPts val="0"/>
                </a:spcAft>
                <a:buClr>
                  <a:srgbClr val="000000"/>
                </a:buClr>
                <a:buFont typeface="Arial"/>
                <a:buNone/>
              </a:pPr>
              <a:r>
                <a:rPr b="1" lang="en-US" sz="1800">
                  <a:latin typeface="Times New Roman"/>
                  <a:ea typeface="Times New Roman"/>
                  <a:cs typeface="Times New Roman"/>
                  <a:sym typeface="Times New Roman"/>
                </a:rPr>
                <a:t>Engineering economics</a:t>
              </a:r>
              <a:endParaRPr/>
            </a:p>
            <a:p>
              <a:pPr indent="0" lvl="0" marL="0" rtl="0" algn="ctr">
                <a:spcBef>
                  <a:spcPts val="0"/>
                </a:spcBef>
                <a:spcAft>
                  <a:spcPts val="0"/>
                </a:spcAft>
                <a:buClr>
                  <a:srgbClr val="000000"/>
                </a:buClr>
                <a:buFont typeface="Arial"/>
                <a:buNone/>
              </a:pPr>
              <a:r>
                <a:rPr b="1" lang="en-US" sz="1800">
                  <a:latin typeface="Times New Roman"/>
                  <a:ea typeface="Times New Roman"/>
                  <a:cs typeface="Times New Roman"/>
                  <a:sym typeface="Times New Roman"/>
                </a:rPr>
                <a:t>Course Code: GED 221</a:t>
              </a:r>
              <a:br>
                <a:rPr lang="en-US" sz="1800">
                  <a:solidFill>
                    <a:srgbClr val="2F5496"/>
                  </a:solidFill>
                  <a:latin typeface="Times New Roman"/>
                  <a:ea typeface="Times New Roman"/>
                  <a:cs typeface="Times New Roman"/>
                  <a:sym typeface="Times New Roman"/>
                </a:rPr>
              </a:br>
              <a:endParaRPr sz="2000">
                <a:solidFill>
                  <a:srgbClr val="2F5496"/>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lt1"/>
                </a:buClr>
                <a:buSzPts val="1800"/>
                <a:buFont typeface="Calibri"/>
                <a:buNone/>
              </a:pPr>
              <a:r>
                <a:t/>
              </a:r>
              <a:endParaRPr sz="1800">
                <a:solidFill>
                  <a:srgbClr val="FFFFFF"/>
                </a:solidFill>
                <a:latin typeface="Calibri"/>
                <a:ea typeface="Calibri"/>
                <a:cs typeface="Calibri"/>
                <a:sym typeface="Calibri"/>
              </a:endParaRPr>
            </a:p>
          </p:txBody>
        </p:sp>
        <p:grpSp>
          <p:nvGrpSpPr>
            <p:cNvPr id="89" name="Google Shape;89;p1"/>
            <p:cNvGrpSpPr/>
            <p:nvPr/>
          </p:nvGrpSpPr>
          <p:grpSpPr>
            <a:xfrm>
              <a:off x="570541" y="1488376"/>
              <a:ext cx="5011516" cy="4289748"/>
              <a:chOff x="570541" y="1340974"/>
              <a:chExt cx="5011516" cy="4289748"/>
            </a:xfrm>
          </p:grpSpPr>
          <p:sp>
            <p:nvSpPr>
              <p:cNvPr id="90" name="Google Shape;90;p1"/>
              <p:cNvSpPr/>
              <p:nvPr/>
            </p:nvSpPr>
            <p:spPr>
              <a:xfrm>
                <a:off x="1802131" y="1340974"/>
                <a:ext cx="2297221" cy="2362131"/>
              </a:xfrm>
              <a:prstGeom prst="ellipse">
                <a:avLst/>
              </a:prstGeom>
              <a:gradFill>
                <a:gsLst>
                  <a:gs pos="0">
                    <a:srgbClr val="FF1872"/>
                  </a:gs>
                  <a:gs pos="100000">
                    <a:srgbClr val="7C3F90"/>
                  </a:gs>
                </a:gsLst>
                <a:lin ang="81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82"/>
                  <a:buFont typeface="Calibri"/>
                  <a:buNone/>
                </a:pPr>
                <a:r>
                  <a:t/>
                </a:r>
                <a:endParaRPr b="0" i="0" sz="482" u="none" cap="none" strike="noStrike">
                  <a:solidFill>
                    <a:srgbClr val="FFFFFF"/>
                  </a:solidFill>
                  <a:latin typeface="Lato"/>
                  <a:ea typeface="Lato"/>
                  <a:cs typeface="Lato"/>
                  <a:sym typeface="Lato"/>
                </a:endParaRPr>
              </a:p>
            </p:txBody>
          </p:sp>
          <p:cxnSp>
            <p:nvCxnSpPr>
              <p:cNvPr id="91" name="Google Shape;91;p1"/>
              <p:cNvCxnSpPr/>
              <p:nvPr/>
            </p:nvCxnSpPr>
            <p:spPr>
              <a:xfrm>
                <a:off x="2338966" y="5630722"/>
                <a:ext cx="1014783" cy="0"/>
              </a:xfrm>
              <a:prstGeom prst="straightConnector1">
                <a:avLst/>
              </a:prstGeom>
              <a:noFill/>
              <a:ln cap="flat" cmpd="sng" w="76200">
                <a:solidFill>
                  <a:srgbClr val="FFC000"/>
                </a:solidFill>
                <a:prstDash val="solid"/>
                <a:miter lim="8000"/>
                <a:headEnd len="sm" w="sm" type="none"/>
                <a:tailEnd len="sm" w="sm" type="none"/>
              </a:ln>
            </p:spPr>
          </p:cxnSp>
          <p:sp>
            <p:nvSpPr>
              <p:cNvPr id="92" name="Google Shape;92;p1"/>
              <p:cNvSpPr txBox="1"/>
              <p:nvPr/>
            </p:nvSpPr>
            <p:spPr>
              <a:xfrm>
                <a:off x="570541" y="4647856"/>
                <a:ext cx="5011516"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B3890"/>
                  </a:buClr>
                  <a:buSzPts val="2400"/>
                  <a:buFont typeface="Times New Roman"/>
                  <a:buNone/>
                </a:pPr>
                <a:r>
                  <a:rPr b="1" i="0" lang="en-US" sz="2400" u="none" cap="none" strike="noStrike">
                    <a:solidFill>
                      <a:srgbClr val="2B3890"/>
                    </a:solidFill>
                    <a:latin typeface="Times New Roman"/>
                    <a:ea typeface="Times New Roman"/>
                    <a:cs typeface="Times New Roman"/>
                    <a:sym typeface="Times New Roman"/>
                  </a:rPr>
                  <a:t>     MD Abdullah Al Noman</a:t>
                </a:r>
                <a:endParaRPr b="1" i="0" sz="2400" u="none" cap="none" strike="noStrike">
                  <a:solidFill>
                    <a:srgbClr val="2B389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Lecturer , DBA,  BAIUST</a:t>
                </a:r>
                <a:endParaRPr/>
              </a:p>
            </p:txBody>
          </p:sp>
        </p:grpSp>
      </p:grpSp>
      <p:sp>
        <p:nvSpPr>
          <p:cNvPr id="93" name="Google Shape;93;p1"/>
          <p:cNvSpPr txBox="1"/>
          <p:nvPr/>
        </p:nvSpPr>
        <p:spPr>
          <a:xfrm>
            <a:off x="4591769" y="259413"/>
            <a:ext cx="2736304" cy="79208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Times New Roman"/>
              <a:buNone/>
            </a:pPr>
            <a:r>
              <a:rPr b="1" i="0" lang="en-US" sz="3600" u="none" cap="none" strike="noStrike">
                <a:solidFill>
                  <a:schemeClr val="lt1"/>
                </a:solidFill>
                <a:latin typeface="Times New Roman"/>
                <a:ea typeface="Times New Roman"/>
                <a:cs typeface="Times New Roman"/>
                <a:sym typeface="Times New Roman"/>
              </a:rPr>
              <a:t>WELCOME</a:t>
            </a:r>
            <a:endParaRPr b="1" i="0" sz="3600" u="none" cap="none" strike="noStrike">
              <a:solidFill>
                <a:schemeClr val="lt1"/>
              </a:solidFill>
              <a:latin typeface="Times New Roman"/>
              <a:ea typeface="Times New Roman"/>
              <a:cs typeface="Times New Roman"/>
              <a:sym typeface="Times New Roman"/>
            </a:endParaRPr>
          </a:p>
        </p:txBody>
      </p:sp>
      <p:pic>
        <p:nvPicPr>
          <p:cNvPr id="94" name="Google Shape;94;p1"/>
          <p:cNvPicPr preferRelativeResize="0"/>
          <p:nvPr/>
        </p:nvPicPr>
        <p:blipFill rotWithShape="1">
          <a:blip r:embed="rId3">
            <a:alphaModFix/>
          </a:blip>
          <a:srcRect b="0" l="0" r="0" t="0"/>
          <a:stretch/>
        </p:blipFill>
        <p:spPr>
          <a:xfrm rot="5400000">
            <a:off x="1967390" y="2048570"/>
            <a:ext cx="1737360" cy="1737360"/>
          </a:xfrm>
          <a:prstGeom prst="ellipse">
            <a:avLst/>
          </a:prstGeom>
          <a:noFill/>
          <a:ln>
            <a:noFill/>
          </a:ln>
          <a:effectLst>
            <a:outerShdw blurRad="381000" sx="-80000" rotWithShape="0" dir="5400000" dist="292100" sy="-18000">
              <a:srgbClr val="000000">
                <a:alpha val="21961"/>
              </a:srgbClr>
            </a:outerShdw>
          </a:effectLst>
        </p:spPr>
      </p:pic>
      <p:sp>
        <p:nvSpPr>
          <p:cNvPr id="95" name="Google Shape;95;p1"/>
          <p:cNvSpPr/>
          <p:nvPr/>
        </p:nvSpPr>
        <p:spPr>
          <a:xfrm>
            <a:off x="4727957" y="5600810"/>
            <a:ext cx="6423893"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600" u="none" cap="none" strike="noStrike">
                <a:solidFill>
                  <a:srgbClr val="2F5496"/>
                </a:solidFill>
                <a:latin typeface="Times New Roman"/>
                <a:ea typeface="Times New Roman"/>
                <a:cs typeface="Times New Roman"/>
                <a:sym typeface="Times New Roman"/>
              </a:rPr>
              <a:t>Bangladesh Army International University of Science and Technology</a:t>
            </a:r>
            <a:endParaRPr/>
          </a:p>
        </p:txBody>
      </p:sp>
      <p:pic>
        <p:nvPicPr>
          <p:cNvPr id="96" name="Google Shape;96;p1"/>
          <p:cNvPicPr preferRelativeResize="0"/>
          <p:nvPr/>
        </p:nvPicPr>
        <p:blipFill rotWithShape="1">
          <a:blip r:embed="rId4">
            <a:alphaModFix/>
          </a:blip>
          <a:srcRect b="0" l="0" r="0" t="0"/>
          <a:stretch/>
        </p:blipFill>
        <p:spPr>
          <a:xfrm>
            <a:off x="7521631" y="4585865"/>
            <a:ext cx="971551" cy="9144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2"/>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2"/>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txBox="1"/>
          <p:nvPr/>
        </p:nvSpPr>
        <p:spPr>
          <a:xfrm>
            <a:off x="4318341" y="174136"/>
            <a:ext cx="5627077"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CONSTITUENTS OF THE PRESENTATION</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07" name="Google Shape;107;p2"/>
          <p:cNvSpPr txBox="1"/>
          <p:nvPr/>
        </p:nvSpPr>
        <p:spPr>
          <a:xfrm>
            <a:off x="2364828" y="1497724"/>
            <a:ext cx="9127712" cy="310854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Demand</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Law of Demand</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Factors affecting Demand</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Demand function</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Supply</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Law of Supply</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Factors affecting Supply</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Supply function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3"/>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3"/>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3"/>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3"/>
          <p:cNvSpPr txBox="1"/>
          <p:nvPr/>
        </p:nvSpPr>
        <p:spPr>
          <a:xfrm>
            <a:off x="5865463" y="189901"/>
            <a:ext cx="5627077"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Demand</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3"/>
          <p:cNvSpPr txBox="1"/>
          <p:nvPr/>
        </p:nvSpPr>
        <p:spPr>
          <a:xfrm>
            <a:off x="2217019" y="1008993"/>
            <a:ext cx="9745048" cy="55707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a:solidFill>
                  <a:schemeClr val="dk1"/>
                </a:solidFill>
                <a:latin typeface="Times New Roman"/>
                <a:ea typeface="Times New Roman"/>
                <a:cs typeface="Times New Roman"/>
                <a:sym typeface="Times New Roman"/>
              </a:rPr>
              <a:t>In ordinary speech, the word demand is often confused with desire. Desire is the wish to have something or to enjoy a service. But demand implies more than mere desire. It means that the person is willing and able to pay for the object he desire. </a:t>
            </a:r>
            <a:r>
              <a:rPr lang="en-US" sz="2000">
                <a:solidFill>
                  <a:schemeClr val="dk1"/>
                </a:solidFill>
                <a:latin typeface="Times New Roman"/>
                <a:ea typeface="Times New Roman"/>
                <a:cs typeface="Times New Roman"/>
                <a:sym typeface="Times New Roman"/>
              </a:rPr>
              <a:t>In economics, </a:t>
            </a:r>
            <a:r>
              <a:rPr i="1" lang="en-US" sz="2000">
                <a:solidFill>
                  <a:schemeClr val="dk1"/>
                </a:solidFill>
                <a:latin typeface="Times New Roman"/>
                <a:ea typeface="Times New Roman"/>
                <a:cs typeface="Times New Roman"/>
                <a:sym typeface="Times New Roman"/>
              </a:rPr>
              <a:t>demand</a:t>
            </a:r>
            <a:r>
              <a:rPr lang="en-US" sz="2000">
                <a:solidFill>
                  <a:schemeClr val="dk1"/>
                </a:solidFill>
                <a:latin typeface="Times New Roman"/>
                <a:ea typeface="Times New Roman"/>
                <a:cs typeface="Times New Roman"/>
                <a:sym typeface="Times New Roman"/>
              </a:rPr>
              <a:t> refers to the </a:t>
            </a:r>
            <a:r>
              <a:rPr b="1" lang="en-US" sz="2000">
                <a:solidFill>
                  <a:schemeClr val="dk1"/>
                </a:solidFill>
                <a:latin typeface="Times New Roman"/>
                <a:ea typeface="Times New Roman"/>
                <a:cs typeface="Times New Roman"/>
                <a:sym typeface="Times New Roman"/>
              </a:rPr>
              <a:t>quantity of a good or service that consumers are willing and able to purchase at various prices over a given period of time.</a:t>
            </a:r>
            <a:endParaRPr/>
          </a:p>
          <a:p>
            <a:pPr indent="0" lvl="0" marL="0" marR="0" rtl="0" algn="just">
              <a:spcBef>
                <a:spcPts val="0"/>
              </a:spcBef>
              <a:spcAft>
                <a:spcPts val="0"/>
              </a:spcAft>
              <a:buNone/>
            </a:pPr>
            <a:r>
              <a:t/>
            </a:r>
            <a:endParaRPr b="1" i="0"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000">
                <a:solidFill>
                  <a:schemeClr val="dk1"/>
                </a:solidFill>
                <a:latin typeface="Times New Roman"/>
                <a:ea typeface="Times New Roman"/>
                <a:cs typeface="Times New Roman"/>
                <a:sym typeface="Times New Roman"/>
              </a:rPr>
              <a:t>A beggar’s desire to travel by air from Delhi to Bombay has no signifies as he cannot pay for it. On the other hand, a businessman’s desire to go to Bombay by air is demand, as he is able to pay for it and is willing to do so. Demand thus means desire backed by willingness and ability to pay.</a:t>
            </a:r>
            <a:endParaRPr/>
          </a:p>
          <a:p>
            <a:pPr indent="0" lvl="0" marL="0" marR="0" rtl="0" algn="just">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000">
                <a:solidFill>
                  <a:schemeClr val="dk1"/>
                </a:solidFill>
                <a:latin typeface="Georgia"/>
                <a:ea typeface="Georgia"/>
                <a:cs typeface="Georgia"/>
                <a:sym typeface="Georgia"/>
              </a:rPr>
              <a:t>Both willingness and ability to pay are essential. If a man is willing to pay but he is unable to pay, his desire will not become demand. In the same manner, if he is able to pay but is not willing to pay, his desire will not be changed into effective demand. In order to change desire into demand, it is essential that he should be both willing and able to pay.</a:t>
            </a:r>
            <a:endParaRPr b="1" i="0"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4"/>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4"/>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4"/>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4"/>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4"/>
          <p:cNvSpPr txBox="1"/>
          <p:nvPr/>
        </p:nvSpPr>
        <p:spPr>
          <a:xfrm>
            <a:off x="5544128" y="158370"/>
            <a:ext cx="2790498"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Law of Demand</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4"/>
          <p:cNvSpPr txBox="1"/>
          <p:nvPr/>
        </p:nvSpPr>
        <p:spPr>
          <a:xfrm>
            <a:off x="2227467" y="835478"/>
            <a:ext cx="9423819"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The </a:t>
            </a:r>
            <a:r>
              <a:rPr i="1" lang="en-US" sz="2000">
                <a:solidFill>
                  <a:schemeClr val="dk1"/>
                </a:solidFill>
                <a:latin typeface="Times New Roman"/>
                <a:ea typeface="Times New Roman"/>
                <a:cs typeface="Times New Roman"/>
                <a:sym typeface="Times New Roman"/>
              </a:rPr>
              <a:t>law of demand</a:t>
            </a:r>
            <a:r>
              <a:rPr lang="en-US" sz="2000">
                <a:solidFill>
                  <a:schemeClr val="dk1"/>
                </a:solidFill>
                <a:latin typeface="Times New Roman"/>
                <a:ea typeface="Times New Roman"/>
                <a:cs typeface="Times New Roman"/>
                <a:sym typeface="Times New Roman"/>
              </a:rPr>
              <a:t> states that, all else being equal, there is an inverse relationship between the price of a good or service and the quantity demanded by consumers. As the price of a good rises, the quantity demanded tends to decrease; conversely, as the price falls, the quantity demanded generally increases.</a:t>
            </a:r>
            <a:endParaRPr/>
          </a:p>
        </p:txBody>
      </p:sp>
      <p:pic>
        <p:nvPicPr>
          <p:cNvPr id="130" name="Google Shape;130;p4"/>
          <p:cNvPicPr preferRelativeResize="0"/>
          <p:nvPr/>
        </p:nvPicPr>
        <p:blipFill rotWithShape="1">
          <a:blip r:embed="rId3">
            <a:alphaModFix/>
          </a:blip>
          <a:srcRect b="0" l="0" r="0" t="0"/>
          <a:stretch/>
        </p:blipFill>
        <p:spPr>
          <a:xfrm>
            <a:off x="5229388" y="2555959"/>
            <a:ext cx="3520474" cy="3520474"/>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5"/>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5"/>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5"/>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5"/>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5"/>
          <p:cNvSpPr txBox="1"/>
          <p:nvPr/>
        </p:nvSpPr>
        <p:spPr>
          <a:xfrm>
            <a:off x="5544127" y="158370"/>
            <a:ext cx="40255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Factors affecting Demand</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5"/>
          <p:cNvSpPr txBox="1"/>
          <p:nvPr/>
        </p:nvSpPr>
        <p:spPr>
          <a:xfrm>
            <a:off x="2371941" y="835478"/>
            <a:ext cx="9360193" cy="563231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These factors include:</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Calibri"/>
              <a:buAutoNum type="arabicPeriod"/>
            </a:pPr>
            <a:r>
              <a:rPr b="1" lang="en-US" sz="1800">
                <a:solidFill>
                  <a:schemeClr val="dk1"/>
                </a:solidFill>
                <a:latin typeface="Times New Roman"/>
                <a:ea typeface="Times New Roman"/>
                <a:cs typeface="Times New Roman"/>
                <a:sym typeface="Times New Roman"/>
              </a:rPr>
              <a:t>Price of the Good or Service:</a:t>
            </a:r>
            <a:r>
              <a:rPr lang="en-US" sz="1800">
                <a:solidFill>
                  <a:schemeClr val="dk1"/>
                </a:solidFill>
                <a:latin typeface="Times New Roman"/>
                <a:ea typeface="Times New Roman"/>
                <a:cs typeface="Times New Roman"/>
                <a:sym typeface="Times New Roman"/>
              </a:rPr>
              <a:t> The primary factor, as dictated by the law of demand, is that an increase in price generally decreases quantity demanded, and a decrease in price increases it, assuming other factors remain constant.</a:t>
            </a:r>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Calibri"/>
              <a:buAutoNum type="arabicPeriod"/>
            </a:pPr>
            <a:r>
              <a:rPr b="1" lang="en-US" sz="1800">
                <a:solidFill>
                  <a:schemeClr val="dk1"/>
                </a:solidFill>
                <a:latin typeface="Times New Roman"/>
                <a:ea typeface="Times New Roman"/>
                <a:cs typeface="Times New Roman"/>
                <a:sym typeface="Times New Roman"/>
              </a:rPr>
              <a:t>Consumer Income:</a:t>
            </a:r>
            <a:r>
              <a:rPr lang="en-US" sz="1800">
                <a:solidFill>
                  <a:schemeClr val="dk1"/>
                </a:solidFill>
                <a:latin typeface="Times New Roman"/>
                <a:ea typeface="Times New Roman"/>
                <a:cs typeface="Times New Roman"/>
                <a:sym typeface="Times New Roman"/>
              </a:rPr>
              <a:t> Higher income levels tend to increase demand for goods and services, as people have more purchasing power. Conversely, a drop in income typically reduces demand. Normal goods see increased demand with rising income, while demand for inferior goods may decrease.</a:t>
            </a:r>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Calibri"/>
              <a:buAutoNum type="arabicPeriod"/>
            </a:pPr>
            <a:r>
              <a:rPr b="1" lang="en-US" sz="1800">
                <a:solidFill>
                  <a:schemeClr val="dk1"/>
                </a:solidFill>
                <a:latin typeface="Times New Roman"/>
                <a:ea typeface="Times New Roman"/>
                <a:cs typeface="Times New Roman"/>
                <a:sym typeface="Times New Roman"/>
              </a:rPr>
              <a:t>Prices of Related Goods:</a:t>
            </a:r>
            <a:r>
              <a:rPr lang="en-US" sz="1800">
                <a:solidFill>
                  <a:schemeClr val="dk1"/>
                </a:solidFill>
                <a:latin typeface="Times New Roman"/>
                <a:ea typeface="Times New Roman"/>
                <a:cs typeface="Times New Roman"/>
                <a:sym typeface="Times New Roman"/>
              </a:rPr>
              <a:t> Demand can be influenced by the prices of complementary goods (goods that are often used together) and substitute goods (goods that can replace one another):</a:t>
            </a:r>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Times New Roman"/>
              <a:ea typeface="Times New Roman"/>
              <a:cs typeface="Times New Roman"/>
              <a:sym typeface="Times New Roman"/>
            </a:endParaRPr>
          </a:p>
          <a:p>
            <a:pPr indent="-285750" lvl="1" marL="742950" marR="0" rtl="0" algn="just">
              <a:spcBef>
                <a:spcPts val="0"/>
              </a:spcBef>
              <a:spcAft>
                <a:spcPts val="0"/>
              </a:spcAft>
              <a:buClr>
                <a:schemeClr val="dk1"/>
              </a:buClr>
              <a:buSzPts val="1800"/>
              <a:buFont typeface="Calibri"/>
              <a:buAutoNum type="arabicPeriod"/>
            </a:pPr>
            <a:r>
              <a:rPr b="1" i="0" lang="en-US" sz="1800" u="none" cap="none" strike="noStrike">
                <a:solidFill>
                  <a:schemeClr val="dk1"/>
                </a:solidFill>
                <a:latin typeface="Times New Roman"/>
                <a:ea typeface="Times New Roman"/>
                <a:cs typeface="Times New Roman"/>
                <a:sym typeface="Times New Roman"/>
              </a:rPr>
              <a:t>Complements:</a:t>
            </a:r>
            <a:r>
              <a:rPr b="0" i="0" lang="en-US" sz="1800" u="none" cap="none" strike="noStrike">
                <a:solidFill>
                  <a:schemeClr val="dk1"/>
                </a:solidFill>
                <a:latin typeface="Times New Roman"/>
                <a:ea typeface="Times New Roman"/>
                <a:cs typeface="Times New Roman"/>
                <a:sym typeface="Times New Roman"/>
              </a:rPr>
              <a:t> If the price of a complementary good decreases, demand for the related good might increase. For instance, if the price of coffee falls, demand for sugar (a complement) may rise.</a:t>
            </a:r>
            <a:endParaRPr/>
          </a:p>
          <a:p>
            <a:pPr indent="-171450" lvl="1" marL="742950" marR="0" rtl="0" algn="just">
              <a:spcBef>
                <a:spcPts val="0"/>
              </a:spcBef>
              <a:spcAft>
                <a:spcPts val="0"/>
              </a:spcAft>
              <a:buClr>
                <a:schemeClr val="dk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just">
              <a:spcBef>
                <a:spcPts val="0"/>
              </a:spcBef>
              <a:spcAft>
                <a:spcPts val="0"/>
              </a:spcAft>
              <a:buClr>
                <a:schemeClr val="dk1"/>
              </a:buClr>
              <a:buSzPts val="1800"/>
              <a:buFont typeface="Calibri"/>
              <a:buAutoNum type="arabicPeriod"/>
            </a:pPr>
            <a:r>
              <a:rPr b="1" i="0" lang="en-US" sz="1800" u="none" cap="none" strike="noStrike">
                <a:solidFill>
                  <a:schemeClr val="dk1"/>
                </a:solidFill>
                <a:latin typeface="Times New Roman"/>
                <a:ea typeface="Times New Roman"/>
                <a:cs typeface="Times New Roman"/>
                <a:sym typeface="Times New Roman"/>
              </a:rPr>
              <a:t>Substitutes:</a:t>
            </a:r>
            <a:r>
              <a:rPr b="0" i="0" lang="en-US" sz="1800" u="none" cap="none" strike="noStrike">
                <a:solidFill>
                  <a:schemeClr val="dk1"/>
                </a:solidFill>
                <a:latin typeface="Times New Roman"/>
                <a:ea typeface="Times New Roman"/>
                <a:cs typeface="Times New Roman"/>
                <a:sym typeface="Times New Roman"/>
              </a:rPr>
              <a:t> If the price of a substitute good increases, demand for the original good may rise, as consumers switch to the more affordable option.</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6"/>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6"/>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6"/>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6"/>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6"/>
          <p:cNvSpPr txBox="1"/>
          <p:nvPr/>
        </p:nvSpPr>
        <p:spPr>
          <a:xfrm>
            <a:off x="5544127" y="158370"/>
            <a:ext cx="40255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Factors affecting Demand</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6"/>
          <p:cNvSpPr txBox="1"/>
          <p:nvPr/>
        </p:nvSpPr>
        <p:spPr>
          <a:xfrm>
            <a:off x="2371941" y="835478"/>
            <a:ext cx="9360193"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4. Consumer Preferences and Tastes:</a:t>
            </a:r>
            <a:r>
              <a:rPr lang="en-US" sz="1800">
                <a:solidFill>
                  <a:schemeClr val="dk1"/>
                </a:solidFill>
                <a:latin typeface="Times New Roman"/>
                <a:ea typeface="Times New Roman"/>
                <a:cs typeface="Times New Roman"/>
                <a:sym typeface="Times New Roman"/>
              </a:rPr>
              <a:t> Changes in trends, fashions, or consumer preferences can increase or decrease demand for particular goods. Marketing, cultural influences, and public perceptions often play roles in shaping preferences.</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5. Expectations of Future Prices and Income:</a:t>
            </a:r>
            <a:r>
              <a:rPr lang="en-US" sz="1800">
                <a:solidFill>
                  <a:schemeClr val="dk1"/>
                </a:solidFill>
                <a:latin typeface="Times New Roman"/>
                <a:ea typeface="Times New Roman"/>
                <a:cs typeface="Times New Roman"/>
                <a:sym typeface="Times New Roman"/>
              </a:rPr>
              <a:t> If consumers expect prices to rise in the future, they may buy more now, increasing current demand. Likewise, if they expect a rise in income, they might increase current spending.</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6. Number of Buyers in the Market:</a:t>
            </a:r>
            <a:r>
              <a:rPr lang="en-US" sz="1800">
                <a:solidFill>
                  <a:schemeClr val="dk1"/>
                </a:solidFill>
                <a:latin typeface="Times New Roman"/>
                <a:ea typeface="Times New Roman"/>
                <a:cs typeface="Times New Roman"/>
                <a:sym typeface="Times New Roman"/>
              </a:rPr>
              <a:t> An increase in the population or in the number of consumers for a good will generally increase demand, while a decrease will reduce it.</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7. Seasonal Factors:</a:t>
            </a:r>
            <a:r>
              <a:rPr lang="en-US" sz="1800">
                <a:solidFill>
                  <a:schemeClr val="dk1"/>
                </a:solidFill>
                <a:latin typeface="Times New Roman"/>
                <a:ea typeface="Times New Roman"/>
                <a:cs typeface="Times New Roman"/>
                <a:sym typeface="Times New Roman"/>
              </a:rPr>
              <a:t> Certain goods experience demand fluctuations based on seasons or weather. For instance, the demand for winter clothing spikes during colder months.</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Each of these factors can cause shifts in the </a:t>
            </a:r>
            <a:r>
              <a:rPr i="1" lang="en-US" sz="1800">
                <a:solidFill>
                  <a:schemeClr val="dk1"/>
                </a:solidFill>
                <a:latin typeface="Times New Roman"/>
                <a:ea typeface="Times New Roman"/>
                <a:cs typeface="Times New Roman"/>
                <a:sym typeface="Times New Roman"/>
              </a:rPr>
              <a:t>demand curve</a:t>
            </a:r>
            <a:r>
              <a:rPr lang="en-US" sz="1800">
                <a:solidFill>
                  <a:schemeClr val="dk1"/>
                </a:solidFill>
                <a:latin typeface="Times New Roman"/>
                <a:ea typeface="Times New Roman"/>
                <a:cs typeface="Times New Roman"/>
                <a:sym typeface="Times New Roman"/>
              </a:rPr>
              <a:t>, either increasing or decreasing demand independently of the good’s own price.</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7"/>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7"/>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7"/>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7"/>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7"/>
          <p:cNvSpPr txBox="1"/>
          <p:nvPr/>
        </p:nvSpPr>
        <p:spPr>
          <a:xfrm>
            <a:off x="5559893" y="158370"/>
            <a:ext cx="40255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Demand Schedule</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7"/>
          <p:cNvSpPr txBox="1"/>
          <p:nvPr/>
        </p:nvSpPr>
        <p:spPr>
          <a:xfrm>
            <a:off x="2371941" y="835478"/>
            <a:ext cx="9360193"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rgbClr val="000000"/>
                </a:solidFill>
                <a:latin typeface="Times New Roman"/>
                <a:ea typeface="Times New Roman"/>
                <a:cs typeface="Times New Roman"/>
                <a:sym typeface="Times New Roman"/>
              </a:rPr>
              <a:t>A </a:t>
            </a:r>
            <a:r>
              <a:rPr b="1" i="1" lang="en-US" sz="1800">
                <a:solidFill>
                  <a:srgbClr val="000000"/>
                </a:solidFill>
                <a:latin typeface="Times New Roman"/>
                <a:ea typeface="Times New Roman"/>
                <a:cs typeface="Times New Roman"/>
                <a:sym typeface="Times New Roman"/>
              </a:rPr>
              <a:t>demand schedule</a:t>
            </a:r>
            <a:r>
              <a:rPr lang="en-US" sz="1800">
                <a:solidFill>
                  <a:srgbClr val="000000"/>
                </a:solidFill>
                <a:latin typeface="Times New Roman"/>
                <a:ea typeface="Times New Roman"/>
                <a:cs typeface="Times New Roman"/>
                <a:sym typeface="Times New Roman"/>
              </a:rPr>
              <a:t> is a table showing how much of a given product a household would be willing to buy at different prices. Demand curves are usually derived from demand schedules.</a:t>
            </a:r>
            <a:endParaRPr/>
          </a:p>
          <a:p>
            <a:pPr indent="0" lvl="0" marL="0" marR="0" rtl="0" algn="just">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164" name="Google Shape;164;p7"/>
          <p:cNvPicPr preferRelativeResize="0"/>
          <p:nvPr/>
        </p:nvPicPr>
        <p:blipFill rotWithShape="1">
          <a:blip r:embed="rId3">
            <a:alphaModFix/>
          </a:blip>
          <a:srcRect b="0" l="0" r="0" t="0"/>
          <a:stretch/>
        </p:blipFill>
        <p:spPr>
          <a:xfrm>
            <a:off x="3165911" y="1512586"/>
            <a:ext cx="7349687" cy="5187044"/>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8"/>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8"/>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8"/>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8"/>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8"/>
          <p:cNvSpPr txBox="1"/>
          <p:nvPr/>
        </p:nvSpPr>
        <p:spPr>
          <a:xfrm>
            <a:off x="4335517" y="158370"/>
            <a:ext cx="687779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Changes in Demand vs Changes in Quantity Demand </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8"/>
          <p:cNvSpPr txBox="1"/>
          <p:nvPr/>
        </p:nvSpPr>
        <p:spPr>
          <a:xfrm>
            <a:off x="2371941" y="835478"/>
            <a:ext cx="9231479"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1. Change in Quantity Demanded</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A </a:t>
            </a:r>
            <a:r>
              <a:rPr i="1" lang="en-US" sz="1800">
                <a:solidFill>
                  <a:schemeClr val="dk1"/>
                </a:solidFill>
                <a:latin typeface="Times New Roman"/>
                <a:ea typeface="Times New Roman"/>
                <a:cs typeface="Times New Roman"/>
                <a:sym typeface="Times New Roman"/>
              </a:rPr>
              <a:t>change in quantity demanded</a:t>
            </a:r>
            <a:r>
              <a:rPr lang="en-US" sz="1800">
                <a:solidFill>
                  <a:schemeClr val="dk1"/>
                </a:solidFill>
                <a:latin typeface="Times New Roman"/>
                <a:ea typeface="Times New Roman"/>
                <a:cs typeface="Times New Roman"/>
                <a:sym typeface="Times New Roman"/>
              </a:rPr>
              <a:t> refers to a movement </a:t>
            </a:r>
            <a:r>
              <a:rPr i="1" lang="en-US" sz="1800">
                <a:solidFill>
                  <a:schemeClr val="dk1"/>
                </a:solidFill>
                <a:latin typeface="Times New Roman"/>
                <a:ea typeface="Times New Roman"/>
                <a:cs typeface="Times New Roman"/>
                <a:sym typeface="Times New Roman"/>
              </a:rPr>
              <a:t>along</a:t>
            </a:r>
            <a:r>
              <a:rPr lang="en-US" sz="1800">
                <a:solidFill>
                  <a:schemeClr val="dk1"/>
                </a:solidFill>
                <a:latin typeface="Times New Roman"/>
                <a:ea typeface="Times New Roman"/>
                <a:cs typeface="Times New Roman"/>
                <a:sym typeface="Times New Roman"/>
              </a:rPr>
              <a:t> the demand curve due to a change in the price of the good or service itself.</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When the price decreases, the quantity demanded increases, and when the price increases, the quantity demanded decreases, following the law of demand.</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This is represented as a movement from one point to another on the same demand curve. For example, if the price of coffee drops from $5 to $3, the quantity demanded might increase from 100 to 150 cups per day.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6" name="Google Shape;176;p8"/>
          <p:cNvPicPr preferRelativeResize="0"/>
          <p:nvPr/>
        </p:nvPicPr>
        <p:blipFill rotWithShape="1">
          <a:blip r:embed="rId3">
            <a:alphaModFix/>
          </a:blip>
          <a:srcRect b="0" l="0" r="0" t="0"/>
          <a:stretch/>
        </p:blipFill>
        <p:spPr>
          <a:xfrm>
            <a:off x="5378048" y="3792182"/>
            <a:ext cx="3765952" cy="3017469"/>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9"/>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9"/>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9"/>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9"/>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9"/>
          <p:cNvSpPr txBox="1"/>
          <p:nvPr/>
        </p:nvSpPr>
        <p:spPr>
          <a:xfrm>
            <a:off x="4335517" y="158370"/>
            <a:ext cx="687779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Changes in Demand vs Changes in Quantity Demand </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9"/>
          <p:cNvSpPr txBox="1"/>
          <p:nvPr/>
        </p:nvSpPr>
        <p:spPr>
          <a:xfrm>
            <a:off x="2371941" y="835478"/>
            <a:ext cx="9231479"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2. Change in Demand</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A </a:t>
            </a:r>
            <a:r>
              <a:rPr i="1" lang="en-US" sz="1800">
                <a:solidFill>
                  <a:schemeClr val="dk1"/>
                </a:solidFill>
                <a:latin typeface="Times New Roman"/>
                <a:ea typeface="Times New Roman"/>
                <a:cs typeface="Times New Roman"/>
                <a:sym typeface="Times New Roman"/>
              </a:rPr>
              <a:t>change in demand</a:t>
            </a:r>
            <a:r>
              <a:rPr lang="en-US" sz="1800">
                <a:solidFill>
                  <a:schemeClr val="dk1"/>
                </a:solidFill>
                <a:latin typeface="Times New Roman"/>
                <a:ea typeface="Times New Roman"/>
                <a:cs typeface="Times New Roman"/>
                <a:sym typeface="Times New Roman"/>
              </a:rPr>
              <a:t>, on the other hand, refers to a </a:t>
            </a:r>
            <a:r>
              <a:rPr i="1" lang="en-US" sz="1800">
                <a:solidFill>
                  <a:schemeClr val="dk1"/>
                </a:solidFill>
                <a:latin typeface="Times New Roman"/>
                <a:ea typeface="Times New Roman"/>
                <a:cs typeface="Times New Roman"/>
                <a:sym typeface="Times New Roman"/>
              </a:rPr>
              <a:t>shift</a:t>
            </a:r>
            <a:r>
              <a:rPr lang="en-US" sz="1800">
                <a:solidFill>
                  <a:schemeClr val="dk1"/>
                </a:solidFill>
                <a:latin typeface="Times New Roman"/>
                <a:ea typeface="Times New Roman"/>
                <a:cs typeface="Times New Roman"/>
                <a:sym typeface="Times New Roman"/>
              </a:rPr>
              <a:t> of the entire demand curve, either to the right (increase in demand) or to the left (decrease in demand).</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This shift occurs when factors other than the price of the good itself change, such as:</a:t>
            </a:r>
            <a:endParaRPr/>
          </a:p>
          <a:p>
            <a:pPr indent="-285750" lvl="1" marL="7429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Consumer income</a:t>
            </a:r>
            <a:endParaRPr/>
          </a:p>
          <a:p>
            <a:pPr indent="-285750" lvl="1" marL="7429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Prices of related goods (complements and substitutes)</a:t>
            </a:r>
            <a:endParaRPr/>
          </a:p>
          <a:p>
            <a:pPr indent="-285750" lvl="1" marL="7429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Consumer preferences</a:t>
            </a:r>
            <a:endParaRPr/>
          </a:p>
          <a:p>
            <a:pPr indent="-285750" lvl="1" marL="7429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Future expectations about prices or income</a:t>
            </a:r>
            <a:endParaRPr/>
          </a:p>
          <a:p>
            <a:pPr indent="-285750" lvl="1" marL="7429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Changes in the number of buyers</a:t>
            </a:r>
            <a:endParaRPr/>
          </a:p>
        </p:txBody>
      </p:sp>
      <p:pic>
        <p:nvPicPr>
          <p:cNvPr id="188" name="Google Shape;188;p9"/>
          <p:cNvPicPr preferRelativeResize="0"/>
          <p:nvPr/>
        </p:nvPicPr>
        <p:blipFill rotWithShape="1">
          <a:blip r:embed="rId3">
            <a:alphaModFix/>
          </a:blip>
          <a:srcRect b="0" l="0" r="0" t="0"/>
          <a:stretch/>
        </p:blipFill>
        <p:spPr>
          <a:xfrm>
            <a:off x="6567261" y="3904360"/>
            <a:ext cx="3459608" cy="2953640"/>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10"/>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0"/>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0"/>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0"/>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0"/>
          <p:cNvSpPr txBox="1"/>
          <p:nvPr/>
        </p:nvSpPr>
        <p:spPr>
          <a:xfrm>
            <a:off x="4335517" y="158370"/>
            <a:ext cx="687779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Changes in Demand vs Changes in Quantity Demand </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0"/>
          <p:cNvSpPr txBox="1"/>
          <p:nvPr/>
        </p:nvSpPr>
        <p:spPr>
          <a:xfrm>
            <a:off x="2371941" y="835478"/>
            <a:ext cx="9231479"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For example, if there’s an increase in consumer income, people might be willing to buy more coffee at all price levels, shifting the demand curve to the right.</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In summary:</a:t>
            </a:r>
            <a:endParaRPr/>
          </a:p>
          <a:p>
            <a:pPr indent="0" lvl="0" marL="0" marR="0" rtl="0" algn="just">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a:t>
            </a:r>
            <a:r>
              <a:rPr i="1" lang="en-US" sz="1800">
                <a:solidFill>
                  <a:schemeClr val="dk1"/>
                </a:solidFill>
                <a:latin typeface="Times New Roman"/>
                <a:ea typeface="Times New Roman"/>
                <a:cs typeface="Times New Roman"/>
                <a:sym typeface="Times New Roman"/>
              </a:rPr>
              <a:t>change in quantity demanded</a:t>
            </a:r>
            <a:r>
              <a:rPr lang="en-US" sz="1800">
                <a:solidFill>
                  <a:schemeClr val="dk1"/>
                </a:solidFill>
                <a:latin typeface="Times New Roman"/>
                <a:ea typeface="Times New Roman"/>
                <a:cs typeface="Times New Roman"/>
                <a:sym typeface="Times New Roman"/>
              </a:rPr>
              <a:t> is a response to a price change for that specific good, resulting in movement along the demand curve.</a:t>
            </a:r>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a:t>
            </a:r>
            <a:r>
              <a:rPr i="1" lang="en-US" sz="1800">
                <a:solidFill>
                  <a:schemeClr val="dk1"/>
                </a:solidFill>
                <a:latin typeface="Times New Roman"/>
                <a:ea typeface="Times New Roman"/>
                <a:cs typeface="Times New Roman"/>
                <a:sym typeface="Times New Roman"/>
              </a:rPr>
              <a:t>change in demand</a:t>
            </a:r>
            <a:r>
              <a:rPr lang="en-US" sz="1800">
                <a:solidFill>
                  <a:schemeClr val="dk1"/>
                </a:solidFill>
                <a:latin typeface="Times New Roman"/>
                <a:ea typeface="Times New Roman"/>
                <a:cs typeface="Times New Roman"/>
                <a:sym typeface="Times New Roman"/>
              </a:rPr>
              <a:t> is a shift of the entire curve due to factors other than the good’s own price.</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11"/>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11"/>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1"/>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1"/>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1"/>
          <p:cNvSpPr txBox="1"/>
          <p:nvPr/>
        </p:nvSpPr>
        <p:spPr>
          <a:xfrm>
            <a:off x="5544128" y="158370"/>
            <a:ext cx="2790498"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Demand function</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11"/>
          <p:cNvSpPr txBox="1"/>
          <p:nvPr/>
        </p:nvSpPr>
        <p:spPr>
          <a:xfrm>
            <a:off x="2371942" y="835478"/>
            <a:ext cx="9120598" cy="5324535"/>
          </a:xfrm>
          <a:prstGeom prst="rect">
            <a:avLst/>
          </a:prstGeom>
          <a:blipFill rotWithShape="1">
            <a:blip r:embed="rId3">
              <a:alphaModFix/>
            </a:blip>
            <a:stretch>
              <a:fillRect b="-1030" l="-668" r="-735" t="-5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12"/>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p12"/>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12"/>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12"/>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2"/>
          <p:cNvSpPr txBox="1"/>
          <p:nvPr/>
        </p:nvSpPr>
        <p:spPr>
          <a:xfrm>
            <a:off x="5544128" y="158370"/>
            <a:ext cx="2790498"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Demand function</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2"/>
          <p:cNvSpPr txBox="1"/>
          <p:nvPr/>
        </p:nvSpPr>
        <p:spPr>
          <a:xfrm>
            <a:off x="2092710" y="1130735"/>
            <a:ext cx="9080960" cy="3170099"/>
          </a:xfrm>
          <a:prstGeom prst="rect">
            <a:avLst/>
          </a:prstGeom>
          <a:blipFill rotWithShape="1">
            <a:blip r:embed="rId3">
              <a:alphaModFix/>
            </a:blip>
            <a:stretch>
              <a:fillRect b="-2303" l="-671" r="0" t="-96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Exceptions to the Law of Demand</a:t>
            </a:r>
            <a:br>
              <a:rPr lang="en-US"/>
            </a:br>
            <a:endParaRPr/>
          </a:p>
        </p:txBody>
      </p:sp>
      <p:sp>
        <p:nvSpPr>
          <p:cNvPr id="227" name="Google Shape;22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b="1" lang="en-US"/>
              <a:t>Giffen Goods </a:t>
            </a:r>
            <a:r>
              <a:rPr lang="en-US"/>
              <a:t>is a concept that was introduced by Sir Robert Giffen. The unique characteristic of Giffen goods is that as its price increases, the demand also increases.</a:t>
            </a:r>
            <a:endParaRPr/>
          </a:p>
          <a:p>
            <a:pPr indent="-228600" lvl="0" marL="228600" rtl="0" algn="just">
              <a:lnSpc>
                <a:spcPct val="90000"/>
              </a:lnSpc>
              <a:spcBef>
                <a:spcPts val="1000"/>
              </a:spcBef>
              <a:spcAft>
                <a:spcPts val="0"/>
              </a:spcAft>
              <a:buClr>
                <a:schemeClr val="dk1"/>
              </a:buClr>
              <a:buSzPts val="2800"/>
              <a:buChar char="•"/>
            </a:pPr>
            <a:r>
              <a:rPr b="1" lang="en-US"/>
              <a:t>A Giffen good</a:t>
            </a:r>
            <a:r>
              <a:rPr lang="en-US"/>
              <a:t>, a concept commonly used in economics, refers to a good that people consume more as the price rises. Therefore, a Giffen good shows an upward-sloping demand curve and violates the fundamental law of demand.</a:t>
            </a:r>
            <a:endParaRPr/>
          </a:p>
          <a:p>
            <a:pPr indent="-228600" lvl="0" marL="228600" rtl="0" algn="just">
              <a:lnSpc>
                <a:spcPct val="90000"/>
              </a:lnSpc>
              <a:spcBef>
                <a:spcPts val="1000"/>
              </a:spcBef>
              <a:spcAft>
                <a:spcPts val="0"/>
              </a:spcAft>
              <a:buClr>
                <a:schemeClr val="dk1"/>
              </a:buClr>
              <a:buSzPts val="2800"/>
              <a:buChar char="•"/>
            </a:pPr>
            <a:r>
              <a:rPr lang="en-US"/>
              <a:t>Giffen goods are basic, low-quality essential goods. When price rises, people get poorer in real terms. Since they can’t afford better substitutes, they cut back on expensive food and buy more of the cheap staple, even at the higher price.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type="title"/>
          </p:nvPr>
        </p:nvSpPr>
        <p:spPr>
          <a:xfrm>
            <a:off x="838200" y="1099930"/>
            <a:ext cx="10515600" cy="795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Open Sans"/>
              <a:buNone/>
            </a:pPr>
            <a:r>
              <a:rPr b="1" i="0" lang="en-US">
                <a:solidFill>
                  <a:srgbClr val="000000"/>
                </a:solidFill>
                <a:latin typeface="Open Sans"/>
                <a:ea typeface="Open Sans"/>
                <a:cs typeface="Open Sans"/>
                <a:sym typeface="Open Sans"/>
              </a:rPr>
              <a:t>Exceptions to the Law of Demand</a:t>
            </a:r>
            <a:br>
              <a:rPr b="1" i="0" lang="en-US">
                <a:solidFill>
                  <a:srgbClr val="000000"/>
                </a:solidFill>
                <a:latin typeface="Open Sans"/>
                <a:ea typeface="Open Sans"/>
                <a:cs typeface="Open Sans"/>
                <a:sym typeface="Open Sans"/>
              </a:rPr>
            </a:br>
            <a:br>
              <a:rPr lang="en-US"/>
            </a:br>
            <a:endParaRPr/>
          </a:p>
        </p:txBody>
      </p:sp>
      <p:sp>
        <p:nvSpPr>
          <p:cNvPr id="233" name="Google Shape;23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t>The second exception to the law of demand is the concept of </a:t>
            </a:r>
            <a:r>
              <a:rPr b="1" lang="en-US">
                <a:solidFill>
                  <a:schemeClr val="accent3"/>
                </a:solidFill>
              </a:rPr>
              <a:t>Veblen goods</a:t>
            </a:r>
            <a:r>
              <a:rPr lang="en-US"/>
              <a:t>. Veblen Goods is a concept that is named after the economist Thorstein Veblen. </a:t>
            </a:r>
            <a:r>
              <a:rPr lang="en-US">
                <a:solidFill>
                  <a:srgbClr val="FF0000"/>
                </a:solidFill>
              </a:rPr>
              <a:t>Veblen goods</a:t>
            </a:r>
            <a:r>
              <a:rPr lang="en-US"/>
              <a:t> are mostly luxury, status-symbol items—like perfumes and certain cars—that see their demand climb as their prices rise.</a:t>
            </a:r>
            <a:endParaRPr/>
          </a:p>
          <a:p>
            <a:pPr indent="-228600" lvl="0" marL="228600" rtl="0" algn="just">
              <a:lnSpc>
                <a:spcPct val="90000"/>
              </a:lnSpc>
              <a:spcBef>
                <a:spcPts val="1000"/>
              </a:spcBef>
              <a:spcAft>
                <a:spcPts val="0"/>
              </a:spcAft>
              <a:buClr>
                <a:schemeClr val="dk1"/>
              </a:buClr>
              <a:buSzPct val="100000"/>
              <a:buChar char="•"/>
            </a:pPr>
            <a:r>
              <a:rPr lang="en-US"/>
              <a:t>According to Veblen, there are certain goods that become more valuable as their price increases. If a product is expensive, then its value and utility are perceived to be more, and hence the demand for that product increases.</a:t>
            </a:r>
            <a:endParaRPr/>
          </a:p>
          <a:p>
            <a:pPr indent="-228600" lvl="0" marL="228600" rtl="0" algn="just">
              <a:lnSpc>
                <a:spcPct val="90000"/>
              </a:lnSpc>
              <a:spcBef>
                <a:spcPts val="1000"/>
              </a:spcBef>
              <a:spcAft>
                <a:spcPts val="0"/>
              </a:spcAft>
              <a:buClr>
                <a:schemeClr val="dk1"/>
              </a:buClr>
              <a:buSzPct val="100000"/>
              <a:buChar char="•"/>
            </a:pPr>
            <a:r>
              <a:rPr lang="en-US"/>
              <a:t>And this happens mostly with precious metals and stones such as gold and diamonds and luxury cars such as Rolls-Royce. As the price of these goods increases, their demand also increases because these products then become a status symbol.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Exceptions to the Law of Demand</a:t>
            </a:r>
            <a:endParaRPr/>
          </a:p>
        </p:txBody>
      </p:sp>
      <p:sp>
        <p:nvSpPr>
          <p:cNvPr id="239" name="Google Shape;23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Another exception to the law of demand is necessary or basic goods. People will continue to buy necessities such as medicines or basic staples such as sugar or salt even if the price increases. </a:t>
            </a:r>
            <a:endParaRPr/>
          </a:p>
          <a:p>
            <a:pPr indent="-228600" lvl="0" marL="228600" rtl="0" algn="just">
              <a:lnSpc>
                <a:spcPct val="90000"/>
              </a:lnSpc>
              <a:spcBef>
                <a:spcPts val="1000"/>
              </a:spcBef>
              <a:spcAft>
                <a:spcPts val="0"/>
              </a:spcAft>
              <a:buClr>
                <a:schemeClr val="dk1"/>
              </a:buClr>
              <a:buSzPts val="2800"/>
              <a:buChar char="•"/>
            </a:pPr>
            <a:r>
              <a:rPr lang="en-US"/>
              <a:t>Sometimes the demand for a product may change according to the change in income. If a household’s income increases, they may purchase more products irrespective of the increase in their price, thereby increasing the demand for the product. Similarly, they might postpone buying a product even if its price reduces if their income has reduced.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Exceptions to the Law of Demand</a:t>
            </a:r>
            <a:endParaRPr/>
          </a:p>
        </p:txBody>
      </p:sp>
      <p:sp>
        <p:nvSpPr>
          <p:cNvPr id="245" name="Google Shape;24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Bandwagon Effect</a:t>
            </a:r>
            <a:r>
              <a:rPr lang="en-US"/>
              <a:t>: This is the most common type of exception to the law of demand wherein the consumer tries to purchase those commodities which are bought by his friends, relatives or neighbors. Here, the person tries to emulate the buying behavior and patterns of the group to which he belongs irrespective of the price of the commodity.</a:t>
            </a:r>
            <a:endParaRPr/>
          </a:p>
          <a:p>
            <a:pPr indent="-228600" lvl="0" marL="228600" rtl="0" algn="just">
              <a:lnSpc>
                <a:spcPct val="90000"/>
              </a:lnSpc>
              <a:spcBef>
                <a:spcPts val="1000"/>
              </a:spcBef>
              <a:spcAft>
                <a:spcPts val="0"/>
              </a:spcAft>
              <a:buClr>
                <a:schemeClr val="dk1"/>
              </a:buClr>
              <a:buSzPts val="2800"/>
              <a:buChar char="•"/>
            </a:pPr>
            <a:r>
              <a:rPr lang="en-US"/>
              <a:t>For example, if the majority of group members have smart phones then the consumer will also demand for the smartphone even if the prices are high.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2024-01-22T10:30:11Z</dcterms:created>
  <dc:creator>Abdullah Al Noman_7</dc:creator>
</cp:coreProperties>
</file>