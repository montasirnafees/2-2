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3" roundtripDataSignature="AMtx7mjqoZ5jyuZ/6HpjOVYOM8WNWV8w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62" name="Shape 62"/>
        <p:cNvGrpSpPr/>
        <p:nvPr/>
      </p:nvGrpSpPr>
      <p:grpSpPr>
        <a:xfrm>
          <a:off x="0" y="0"/>
          <a:ext cx="0" cy="0"/>
          <a:chOff x="0" y="0"/>
          <a:chExt cx="0" cy="0"/>
        </a:xfrm>
      </p:grpSpPr>
      <p:sp>
        <p:nvSpPr>
          <p:cNvPr id="63" name="Google Shape;63;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3"/>
          <p:cNvSpPr/>
          <p:nvPr>
            <p:ph idx="2" type="pic"/>
          </p:nvPr>
        </p:nvSpPr>
        <p:spPr>
          <a:xfrm>
            <a:off x="5183188" y="987425"/>
            <a:ext cx="6172200" cy="4873625"/>
          </a:xfrm>
          <a:prstGeom prst="rect">
            <a:avLst/>
          </a:prstGeom>
          <a:noFill/>
          <a:ln>
            <a:noFill/>
          </a:ln>
        </p:spPr>
      </p:sp>
      <p:sp>
        <p:nvSpPr>
          <p:cNvPr id="65" name="Google Shape;65;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85" name="Shape 85"/>
        <p:cNvGrpSpPr/>
        <p:nvPr/>
      </p:nvGrpSpPr>
      <p:grpSpPr>
        <a:xfrm>
          <a:off x="0" y="0"/>
          <a:ext cx="0" cy="0"/>
          <a:chOff x="0" y="0"/>
          <a:chExt cx="0" cy="0"/>
        </a:xfrm>
      </p:grpSpPr>
      <p:sp>
        <p:nvSpPr>
          <p:cNvPr id="86" name="Google Shape;86;p1"/>
          <p:cNvSpPr/>
          <p:nvPr/>
        </p:nvSpPr>
        <p:spPr>
          <a:xfrm>
            <a:off x="0" y="-135131"/>
            <a:ext cx="12192000" cy="3309257"/>
          </a:xfrm>
          <a:prstGeom prst="rect">
            <a:avLst/>
          </a:prstGeom>
          <a:solidFill>
            <a:srgbClr val="2B389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7" name="Google Shape;87;p1"/>
          <p:cNvGrpSpPr/>
          <p:nvPr/>
        </p:nvGrpSpPr>
        <p:grpSpPr>
          <a:xfrm>
            <a:off x="441583" y="1148704"/>
            <a:ext cx="10710267" cy="5070341"/>
            <a:chOff x="570541" y="900896"/>
            <a:chExt cx="10710267" cy="5070341"/>
          </a:xfrm>
        </p:grpSpPr>
        <p:sp>
          <p:nvSpPr>
            <p:cNvPr id="88" name="Google Shape;88;p1"/>
            <p:cNvSpPr/>
            <p:nvPr/>
          </p:nvSpPr>
          <p:spPr>
            <a:xfrm>
              <a:off x="911192" y="900896"/>
              <a:ext cx="10369616" cy="5070341"/>
            </a:xfrm>
            <a:prstGeom prst="rect">
              <a:avLst/>
            </a:prstGeom>
            <a:solidFill>
              <a:schemeClr val="lt1"/>
            </a:solidFill>
            <a:ln>
              <a:noFill/>
            </a:ln>
            <a:effectLst>
              <a:outerShdw blurRad="63500" sx="102000" rotWithShape="0" algn="ctr" sy="102000">
                <a:srgbClr val="000000">
                  <a:alpha val="1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89" name="Google Shape;89;p1"/>
            <p:cNvGrpSpPr/>
            <p:nvPr/>
          </p:nvGrpSpPr>
          <p:grpSpPr>
            <a:xfrm>
              <a:off x="570541" y="1488376"/>
              <a:ext cx="5011516" cy="4289748"/>
              <a:chOff x="570541" y="1340974"/>
              <a:chExt cx="5011516" cy="4289748"/>
            </a:xfrm>
          </p:grpSpPr>
          <p:sp>
            <p:nvSpPr>
              <p:cNvPr id="90" name="Google Shape;90;p1"/>
              <p:cNvSpPr/>
              <p:nvPr/>
            </p:nvSpPr>
            <p:spPr>
              <a:xfrm>
                <a:off x="1802131" y="1340974"/>
                <a:ext cx="2297221" cy="2362131"/>
              </a:xfrm>
              <a:prstGeom prst="ellipse">
                <a:avLst/>
              </a:prstGeom>
              <a:gradFill>
                <a:gsLst>
                  <a:gs pos="0">
                    <a:srgbClr val="FF1872"/>
                  </a:gs>
                  <a:gs pos="100000">
                    <a:srgbClr val="7C3F90"/>
                  </a:gs>
                </a:gsLst>
                <a:lin ang="81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82"/>
                  <a:buFont typeface="Calibri"/>
                  <a:buNone/>
                </a:pPr>
                <a:r>
                  <a:t/>
                </a:r>
                <a:endParaRPr b="0" i="0" sz="482" u="none" cap="none" strike="noStrike">
                  <a:solidFill>
                    <a:srgbClr val="FFFFFF"/>
                  </a:solidFill>
                  <a:latin typeface="Lato"/>
                  <a:ea typeface="Lato"/>
                  <a:cs typeface="Lato"/>
                  <a:sym typeface="Lato"/>
                </a:endParaRPr>
              </a:p>
            </p:txBody>
          </p:sp>
          <p:cxnSp>
            <p:nvCxnSpPr>
              <p:cNvPr id="91" name="Google Shape;91;p1"/>
              <p:cNvCxnSpPr/>
              <p:nvPr/>
            </p:nvCxnSpPr>
            <p:spPr>
              <a:xfrm>
                <a:off x="2338966" y="5630722"/>
                <a:ext cx="1014783" cy="0"/>
              </a:xfrm>
              <a:prstGeom prst="straightConnector1">
                <a:avLst/>
              </a:prstGeom>
              <a:noFill/>
              <a:ln cap="flat" cmpd="sng" w="76200">
                <a:solidFill>
                  <a:srgbClr val="FFC000"/>
                </a:solidFill>
                <a:prstDash val="solid"/>
                <a:miter lim="8000"/>
                <a:headEnd len="sm" w="sm" type="none"/>
                <a:tailEnd len="sm" w="sm" type="none"/>
              </a:ln>
            </p:spPr>
          </p:cxnSp>
          <p:sp>
            <p:nvSpPr>
              <p:cNvPr id="92" name="Google Shape;92;p1"/>
              <p:cNvSpPr txBox="1"/>
              <p:nvPr/>
            </p:nvSpPr>
            <p:spPr>
              <a:xfrm>
                <a:off x="570541" y="4647856"/>
                <a:ext cx="5011516" cy="86177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B3890"/>
                  </a:buClr>
                  <a:buSzPts val="2400"/>
                  <a:buFont typeface="Times New Roman"/>
                  <a:buNone/>
                </a:pPr>
                <a:r>
                  <a:rPr b="1" i="0" lang="en-US" sz="2400" u="none" cap="none" strike="noStrike">
                    <a:solidFill>
                      <a:srgbClr val="2B3890"/>
                    </a:solidFill>
                    <a:latin typeface="Times New Roman"/>
                    <a:ea typeface="Times New Roman"/>
                    <a:cs typeface="Times New Roman"/>
                    <a:sym typeface="Times New Roman"/>
                  </a:rPr>
                  <a:t>     MD Abdullah Al Noman</a:t>
                </a:r>
                <a:endParaRPr b="1" i="0" sz="2400" u="none" cap="none" strike="noStrike">
                  <a:solidFill>
                    <a:srgbClr val="2B389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Lecturer , DBA,  BAIUST</a:t>
                </a:r>
                <a:endParaRPr/>
              </a:p>
            </p:txBody>
          </p:sp>
        </p:grpSp>
      </p:grpSp>
      <p:sp>
        <p:nvSpPr>
          <p:cNvPr id="93" name="Google Shape;93;p1"/>
          <p:cNvSpPr txBox="1"/>
          <p:nvPr/>
        </p:nvSpPr>
        <p:spPr>
          <a:xfrm>
            <a:off x="4591769" y="259413"/>
            <a:ext cx="2736304" cy="79208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3600"/>
              <a:buFont typeface="Times New Roman"/>
              <a:buNone/>
            </a:pPr>
            <a:r>
              <a:rPr b="1" i="0" lang="en-US" sz="3600" u="none" cap="none" strike="noStrike">
                <a:solidFill>
                  <a:schemeClr val="lt1"/>
                </a:solidFill>
                <a:latin typeface="Times New Roman"/>
                <a:ea typeface="Times New Roman"/>
                <a:cs typeface="Times New Roman"/>
                <a:sym typeface="Times New Roman"/>
              </a:rPr>
              <a:t>WELCOME</a:t>
            </a:r>
            <a:endParaRPr b="1" i="0" sz="3600" u="none" cap="none" strike="noStrike">
              <a:solidFill>
                <a:schemeClr val="lt1"/>
              </a:solidFill>
              <a:latin typeface="Times New Roman"/>
              <a:ea typeface="Times New Roman"/>
              <a:cs typeface="Times New Roman"/>
              <a:sym typeface="Times New Roman"/>
            </a:endParaRPr>
          </a:p>
        </p:txBody>
      </p:sp>
      <p:sp>
        <p:nvSpPr>
          <p:cNvPr id="94" name="Google Shape;94;p1"/>
          <p:cNvSpPr txBox="1"/>
          <p:nvPr/>
        </p:nvSpPr>
        <p:spPr>
          <a:xfrm>
            <a:off x="4048723" y="2009308"/>
            <a:ext cx="7024800" cy="1508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2F5496"/>
                </a:solidFill>
                <a:latin typeface="Times New Roman"/>
                <a:ea typeface="Times New Roman"/>
                <a:cs typeface="Times New Roman"/>
                <a:sym typeface="Times New Roman"/>
              </a:rPr>
              <a:t>Welcome to the Presentation</a:t>
            </a:r>
            <a:br>
              <a:rPr b="0" i="0" lang="en-US" sz="1800" u="none" cap="none" strike="noStrike">
                <a:solidFill>
                  <a:srgbClr val="2F5496"/>
                </a:solidFill>
                <a:latin typeface="Times New Roman"/>
                <a:ea typeface="Times New Roman"/>
                <a:cs typeface="Times New Roman"/>
                <a:sym typeface="Times New Roman"/>
              </a:rPr>
            </a:br>
            <a:endParaRPr b="0" i="0" sz="1800" u="none" cap="none" strike="noStrike">
              <a:solidFill>
                <a:srgbClr val="2F5496"/>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Engineering </a:t>
            </a:r>
            <a:r>
              <a:rPr b="1" i="0" lang="en-US" sz="1800" u="none" cap="none" strike="noStrike">
                <a:solidFill>
                  <a:schemeClr val="dk1"/>
                </a:solidFill>
                <a:latin typeface="Times New Roman"/>
                <a:ea typeface="Times New Roman"/>
                <a:cs typeface="Times New Roman"/>
                <a:sym typeface="Times New Roman"/>
              </a:rPr>
              <a:t>economics</a:t>
            </a:r>
            <a:endParaRPr/>
          </a:p>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Course Code: </a:t>
            </a:r>
            <a:r>
              <a:rPr b="1" lang="en-US" sz="1800">
                <a:solidFill>
                  <a:schemeClr val="dk1"/>
                </a:solidFill>
                <a:latin typeface="Times New Roman"/>
                <a:ea typeface="Times New Roman"/>
                <a:cs typeface="Times New Roman"/>
                <a:sym typeface="Times New Roman"/>
              </a:rPr>
              <a:t>GED 221</a:t>
            </a:r>
            <a:br>
              <a:rPr b="0" i="0" lang="en-US" sz="1800" u="none" cap="none" strike="noStrike">
                <a:solidFill>
                  <a:srgbClr val="2F5496"/>
                </a:solidFill>
                <a:latin typeface="Times New Roman"/>
                <a:ea typeface="Times New Roman"/>
                <a:cs typeface="Times New Roman"/>
                <a:sym typeface="Times New Roman"/>
              </a:rPr>
            </a:br>
            <a:endParaRPr b="0" i="0" sz="2000" u="none" cap="none" strike="noStrike">
              <a:solidFill>
                <a:srgbClr val="2F5496"/>
              </a:solidFill>
              <a:latin typeface="Times New Roman"/>
              <a:ea typeface="Times New Roman"/>
              <a:cs typeface="Times New Roman"/>
              <a:sym typeface="Times New Roman"/>
            </a:endParaRPr>
          </a:p>
        </p:txBody>
      </p:sp>
      <p:pic>
        <p:nvPicPr>
          <p:cNvPr id="95" name="Google Shape;95;p1"/>
          <p:cNvPicPr preferRelativeResize="0"/>
          <p:nvPr/>
        </p:nvPicPr>
        <p:blipFill rotWithShape="1">
          <a:blip r:embed="rId3">
            <a:alphaModFix/>
          </a:blip>
          <a:srcRect b="0" l="0" r="0" t="0"/>
          <a:stretch/>
        </p:blipFill>
        <p:spPr>
          <a:xfrm rot="5400000">
            <a:off x="1967390" y="2048570"/>
            <a:ext cx="1737360" cy="1737360"/>
          </a:xfrm>
          <a:prstGeom prst="ellipse">
            <a:avLst/>
          </a:prstGeom>
          <a:noFill/>
          <a:ln>
            <a:noFill/>
          </a:ln>
          <a:effectLst>
            <a:outerShdw blurRad="381000" sx="-80000" rotWithShape="0" dir="5400000" dist="292100" sy="-18000">
              <a:srgbClr val="000000">
                <a:alpha val="21961"/>
              </a:srgbClr>
            </a:outerShdw>
          </a:effectLst>
        </p:spPr>
      </p:pic>
      <p:sp>
        <p:nvSpPr>
          <p:cNvPr id="96" name="Google Shape;96;p1"/>
          <p:cNvSpPr/>
          <p:nvPr/>
        </p:nvSpPr>
        <p:spPr>
          <a:xfrm>
            <a:off x="4727957" y="5600810"/>
            <a:ext cx="6423893" cy="33855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1600" u="none" cap="none" strike="noStrike">
                <a:solidFill>
                  <a:srgbClr val="2F5496"/>
                </a:solidFill>
                <a:latin typeface="Times New Roman"/>
                <a:ea typeface="Times New Roman"/>
                <a:cs typeface="Times New Roman"/>
                <a:sym typeface="Times New Roman"/>
              </a:rPr>
              <a:t>Bangladesh Army International University of Science and Technology</a:t>
            </a:r>
            <a:endParaRPr/>
          </a:p>
        </p:txBody>
      </p:sp>
      <p:pic>
        <p:nvPicPr>
          <p:cNvPr id="97" name="Google Shape;97;p1"/>
          <p:cNvPicPr preferRelativeResize="0"/>
          <p:nvPr/>
        </p:nvPicPr>
        <p:blipFill rotWithShape="1">
          <a:blip r:embed="rId4">
            <a:alphaModFix/>
          </a:blip>
          <a:srcRect b="0" l="0" r="0" t="0"/>
          <a:stretch/>
        </p:blipFill>
        <p:spPr>
          <a:xfrm>
            <a:off x="7521631" y="4585865"/>
            <a:ext cx="971551" cy="9144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2"/>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2"/>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2"/>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2"/>
          <p:cNvSpPr txBox="1"/>
          <p:nvPr/>
        </p:nvSpPr>
        <p:spPr>
          <a:xfrm>
            <a:off x="4318341" y="174136"/>
            <a:ext cx="5627077"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CONSTITUENTS OF THE PRESENTATION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2"/>
          <p:cNvSpPr txBox="1"/>
          <p:nvPr/>
        </p:nvSpPr>
        <p:spPr>
          <a:xfrm>
            <a:off x="2371942" y="851244"/>
            <a:ext cx="8876714" cy="590931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Introduction</a:t>
            </a:r>
            <a:endParaRPr sz="1800">
              <a:solidFill>
                <a:schemeClr val="dk1"/>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Early definitions given by Marshall and Robbins</a:t>
            </a:r>
            <a:endParaRPr sz="1800">
              <a:solidFill>
                <a:schemeClr val="dk1"/>
              </a:solidFill>
              <a:latin typeface="Times New Roman"/>
              <a:ea typeface="Times New Roman"/>
              <a:cs typeface="Times New Roman"/>
              <a:sym typeface="Times New Roman"/>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Changing perspectives of Economics</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The Economic problem: Scarcity and Choice</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Kinds of Resources</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Central Problems of an Economy</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How are the central problems solved</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The Scope of Economics</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Microeconomics and allocation of Resources</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Microeconomics and economic efficiency</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Importance and Uses of Microeconomics</a:t>
            </a:r>
            <a:endParaRPr/>
          </a:p>
          <a:p>
            <a:pPr indent="-285750" lvl="0" marL="285750" marR="0" rtl="0" algn="l">
              <a:lnSpc>
                <a:spcPct val="15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Positive and Normative Economics</a:t>
            </a:r>
            <a:endParaRPr/>
          </a:p>
          <a:p>
            <a:pPr indent="0" lvl="0" marL="0" marR="0" rtl="0" algn="l">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171450" lvl="0" marL="285750" marR="0" rtl="0" algn="l">
              <a:lnSpc>
                <a:spcPct val="150000"/>
              </a:lnSpc>
              <a:spcBef>
                <a:spcPts val="0"/>
              </a:spcBef>
              <a:spcAft>
                <a:spcPts val="0"/>
              </a:spcAft>
              <a:buClr>
                <a:schemeClr val="dk1"/>
              </a:buClr>
              <a:buSzPts val="1800"/>
              <a:buFont typeface="Noto Sans Symbols"/>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3"/>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3"/>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3"/>
          <p:cNvSpPr/>
          <p:nvPr/>
        </p:nvSpPr>
        <p:spPr>
          <a:xfrm>
            <a:off x="0"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9" name="Google Shape;119;p3"/>
          <p:cNvPicPr preferRelativeResize="0"/>
          <p:nvPr/>
        </p:nvPicPr>
        <p:blipFill rotWithShape="1">
          <a:blip r:embed="rId3">
            <a:alphaModFix/>
          </a:blip>
          <a:srcRect b="0" l="0" r="0" t="0"/>
          <a:stretch/>
        </p:blipFill>
        <p:spPr>
          <a:xfrm>
            <a:off x="1902415" y="-1"/>
            <a:ext cx="10276138" cy="6851025"/>
          </a:xfrm>
          <a:prstGeom prst="rect">
            <a:avLst/>
          </a:prstGeom>
          <a:noFill/>
          <a:ln>
            <a:noFill/>
          </a:ln>
        </p:spPr>
      </p:pic>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 name="Google Shape;125;p4"/>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4"/>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4"/>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4"/>
          <p:cNvSpPr/>
          <p:nvPr/>
        </p:nvSpPr>
        <p:spPr>
          <a:xfrm>
            <a:off x="0"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9" name="Google Shape;129;p4"/>
          <p:cNvPicPr preferRelativeResize="0"/>
          <p:nvPr/>
        </p:nvPicPr>
        <p:blipFill rotWithShape="1">
          <a:blip r:embed="rId3">
            <a:alphaModFix/>
          </a:blip>
          <a:srcRect b="0" l="0" r="0" t="0"/>
          <a:stretch/>
        </p:blipFill>
        <p:spPr>
          <a:xfrm>
            <a:off x="1853115" y="0"/>
            <a:ext cx="10338884" cy="6858000"/>
          </a:xfrm>
          <a:prstGeom prst="rect">
            <a:avLst/>
          </a:prstGeom>
          <a:noFill/>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 name="Google Shape;135;p5"/>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5"/>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5"/>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5"/>
          <p:cNvSpPr/>
          <p:nvPr/>
        </p:nvSpPr>
        <p:spPr>
          <a:xfrm>
            <a:off x="0"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9" name="Google Shape;139;p5"/>
          <p:cNvPicPr preferRelativeResize="0"/>
          <p:nvPr/>
        </p:nvPicPr>
        <p:blipFill rotWithShape="1">
          <a:blip r:embed="rId3">
            <a:alphaModFix/>
          </a:blip>
          <a:srcRect b="0" l="0" r="0" t="0"/>
          <a:stretch/>
        </p:blipFill>
        <p:spPr>
          <a:xfrm>
            <a:off x="1902415" y="-1"/>
            <a:ext cx="10289585" cy="6867231"/>
          </a:xfrm>
          <a:prstGeom prst="rect">
            <a:avLst/>
          </a:prstGeom>
          <a:noFill/>
          <a:ln>
            <a:noFill/>
          </a:ln>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143" name="Shape 143"/>
        <p:cNvGrpSpPr/>
        <p:nvPr/>
      </p:nvGrpSpPr>
      <p:grpSpPr>
        <a:xfrm>
          <a:off x="0" y="0"/>
          <a:ext cx="0" cy="0"/>
          <a:chOff x="0" y="0"/>
          <a:chExt cx="0" cy="0"/>
        </a:xfrm>
      </p:grpSpPr>
      <p:sp>
        <p:nvSpPr>
          <p:cNvPr id="144" name="Google Shape;144;p6"/>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6"/>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6"/>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6"/>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6"/>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6"/>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Early definitions of Economics</a:t>
            </a:r>
            <a:endParaRPr/>
          </a:p>
        </p:txBody>
      </p:sp>
      <p:sp>
        <p:nvSpPr>
          <p:cNvPr id="150" name="Google Shape;150;p6"/>
          <p:cNvSpPr txBox="1"/>
          <p:nvPr/>
        </p:nvSpPr>
        <p:spPr>
          <a:xfrm>
            <a:off x="2092710" y="908577"/>
            <a:ext cx="9953297" cy="535531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Wealth Definition:  </a:t>
            </a:r>
            <a:r>
              <a:rPr lang="en-US" sz="1800">
                <a:solidFill>
                  <a:schemeClr val="dk1"/>
                </a:solidFill>
                <a:latin typeface="Times New Roman"/>
                <a:ea typeface="Times New Roman"/>
                <a:cs typeface="Times New Roman"/>
                <a:sym typeface="Times New Roman"/>
              </a:rPr>
              <a:t>The Wealth Definition </a:t>
            </a:r>
            <a:r>
              <a:rPr b="1" lang="en-US" sz="1800">
                <a:solidFill>
                  <a:schemeClr val="dk1"/>
                </a:solidFill>
                <a:latin typeface="Times New Roman"/>
                <a:ea typeface="Times New Roman"/>
                <a:cs typeface="Times New Roman"/>
                <a:sym typeface="Times New Roman"/>
              </a:rPr>
              <a:t>of Economics</a:t>
            </a:r>
            <a:r>
              <a:rPr lang="en-US" sz="1800">
                <a:solidFill>
                  <a:schemeClr val="dk1"/>
                </a:solidFill>
                <a:latin typeface="Times New Roman"/>
                <a:ea typeface="Times New Roman"/>
                <a:cs typeface="Times New Roman"/>
                <a:sym typeface="Times New Roman"/>
              </a:rPr>
              <a:t> is most commonly associated with Adam Smith, who is often referred to as the "Father of Economics." In his seminal work, </a:t>
            </a:r>
            <a:r>
              <a:rPr i="1" lang="en-US" sz="1800">
                <a:solidFill>
                  <a:schemeClr val="dk1"/>
                </a:solidFill>
                <a:latin typeface="Times New Roman"/>
                <a:ea typeface="Times New Roman"/>
                <a:cs typeface="Times New Roman"/>
                <a:sym typeface="Times New Roman"/>
              </a:rPr>
              <a:t>An Inquiry into the Nature and Causes of the Wealth of Nations</a:t>
            </a:r>
            <a:r>
              <a:rPr lang="en-US" sz="1800">
                <a:solidFill>
                  <a:schemeClr val="dk1"/>
                </a:solidFill>
                <a:latin typeface="Times New Roman"/>
                <a:ea typeface="Times New Roman"/>
                <a:cs typeface="Times New Roman"/>
                <a:sym typeface="Times New Roman"/>
              </a:rPr>
              <a:t> (1776), Smith defined economics as a science focused primarily on the study of wealth creation, accumulation, and distribution.</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 Wealth Definition defines economics as the study of wealth creation, accumulation, and distribution. It focuses on understanding how societies produce and manage material wealth to promote prosperity.</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Welfare Definition: </a:t>
            </a:r>
            <a:r>
              <a:rPr lang="en-US" sz="1800">
                <a:solidFill>
                  <a:schemeClr val="dk1"/>
                </a:solidFill>
                <a:latin typeface="Times New Roman"/>
                <a:ea typeface="Times New Roman"/>
                <a:cs typeface="Times New Roman"/>
                <a:sym typeface="Times New Roman"/>
              </a:rPr>
              <a:t>The Welfare Definition of economics, introduced by </a:t>
            </a:r>
            <a:r>
              <a:rPr b="1" lang="en-US" sz="1800">
                <a:solidFill>
                  <a:schemeClr val="dk1"/>
                </a:solidFill>
                <a:latin typeface="Times New Roman"/>
                <a:ea typeface="Times New Roman"/>
                <a:cs typeface="Times New Roman"/>
                <a:sym typeface="Times New Roman"/>
              </a:rPr>
              <a:t>Alfred Marshall</a:t>
            </a:r>
            <a:r>
              <a:rPr lang="en-US" sz="1800">
                <a:solidFill>
                  <a:schemeClr val="dk1"/>
                </a:solidFill>
                <a:latin typeface="Times New Roman"/>
                <a:ea typeface="Times New Roman"/>
                <a:cs typeface="Times New Roman"/>
                <a:sym typeface="Times New Roman"/>
              </a:rPr>
              <a:t>, defines economics as the study of people in the ordinary business of life. It focuses on how individuals and societies use resources to improve </a:t>
            </a:r>
            <a:r>
              <a:rPr b="1" lang="en-US" sz="1800">
                <a:solidFill>
                  <a:schemeClr val="dk1"/>
                </a:solidFill>
                <a:latin typeface="Times New Roman"/>
                <a:ea typeface="Times New Roman"/>
                <a:cs typeface="Times New Roman"/>
                <a:sym typeface="Times New Roman"/>
              </a:rPr>
              <a:t>well-being</a:t>
            </a:r>
            <a:r>
              <a:rPr lang="en-US" sz="1800">
                <a:solidFill>
                  <a:schemeClr val="dk1"/>
                </a:solidFill>
                <a:latin typeface="Times New Roman"/>
                <a:ea typeface="Times New Roman"/>
                <a:cs typeface="Times New Roman"/>
                <a:sym typeface="Times New Roman"/>
              </a:rPr>
              <a:t> and achieve material welfare, extending beyond wealth to consider human happiness and quality of life.</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Scarcity Definition: </a:t>
            </a:r>
            <a:r>
              <a:rPr lang="en-US" sz="1800">
                <a:solidFill>
                  <a:schemeClr val="dk1"/>
                </a:solidFill>
                <a:latin typeface="Times New Roman"/>
                <a:ea typeface="Times New Roman"/>
                <a:cs typeface="Times New Roman"/>
                <a:sym typeface="Times New Roman"/>
              </a:rPr>
              <a:t>Robbins shifted the focus of economics from wealth and welfare to scarcity and choice. </a:t>
            </a:r>
            <a:r>
              <a:rPr b="1" lang="en-US" sz="1800">
                <a:solidFill>
                  <a:schemeClr val="dk1"/>
                </a:solidFill>
                <a:latin typeface="Times New Roman"/>
                <a:ea typeface="Times New Roman"/>
                <a:cs typeface="Times New Roman"/>
                <a:sym typeface="Times New Roman"/>
              </a:rPr>
              <a:t>"Economics is the science which studies human behavior as a relationship between ends and scarce means which have alternative uses.“</a:t>
            </a:r>
            <a:endParaRPr/>
          </a:p>
          <a:p>
            <a:pPr indent="0" lvl="0" marL="0" marR="0" rtl="0" algn="just">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154" name="Shape 154"/>
        <p:cNvGrpSpPr/>
        <p:nvPr/>
      </p:nvGrpSpPr>
      <p:grpSpPr>
        <a:xfrm>
          <a:off x="0" y="0"/>
          <a:ext cx="0" cy="0"/>
          <a:chOff x="0" y="0"/>
          <a:chExt cx="0" cy="0"/>
        </a:xfrm>
      </p:grpSpPr>
      <p:sp>
        <p:nvSpPr>
          <p:cNvPr id="155" name="Google Shape;155;p7"/>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7"/>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7"/>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7"/>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7"/>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7"/>
          <p:cNvSpPr txBox="1"/>
          <p:nvPr/>
        </p:nvSpPr>
        <p:spPr>
          <a:xfrm>
            <a:off x="4507527" y="0"/>
            <a:ext cx="5627077" cy="55399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Changing perspective of Economics</a:t>
            </a:r>
            <a:endParaRPr/>
          </a:p>
        </p:txBody>
      </p:sp>
      <p:sp>
        <p:nvSpPr>
          <p:cNvPr id="161" name="Google Shape;161;p7"/>
          <p:cNvSpPr/>
          <p:nvPr/>
        </p:nvSpPr>
        <p:spPr>
          <a:xfrm>
            <a:off x="2371941" y="902282"/>
            <a:ext cx="9410327" cy="313932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Economics as a Study of Wealth. </a:t>
            </a:r>
            <a:r>
              <a:rPr lang="en-US" sz="1800">
                <a:solidFill>
                  <a:schemeClr val="dk1"/>
                </a:solidFill>
                <a:latin typeface="Times New Roman"/>
                <a:ea typeface="Times New Roman"/>
                <a:cs typeface="Times New Roman"/>
                <a:sym typeface="Times New Roman"/>
              </a:rPr>
              <a:t>Adam Smith in his well-known book ‘</a:t>
            </a:r>
            <a:r>
              <a:rPr i="1" lang="en-US" sz="1800">
                <a:solidFill>
                  <a:schemeClr val="dk1"/>
                </a:solidFill>
                <a:latin typeface="Times New Roman"/>
                <a:ea typeface="Times New Roman"/>
                <a:cs typeface="Times New Roman"/>
                <a:sym typeface="Times New Roman"/>
              </a:rPr>
              <a:t>Wealth of Nations</a:t>
            </a:r>
            <a:r>
              <a:rPr lang="en-US" sz="1800">
                <a:solidFill>
                  <a:schemeClr val="dk1"/>
                </a:solidFill>
                <a:latin typeface="Times New Roman"/>
                <a:ea typeface="Times New Roman"/>
                <a:cs typeface="Times New Roman"/>
                <a:sym typeface="Times New Roman"/>
              </a:rPr>
              <a:t>’ defined economics as ‘</a:t>
            </a:r>
            <a:r>
              <a:rPr i="1" lang="en-US" sz="1800">
                <a:solidFill>
                  <a:schemeClr val="dk1"/>
                </a:solidFill>
                <a:latin typeface="Times New Roman"/>
                <a:ea typeface="Times New Roman"/>
                <a:cs typeface="Times New Roman"/>
                <a:sym typeface="Times New Roman"/>
              </a:rPr>
              <a:t>an enquiry into the wealth of nations</a:t>
            </a:r>
            <a:r>
              <a:rPr lang="en-US" sz="1800">
                <a:solidFill>
                  <a:schemeClr val="dk1"/>
                </a:solidFill>
                <a:latin typeface="Times New Roman"/>
                <a:ea typeface="Times New Roman"/>
                <a:cs typeface="Times New Roman"/>
                <a:sym typeface="Times New Roman"/>
              </a:rPr>
              <a:t>. Thus Adam Smith laid emphasis on the expansion of wealth and riches of a society as a subject matter of economics. Another classical</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economist David Ricardo shifted the emphasis from the expansion of wealth to the </a:t>
            </a:r>
            <a:r>
              <a:rPr i="1" lang="en-US" sz="1800">
                <a:solidFill>
                  <a:schemeClr val="dk1"/>
                </a:solidFill>
                <a:latin typeface="Times New Roman"/>
                <a:ea typeface="Times New Roman"/>
                <a:cs typeface="Times New Roman"/>
                <a:sym typeface="Times New Roman"/>
              </a:rPr>
              <a:t>distribution of</a:t>
            </a:r>
            <a:endParaRPr/>
          </a:p>
          <a:p>
            <a:pPr indent="0" lvl="0" marL="0" marR="0" rtl="0" algn="just">
              <a:spcBef>
                <a:spcPts val="0"/>
              </a:spcBef>
              <a:spcAft>
                <a:spcPts val="0"/>
              </a:spcAft>
              <a:buNone/>
            </a:pPr>
            <a:r>
              <a:rPr i="1" lang="en-US" sz="1800">
                <a:solidFill>
                  <a:schemeClr val="dk1"/>
                </a:solidFill>
                <a:latin typeface="Times New Roman"/>
                <a:ea typeface="Times New Roman"/>
                <a:cs typeface="Times New Roman"/>
                <a:sym typeface="Times New Roman"/>
              </a:rPr>
              <a:t>wealth</a:t>
            </a:r>
            <a:r>
              <a:rPr lang="en-US" sz="1800">
                <a:solidFill>
                  <a:schemeClr val="dk1"/>
                </a:solidFill>
                <a:latin typeface="Times New Roman"/>
                <a:ea typeface="Times New Roman"/>
                <a:cs typeface="Times New Roman"/>
                <a:sym typeface="Times New Roman"/>
              </a:rPr>
              <a:t>. Ricardo writes, “The produce of the earth all that is derived from its surface by the united</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application of labour, machinery and capital is divided among three classes of the economy namely,</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 proprietor of the land, the owner of the stock of capital necessary for its cultivation and the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labourers by whose industry it is cultivated”. He further writes, “</a:t>
            </a:r>
            <a:r>
              <a:rPr i="1" lang="en-US" sz="1800">
                <a:solidFill>
                  <a:schemeClr val="dk1"/>
                </a:solidFill>
                <a:latin typeface="Times New Roman"/>
                <a:ea typeface="Times New Roman"/>
                <a:cs typeface="Times New Roman"/>
                <a:sym typeface="Times New Roman"/>
              </a:rPr>
              <a:t>To determine the laws which regulate this distribution is the principle problem in political economy</a:t>
            </a:r>
            <a:r>
              <a:rPr lang="en-US" sz="1800">
                <a:solidFill>
                  <a:schemeClr val="dk1"/>
                </a:solidFill>
                <a:latin typeface="Times New Roman"/>
                <a:ea typeface="Times New Roman"/>
                <a:cs typeface="Times New Roman"/>
                <a:sym typeface="Times New Roman"/>
              </a:rPr>
              <a:t>”.</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165" name="Shape 165"/>
        <p:cNvGrpSpPr/>
        <p:nvPr/>
      </p:nvGrpSpPr>
      <p:grpSpPr>
        <a:xfrm>
          <a:off x="0" y="0"/>
          <a:ext cx="0" cy="0"/>
          <a:chOff x="0" y="0"/>
          <a:chExt cx="0" cy="0"/>
        </a:xfrm>
      </p:grpSpPr>
      <p:sp>
        <p:nvSpPr>
          <p:cNvPr id="166" name="Google Shape;166;p8"/>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8"/>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8"/>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8"/>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8"/>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8"/>
          <p:cNvSpPr txBox="1"/>
          <p:nvPr/>
        </p:nvSpPr>
        <p:spPr>
          <a:xfrm>
            <a:off x="4507527" y="0"/>
            <a:ext cx="5627077" cy="55399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Changing perspective of Economics</a:t>
            </a:r>
            <a:endParaRPr/>
          </a:p>
        </p:txBody>
      </p:sp>
      <p:sp>
        <p:nvSpPr>
          <p:cNvPr id="172" name="Google Shape;172;p8"/>
          <p:cNvSpPr/>
          <p:nvPr/>
        </p:nvSpPr>
        <p:spPr>
          <a:xfrm>
            <a:off x="2371941" y="902282"/>
            <a:ext cx="9410327"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Economics as a Science of Material Welfare of Man</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Another drawback in making economics a “science of wealth” by classical economists may be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noted. By laying conspicuous emphasis on wealth and put man to the secondary place in economic</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studies they did not lay adequate stress on </a:t>
            </a:r>
            <a:r>
              <a:rPr i="1" lang="en-US" sz="1800">
                <a:solidFill>
                  <a:schemeClr val="dk1"/>
                </a:solidFill>
                <a:latin typeface="Times New Roman"/>
                <a:ea typeface="Times New Roman"/>
                <a:cs typeface="Times New Roman"/>
                <a:sym typeface="Times New Roman"/>
              </a:rPr>
              <a:t>man’s behaviour </a:t>
            </a:r>
            <a:r>
              <a:rPr lang="en-US" sz="1800">
                <a:solidFill>
                  <a:schemeClr val="dk1"/>
                </a:solidFill>
                <a:latin typeface="Times New Roman"/>
                <a:ea typeface="Times New Roman"/>
                <a:cs typeface="Times New Roman"/>
                <a:sym typeface="Times New Roman"/>
              </a:rPr>
              <a:t>in relation to wealth. Nor did they</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emphasise the end or ultimate objective of economics which is the promotion of human and social</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welfare. As a matter of fact, wealth is only a means to an end, the end being the welfare of man and</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society. To regard wealth as the be-all and the end-all of economic science is to make the means as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 end. The credit goes to Alfred Marshall, a prominent English economist, for shifting the emphasis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from wealth to man and also from wealth to welfare. According to him, economics is “</a:t>
            </a:r>
            <a:r>
              <a:rPr i="1" lang="en-US" sz="1800">
                <a:solidFill>
                  <a:schemeClr val="dk1"/>
                </a:solidFill>
                <a:latin typeface="Times New Roman"/>
                <a:ea typeface="Times New Roman"/>
                <a:cs typeface="Times New Roman"/>
                <a:sym typeface="Times New Roman"/>
              </a:rPr>
              <a:t>on the one</a:t>
            </a:r>
            <a:endParaRPr/>
          </a:p>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side a study of wealth; and on the other; and more important side, a part of the study of man</a:t>
            </a:r>
            <a:r>
              <a:rPr lang="en-US" sz="1800">
                <a:solidFill>
                  <a:schemeClr val="dk1"/>
                </a:solidFill>
                <a:latin typeface="Times New Roman"/>
                <a:ea typeface="Times New Roman"/>
                <a:cs typeface="Times New Roman"/>
                <a:sym typeface="Times New Roman"/>
              </a:rPr>
              <a:t>”.6 He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further writes, economics examines that part of individual and social action which is most closely</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connected with the attainment and with the use of material requisites of well-being”.7</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176" name="Shape 176"/>
        <p:cNvGrpSpPr/>
        <p:nvPr/>
      </p:nvGrpSpPr>
      <p:grpSpPr>
        <a:xfrm>
          <a:off x="0" y="0"/>
          <a:ext cx="0" cy="0"/>
          <a:chOff x="0" y="0"/>
          <a:chExt cx="0" cy="0"/>
        </a:xfrm>
      </p:grpSpPr>
      <p:sp>
        <p:nvSpPr>
          <p:cNvPr id="177" name="Google Shape;177;p9"/>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9"/>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9"/>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9"/>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9"/>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9"/>
          <p:cNvSpPr txBox="1"/>
          <p:nvPr/>
        </p:nvSpPr>
        <p:spPr>
          <a:xfrm>
            <a:off x="4507527" y="0"/>
            <a:ext cx="5627077" cy="55399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Changing perspective of Economics</a:t>
            </a:r>
            <a:endParaRPr/>
          </a:p>
        </p:txBody>
      </p:sp>
      <p:sp>
        <p:nvSpPr>
          <p:cNvPr id="183" name="Google Shape;183;p9"/>
          <p:cNvSpPr/>
          <p:nvPr/>
        </p:nvSpPr>
        <p:spPr>
          <a:xfrm>
            <a:off x="2267010" y="902282"/>
            <a:ext cx="9410327"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Economics as a Study of Allocation of Scarce Resources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However, a leading British economist Lionel Robbins in the early thirties put forward an alternative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view of economics. He pointed out that the economic problem arises because of scarcity of</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resources in relation to human wants. The scarcity of resources and unlimited wants of the people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necessitates choice regarding what wants to be satisfied and, therefore, the particular allocation of</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scarce resources among various goods and services. He thus writes, Economics is the science which</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studied human behaviour as a relationship between ends and scarce means which have alternative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uses”. Thus Robbins lays stress on three facts, namely (1) human wants are unlimited, (2) the</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187" name="Shape 187"/>
        <p:cNvGrpSpPr/>
        <p:nvPr/>
      </p:nvGrpSpPr>
      <p:grpSpPr>
        <a:xfrm>
          <a:off x="0" y="0"/>
          <a:ext cx="0" cy="0"/>
          <a:chOff x="0" y="0"/>
          <a:chExt cx="0" cy="0"/>
        </a:xfrm>
      </p:grpSpPr>
      <p:sp>
        <p:nvSpPr>
          <p:cNvPr id="188" name="Google Shape;188;p10"/>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10"/>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10"/>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10"/>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10"/>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0"/>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The Economic problem: Scarcity and Choice</a:t>
            </a:r>
            <a:endParaRPr/>
          </a:p>
        </p:txBody>
      </p:sp>
      <p:sp>
        <p:nvSpPr>
          <p:cNvPr id="194" name="Google Shape;194;p10"/>
          <p:cNvSpPr/>
          <p:nvPr/>
        </p:nvSpPr>
        <p:spPr>
          <a:xfrm>
            <a:off x="2267010" y="902282"/>
            <a:ext cx="9410327"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Economics is mainly concerned with the achievement and use of material requirements to satisfy human wants. Human wants are unlimited and productive resources such as land and other natural resources, skilled labour, raw materials, capital equipment with which to produce goods and services to satisfy those wants are scarce or limited. Thus, goods and services which satisfy human wants are scarce because productive resources with which to produce goods and services are scarce.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 problem of scarcity of resources is felt not only by individuals but also by the society as a whole. With wants being unlimited and resources scarce, we individually as well as collectively cannot satisfy all our wants. This gives rise to the problem of how to use scarce resources to attain</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maximum possible satisfaction of the people. This is generally called ‘</a:t>
            </a:r>
            <a:r>
              <a:rPr i="1" lang="en-US" sz="1800">
                <a:solidFill>
                  <a:schemeClr val="dk1"/>
                </a:solidFill>
                <a:latin typeface="Times New Roman"/>
                <a:ea typeface="Times New Roman"/>
                <a:cs typeface="Times New Roman"/>
                <a:sym typeface="Times New Roman"/>
              </a:rPr>
              <a:t>the economic problem</a:t>
            </a:r>
            <a:r>
              <a:rPr lang="en-US" sz="1800">
                <a:solidFill>
                  <a:schemeClr val="dk1"/>
                </a:solidFill>
                <a:latin typeface="Times New Roman"/>
                <a:ea typeface="Times New Roman"/>
                <a:cs typeface="Times New Roman"/>
                <a:sym typeface="Times New Roman"/>
              </a:rPr>
              <a:t>’ as it lies at the root of all economic problems faced by the society. Every economic system, be it capitalist, socialist or mixed, has to contend with this central problem of scarcity of resources relative to wants for them.</a:t>
            </a: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198" name="Shape 198"/>
        <p:cNvGrpSpPr/>
        <p:nvPr/>
      </p:nvGrpSpPr>
      <p:grpSpPr>
        <a:xfrm>
          <a:off x="0" y="0"/>
          <a:ext cx="0" cy="0"/>
          <a:chOff x="0" y="0"/>
          <a:chExt cx="0" cy="0"/>
        </a:xfrm>
      </p:grpSpPr>
      <p:sp>
        <p:nvSpPr>
          <p:cNvPr id="199" name="Google Shape;199;p11"/>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1"/>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1"/>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11"/>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11"/>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11"/>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Kinds of Resources</a:t>
            </a:r>
            <a:endParaRPr b="1" sz="2000">
              <a:solidFill>
                <a:schemeClr val="dk1"/>
              </a:solidFill>
              <a:latin typeface="Times New Roman"/>
              <a:ea typeface="Times New Roman"/>
              <a:cs typeface="Times New Roman"/>
              <a:sym typeface="Times New Roman"/>
            </a:endParaRPr>
          </a:p>
        </p:txBody>
      </p:sp>
      <p:sp>
        <p:nvSpPr>
          <p:cNvPr id="205" name="Google Shape;205;p11"/>
          <p:cNvSpPr/>
          <p:nvPr/>
        </p:nvSpPr>
        <p:spPr>
          <a:xfrm>
            <a:off x="2132347" y="671691"/>
            <a:ext cx="9739863" cy="590931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Labour. </a:t>
            </a:r>
            <a:r>
              <a:rPr lang="en-US" sz="1800">
                <a:solidFill>
                  <a:schemeClr val="dk1"/>
                </a:solidFill>
                <a:latin typeface="Times New Roman"/>
                <a:ea typeface="Times New Roman"/>
                <a:cs typeface="Times New Roman"/>
                <a:sym typeface="Times New Roman"/>
              </a:rPr>
              <a:t>Labour represents all physical and mental abilities which people can make available for production of goods and services. Labour is usually measured by the time spent in working during a period.</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Land. </a:t>
            </a:r>
            <a:r>
              <a:rPr lang="en-US" sz="1800">
                <a:solidFill>
                  <a:schemeClr val="dk1"/>
                </a:solidFill>
                <a:latin typeface="Times New Roman"/>
                <a:ea typeface="Times New Roman"/>
                <a:cs typeface="Times New Roman"/>
                <a:sym typeface="Times New Roman"/>
              </a:rPr>
              <a:t>In economics, land includes all natural resources which are free gift of nature. Thus, by</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land economists do not mean only agricultural soil but also other natural resources such as minerals, water, climate and forests.</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Capital. </a:t>
            </a:r>
            <a:r>
              <a:rPr lang="en-US" sz="1800">
                <a:solidFill>
                  <a:schemeClr val="dk1"/>
                </a:solidFill>
                <a:latin typeface="Times New Roman"/>
                <a:ea typeface="Times New Roman"/>
                <a:cs typeface="Times New Roman"/>
                <a:sym typeface="Times New Roman"/>
              </a:rPr>
              <a:t>Capital refers to man-made resources of production. Capital includes equipment, factorybuildings, all sorts of tools, machines, roads, dams, transport buses, trucks etc. These are often called capital goods which help in the production of further goods and services. Since these capital goods are man-made, they can be produced more every year. In this way capital formation every year adds to the stock of capital and increases our capacity to produce goods and services. Capital formation in a year is also called </a:t>
            </a:r>
            <a:r>
              <a:rPr i="1" lang="en-US" sz="1800">
                <a:solidFill>
                  <a:schemeClr val="dk1"/>
                </a:solidFill>
                <a:latin typeface="Times New Roman"/>
                <a:ea typeface="Times New Roman"/>
                <a:cs typeface="Times New Roman"/>
                <a:sym typeface="Times New Roman"/>
              </a:rPr>
              <a:t>real investment</a:t>
            </a:r>
            <a:r>
              <a:rPr lang="en-US" sz="1800">
                <a:solidFill>
                  <a:schemeClr val="dk1"/>
                </a:solidFill>
                <a:latin typeface="Times New Roman"/>
                <a:ea typeface="Times New Roman"/>
                <a:cs typeface="Times New Roman"/>
                <a:sym typeface="Times New Roman"/>
              </a:rPr>
              <a:t>.</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US" sz="1800">
                <a:solidFill>
                  <a:schemeClr val="dk1"/>
                </a:solidFill>
                <a:latin typeface="Times New Roman"/>
                <a:ea typeface="Times New Roman"/>
                <a:cs typeface="Times New Roman"/>
                <a:sym typeface="Times New Roman"/>
              </a:rPr>
              <a:t>Entrepreneurship. </a:t>
            </a:r>
            <a:r>
              <a:rPr lang="en-US" sz="1800">
                <a:solidFill>
                  <a:schemeClr val="dk1"/>
                </a:solidFill>
                <a:latin typeface="Times New Roman"/>
                <a:ea typeface="Times New Roman"/>
                <a:cs typeface="Times New Roman"/>
                <a:sym typeface="Times New Roman"/>
              </a:rPr>
              <a:t>Entrepreneurship represents a special human resource which provides his</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entrepreneurial ability or what is also called enterprise. Entrepreneur plays a crucial role in a free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market economy. It is he who initiates and organises the production process by combining other</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resources such as labour, capital and land. Entrepreneur takes various business-policy decisions and bears risk of loss from his venture. Another important task of an entrepreneur is to introduce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innovations such as the use of new and better techniques of production, launching of new products.</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09" name="Shape 209"/>
        <p:cNvGrpSpPr/>
        <p:nvPr/>
      </p:nvGrpSpPr>
      <p:grpSpPr>
        <a:xfrm>
          <a:off x="0" y="0"/>
          <a:ext cx="0" cy="0"/>
          <a:chOff x="0" y="0"/>
          <a:chExt cx="0" cy="0"/>
        </a:xfrm>
      </p:grpSpPr>
      <p:sp>
        <p:nvSpPr>
          <p:cNvPr id="210" name="Google Shape;210;p12"/>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1" name="Google Shape;211;p12"/>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12"/>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12"/>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2"/>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p12"/>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Central Problems of an Economy</a:t>
            </a:r>
            <a:endParaRPr b="1" sz="2000">
              <a:solidFill>
                <a:schemeClr val="dk1"/>
              </a:solidFill>
              <a:latin typeface="Times New Roman"/>
              <a:ea typeface="Times New Roman"/>
              <a:cs typeface="Times New Roman"/>
              <a:sym typeface="Times New Roman"/>
            </a:endParaRPr>
          </a:p>
        </p:txBody>
      </p:sp>
      <p:sp>
        <p:nvSpPr>
          <p:cNvPr id="216" name="Google Shape;216;p12"/>
          <p:cNvSpPr/>
          <p:nvPr/>
        </p:nvSpPr>
        <p:spPr>
          <a:xfrm>
            <a:off x="2267011" y="843677"/>
            <a:ext cx="9680150"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 scarcity of resources relative to human wants gives rise to various </a:t>
            </a:r>
            <a:r>
              <a:rPr i="1" lang="en-US" sz="1800">
                <a:solidFill>
                  <a:schemeClr val="dk1"/>
                </a:solidFill>
                <a:latin typeface="Times New Roman"/>
                <a:ea typeface="Times New Roman"/>
                <a:cs typeface="Times New Roman"/>
                <a:sym typeface="Times New Roman"/>
              </a:rPr>
              <a:t>basic problems</a:t>
            </a:r>
            <a:r>
              <a:rPr lang="en-US" sz="1800">
                <a:solidFill>
                  <a:schemeClr val="dk1"/>
                </a:solidFill>
                <a:latin typeface="Times New Roman"/>
                <a:ea typeface="Times New Roman"/>
                <a:cs typeface="Times New Roman"/>
                <a:sym typeface="Times New Roman"/>
              </a:rPr>
              <a:t>, </a:t>
            </a:r>
            <a:r>
              <a:rPr i="1" lang="en-US" sz="1800">
                <a:solidFill>
                  <a:schemeClr val="dk1"/>
                </a:solidFill>
                <a:latin typeface="Times New Roman"/>
                <a:ea typeface="Times New Roman"/>
                <a:cs typeface="Times New Roman"/>
                <a:sym typeface="Times New Roman"/>
              </a:rPr>
              <a:t>issues </a:t>
            </a:r>
            <a:r>
              <a:rPr lang="en-US" sz="1800">
                <a:solidFill>
                  <a:schemeClr val="dk1"/>
                </a:solidFill>
                <a:latin typeface="Times New Roman"/>
                <a:ea typeface="Times New Roman"/>
                <a:cs typeface="Times New Roman"/>
                <a:sym typeface="Times New Roman"/>
              </a:rPr>
              <a:t>or </a:t>
            </a:r>
            <a:r>
              <a:rPr i="1" lang="en-US" sz="1800">
                <a:solidFill>
                  <a:schemeClr val="dk1"/>
                </a:solidFill>
                <a:latin typeface="Times New Roman"/>
                <a:ea typeface="Times New Roman"/>
                <a:cs typeface="Times New Roman"/>
                <a:sym typeface="Times New Roman"/>
              </a:rPr>
              <a:t>questions </a:t>
            </a:r>
            <a:r>
              <a:rPr lang="en-US" sz="1800">
                <a:solidFill>
                  <a:schemeClr val="dk1"/>
                </a:solidFill>
                <a:latin typeface="Times New Roman"/>
                <a:ea typeface="Times New Roman"/>
                <a:cs typeface="Times New Roman"/>
                <a:sym typeface="Times New Roman"/>
              </a:rPr>
              <a:t>which have to be solved by an economy if it is to fulfil its purpose.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These basic economic problems are also called central problems of the economy. All these problems involve choice to be made by the society. These problems are ;</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1. </a:t>
            </a:r>
            <a:r>
              <a:rPr i="1" lang="en-US" sz="1800">
                <a:solidFill>
                  <a:schemeClr val="dk1"/>
                </a:solidFill>
                <a:latin typeface="Times New Roman"/>
                <a:ea typeface="Times New Roman"/>
                <a:cs typeface="Times New Roman"/>
                <a:sym typeface="Times New Roman"/>
              </a:rPr>
              <a:t>What </a:t>
            </a:r>
            <a:r>
              <a:rPr lang="en-US" sz="1800">
                <a:solidFill>
                  <a:schemeClr val="dk1"/>
                </a:solidFill>
                <a:latin typeface="Times New Roman"/>
                <a:ea typeface="Times New Roman"/>
                <a:cs typeface="Times New Roman"/>
                <a:sym typeface="Times New Roman"/>
              </a:rPr>
              <a:t>to produce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2. </a:t>
            </a:r>
            <a:r>
              <a:rPr i="1" lang="en-US" sz="1800">
                <a:solidFill>
                  <a:schemeClr val="dk1"/>
                </a:solidFill>
                <a:latin typeface="Times New Roman"/>
                <a:ea typeface="Times New Roman"/>
                <a:cs typeface="Times New Roman"/>
                <a:sym typeface="Times New Roman"/>
              </a:rPr>
              <a:t>How </a:t>
            </a:r>
            <a:r>
              <a:rPr lang="en-US" sz="1800">
                <a:solidFill>
                  <a:schemeClr val="dk1"/>
                </a:solidFill>
                <a:latin typeface="Times New Roman"/>
                <a:ea typeface="Times New Roman"/>
                <a:cs typeface="Times New Roman"/>
                <a:sym typeface="Times New Roman"/>
              </a:rPr>
              <a:t>to produce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3. </a:t>
            </a:r>
            <a:r>
              <a:rPr i="1" lang="en-US" sz="1800">
                <a:solidFill>
                  <a:schemeClr val="dk1"/>
                </a:solidFill>
                <a:latin typeface="Times New Roman"/>
                <a:ea typeface="Times New Roman"/>
                <a:cs typeface="Times New Roman"/>
                <a:sym typeface="Times New Roman"/>
              </a:rPr>
              <a:t>For Whom </a:t>
            </a:r>
            <a:r>
              <a:rPr lang="en-US" sz="1800">
                <a:solidFill>
                  <a:schemeClr val="dk1"/>
                </a:solidFill>
                <a:latin typeface="Times New Roman"/>
                <a:ea typeface="Times New Roman"/>
                <a:cs typeface="Times New Roman"/>
                <a:sym typeface="Times New Roman"/>
              </a:rPr>
              <a:t>to produce</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4. </a:t>
            </a:r>
            <a:r>
              <a:rPr i="1" lang="en-US" sz="1800">
                <a:solidFill>
                  <a:schemeClr val="dk1"/>
                </a:solidFill>
                <a:latin typeface="Times New Roman"/>
                <a:ea typeface="Times New Roman"/>
                <a:cs typeface="Times New Roman"/>
                <a:sym typeface="Times New Roman"/>
              </a:rPr>
              <a:t>What Provision </a:t>
            </a:r>
            <a:r>
              <a:rPr lang="en-US" sz="1800">
                <a:solidFill>
                  <a:schemeClr val="dk1"/>
                </a:solidFill>
                <a:latin typeface="Times New Roman"/>
                <a:ea typeface="Times New Roman"/>
                <a:cs typeface="Times New Roman"/>
                <a:sym typeface="Times New Roman"/>
              </a:rPr>
              <a:t>(if any) be made for economic growth.</a:t>
            </a: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3"/>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3"/>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3"/>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3"/>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3"/>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How these problems are solved</a:t>
            </a:r>
            <a:endParaRPr b="1" sz="2000">
              <a:solidFill>
                <a:schemeClr val="dk1"/>
              </a:solidFill>
              <a:latin typeface="Times New Roman"/>
              <a:ea typeface="Times New Roman"/>
              <a:cs typeface="Times New Roman"/>
              <a:sym typeface="Times New Roman"/>
            </a:endParaRPr>
          </a:p>
        </p:txBody>
      </p:sp>
      <p:sp>
        <p:nvSpPr>
          <p:cNvPr id="227" name="Google Shape;227;p13"/>
          <p:cNvSpPr txBox="1"/>
          <p:nvPr/>
        </p:nvSpPr>
        <p:spPr>
          <a:xfrm>
            <a:off x="2371942" y="899410"/>
            <a:ext cx="9679315" cy="5306518"/>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rgbClr val="5A6182"/>
              </a:buClr>
              <a:buSzPts val="2400"/>
              <a:buFont typeface="Arial"/>
              <a:buNone/>
            </a:pPr>
            <a:r>
              <a:rPr lang="en-US" sz="2400">
                <a:solidFill>
                  <a:srgbClr val="5A6182"/>
                </a:solidFill>
                <a:latin typeface="Times New Roman"/>
                <a:ea typeface="Times New Roman"/>
                <a:cs typeface="Times New Roman"/>
                <a:sym typeface="Times New Roman"/>
              </a:rPr>
              <a:t>1. Free market economies</a:t>
            </a:r>
            <a:endParaRPr/>
          </a:p>
          <a:p>
            <a:pPr indent="-228600" lvl="0" marL="228600" marR="0" rtl="0" algn="just">
              <a:lnSpc>
                <a:spcPct val="90000"/>
              </a:lnSpc>
              <a:spcBef>
                <a:spcPts val="10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 free market economy is a type of economy that promotes the production and sale of goods and services, with little to no control or involvement from any central government agency. This economic system is primarily based on supply and demand. </a:t>
            </a:r>
            <a:endParaRPr/>
          </a:p>
          <a:p>
            <a:pPr indent="-228600" lvl="0" marL="228600" marR="0" rtl="0" algn="just">
              <a:lnSpc>
                <a:spcPct val="90000"/>
              </a:lnSpc>
              <a:spcBef>
                <a:spcPts val="10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In a free-market economy, firms and households act in their own self-interest to determine how resources get allocated, what goods get produced, and who buys the goods. </a:t>
            </a:r>
            <a:endParaRPr/>
          </a:p>
          <a:p>
            <a:pPr indent="-228600" lvl="0" marL="228600" marR="0" rtl="0" algn="just">
              <a:lnSpc>
                <a:spcPct val="90000"/>
              </a:lnSpc>
              <a:spcBef>
                <a:spcPts val="10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laissez-faire economics (a term often used synonymously with the idea of the free market).</a:t>
            </a:r>
            <a:endParaRPr/>
          </a:p>
          <a:p>
            <a:pPr indent="-228600" lvl="0" marL="228600" marR="0" rtl="0" algn="just">
              <a:lnSpc>
                <a:spcPct val="90000"/>
              </a:lnSpc>
              <a:spcBef>
                <a:spcPts val="10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 purely capitalist economy is a free market economy; the profit motive drives all commerce and forces businesses to operate as efficiently as possible.</a:t>
            </a:r>
            <a:endParaRPr/>
          </a:p>
          <a:p>
            <a:pPr indent="-50800" lvl="0" marL="228600" marR="0" rtl="0" algn="just">
              <a:lnSpc>
                <a:spcPct val="90000"/>
              </a:lnSpc>
              <a:spcBef>
                <a:spcPts val="100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50800" lvl="0" marL="228600" marR="0" rtl="0" algn="just">
              <a:lnSpc>
                <a:spcPct val="90000"/>
              </a:lnSpc>
              <a:spcBef>
                <a:spcPts val="100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31" name="Shape 231"/>
        <p:cNvGrpSpPr/>
        <p:nvPr/>
      </p:nvGrpSpPr>
      <p:grpSpPr>
        <a:xfrm>
          <a:off x="0" y="0"/>
          <a:ext cx="0" cy="0"/>
          <a:chOff x="0" y="0"/>
          <a:chExt cx="0" cy="0"/>
        </a:xfrm>
      </p:grpSpPr>
      <p:sp>
        <p:nvSpPr>
          <p:cNvPr id="232" name="Google Shape;232;p14"/>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4"/>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4"/>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4"/>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4"/>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4"/>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How these problems are solved</a:t>
            </a:r>
            <a:endParaRPr b="1" sz="2000">
              <a:solidFill>
                <a:schemeClr val="dk1"/>
              </a:solidFill>
              <a:latin typeface="Times New Roman"/>
              <a:ea typeface="Times New Roman"/>
              <a:cs typeface="Times New Roman"/>
              <a:sym typeface="Times New Roman"/>
            </a:endParaRPr>
          </a:p>
        </p:txBody>
      </p:sp>
      <p:sp>
        <p:nvSpPr>
          <p:cNvPr id="238" name="Google Shape;238;p14"/>
          <p:cNvSpPr txBox="1"/>
          <p:nvPr/>
        </p:nvSpPr>
        <p:spPr>
          <a:xfrm>
            <a:off x="2252267" y="1105529"/>
            <a:ext cx="9450053" cy="4230969"/>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just">
              <a:lnSpc>
                <a:spcPct val="90000"/>
              </a:lnSpc>
              <a:spcBef>
                <a:spcPts val="0"/>
              </a:spcBef>
              <a:spcAft>
                <a:spcPts val="0"/>
              </a:spcAft>
              <a:buClr>
                <a:srgbClr val="5A6182"/>
              </a:buClr>
              <a:buSzPct val="100000"/>
              <a:buFont typeface="Arial"/>
              <a:buNone/>
            </a:pPr>
            <a:r>
              <a:rPr lang="en-US" sz="2800">
                <a:solidFill>
                  <a:srgbClr val="5A6182"/>
                </a:solidFill>
                <a:latin typeface="Times New Roman"/>
                <a:ea typeface="Times New Roman"/>
                <a:cs typeface="Times New Roman"/>
                <a:sym typeface="Times New Roman"/>
              </a:rPr>
              <a:t>1. Free market economies</a:t>
            </a:r>
            <a:endParaRPr sz="2800">
              <a:solidFill>
                <a:srgbClr val="282828"/>
              </a:solidFill>
              <a:latin typeface="Times New Roman"/>
              <a:ea typeface="Times New Roman"/>
              <a:cs typeface="Times New Roman"/>
              <a:sym typeface="Times New Roman"/>
            </a:endParaRPr>
          </a:p>
          <a:p>
            <a:pPr indent="-228600" lvl="0" marL="228600" marR="0" rtl="0" algn="just">
              <a:lnSpc>
                <a:spcPct val="90000"/>
              </a:lnSpc>
              <a:spcBef>
                <a:spcPts val="1000"/>
              </a:spcBef>
              <a:spcAft>
                <a:spcPts val="0"/>
              </a:spcAft>
              <a:buClr>
                <a:srgbClr val="282828"/>
              </a:buClr>
              <a:buSzPct val="100000"/>
              <a:buFont typeface="Arial"/>
              <a:buChar char="•"/>
            </a:pPr>
            <a:r>
              <a:rPr lang="en-US" sz="2800">
                <a:solidFill>
                  <a:srgbClr val="282828"/>
                </a:solidFill>
                <a:latin typeface="Times New Roman"/>
                <a:ea typeface="Times New Roman"/>
                <a:cs typeface="Times New Roman"/>
                <a:sym typeface="Times New Roman"/>
              </a:rPr>
              <a:t>A </a:t>
            </a:r>
            <a:r>
              <a:rPr lang="en-US" sz="2800">
                <a:solidFill>
                  <a:schemeClr val="dk1"/>
                </a:solidFill>
                <a:latin typeface="Times New Roman"/>
                <a:ea typeface="Times New Roman"/>
                <a:cs typeface="Times New Roman"/>
                <a:sym typeface="Times New Roman"/>
              </a:rPr>
              <a:t>free market economy </a:t>
            </a:r>
            <a:r>
              <a:rPr lang="en-US" sz="2800">
                <a:solidFill>
                  <a:srgbClr val="282828"/>
                </a:solidFill>
                <a:latin typeface="Times New Roman"/>
                <a:ea typeface="Times New Roman"/>
                <a:cs typeface="Times New Roman"/>
                <a:sym typeface="Times New Roman"/>
              </a:rPr>
              <a:t>is one that is governed strictly by the forces of supply and demand with no governmental influence. </a:t>
            </a:r>
            <a:r>
              <a:rPr b="1" lang="en-US" sz="2800">
                <a:solidFill>
                  <a:srgbClr val="282828"/>
                </a:solidFill>
                <a:latin typeface="Times New Roman"/>
                <a:ea typeface="Times New Roman"/>
                <a:cs typeface="Times New Roman"/>
                <a:sym typeface="Times New Roman"/>
              </a:rPr>
              <a:t>In practice, however, </a:t>
            </a:r>
            <a:r>
              <a:rPr lang="en-US" sz="2800">
                <a:solidFill>
                  <a:srgbClr val="282828"/>
                </a:solidFill>
                <a:latin typeface="Times New Roman"/>
                <a:ea typeface="Times New Roman"/>
                <a:cs typeface="Times New Roman"/>
                <a:sym typeface="Times New Roman"/>
              </a:rPr>
              <a:t>nearly all legal market economies must contend with some form of regulation. A pure market economy has no barriers to economic exchange: you can sell anything to anyone else for any price.</a:t>
            </a:r>
            <a:endParaRPr/>
          </a:p>
          <a:p>
            <a:pPr indent="-90805" lvl="0" marL="228600" marR="0" rtl="0" algn="just">
              <a:lnSpc>
                <a:spcPct val="90000"/>
              </a:lnSpc>
              <a:spcBef>
                <a:spcPts val="1000"/>
              </a:spcBef>
              <a:spcAft>
                <a:spcPts val="0"/>
              </a:spcAft>
              <a:buClr>
                <a:schemeClr val="dk1"/>
              </a:buClr>
              <a:buSzPct val="100000"/>
              <a:buFont typeface="Arial"/>
              <a:buNone/>
            </a:pPr>
            <a:r>
              <a:t/>
            </a:r>
            <a:endParaRPr sz="2800">
              <a:solidFill>
                <a:srgbClr val="282828"/>
              </a:solidFill>
              <a:latin typeface="Times New Roman"/>
              <a:ea typeface="Times New Roman"/>
              <a:cs typeface="Times New Roman"/>
              <a:sym typeface="Times New Roman"/>
            </a:endParaRPr>
          </a:p>
          <a:p>
            <a:pPr indent="-228600" lvl="0" marL="228600" marR="0" rtl="0" algn="just">
              <a:lnSpc>
                <a:spcPct val="90000"/>
              </a:lnSpc>
              <a:spcBef>
                <a:spcPts val="1000"/>
              </a:spcBef>
              <a:spcAft>
                <a:spcPts val="0"/>
              </a:spcAft>
              <a:buClr>
                <a:srgbClr val="282828"/>
              </a:buClr>
              <a:buSzPct val="100000"/>
              <a:buFont typeface="Arial"/>
              <a:buChar char="•"/>
            </a:pPr>
            <a:r>
              <a:rPr lang="en-US" sz="2800">
                <a:solidFill>
                  <a:srgbClr val="282828"/>
                </a:solidFill>
                <a:latin typeface="Times New Roman"/>
                <a:ea typeface="Times New Roman"/>
                <a:cs typeface="Times New Roman"/>
                <a:sym typeface="Times New Roman"/>
              </a:rPr>
              <a:t>In reality, this form of economics is rare. Sales taxes, tariffs on imports and exports, and legal prohibitions—such as the age restriction on liquor consumption—are all impediments to a truly free market exchange.</a:t>
            </a:r>
            <a:endParaRPr/>
          </a:p>
          <a:p>
            <a:pPr indent="-90805" lvl="0" marL="228600" marR="0" rtl="0" algn="just">
              <a:lnSpc>
                <a:spcPct val="90000"/>
              </a:lnSpc>
              <a:spcBef>
                <a:spcPts val="1000"/>
              </a:spcBef>
              <a:spcAft>
                <a:spcPts val="0"/>
              </a:spcAft>
              <a:buClr>
                <a:schemeClr val="dk1"/>
              </a:buClr>
              <a:buSzPct val="100000"/>
              <a:buFont typeface="Arial"/>
              <a:buNone/>
            </a:pPr>
            <a:r>
              <a:t/>
            </a:r>
            <a:endParaRPr sz="2800">
              <a:solidFill>
                <a:srgbClr val="282828"/>
              </a:solidFill>
              <a:latin typeface="Times New Roman"/>
              <a:ea typeface="Times New Roman"/>
              <a:cs typeface="Times New Roman"/>
              <a:sym typeface="Times New Roman"/>
            </a:endParaRPr>
          </a:p>
          <a:p>
            <a:pPr indent="-228632" lvl="0" marL="228600" marR="0" rtl="0" algn="just">
              <a:lnSpc>
                <a:spcPct val="90000"/>
              </a:lnSpc>
              <a:spcBef>
                <a:spcPts val="1000"/>
              </a:spcBef>
              <a:spcAft>
                <a:spcPts val="0"/>
              </a:spcAft>
              <a:buClr>
                <a:srgbClr val="111111"/>
              </a:buClr>
              <a:buSzPct val="100000"/>
              <a:buFont typeface="Arial"/>
              <a:buChar char="•"/>
            </a:pPr>
            <a:r>
              <a:rPr lang="en-US" sz="3300">
                <a:solidFill>
                  <a:srgbClr val="111111"/>
                </a:solidFill>
                <a:latin typeface="Times New Roman"/>
                <a:ea typeface="Times New Roman"/>
                <a:cs typeface="Times New Roman"/>
                <a:sym typeface="Times New Roman"/>
              </a:rPr>
              <a:t>Hong Kong's economy is considered the most free, followed by New Zealand while Algeria was the least free in 2019, according to the 2019</a:t>
            </a:r>
            <a:r>
              <a:rPr i="1" lang="en-US" sz="3300">
                <a:solidFill>
                  <a:srgbClr val="111111"/>
                </a:solidFill>
                <a:latin typeface="Times New Roman"/>
                <a:ea typeface="Times New Roman"/>
                <a:cs typeface="Times New Roman"/>
                <a:sym typeface="Times New Roman"/>
              </a:rPr>
              <a:t> Index of Economic Freedom.</a:t>
            </a:r>
            <a:endParaRPr sz="3300">
              <a:solidFill>
                <a:srgbClr val="111111"/>
              </a:solidFill>
              <a:latin typeface="Times New Roman"/>
              <a:ea typeface="Times New Roman"/>
              <a:cs typeface="Times New Roman"/>
              <a:sym typeface="Times New Roman"/>
            </a:endParaRPr>
          </a:p>
          <a:p>
            <a:pPr indent="-90805" lvl="0" marL="228600" marR="0" rtl="0" algn="l">
              <a:lnSpc>
                <a:spcPct val="90000"/>
              </a:lnSpc>
              <a:spcBef>
                <a:spcPts val="1000"/>
              </a:spcBef>
              <a:spcAft>
                <a:spcPts val="0"/>
              </a:spcAft>
              <a:buClr>
                <a:schemeClr val="dk1"/>
              </a:buClr>
              <a:buSzPct val="100000"/>
              <a:buFont typeface="Arial"/>
              <a:buNone/>
            </a:pPr>
            <a:r>
              <a:t/>
            </a:r>
            <a:endParaRPr sz="2800">
              <a:solidFill>
                <a:srgbClr val="282828"/>
              </a:solidFill>
              <a:latin typeface="Times New Roman"/>
              <a:ea typeface="Times New Roman"/>
              <a:cs typeface="Times New Roman"/>
              <a:sym typeface="Times New Roman"/>
            </a:endParaRPr>
          </a:p>
          <a:p>
            <a:pPr indent="-90805"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Times New Roman"/>
              <a:ea typeface="Times New Roman"/>
              <a:cs typeface="Times New Roman"/>
              <a:sym typeface="Times New Roman"/>
            </a:endParaRPr>
          </a:p>
          <a:p>
            <a:pPr indent="-90805" lvl="0" marL="228600" marR="0" rtl="0" algn="l">
              <a:lnSpc>
                <a:spcPct val="90000"/>
              </a:lnSpc>
              <a:spcBef>
                <a:spcPts val="1000"/>
              </a:spcBef>
              <a:spcAft>
                <a:spcPts val="0"/>
              </a:spcAft>
              <a:buClr>
                <a:schemeClr val="dk1"/>
              </a:buClr>
              <a:buSzPct val="1000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15"/>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 name="Google Shape;245;p15"/>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15"/>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15"/>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15"/>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How these problems are solved</a:t>
            </a:r>
            <a:endParaRPr b="1" sz="2000">
              <a:solidFill>
                <a:schemeClr val="dk1"/>
              </a:solidFill>
              <a:latin typeface="Times New Roman"/>
              <a:ea typeface="Times New Roman"/>
              <a:cs typeface="Times New Roman"/>
              <a:sym typeface="Times New Roman"/>
            </a:endParaRPr>
          </a:p>
        </p:txBody>
      </p:sp>
      <p:sp>
        <p:nvSpPr>
          <p:cNvPr id="249" name="Google Shape;249;p15"/>
          <p:cNvSpPr txBox="1"/>
          <p:nvPr/>
        </p:nvSpPr>
        <p:spPr>
          <a:xfrm>
            <a:off x="2092710" y="1166018"/>
            <a:ext cx="9808564" cy="4525963"/>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5A6182"/>
              </a:buClr>
              <a:buSzPts val="2800"/>
              <a:buFont typeface="Arial"/>
              <a:buNone/>
            </a:pPr>
            <a:r>
              <a:rPr lang="en-US" sz="2800">
                <a:solidFill>
                  <a:srgbClr val="5A6182"/>
                </a:solidFill>
                <a:latin typeface="Times New Roman"/>
                <a:ea typeface="Times New Roman"/>
                <a:cs typeface="Times New Roman"/>
                <a:sym typeface="Times New Roman"/>
              </a:rPr>
              <a:t>2. Command economies</a:t>
            </a:r>
            <a:endParaRPr/>
          </a:p>
          <a:p>
            <a:pPr indent="-228600" lvl="0" marL="228600" marR="0" rtl="0" algn="just">
              <a:lnSpc>
                <a:spcPct val="90000"/>
              </a:lnSpc>
              <a:spcBef>
                <a:spcPts val="1000"/>
              </a:spcBef>
              <a:spcAft>
                <a:spcPts val="0"/>
              </a:spcAft>
              <a:buClr>
                <a:srgbClr val="111111"/>
              </a:buClr>
              <a:buSzPts val="2800"/>
              <a:buFont typeface="Arial"/>
              <a:buChar char="•"/>
            </a:pPr>
            <a:r>
              <a:rPr lang="en-US" sz="2800">
                <a:solidFill>
                  <a:srgbClr val="111111"/>
                </a:solidFill>
                <a:latin typeface="Times New Roman"/>
                <a:ea typeface="Times New Roman"/>
                <a:cs typeface="Times New Roman"/>
                <a:sym typeface="Times New Roman"/>
              </a:rPr>
              <a:t>A </a:t>
            </a:r>
            <a:r>
              <a:rPr lang="en-US" sz="2800">
                <a:solidFill>
                  <a:schemeClr val="dk1"/>
                </a:solidFill>
                <a:latin typeface="Times New Roman"/>
                <a:ea typeface="Times New Roman"/>
                <a:cs typeface="Times New Roman"/>
                <a:sym typeface="Times New Roman"/>
              </a:rPr>
              <a:t>command economy is a system where the government, rather than the free market, determines what goods should be produced, how much should be produced, and the price at which the goods are offered for sale. It also determines investments and incomes.</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The command economy is a key feature of any communist society. Cuba, North Korea, and the former Soviet Union are examples of countries that have command economies, while China maintained a command economy for decades before transitioning to a mixed economy that features both communistic and capitalistic elements.</a:t>
            </a:r>
            <a:endParaRPr sz="2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53" name="Shape 253"/>
        <p:cNvGrpSpPr/>
        <p:nvPr/>
      </p:nvGrpSpPr>
      <p:grpSpPr>
        <a:xfrm>
          <a:off x="0" y="0"/>
          <a:ext cx="0" cy="0"/>
          <a:chOff x="0" y="0"/>
          <a:chExt cx="0" cy="0"/>
        </a:xfrm>
      </p:grpSpPr>
      <p:sp>
        <p:nvSpPr>
          <p:cNvPr id="254" name="Google Shape;254;p16"/>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16"/>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6"/>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6"/>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16"/>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6"/>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How these problems are solved</a:t>
            </a:r>
            <a:endParaRPr b="1" sz="2000">
              <a:solidFill>
                <a:schemeClr val="dk1"/>
              </a:solidFill>
              <a:latin typeface="Times New Roman"/>
              <a:ea typeface="Times New Roman"/>
              <a:cs typeface="Times New Roman"/>
              <a:sym typeface="Times New Roman"/>
            </a:endParaRPr>
          </a:p>
        </p:txBody>
      </p:sp>
      <p:sp>
        <p:nvSpPr>
          <p:cNvPr id="260" name="Google Shape;260;p16"/>
          <p:cNvSpPr txBox="1"/>
          <p:nvPr/>
        </p:nvSpPr>
        <p:spPr>
          <a:xfrm>
            <a:off x="1902415" y="1030579"/>
            <a:ext cx="10138348" cy="4525963"/>
          </a:xfrm>
          <a:prstGeom prst="rect">
            <a:avLst/>
          </a:prstGeom>
          <a:noFill/>
          <a:ln>
            <a:noFill/>
          </a:ln>
        </p:spPr>
        <p:txBody>
          <a:bodyPr anchorCtr="0" anchor="t" bIns="45700" lIns="91425" spcFirstLastPara="1" rIns="91425" wrap="square" tIns="45700">
            <a:normAutofit lnSpcReduction="10000"/>
          </a:bodyPr>
          <a:lstStyle/>
          <a:p>
            <a:pPr indent="0" lvl="0" marL="0" marR="0" rtl="0" algn="just">
              <a:lnSpc>
                <a:spcPct val="90000"/>
              </a:lnSpc>
              <a:spcBef>
                <a:spcPts val="0"/>
              </a:spcBef>
              <a:spcAft>
                <a:spcPts val="0"/>
              </a:spcAft>
              <a:buClr>
                <a:srgbClr val="5A6182"/>
              </a:buClr>
              <a:buSzPts val="2800"/>
              <a:buFont typeface="Arial"/>
              <a:buNone/>
            </a:pPr>
            <a:r>
              <a:rPr lang="en-US" sz="2800">
                <a:solidFill>
                  <a:srgbClr val="5A6182"/>
                </a:solidFill>
                <a:latin typeface="Times New Roman"/>
                <a:ea typeface="Times New Roman"/>
                <a:cs typeface="Times New Roman"/>
                <a:sym typeface="Times New Roman"/>
              </a:rPr>
              <a:t>2. Command economies</a:t>
            </a:r>
            <a:endParaRPr sz="2800">
              <a:solidFill>
                <a:schemeClr val="dk1"/>
              </a:solidFill>
              <a:latin typeface="Times New Roman"/>
              <a:ea typeface="Times New Roman"/>
              <a:cs typeface="Times New Roman"/>
              <a:sym typeface="Times New Roman"/>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Also known as a planned economy, command economies have as their central tenet that government central planners own or control the means of production within a society. Private ownership or land, labor, and capital is either nonexistent or sharply limited to use in support of the central economic plan. </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In contrast with free market economies, in which the prices of goods and services are set by supply and demand, central plans in a command economy set prices, control production, and limit or entirely prohibit competition within the private sector. In a pure command economy, there is no competition, as the central government owns or controls all business.</a:t>
            </a:r>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64" name="Shape 264"/>
        <p:cNvGrpSpPr/>
        <p:nvPr/>
      </p:nvGrpSpPr>
      <p:grpSpPr>
        <a:xfrm>
          <a:off x="0" y="0"/>
          <a:ext cx="0" cy="0"/>
          <a:chOff x="0" y="0"/>
          <a:chExt cx="0" cy="0"/>
        </a:xfrm>
      </p:grpSpPr>
      <p:sp>
        <p:nvSpPr>
          <p:cNvPr id="265" name="Google Shape;265;p17"/>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7"/>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17"/>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17"/>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17"/>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17"/>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How these problems are solved</a:t>
            </a:r>
            <a:endParaRPr b="1" sz="2000">
              <a:solidFill>
                <a:schemeClr val="dk1"/>
              </a:solidFill>
              <a:latin typeface="Times New Roman"/>
              <a:ea typeface="Times New Roman"/>
              <a:cs typeface="Times New Roman"/>
              <a:sym typeface="Times New Roman"/>
            </a:endParaRPr>
          </a:p>
        </p:txBody>
      </p:sp>
      <p:sp>
        <p:nvSpPr>
          <p:cNvPr id="271" name="Google Shape;271;p17"/>
          <p:cNvSpPr txBox="1"/>
          <p:nvPr/>
        </p:nvSpPr>
        <p:spPr>
          <a:xfrm>
            <a:off x="2132347" y="1166018"/>
            <a:ext cx="9823554" cy="4525963"/>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5A6182"/>
              </a:buClr>
              <a:buSzPct val="100000"/>
              <a:buFont typeface="Arial"/>
              <a:buNone/>
            </a:pPr>
            <a:r>
              <a:rPr lang="en-US" sz="2800">
                <a:solidFill>
                  <a:srgbClr val="5A6182"/>
                </a:solidFill>
                <a:latin typeface="Times New Roman"/>
                <a:ea typeface="Times New Roman"/>
                <a:cs typeface="Times New Roman"/>
                <a:sym typeface="Times New Roman"/>
              </a:rPr>
              <a:t>3. Mixed economies</a:t>
            </a:r>
            <a:endParaRPr/>
          </a:p>
          <a:p>
            <a:pPr indent="-228600" lvl="0" marL="228600" marR="0" rtl="0" algn="just">
              <a:lnSpc>
                <a:spcPct val="90000"/>
              </a:lnSpc>
              <a:spcBef>
                <a:spcPts val="1000"/>
              </a:spcBef>
              <a:spcAft>
                <a:spcPts val="0"/>
              </a:spcAft>
              <a:buClr>
                <a:schemeClr val="dk1"/>
              </a:buClr>
              <a:buSzPct val="100000"/>
              <a:buFont typeface="Arial"/>
              <a:buChar char="•"/>
            </a:pPr>
            <a:r>
              <a:rPr lang="en-US" sz="2800">
                <a:solidFill>
                  <a:schemeClr val="dk1"/>
                </a:solidFill>
                <a:latin typeface="Times New Roman"/>
                <a:ea typeface="Times New Roman"/>
                <a:cs typeface="Times New Roman"/>
                <a:sym typeface="Times New Roman"/>
              </a:rPr>
              <a:t>There is a third type of economy involving a combination of market forces and central planning, called mixed economies.</a:t>
            </a:r>
            <a:endParaRPr/>
          </a:p>
          <a:p>
            <a:pPr indent="-228600" lvl="0" marL="228600" marR="0" rtl="0" algn="just">
              <a:lnSpc>
                <a:spcPct val="90000"/>
              </a:lnSpc>
              <a:spcBef>
                <a:spcPts val="1000"/>
              </a:spcBef>
              <a:spcAft>
                <a:spcPts val="0"/>
              </a:spcAft>
              <a:buClr>
                <a:schemeClr val="dk1"/>
              </a:buClr>
              <a:buSzPct val="100000"/>
              <a:buFont typeface="Arial"/>
              <a:buChar char="•"/>
            </a:pPr>
            <a:r>
              <a:rPr lang="en-US" sz="2800">
                <a:solidFill>
                  <a:schemeClr val="dk1"/>
                </a:solidFill>
                <a:latin typeface="Times New Roman"/>
                <a:ea typeface="Times New Roman"/>
                <a:cs typeface="Times New Roman"/>
                <a:sym typeface="Times New Roman"/>
              </a:rPr>
              <a:t>Mixed economies may have a distinct private sector, where resources are allocated primarily by market forces. Mixed economies may also have a distinct public sector, where resources are allocated mainly by government, such as defence, police, and fire services. </a:t>
            </a:r>
            <a:endParaRPr/>
          </a:p>
          <a:p>
            <a:pPr indent="-228600" lvl="0" marL="228600" marR="0" rtl="0" algn="just">
              <a:lnSpc>
                <a:spcPct val="90000"/>
              </a:lnSpc>
              <a:spcBef>
                <a:spcPts val="1000"/>
              </a:spcBef>
              <a:spcAft>
                <a:spcPts val="0"/>
              </a:spcAft>
              <a:buClr>
                <a:schemeClr val="dk1"/>
              </a:buClr>
              <a:buSzPct val="100000"/>
              <a:buFont typeface="Arial"/>
              <a:buChar char="•"/>
            </a:pPr>
            <a:r>
              <a:rPr lang="en-US" sz="2800">
                <a:solidFill>
                  <a:schemeClr val="dk1"/>
                </a:solidFill>
                <a:latin typeface="Times New Roman"/>
                <a:ea typeface="Times New Roman"/>
                <a:cs typeface="Times New Roman"/>
                <a:sym typeface="Times New Roman"/>
              </a:rPr>
              <a:t>A mixed economic system protects private property and allows a level of economic freedom in the use of capital, but also allows for governments to interfere in economic activities in order to achieve social aims. </a:t>
            </a:r>
            <a:endParaRPr sz="2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75" name="Shape 275"/>
        <p:cNvGrpSpPr/>
        <p:nvPr/>
      </p:nvGrpSpPr>
      <p:grpSpPr>
        <a:xfrm>
          <a:off x="0" y="0"/>
          <a:ext cx="0" cy="0"/>
          <a:chOff x="0" y="0"/>
          <a:chExt cx="0" cy="0"/>
        </a:xfrm>
      </p:grpSpPr>
      <p:sp>
        <p:nvSpPr>
          <p:cNvPr id="276" name="Google Shape;276;p18"/>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p18"/>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18"/>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 name="Google Shape;279;p18"/>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18"/>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18"/>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How these problems are solved</a:t>
            </a:r>
            <a:endParaRPr b="1" sz="2000">
              <a:solidFill>
                <a:schemeClr val="dk1"/>
              </a:solidFill>
              <a:latin typeface="Times New Roman"/>
              <a:ea typeface="Times New Roman"/>
              <a:cs typeface="Times New Roman"/>
              <a:sym typeface="Times New Roman"/>
            </a:endParaRPr>
          </a:p>
        </p:txBody>
      </p:sp>
      <p:sp>
        <p:nvSpPr>
          <p:cNvPr id="282" name="Google Shape;282;p18"/>
          <p:cNvSpPr txBox="1"/>
          <p:nvPr/>
        </p:nvSpPr>
        <p:spPr>
          <a:xfrm>
            <a:off x="2092710" y="1166018"/>
            <a:ext cx="9733613" cy="4525963"/>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Conclusion:</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Free market economies and command economies exist more as concepts than as tangible realities; almost all of the world's economies feature elements of both systems and are classified as mixed economies. </a:t>
            </a:r>
            <a:endParaRPr/>
          </a:p>
          <a:p>
            <a:pPr indent="-228600" lvl="0" marL="228600" marR="0" rtl="0" algn="just">
              <a:lnSpc>
                <a:spcPct val="90000"/>
              </a:lnSpc>
              <a:spcBef>
                <a:spcPts val="10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For example, although the United States allows companies to set prices and workers to negotiate wages, the government establishes parameters such as minimum wages that must be followed. Additionally, most countries have some type of taxation and impose import and export tariffs.</a:t>
            </a:r>
            <a:endParaRPr sz="2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86" name="Shape 286"/>
        <p:cNvGrpSpPr/>
        <p:nvPr/>
      </p:nvGrpSpPr>
      <p:grpSpPr>
        <a:xfrm>
          <a:off x="0" y="0"/>
          <a:ext cx="0" cy="0"/>
          <a:chOff x="0" y="0"/>
          <a:chExt cx="0" cy="0"/>
        </a:xfrm>
      </p:grpSpPr>
      <p:sp>
        <p:nvSpPr>
          <p:cNvPr id="287" name="Google Shape;287;p19"/>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19"/>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19"/>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19"/>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19"/>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9"/>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The Scope of Economics</a:t>
            </a:r>
            <a:endParaRPr b="1" sz="2000">
              <a:solidFill>
                <a:schemeClr val="dk1"/>
              </a:solidFill>
              <a:latin typeface="Times New Roman"/>
              <a:ea typeface="Times New Roman"/>
              <a:cs typeface="Times New Roman"/>
              <a:sym typeface="Times New Roman"/>
            </a:endParaRPr>
          </a:p>
        </p:txBody>
      </p:sp>
      <p:sp>
        <p:nvSpPr>
          <p:cNvPr id="293" name="Google Shape;293;p19"/>
          <p:cNvSpPr/>
          <p:nvPr/>
        </p:nvSpPr>
        <p:spPr>
          <a:xfrm>
            <a:off x="2252022" y="786827"/>
            <a:ext cx="9455296" cy="424731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The scope of economics refers to what is the subject matter of economics, that is, what are the various issues and questions that are analysed in it. Besides, in the scope of economics we deal with the issues of positive and normative economics. In what follows we shall discuss the subjects of microeconomics and macroeconomics as well as positive and normative economics. The subject-matter of economics has been divided into two parts : Microeconomics and Macroeconomics. These terms were first coined and used by Ragnar Frisch and have now been adopted by economists all the world over. </a:t>
            </a:r>
            <a:r>
              <a:rPr i="1" lang="en-US" sz="1800">
                <a:solidFill>
                  <a:schemeClr val="dk1"/>
                </a:solidFill>
                <a:latin typeface="Times New Roman"/>
                <a:ea typeface="Times New Roman"/>
                <a:cs typeface="Times New Roman"/>
                <a:sym typeface="Times New Roman"/>
              </a:rPr>
              <a:t>Nowadays one can hardly come across a text-book on modern economic analysis which does not divide its analysis into two parts, one dealing with microeconomics and the other with macroeconomics</a:t>
            </a:r>
            <a:r>
              <a:rPr lang="en-US" sz="1800">
                <a:solidFill>
                  <a:schemeClr val="dk1"/>
                </a:solidFill>
                <a:latin typeface="Times New Roman"/>
                <a:ea typeface="Times New Roman"/>
                <a:cs typeface="Times New Roman"/>
                <a:sym typeface="Times New Roman"/>
              </a:rPr>
              <a:t>. The term microeconomics is derived from the Greek word </a:t>
            </a:r>
            <a:r>
              <a:rPr i="1" lang="en-US" sz="1800">
                <a:solidFill>
                  <a:schemeClr val="dk1"/>
                </a:solidFill>
                <a:latin typeface="Times New Roman"/>
                <a:ea typeface="Times New Roman"/>
                <a:cs typeface="Times New Roman"/>
                <a:sym typeface="Times New Roman"/>
              </a:rPr>
              <a:t>mikros</a:t>
            </a:r>
            <a:r>
              <a:rPr lang="en-US" sz="1800">
                <a:solidFill>
                  <a:schemeClr val="dk1"/>
                </a:solidFill>
                <a:latin typeface="Times New Roman"/>
                <a:ea typeface="Times New Roman"/>
                <a:cs typeface="Times New Roman"/>
                <a:sym typeface="Times New Roman"/>
              </a:rPr>
              <a:t>, meaning “small” and the term macroeconomics is derived from the Greek word </a:t>
            </a:r>
            <a:r>
              <a:rPr i="1" lang="en-US" sz="1800">
                <a:solidFill>
                  <a:schemeClr val="dk1"/>
                </a:solidFill>
                <a:latin typeface="Times New Roman"/>
                <a:ea typeface="Times New Roman"/>
                <a:cs typeface="Times New Roman"/>
                <a:sym typeface="Times New Roman"/>
              </a:rPr>
              <a:t>makros</a:t>
            </a:r>
            <a:r>
              <a:rPr lang="en-US" sz="1800">
                <a:solidFill>
                  <a:schemeClr val="dk1"/>
                </a:solidFill>
                <a:latin typeface="Times New Roman"/>
                <a:ea typeface="Times New Roman"/>
                <a:cs typeface="Times New Roman"/>
                <a:sym typeface="Times New Roman"/>
              </a:rPr>
              <a:t>,</a:t>
            </a:r>
            <a:endParaRPr/>
          </a:p>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meaning “large.” Thus microeconomics deals with the analysis of small individual units of the economy such as individual consumers, individual firms and small aggregates or groups of individual units such as various industries and markets. On the other hand, macro-economics concerns itself with the analysis of the economy as a whole and its large aggregates such as total national output and income, total employment, total consumption, aggregate investment.</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297" name="Shape 297"/>
        <p:cNvGrpSpPr/>
        <p:nvPr/>
      </p:nvGrpSpPr>
      <p:grpSpPr>
        <a:xfrm>
          <a:off x="0" y="0"/>
          <a:ext cx="0" cy="0"/>
          <a:chOff x="0" y="0"/>
          <a:chExt cx="0" cy="0"/>
        </a:xfrm>
      </p:grpSpPr>
      <p:sp>
        <p:nvSpPr>
          <p:cNvPr id="298" name="Google Shape;298;p20"/>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20"/>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20"/>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20"/>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2" name="Google Shape;302;p20"/>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 name="Google Shape;303;p20"/>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Microeconomics and allocation of Resources</a:t>
            </a:r>
            <a:endParaRPr b="1" sz="2000">
              <a:solidFill>
                <a:schemeClr val="dk1"/>
              </a:solidFill>
              <a:latin typeface="Times New Roman"/>
              <a:ea typeface="Times New Roman"/>
              <a:cs typeface="Times New Roman"/>
              <a:sym typeface="Times New Roman"/>
            </a:endParaRPr>
          </a:p>
        </p:txBody>
      </p:sp>
      <p:sp>
        <p:nvSpPr>
          <p:cNvPr id="304" name="Google Shape;304;p20"/>
          <p:cNvSpPr/>
          <p:nvPr/>
        </p:nvSpPr>
        <p:spPr>
          <a:xfrm>
            <a:off x="2371942" y="741219"/>
            <a:ext cx="9425316" cy="36933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Microeconomic theory takes the total quantity of resources as given and </a:t>
            </a:r>
            <a:r>
              <a:rPr i="1" lang="en-US" sz="1800">
                <a:solidFill>
                  <a:schemeClr val="dk1"/>
                </a:solidFill>
                <a:latin typeface="Times New Roman"/>
                <a:ea typeface="Times New Roman"/>
                <a:cs typeface="Times New Roman"/>
                <a:sym typeface="Times New Roman"/>
              </a:rPr>
              <a:t>seeks to explain how they are allocated to the production of various goods</a:t>
            </a:r>
            <a:r>
              <a:rPr lang="en-US" sz="1800">
                <a:solidFill>
                  <a:schemeClr val="dk1"/>
                </a:solidFill>
                <a:latin typeface="Times New Roman"/>
                <a:ea typeface="Times New Roman"/>
                <a:cs typeface="Times New Roman"/>
                <a:sym typeface="Times New Roman"/>
              </a:rPr>
              <a:t>. It is the allocation of resources that determines what goods shall be produced and how they shall be produced. The allocation of resources to the production of various goods in a free-market economy depends upon prices of the various goods and prices of the various resources or factors of production. Therefore, to explain how the allocation of resources is determined, microeconomics proceeds to analyse how relative prices of goods and factors are determined. Thus the theory of product pricing and the theory of factor pricing (or the theory of distribution) fall within the domain of microeconomics. The theory of product pricing explains how relative prices of cotton cloth, foodgrains, jute, kerosene oil, </a:t>
            </a:r>
            <a:r>
              <a:rPr i="1" lang="en-US" sz="1800">
                <a:solidFill>
                  <a:schemeClr val="dk1"/>
                </a:solidFill>
                <a:latin typeface="Times New Roman"/>
                <a:ea typeface="Times New Roman"/>
                <a:cs typeface="Times New Roman"/>
                <a:sym typeface="Times New Roman"/>
              </a:rPr>
              <a:t>Vanaspti ghee </a:t>
            </a:r>
            <a:r>
              <a:rPr lang="en-US" sz="1800">
                <a:solidFill>
                  <a:schemeClr val="dk1"/>
                </a:solidFill>
                <a:latin typeface="Times New Roman"/>
                <a:ea typeface="Times New Roman"/>
                <a:cs typeface="Times New Roman"/>
                <a:sym typeface="Times New Roman"/>
              </a:rPr>
              <a:t>and thousands of other goods are determined. The theory of distribution explains how </a:t>
            </a:r>
            <a:r>
              <a:rPr i="1" lang="en-US" sz="1800">
                <a:solidFill>
                  <a:schemeClr val="dk1"/>
                </a:solidFill>
                <a:latin typeface="Times New Roman"/>
                <a:ea typeface="Times New Roman"/>
                <a:cs typeface="Times New Roman"/>
                <a:sym typeface="Times New Roman"/>
              </a:rPr>
              <a:t>wages </a:t>
            </a:r>
            <a:r>
              <a:rPr lang="en-US" sz="1800">
                <a:solidFill>
                  <a:schemeClr val="dk1"/>
                </a:solidFill>
                <a:latin typeface="Times New Roman"/>
                <a:ea typeface="Times New Roman"/>
                <a:cs typeface="Times New Roman"/>
                <a:sym typeface="Times New Roman"/>
              </a:rPr>
              <a:t>(price for the use of labour), </a:t>
            </a:r>
            <a:r>
              <a:rPr i="1" lang="en-US" sz="1800">
                <a:solidFill>
                  <a:schemeClr val="dk1"/>
                </a:solidFill>
                <a:latin typeface="Times New Roman"/>
                <a:ea typeface="Times New Roman"/>
                <a:cs typeface="Times New Roman"/>
                <a:sym typeface="Times New Roman"/>
              </a:rPr>
              <a:t>rent </a:t>
            </a:r>
            <a:r>
              <a:rPr lang="en-US" sz="1800">
                <a:solidFill>
                  <a:schemeClr val="dk1"/>
                </a:solidFill>
                <a:latin typeface="Times New Roman"/>
                <a:ea typeface="Times New Roman"/>
                <a:cs typeface="Times New Roman"/>
                <a:sym typeface="Times New Roman"/>
              </a:rPr>
              <a:t>(payment for the use of land), </a:t>
            </a:r>
            <a:r>
              <a:rPr i="1" lang="en-US" sz="1800">
                <a:solidFill>
                  <a:schemeClr val="dk1"/>
                </a:solidFill>
                <a:latin typeface="Times New Roman"/>
                <a:ea typeface="Times New Roman"/>
                <a:cs typeface="Times New Roman"/>
                <a:sym typeface="Times New Roman"/>
              </a:rPr>
              <a:t>interest </a:t>
            </a:r>
            <a:r>
              <a:rPr lang="en-US" sz="1800">
                <a:solidFill>
                  <a:schemeClr val="dk1"/>
                </a:solidFill>
                <a:latin typeface="Times New Roman"/>
                <a:ea typeface="Times New Roman"/>
                <a:cs typeface="Times New Roman"/>
                <a:sym typeface="Times New Roman"/>
              </a:rPr>
              <a:t>(price for the use of capital) and </a:t>
            </a:r>
            <a:r>
              <a:rPr i="1" lang="en-US" sz="1800">
                <a:solidFill>
                  <a:schemeClr val="dk1"/>
                </a:solidFill>
                <a:latin typeface="Times New Roman"/>
                <a:ea typeface="Times New Roman"/>
                <a:cs typeface="Times New Roman"/>
                <a:sym typeface="Times New Roman"/>
              </a:rPr>
              <a:t>profits </a:t>
            </a:r>
            <a:r>
              <a:rPr lang="en-US" sz="1800">
                <a:solidFill>
                  <a:schemeClr val="dk1"/>
                </a:solidFill>
                <a:latin typeface="Times New Roman"/>
                <a:ea typeface="Times New Roman"/>
                <a:cs typeface="Times New Roman"/>
                <a:sym typeface="Times New Roman"/>
              </a:rPr>
              <a:t>(the reward for the entrepreneur) are determined. Thus, the theory of product pricing and the theory of factor pricing are the branches of microeconomic theory.</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308" name="Shape 308"/>
        <p:cNvGrpSpPr/>
        <p:nvPr/>
      </p:nvGrpSpPr>
      <p:grpSpPr>
        <a:xfrm>
          <a:off x="0" y="0"/>
          <a:ext cx="0" cy="0"/>
          <a:chOff x="0" y="0"/>
          <a:chExt cx="0" cy="0"/>
        </a:xfrm>
      </p:grpSpPr>
      <p:sp>
        <p:nvSpPr>
          <p:cNvPr id="309" name="Google Shape;309;p21"/>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 name="Google Shape;310;p21"/>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21"/>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 name="Google Shape;312;p21"/>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21"/>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21"/>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Microeconomics and Economic Efficiency</a:t>
            </a:r>
            <a:endParaRPr b="1" sz="2000">
              <a:solidFill>
                <a:schemeClr val="dk1"/>
              </a:solidFill>
              <a:latin typeface="Times New Roman"/>
              <a:ea typeface="Times New Roman"/>
              <a:cs typeface="Times New Roman"/>
              <a:sym typeface="Times New Roman"/>
            </a:endParaRPr>
          </a:p>
        </p:txBody>
      </p:sp>
      <p:sp>
        <p:nvSpPr>
          <p:cNvPr id="315" name="Google Shape;315;p21"/>
          <p:cNvSpPr/>
          <p:nvPr/>
        </p:nvSpPr>
        <p:spPr>
          <a:xfrm>
            <a:off x="2371942" y="741219"/>
            <a:ext cx="9425316"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Besides analysing the </a:t>
            </a:r>
            <a:r>
              <a:rPr lang="en-US" sz="1800">
                <a:solidFill>
                  <a:schemeClr val="dk1"/>
                </a:solidFill>
                <a:latin typeface="Times New Roman"/>
                <a:ea typeface="Times New Roman"/>
                <a:cs typeface="Times New Roman"/>
                <a:sym typeface="Times New Roman"/>
              </a:rPr>
              <a:t>pricing</a:t>
            </a:r>
            <a:r>
              <a:rPr lang="en-US" sz="1800">
                <a:solidFill>
                  <a:schemeClr val="dk1"/>
                </a:solidFill>
                <a:latin typeface="Calibri"/>
                <a:ea typeface="Calibri"/>
                <a:cs typeface="Calibri"/>
                <a:sym typeface="Calibri"/>
              </a:rPr>
              <a:t> of products and factors and the allocation of resources based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upon the price </a:t>
            </a:r>
            <a:r>
              <a:rPr lang="en-US" sz="1800">
                <a:solidFill>
                  <a:schemeClr val="dk1"/>
                </a:solidFill>
                <a:latin typeface="Times New Roman"/>
                <a:ea typeface="Times New Roman"/>
                <a:cs typeface="Times New Roman"/>
                <a:sym typeface="Times New Roman"/>
              </a:rPr>
              <a:t>mechanism</a:t>
            </a:r>
            <a:r>
              <a:rPr lang="en-US" sz="1800">
                <a:solidFill>
                  <a:schemeClr val="dk1"/>
                </a:solidFill>
                <a:latin typeface="Calibri"/>
                <a:ea typeface="Calibri"/>
                <a:cs typeface="Calibri"/>
                <a:sym typeface="Calibri"/>
              </a:rPr>
              <a:t>, microeconomics also seeks to explain whether the allocation of resources determined is </a:t>
            </a:r>
            <a:r>
              <a:rPr i="1" lang="en-US" sz="1800">
                <a:solidFill>
                  <a:schemeClr val="dk1"/>
                </a:solidFill>
                <a:latin typeface="Calibri"/>
                <a:ea typeface="Calibri"/>
                <a:cs typeface="Calibri"/>
                <a:sym typeface="Calibri"/>
              </a:rPr>
              <a:t>efficient</a:t>
            </a:r>
            <a:r>
              <a:rPr lang="en-US" sz="1800">
                <a:solidFill>
                  <a:schemeClr val="dk1"/>
                </a:solidFill>
                <a:latin typeface="Calibri"/>
                <a:ea typeface="Calibri"/>
                <a:cs typeface="Calibri"/>
                <a:sym typeface="Calibri"/>
              </a:rPr>
              <a:t>. Efficiency in the allocation of resources is attained when the resources are so allocated that maximises the satisfaction of the people. Economic efficiency involves three efficiencies; </a:t>
            </a:r>
            <a:r>
              <a:rPr i="1" lang="en-US" sz="1800">
                <a:solidFill>
                  <a:schemeClr val="dk1"/>
                </a:solidFill>
                <a:latin typeface="Calibri"/>
                <a:ea typeface="Calibri"/>
                <a:cs typeface="Calibri"/>
                <a:sym typeface="Calibri"/>
              </a:rPr>
              <a:t>efficiency in production, efficiency in distribution </a:t>
            </a:r>
            <a:r>
              <a:rPr lang="en-US" sz="1800">
                <a:solidFill>
                  <a:schemeClr val="dk1"/>
                </a:solidFill>
                <a:latin typeface="Calibri"/>
                <a:ea typeface="Calibri"/>
                <a:cs typeface="Calibri"/>
                <a:sym typeface="Calibri"/>
              </a:rPr>
              <a:t>of goods among the people (This is also called </a:t>
            </a:r>
            <a:r>
              <a:rPr i="1" lang="en-US" sz="1800">
                <a:solidFill>
                  <a:schemeClr val="dk1"/>
                </a:solidFill>
                <a:latin typeface="Calibri"/>
                <a:ea typeface="Calibri"/>
                <a:cs typeface="Calibri"/>
                <a:sym typeface="Calibri"/>
              </a:rPr>
              <a:t>efficiency in consumption</a:t>
            </a:r>
            <a:r>
              <a:rPr lang="en-US" sz="1800">
                <a:solidFill>
                  <a:schemeClr val="dk1"/>
                </a:solidFill>
                <a:latin typeface="Calibri"/>
                <a:ea typeface="Calibri"/>
                <a:cs typeface="Calibri"/>
                <a:sym typeface="Calibri"/>
              </a:rPr>
              <a:t>) and </a:t>
            </a:r>
            <a:r>
              <a:rPr i="1" lang="en-US" sz="1800">
                <a:solidFill>
                  <a:schemeClr val="dk1"/>
                </a:solidFill>
                <a:latin typeface="Calibri"/>
                <a:ea typeface="Calibri"/>
                <a:cs typeface="Calibri"/>
                <a:sym typeface="Calibri"/>
              </a:rPr>
              <a:t>allocative economic efficiency</a:t>
            </a:r>
            <a:r>
              <a:rPr lang="en-US" sz="1800">
                <a:solidFill>
                  <a:schemeClr val="dk1"/>
                </a:solidFill>
                <a:latin typeface="Calibri"/>
                <a:ea typeface="Calibri"/>
                <a:cs typeface="Calibri"/>
                <a:sym typeface="Calibri"/>
              </a:rPr>
              <a:t>, that is, efficiency in the </a:t>
            </a:r>
            <a:r>
              <a:rPr i="1" lang="en-US" sz="1800">
                <a:solidFill>
                  <a:schemeClr val="dk1"/>
                </a:solidFill>
                <a:latin typeface="Calibri"/>
                <a:ea typeface="Calibri"/>
                <a:cs typeface="Calibri"/>
                <a:sym typeface="Calibri"/>
              </a:rPr>
              <a:t>direction of production</a:t>
            </a:r>
            <a:r>
              <a:rPr lang="en-US" sz="1800">
                <a:solidFill>
                  <a:schemeClr val="dk1"/>
                </a:solidFill>
                <a:latin typeface="Calibri"/>
                <a:ea typeface="Calibri"/>
                <a:cs typeface="Calibri"/>
                <a:sym typeface="Calibri"/>
              </a:rPr>
              <a:t>. Microeconomic theory shows under what conditions these efficiencies are achieved. Microeconomics also shows what factors cause departure from these efficiencies and result in the decline of satisfaction from the maximum possible level.</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319" name="Shape 319"/>
        <p:cNvGrpSpPr/>
        <p:nvPr/>
      </p:nvGrpSpPr>
      <p:grpSpPr>
        <a:xfrm>
          <a:off x="0" y="0"/>
          <a:ext cx="0" cy="0"/>
          <a:chOff x="0" y="0"/>
          <a:chExt cx="0" cy="0"/>
        </a:xfrm>
      </p:grpSpPr>
      <p:sp>
        <p:nvSpPr>
          <p:cNvPr id="320" name="Google Shape;320;p22"/>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22"/>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22"/>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22"/>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22"/>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22"/>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Importance and Uses of Microeconomics</a:t>
            </a:r>
            <a:endParaRPr b="1" sz="2000">
              <a:solidFill>
                <a:schemeClr val="dk1"/>
              </a:solidFill>
              <a:latin typeface="Times New Roman"/>
              <a:ea typeface="Times New Roman"/>
              <a:cs typeface="Times New Roman"/>
              <a:sym typeface="Times New Roman"/>
            </a:endParaRPr>
          </a:p>
        </p:txBody>
      </p:sp>
      <p:sp>
        <p:nvSpPr>
          <p:cNvPr id="326" name="Google Shape;326;p22"/>
          <p:cNvSpPr/>
          <p:nvPr/>
        </p:nvSpPr>
        <p:spPr>
          <a:xfrm>
            <a:off x="2371942" y="741219"/>
            <a:ext cx="9425316"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Microeconomics occupies a vital place in economics and it has both theoretical and practical</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importance. It is highly helpful in the formulation of economic policies that will promote the</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welfare of the masses. Till recently, especially before Keynesian Revolution, the body of economics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consisted mainly of microeconomics. In spite of the popularity of macroeconomics these days,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microeconomics retains its importance, theoretical as well as practical. It is </a:t>
            </a:r>
            <a:r>
              <a:rPr i="1" lang="en-US" sz="1800">
                <a:solidFill>
                  <a:schemeClr val="dk1"/>
                </a:solidFill>
                <a:latin typeface="Times New Roman"/>
                <a:ea typeface="Times New Roman"/>
                <a:cs typeface="Times New Roman"/>
                <a:sym typeface="Times New Roman"/>
              </a:rPr>
              <a:t>microeconomics that</a:t>
            </a:r>
            <a:endParaRPr/>
          </a:p>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tells us how a free-market economy with its millions of consumers and producers work to decide</a:t>
            </a:r>
            <a:endParaRPr/>
          </a:p>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about the allocation of productive resources among the thousands </a:t>
            </a:r>
            <a:r>
              <a:rPr lang="en-US" sz="1800">
                <a:solidFill>
                  <a:schemeClr val="dk1"/>
                </a:solidFill>
                <a:latin typeface="Times New Roman"/>
                <a:ea typeface="Times New Roman"/>
                <a:cs typeface="Times New Roman"/>
                <a:sym typeface="Times New Roman"/>
              </a:rPr>
              <a:t>of goods and services. As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Professor Watson says, “microeconomic theory explains the composition or allocation of total</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production, why more of some things are produced than of others.”7 He further remarks that</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microeconomic theory has many uses. The greatest of these is depth in understanding of how a free private enterprise economy operates.”8 Further, it tells us </a:t>
            </a:r>
            <a:r>
              <a:rPr i="1" lang="en-US" sz="1800">
                <a:solidFill>
                  <a:schemeClr val="dk1"/>
                </a:solidFill>
                <a:latin typeface="Times New Roman"/>
                <a:ea typeface="Times New Roman"/>
                <a:cs typeface="Times New Roman"/>
                <a:sym typeface="Times New Roman"/>
              </a:rPr>
              <a:t>how the goods and services produced are distributed among the various people for consumption through price or market mechanism</a:t>
            </a:r>
            <a:r>
              <a:rPr lang="en-US" sz="1800">
                <a:solidFill>
                  <a:schemeClr val="dk1"/>
                </a:solidFill>
                <a:latin typeface="Times New Roman"/>
                <a:ea typeface="Times New Roman"/>
                <a:cs typeface="Times New Roman"/>
                <a:sym typeface="Times New Roman"/>
              </a:rPr>
              <a:t>. </a:t>
            </a:r>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path path="circle">
            <a:fillToRect b="0%" l="100%" r="0%" t="100%"/>
          </a:path>
          <a:tileRect b="-100%" l="0%" r="-100%" t="0%"/>
        </a:gradFill>
      </p:bgPr>
    </p:bg>
    <p:spTree>
      <p:nvGrpSpPr>
        <p:cNvPr id="330" name="Shape 330"/>
        <p:cNvGrpSpPr/>
        <p:nvPr/>
      </p:nvGrpSpPr>
      <p:grpSpPr>
        <a:xfrm>
          <a:off x="0" y="0"/>
          <a:ext cx="0" cy="0"/>
          <a:chOff x="0" y="0"/>
          <a:chExt cx="0" cy="0"/>
        </a:xfrm>
      </p:grpSpPr>
      <p:sp>
        <p:nvSpPr>
          <p:cNvPr id="331" name="Google Shape;331;p23"/>
          <p:cNvSpPr/>
          <p:nvPr/>
        </p:nvSpPr>
        <p:spPr>
          <a:xfrm>
            <a:off x="978692" y="0"/>
            <a:ext cx="1114018" cy="6858000"/>
          </a:xfrm>
          <a:custGeom>
            <a:rect b="b" l="l" r="r" t="t"/>
            <a:pathLst>
              <a:path extrusionOk="0" h="6858000" w="2943225">
                <a:moveTo>
                  <a:pt x="0" y="0"/>
                </a:moveTo>
                <a:lnTo>
                  <a:pt x="2438400" y="0"/>
                </a:lnTo>
                <a:lnTo>
                  <a:pt x="2438400" y="423698"/>
                </a:lnTo>
                <a:lnTo>
                  <a:pt x="2943225" y="876300"/>
                </a:lnTo>
                <a:lnTo>
                  <a:pt x="2438400" y="1328902"/>
                </a:lnTo>
                <a:lnTo>
                  <a:pt x="2438400" y="6858000"/>
                </a:lnTo>
                <a:lnTo>
                  <a:pt x="0" y="6858000"/>
                </a:lnTo>
                <a:close/>
              </a:path>
            </a:pathLst>
          </a:custGeom>
          <a:solidFill>
            <a:srgbClr val="222A3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23"/>
          <p:cNvSpPr/>
          <p:nvPr/>
        </p:nvSpPr>
        <p:spPr>
          <a:xfrm>
            <a:off x="699460" y="0"/>
            <a:ext cx="1153655" cy="6858000"/>
          </a:xfrm>
          <a:custGeom>
            <a:rect b="b" l="l" r="r" t="t"/>
            <a:pathLst>
              <a:path extrusionOk="0" h="6858000" w="2981324">
                <a:moveTo>
                  <a:pt x="0" y="0"/>
                </a:moveTo>
                <a:lnTo>
                  <a:pt x="2438400" y="0"/>
                </a:lnTo>
                <a:lnTo>
                  <a:pt x="2438400" y="389541"/>
                </a:lnTo>
                <a:lnTo>
                  <a:pt x="2981324" y="876300"/>
                </a:lnTo>
                <a:lnTo>
                  <a:pt x="2438400" y="1363060"/>
                </a:lnTo>
                <a:lnTo>
                  <a:pt x="2438400" y="6858000"/>
                </a:lnTo>
                <a:lnTo>
                  <a:pt x="0" y="6858000"/>
                </a:lnTo>
                <a:close/>
              </a:path>
            </a:pathLst>
          </a:custGeom>
          <a:solidFill>
            <a:srgbClr val="2F5496"/>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p23"/>
          <p:cNvSpPr/>
          <p:nvPr/>
        </p:nvSpPr>
        <p:spPr>
          <a:xfrm>
            <a:off x="459865" y="0"/>
            <a:ext cx="1163318"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2E75B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p23"/>
          <p:cNvSpPr/>
          <p:nvPr/>
        </p:nvSpPr>
        <p:spPr>
          <a:xfrm>
            <a:off x="229933" y="0"/>
            <a:ext cx="1152664"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chemeClr val="accent5"/>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23"/>
          <p:cNvSpPr/>
          <p:nvPr/>
        </p:nvSpPr>
        <p:spPr>
          <a:xfrm>
            <a:off x="-10652" y="0"/>
            <a:ext cx="1153652" cy="6858000"/>
          </a:xfrm>
          <a:custGeom>
            <a:rect b="b" l="l" r="r" t="t"/>
            <a:pathLst>
              <a:path extrusionOk="0" h="6858000" w="2990850">
                <a:moveTo>
                  <a:pt x="0" y="0"/>
                </a:moveTo>
                <a:lnTo>
                  <a:pt x="2438400" y="0"/>
                </a:lnTo>
                <a:lnTo>
                  <a:pt x="2438400" y="381000"/>
                </a:lnTo>
                <a:lnTo>
                  <a:pt x="2990850" y="876300"/>
                </a:lnTo>
                <a:lnTo>
                  <a:pt x="2438400" y="1371600"/>
                </a:lnTo>
                <a:lnTo>
                  <a:pt x="2438400" y="6858000"/>
                </a:lnTo>
                <a:lnTo>
                  <a:pt x="0" y="6858000"/>
                </a:lnTo>
                <a:close/>
              </a:path>
            </a:pathLst>
          </a:custGeom>
          <a:solidFill>
            <a:srgbClr val="00B0F0"/>
          </a:solidFill>
          <a:ln>
            <a:noFill/>
          </a:ln>
          <a:effectLst>
            <a:outerShdw blurRad="1270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23"/>
          <p:cNvSpPr txBox="1"/>
          <p:nvPr/>
        </p:nvSpPr>
        <p:spPr>
          <a:xfrm>
            <a:off x="4507527" y="0"/>
            <a:ext cx="5627077" cy="498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Positive and Normative Economics</a:t>
            </a:r>
            <a:endParaRPr b="1" sz="2000">
              <a:solidFill>
                <a:schemeClr val="dk1"/>
              </a:solidFill>
              <a:latin typeface="Times New Roman"/>
              <a:ea typeface="Times New Roman"/>
              <a:cs typeface="Times New Roman"/>
              <a:sym typeface="Times New Roman"/>
            </a:endParaRPr>
          </a:p>
        </p:txBody>
      </p:sp>
      <p:sp>
        <p:nvSpPr>
          <p:cNvPr id="337" name="Google Shape;337;p23"/>
          <p:cNvSpPr/>
          <p:nvPr/>
        </p:nvSpPr>
        <p:spPr>
          <a:xfrm>
            <a:off x="2371942" y="889844"/>
            <a:ext cx="9515258"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It is important to know the difference between positive economics and normative economics. Positive economics is concerned with explaining ‘</a:t>
            </a:r>
            <a:r>
              <a:rPr i="1" lang="en-US" sz="1800">
                <a:solidFill>
                  <a:schemeClr val="dk1"/>
                </a:solidFill>
                <a:latin typeface="Times New Roman"/>
                <a:ea typeface="Times New Roman"/>
                <a:cs typeface="Times New Roman"/>
                <a:sym typeface="Times New Roman"/>
              </a:rPr>
              <a:t>what it is,</a:t>
            </a:r>
            <a:r>
              <a:rPr lang="en-US" sz="1800">
                <a:solidFill>
                  <a:schemeClr val="dk1"/>
                </a:solidFill>
                <a:latin typeface="Times New Roman"/>
                <a:ea typeface="Times New Roman"/>
                <a:cs typeface="Times New Roman"/>
                <a:sym typeface="Times New Roman"/>
              </a:rPr>
              <a:t>’ that is, it describes theories and laws to explain observed economic phenomena, whereas normative economics is concerned with ‘</a:t>
            </a:r>
            <a:r>
              <a:rPr i="1" lang="en-US" sz="1800">
                <a:solidFill>
                  <a:schemeClr val="dk1"/>
                </a:solidFill>
                <a:latin typeface="Times New Roman"/>
                <a:ea typeface="Times New Roman"/>
                <a:cs typeface="Times New Roman"/>
                <a:sym typeface="Times New Roman"/>
              </a:rPr>
              <a:t>what should be’ </a:t>
            </a:r>
            <a:r>
              <a:rPr lang="en-US" sz="1800">
                <a:solidFill>
                  <a:schemeClr val="dk1"/>
                </a:solidFill>
                <a:latin typeface="Times New Roman"/>
                <a:ea typeface="Times New Roman"/>
                <a:cs typeface="Times New Roman"/>
                <a:sym typeface="Times New Roman"/>
              </a:rPr>
              <a:t>or ‘</a:t>
            </a:r>
            <a:r>
              <a:rPr i="1" lang="en-US" sz="1800">
                <a:solidFill>
                  <a:schemeClr val="dk1"/>
                </a:solidFill>
                <a:latin typeface="Times New Roman"/>
                <a:ea typeface="Times New Roman"/>
                <a:cs typeface="Times New Roman"/>
                <a:sym typeface="Times New Roman"/>
              </a:rPr>
              <a:t>what ought to be</a:t>
            </a:r>
            <a:r>
              <a:rPr lang="en-US" sz="1800">
                <a:solidFill>
                  <a:schemeClr val="dk1"/>
                </a:solidFill>
                <a:latin typeface="Times New Roman"/>
                <a:ea typeface="Times New Roman"/>
                <a:cs typeface="Times New Roman"/>
                <a:sym typeface="Times New Roman"/>
              </a:rPr>
              <a:t>’ the things. J.N. Keynes drew the distinction between the two types of economics in the following manner: “A positive science may be defined as a body of systematized knowledge concerning what it is; normative science or a regulative science as a body of systematized knowledge relating to criteria of what ought to be, and concerned with the ideal as distinguished from the actual.... The objective of a positive science is the establishment of uniformities (</a:t>
            </a:r>
            <a:r>
              <a:rPr i="1" lang="en-US" sz="1800">
                <a:solidFill>
                  <a:schemeClr val="dk1"/>
                </a:solidFill>
                <a:latin typeface="Times New Roman"/>
                <a:ea typeface="Times New Roman"/>
                <a:cs typeface="Times New Roman"/>
                <a:sym typeface="Times New Roman"/>
              </a:rPr>
              <a:t>that is, scientific laws</a:t>
            </a:r>
            <a:r>
              <a:rPr lang="en-US" sz="1800">
                <a:solidFill>
                  <a:schemeClr val="dk1"/>
                </a:solidFill>
                <a:latin typeface="Times New Roman"/>
                <a:ea typeface="Times New Roman"/>
                <a:cs typeface="Times New Roman"/>
                <a:sym typeface="Times New Roman"/>
              </a:rPr>
              <a:t>); of a normative science, the determination of the ideals.</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2024-01-22T10:30:11Z</dcterms:created>
  <dc:creator>Abdullah Al Noman_7</dc:creator>
</cp:coreProperties>
</file>