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58" r:id="rId2"/>
    <p:sldId id="373" r:id="rId3"/>
    <p:sldId id="374" r:id="rId4"/>
    <p:sldId id="388" r:id="rId5"/>
    <p:sldId id="375" r:id="rId6"/>
    <p:sldId id="389" r:id="rId7"/>
    <p:sldId id="378" r:id="rId8"/>
    <p:sldId id="379" r:id="rId9"/>
    <p:sldId id="390" r:id="rId10"/>
    <p:sldId id="391" r:id="rId11"/>
    <p:sldId id="392" r:id="rId12"/>
    <p:sldId id="393" r:id="rId13"/>
    <p:sldId id="394" r:id="rId14"/>
    <p:sldId id="395" r:id="rId15"/>
    <p:sldId id="396" r:id="rId16"/>
    <p:sldId id="397" r:id="rId17"/>
    <p:sldId id="399" r:id="rId18"/>
    <p:sldId id="400" r:id="rId19"/>
    <p:sldId id="401" r:id="rId20"/>
    <p:sldId id="402" r:id="rId21"/>
    <p:sldId id="403" r:id="rId22"/>
    <p:sldId id="404" r:id="rId23"/>
    <p:sldId id="405" r:id="rId24"/>
    <p:sldId id="406" r:id="rId25"/>
    <p:sldId id="407" r:id="rId26"/>
    <p:sldId id="408" r:id="rId27"/>
    <p:sldId id="409" r:id="rId28"/>
    <p:sldId id="410" r:id="rId29"/>
    <p:sldId id="411" r:id="rId30"/>
    <p:sldId id="41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BC0"/>
    <a:srgbClr val="000E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85981" autoAdjust="0"/>
  </p:normalViewPr>
  <p:slideViewPr>
    <p:cSldViewPr snapToGrid="0">
      <p:cViewPr varScale="1">
        <p:scale>
          <a:sx n="60" d="100"/>
          <a:sy n="60" d="100"/>
        </p:scale>
        <p:origin x="-16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2ECBE7-FA8A-443B-8FB6-112B8D7E700E}"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7903D-4117-4BA6-9606-85A9C5BF14B5}" type="slidenum">
              <a:rPr lang="en-US" smtClean="0"/>
              <a:t>‹#›</a:t>
            </a:fld>
            <a:endParaRPr lang="en-US"/>
          </a:p>
        </p:txBody>
      </p:sp>
    </p:spTree>
    <p:extLst>
      <p:ext uri="{BB962C8B-B14F-4D97-AF65-F5344CB8AC3E}">
        <p14:creationId xmlns:p14="http://schemas.microsoft.com/office/powerpoint/2010/main" val="1465334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D7903D-4117-4BA6-9606-85A9C5BF14B5}" type="slidenum">
              <a:rPr lang="en-US" smtClean="0"/>
              <a:t>1</a:t>
            </a:fld>
            <a:endParaRPr lang="en-US"/>
          </a:p>
        </p:txBody>
      </p:sp>
    </p:spTree>
    <p:extLst>
      <p:ext uri="{BB962C8B-B14F-4D97-AF65-F5344CB8AC3E}">
        <p14:creationId xmlns:p14="http://schemas.microsoft.com/office/powerpoint/2010/main" val="2752540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E62AFC-A454-1E6E-B557-81FE54E171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DF0809E-6851-E754-BBF8-9B50A9D88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1C19E79C-4760-DDC9-67C7-3652EB5D0594}"/>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5" name="Footer Placeholder 4">
            <a:extLst>
              <a:ext uri="{FF2B5EF4-FFF2-40B4-BE49-F238E27FC236}">
                <a16:creationId xmlns:a16="http://schemas.microsoft.com/office/drawing/2014/main" xmlns="" id="{A8CD04EF-96B3-42D2-AC1C-F2BDA18568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D283F57-8A74-6D10-0A83-3E3CB54E06E9}"/>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345302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362991-FF95-5E54-0087-D84054539C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3FD83C91-862A-4C14-7D8D-FFFC31C1EF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4679A46-2309-E748-5093-CB8C8A7DEECC}"/>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5" name="Footer Placeholder 4">
            <a:extLst>
              <a:ext uri="{FF2B5EF4-FFF2-40B4-BE49-F238E27FC236}">
                <a16:creationId xmlns:a16="http://schemas.microsoft.com/office/drawing/2014/main" xmlns="" id="{76D7DB34-990F-A147-93D7-B5BA50137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B347A9E-74A5-690E-5D2E-63C70C741AAC}"/>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382988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48325B-C40C-86C1-0335-75E2FC02F9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2A317987-3FED-081F-19E2-16A93D5405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A7923F8-E04A-4548-F455-F1D8F895AE96}"/>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5" name="Footer Placeholder 4">
            <a:extLst>
              <a:ext uri="{FF2B5EF4-FFF2-40B4-BE49-F238E27FC236}">
                <a16:creationId xmlns:a16="http://schemas.microsoft.com/office/drawing/2014/main" xmlns="" id="{E7179381-0540-94A9-4587-926D463B3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F402C0D-F9FE-E902-D556-278121C01805}"/>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3088281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B1207-642E-67A2-FB05-BB3DF3A447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C69E163-1485-71EB-3E0A-E3DB111559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16920448-D31C-2EA4-68AB-258D7F58FD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7811F7CA-B74D-5439-E8F0-A68384CDE9FB}"/>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6" name="Footer Placeholder 5">
            <a:extLst>
              <a:ext uri="{FF2B5EF4-FFF2-40B4-BE49-F238E27FC236}">
                <a16:creationId xmlns:a16="http://schemas.microsoft.com/office/drawing/2014/main" xmlns="" id="{93CA39F5-13CA-BE24-D3F9-16E3DF143F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A5E9FAB-79C9-9E8C-8D46-387C84CB12AA}"/>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2375053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ABF9E0-6E81-FCD2-8336-830E28F7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90118B66-3E3B-E4A6-7A53-4A3E913F5E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4CEC2F4-BE5D-05EB-4331-A3CDD9EEBC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261DDE8F-F9CA-A842-9DED-CF5524AFA5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3087B4D-E8D3-45D6-354A-5C75258E33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06B894B1-EA65-1E3C-E366-358166E61DBD}"/>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8" name="Footer Placeholder 7">
            <a:extLst>
              <a:ext uri="{FF2B5EF4-FFF2-40B4-BE49-F238E27FC236}">
                <a16:creationId xmlns:a16="http://schemas.microsoft.com/office/drawing/2014/main" xmlns="" id="{F28E680C-7D61-DC8E-C85E-09CD6705F4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AFD3E38D-88E1-8DF4-3FDA-B6130E85D13A}"/>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2356527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1E554C-8C9E-5F9D-A620-C3E8F93F1A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E910644-E483-8C2C-A1D6-DD200FF09AF3}"/>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4" name="Footer Placeholder 3">
            <a:extLst>
              <a:ext uri="{FF2B5EF4-FFF2-40B4-BE49-F238E27FC236}">
                <a16:creationId xmlns:a16="http://schemas.microsoft.com/office/drawing/2014/main" xmlns="" id="{EBFFF4E8-701F-2BCB-9483-2DAE3795DE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4AC5760-8590-DE8E-7E7C-54666DA7F082}"/>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4183423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50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6B53B6-0A5F-9AEA-A8F3-1FB5CF007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B071A06-6089-1B3B-137F-FFEF519AC1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5C151029-AC67-98EF-3DE5-F82073D2B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27AFBD3-68F4-207C-CB3C-C971D0A96BE8}"/>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6" name="Footer Placeholder 5">
            <a:extLst>
              <a:ext uri="{FF2B5EF4-FFF2-40B4-BE49-F238E27FC236}">
                <a16:creationId xmlns:a16="http://schemas.microsoft.com/office/drawing/2014/main" xmlns="" id="{52307E4F-1FB9-9F34-38AB-DF3305319F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E52D09F-B7FC-A315-8A73-2E99ACD3471B}"/>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274835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44D616-0549-78F1-9330-84E1998360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CA04DBBD-62AD-174E-EEE3-355EF3D1EA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F969368E-5B84-D587-EB2B-01C8306C4C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1194358-D97B-7E98-28A2-42F3C741CB4A}"/>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6" name="Footer Placeholder 5">
            <a:extLst>
              <a:ext uri="{FF2B5EF4-FFF2-40B4-BE49-F238E27FC236}">
                <a16:creationId xmlns:a16="http://schemas.microsoft.com/office/drawing/2014/main" xmlns="" id="{F9801B6F-B483-39A3-D3BF-DF64B697C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89438C3-CDC6-10B2-4BBF-633A2B0CD1F3}"/>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3081217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8225B2-DFCC-BD8E-D3CD-ABF57918D8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0C9E237-253A-9BDE-425C-70793B201A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BA16E8E-C176-CA47-36D3-D3001111E8E2}"/>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5" name="Footer Placeholder 4">
            <a:extLst>
              <a:ext uri="{FF2B5EF4-FFF2-40B4-BE49-F238E27FC236}">
                <a16:creationId xmlns:a16="http://schemas.microsoft.com/office/drawing/2014/main" xmlns="" id="{0B2EBA35-07F1-616A-D129-1BD5DCE7B3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FAFF7FE-FF34-6947-BCE1-12833767A066}"/>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1896784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ED7E1AF-CF18-B80A-10A6-A0DE96E4ED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196C89C0-690A-5315-B5A4-D7C40A9A97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2C517D0-D8A5-7C85-C069-8CA2E6A77F4E}"/>
              </a:ext>
            </a:extLst>
          </p:cNvPr>
          <p:cNvSpPr>
            <a:spLocks noGrp="1"/>
          </p:cNvSpPr>
          <p:nvPr>
            <p:ph type="dt" sz="half" idx="10"/>
          </p:nvPr>
        </p:nvSpPr>
        <p:spPr/>
        <p:txBody>
          <a:bodyPr/>
          <a:lstStyle/>
          <a:p>
            <a:fld id="{262FC53B-44BC-4893-8BF5-516ED00E0381}" type="datetimeFigureOut">
              <a:rPr lang="en-US" smtClean="0"/>
              <a:t>12/11/2025</a:t>
            </a:fld>
            <a:endParaRPr lang="en-US"/>
          </a:p>
        </p:txBody>
      </p:sp>
      <p:sp>
        <p:nvSpPr>
          <p:cNvPr id="5" name="Footer Placeholder 4">
            <a:extLst>
              <a:ext uri="{FF2B5EF4-FFF2-40B4-BE49-F238E27FC236}">
                <a16:creationId xmlns:a16="http://schemas.microsoft.com/office/drawing/2014/main" xmlns="" id="{2263AC35-5EBF-9A03-BC06-1E2405BB85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8CBC72A-5973-A66F-FA32-297B2ACA6E49}"/>
              </a:ext>
            </a:extLst>
          </p:cNvPr>
          <p:cNvSpPr>
            <a:spLocks noGrp="1"/>
          </p:cNvSpPr>
          <p:nvPr>
            <p:ph type="sldNum" sz="quarter" idx="12"/>
          </p:nvPr>
        </p:nvSpPr>
        <p:spPr/>
        <p:txBody>
          <a:bodyPr/>
          <a:lstStyle/>
          <a:p>
            <a:fld id="{4C8E84E0-BF9C-412B-AA77-F5DAE246EEB4}" type="slidenum">
              <a:rPr lang="en-US" smtClean="0"/>
              <a:t>‹#›</a:t>
            </a:fld>
            <a:endParaRPr lang="en-US"/>
          </a:p>
        </p:txBody>
      </p:sp>
    </p:spTree>
    <p:extLst>
      <p:ext uri="{BB962C8B-B14F-4D97-AF65-F5344CB8AC3E}">
        <p14:creationId xmlns:p14="http://schemas.microsoft.com/office/powerpoint/2010/main" val="1626929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DDAAA77-6ACC-8C78-6DEC-C43752EAF9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B02A706D-95DA-E4E8-1C62-11A1DA4887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DFA0DAF-A72D-5F3B-05BB-52B9A3FA35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2FC53B-44BC-4893-8BF5-516ED00E0381}" type="datetimeFigureOut">
              <a:rPr lang="en-US" smtClean="0"/>
              <a:t>12/11/2025</a:t>
            </a:fld>
            <a:endParaRPr lang="en-US"/>
          </a:p>
        </p:txBody>
      </p:sp>
      <p:sp>
        <p:nvSpPr>
          <p:cNvPr id="5" name="Footer Placeholder 4">
            <a:extLst>
              <a:ext uri="{FF2B5EF4-FFF2-40B4-BE49-F238E27FC236}">
                <a16:creationId xmlns:a16="http://schemas.microsoft.com/office/drawing/2014/main" xmlns="" id="{AD2DAFBE-CA9B-E5A5-A67E-218DCFF9F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144E0D63-E4C4-A763-5CC8-E5513F6A36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8E84E0-BF9C-412B-AA77-F5DAE246EEB4}" type="slidenum">
              <a:rPr lang="en-US" smtClean="0"/>
              <a:t>‹#›</a:t>
            </a:fld>
            <a:endParaRPr lang="en-US"/>
          </a:p>
        </p:txBody>
      </p:sp>
    </p:spTree>
    <p:extLst>
      <p:ext uri="{BB962C8B-B14F-4D97-AF65-F5344CB8AC3E}">
        <p14:creationId xmlns:p14="http://schemas.microsoft.com/office/powerpoint/2010/main" val="1076384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C8E5BAF6-022C-4042-A290-104B607E9D9A}"/>
              </a:ext>
            </a:extLst>
          </p:cNvPr>
          <p:cNvSpPr/>
          <p:nvPr/>
        </p:nvSpPr>
        <p:spPr>
          <a:xfrm>
            <a:off x="0" y="-135131"/>
            <a:ext cx="12192000" cy="3309257"/>
          </a:xfrm>
          <a:prstGeom prst="rect">
            <a:avLst/>
          </a:prstGeom>
          <a:solidFill>
            <a:srgbClr val="2B3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xmlns="" id="{9DA6ADC0-5AEF-48DE-BCD7-38440A3AB17A}"/>
              </a:ext>
            </a:extLst>
          </p:cNvPr>
          <p:cNvGrpSpPr/>
          <p:nvPr/>
        </p:nvGrpSpPr>
        <p:grpSpPr>
          <a:xfrm>
            <a:off x="441583" y="1148704"/>
            <a:ext cx="10710267" cy="5070341"/>
            <a:chOff x="570541" y="900896"/>
            <a:chExt cx="10710267" cy="5070341"/>
          </a:xfrm>
        </p:grpSpPr>
        <p:sp>
          <p:nvSpPr>
            <p:cNvPr id="7" name="Rectangle 6">
              <a:extLst>
                <a:ext uri="{FF2B5EF4-FFF2-40B4-BE49-F238E27FC236}">
                  <a16:creationId xmlns:a16="http://schemas.microsoft.com/office/drawing/2014/main" xmlns="" id="{C4D21510-856A-453D-A45B-B52D73E1997A}"/>
                </a:ext>
              </a:extLst>
            </p:cNvPr>
            <p:cNvSpPr/>
            <p:nvPr/>
          </p:nvSpPr>
          <p:spPr>
            <a:xfrm>
              <a:off x="911192" y="900896"/>
              <a:ext cx="10369616" cy="5070341"/>
            </a:xfrm>
            <a:prstGeom prst="rect">
              <a:avLst/>
            </a:prstGeom>
            <a:solidFill>
              <a:schemeClr val="bg1"/>
            </a:solidFill>
            <a:ln>
              <a:no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xmlns="" id="{8B75C76A-3962-4E5C-940B-E91BD2DECE38}"/>
                </a:ext>
              </a:extLst>
            </p:cNvPr>
            <p:cNvGrpSpPr/>
            <p:nvPr/>
          </p:nvGrpSpPr>
          <p:grpSpPr>
            <a:xfrm>
              <a:off x="570541" y="1488376"/>
              <a:ext cx="5011516" cy="4289748"/>
              <a:chOff x="570541" y="1340974"/>
              <a:chExt cx="5011516" cy="4289748"/>
            </a:xfrm>
          </p:grpSpPr>
          <p:sp>
            <p:nvSpPr>
              <p:cNvPr id="8" name="Oval 7">
                <a:extLst>
                  <a:ext uri="{FF2B5EF4-FFF2-40B4-BE49-F238E27FC236}">
                    <a16:creationId xmlns:a16="http://schemas.microsoft.com/office/drawing/2014/main" xmlns="" id="{A41B6142-13CE-454E-9354-719DE0A2CC41}"/>
                  </a:ext>
                </a:extLst>
              </p:cNvPr>
              <p:cNvSpPr/>
              <p:nvPr/>
            </p:nvSpPr>
            <p:spPr>
              <a:xfrm>
                <a:off x="1802131" y="1340974"/>
                <a:ext cx="2297221" cy="2362131"/>
              </a:xfrm>
              <a:prstGeom prst="ellipse">
                <a:avLst/>
              </a:prstGeom>
              <a:gradFill>
                <a:gsLst>
                  <a:gs pos="0">
                    <a:srgbClr val="FF1872"/>
                  </a:gs>
                  <a:gs pos="100000">
                    <a:srgbClr val="7C3F9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482" b="0" i="0" u="none" strike="noStrike" kern="1200" cap="none" spc="0" normalizeH="0" baseline="0" noProof="0" dirty="0">
                  <a:ln>
                    <a:noFill/>
                  </a:ln>
                  <a:solidFill>
                    <a:prstClr val="white"/>
                  </a:solidFill>
                  <a:effectLst/>
                  <a:uLnTx/>
                  <a:uFillTx/>
                  <a:latin typeface="Lato" panose="020F0502020204030203" pitchFamily="34" charset="0"/>
                  <a:ea typeface="+mn-ea"/>
                  <a:cs typeface="+mn-cs"/>
                </a:endParaRPr>
              </a:p>
            </p:txBody>
          </p:sp>
          <p:cxnSp>
            <p:nvCxnSpPr>
              <p:cNvPr id="9" name="Straight Connector 8">
                <a:extLst>
                  <a:ext uri="{FF2B5EF4-FFF2-40B4-BE49-F238E27FC236}">
                    <a16:creationId xmlns:a16="http://schemas.microsoft.com/office/drawing/2014/main" xmlns="" id="{58BB732A-F5C0-48FC-A4EB-C93C772F75D7}"/>
                  </a:ext>
                </a:extLst>
              </p:cNvPr>
              <p:cNvCxnSpPr>
                <a:cxnSpLocks/>
              </p:cNvCxnSpPr>
              <p:nvPr/>
            </p:nvCxnSpPr>
            <p:spPr>
              <a:xfrm>
                <a:off x="2338966" y="5630722"/>
                <a:ext cx="1014783"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90065AE4-5895-4FE2-AE7A-8806653D38A6}"/>
                  </a:ext>
                </a:extLst>
              </p:cNvPr>
              <p:cNvSpPr txBox="1"/>
              <p:nvPr/>
            </p:nvSpPr>
            <p:spPr>
              <a:xfrm>
                <a:off x="570541" y="4647856"/>
                <a:ext cx="5011516"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400" b="1" dirty="0">
                    <a:solidFill>
                      <a:srgbClr val="2B3890"/>
                    </a:solidFill>
                    <a:latin typeface="Times New Roman" panose="02020603050405020304" pitchFamily="18" charset="0"/>
                    <a:cs typeface="Times New Roman" panose="02020603050405020304" pitchFamily="18" charset="0"/>
                  </a:rPr>
                  <a:t>     MD A</a:t>
                </a:r>
                <a:r>
                  <a:rPr kumimoji="0" lang="en-GB" sz="2400" b="1" i="0" u="none" strike="noStrike" kern="1200" cap="none" spc="0" normalizeH="0" baseline="0" noProof="0" dirty="0" err="1">
                    <a:ln>
                      <a:noFill/>
                    </a:ln>
                    <a:solidFill>
                      <a:srgbClr val="2B3890"/>
                    </a:solidFill>
                    <a:effectLst/>
                    <a:uLnTx/>
                    <a:uFillTx/>
                    <a:latin typeface="Times New Roman" panose="02020603050405020304" pitchFamily="18" charset="0"/>
                    <a:cs typeface="Times New Roman" panose="02020603050405020304" pitchFamily="18" charset="0"/>
                  </a:rPr>
                  <a:t>bdullah</a:t>
                </a:r>
                <a:r>
                  <a:rPr lang="en-GB" sz="2400" b="1" dirty="0">
                    <a:solidFill>
                      <a:srgbClr val="2B3890"/>
                    </a:solidFill>
                    <a:latin typeface="Times New Roman" panose="02020603050405020304" pitchFamily="18" charset="0"/>
                    <a:cs typeface="Times New Roman" panose="02020603050405020304" pitchFamily="18" charset="0"/>
                  </a:rPr>
                  <a:t> Al Noman</a:t>
                </a:r>
                <a:endParaRPr kumimoji="0" lang="en-GB" sz="2400" b="1" i="0" u="none" strike="noStrike" kern="1200" cap="none" spc="0" normalizeH="0" baseline="0" noProof="0" dirty="0">
                  <a:ln>
                    <a:noFill/>
                  </a:ln>
                  <a:solidFill>
                    <a:srgbClr val="2B389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200" dirty="0">
                  <a:solidFill>
                    <a:prstClr val="black"/>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solidFill>
                      <a:prstClr val="black"/>
                    </a:solidFill>
                    <a:latin typeface="Times New Roman" panose="02020603050405020304" pitchFamily="18" charset="0"/>
                    <a:cs typeface="Times New Roman" panose="02020603050405020304" pitchFamily="18" charset="0"/>
                  </a:rPr>
                  <a:t>Lecturer , DBA,  BAIUST</a:t>
                </a:r>
              </a:p>
            </p:txBody>
          </p:sp>
        </p:grpSp>
      </p:grpSp>
      <p:sp>
        <p:nvSpPr>
          <p:cNvPr id="12" name="제목 6">
            <a:extLst>
              <a:ext uri="{FF2B5EF4-FFF2-40B4-BE49-F238E27FC236}">
                <a16:creationId xmlns:a16="http://schemas.microsoft.com/office/drawing/2014/main" xmlns="" id="{49E618D1-404C-48FE-9D88-1C4D5C37FAD3}"/>
              </a:ext>
            </a:extLst>
          </p:cNvPr>
          <p:cNvSpPr txBox="1">
            <a:spLocks/>
          </p:cNvSpPr>
          <p:nvPr/>
        </p:nvSpPr>
        <p:spPr>
          <a:xfrm>
            <a:off x="4591769" y="259413"/>
            <a:ext cx="2736304" cy="79208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ko-KR" sz="3600" b="1" dirty="0">
                <a:solidFill>
                  <a:schemeClr val="bg1"/>
                </a:solidFill>
                <a:latin typeface="Times New Roman" panose="02020603050405020304" pitchFamily="18" charset="0"/>
                <a:cs typeface="Times New Roman" panose="02020603050405020304" pitchFamily="18" charset="0"/>
              </a:rPr>
              <a:t>WELCOME</a:t>
            </a:r>
            <a:endParaRPr lang="ko-KR" altLang="en-US" sz="3600" b="1"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9466536E-DD5C-46C0-9AD6-D2DB362F384E}"/>
              </a:ext>
            </a:extLst>
          </p:cNvPr>
          <p:cNvSpPr txBox="1"/>
          <p:nvPr/>
        </p:nvSpPr>
        <p:spPr>
          <a:xfrm>
            <a:off x="4048723" y="2009308"/>
            <a:ext cx="7024798" cy="1785104"/>
          </a:xfrm>
          <a:prstGeom prst="rect">
            <a:avLst/>
          </a:prstGeom>
          <a:noFill/>
        </p:spPr>
        <p:txBody>
          <a:bodyPr wrap="square">
            <a:spAutoFit/>
          </a:bodyPr>
          <a:lstStyle/>
          <a:p>
            <a:pPr lvl="0" algn="ctr"/>
            <a:r>
              <a:rPr lang="en-US" b="1" dirty="0">
                <a:solidFill>
                  <a:schemeClr val="accent1">
                    <a:lumMod val="75000"/>
                  </a:schemeClr>
                </a:solidFill>
                <a:latin typeface="Times New Roman" panose="02020603050405020304" pitchFamily="18" charset="0"/>
                <a:cs typeface="Times New Roman" panose="02020603050405020304" pitchFamily="18" charset="0"/>
              </a:rPr>
              <a:t>Welcome to the </a:t>
            </a:r>
            <a:r>
              <a:rPr lang="en-US" b="1" baseline="0" dirty="0">
                <a:solidFill>
                  <a:schemeClr val="accent1">
                    <a:lumMod val="75000"/>
                  </a:schemeClr>
                </a:solidFill>
                <a:latin typeface="Times New Roman" panose="02020603050405020304" pitchFamily="18" charset="0"/>
                <a:cs typeface="Times New Roman" panose="02020603050405020304" pitchFamily="18" charset="0"/>
              </a:rPr>
              <a:t>Presentation</a:t>
            </a:r>
            <a:r>
              <a:rPr lang="en-US" baseline="0" dirty="0">
                <a:solidFill>
                  <a:schemeClr val="accent1">
                    <a:lumMod val="75000"/>
                  </a:schemeClr>
                </a:solidFill>
                <a:latin typeface="Times New Roman" panose="02020603050405020304" pitchFamily="18" charset="0"/>
                <a:cs typeface="Times New Roman" panose="02020603050405020304" pitchFamily="18" charset="0"/>
              </a:rPr>
              <a:t/>
            </a:r>
            <a:br>
              <a:rPr lang="en-US" baseline="0" dirty="0">
                <a:solidFill>
                  <a:schemeClr val="accent1">
                    <a:lumMod val="75000"/>
                  </a:schemeClr>
                </a:solidFill>
                <a:latin typeface="Times New Roman" panose="02020603050405020304" pitchFamily="18" charset="0"/>
                <a:cs typeface="Times New Roman" panose="02020603050405020304" pitchFamily="18" charset="0"/>
              </a:rPr>
            </a:br>
            <a:endParaRPr lang="en-US" baseline="0" dirty="0">
              <a:solidFill>
                <a:schemeClr val="accent1">
                  <a:lumMod val="75000"/>
                </a:schemeClr>
              </a:solidFill>
              <a:latin typeface="Times New Roman" panose="02020603050405020304" pitchFamily="18" charset="0"/>
              <a:cs typeface="Times New Roman" panose="02020603050405020304" pitchFamily="18" charset="0"/>
            </a:endParaRPr>
          </a:p>
          <a:p>
            <a:pPr algn="ctr"/>
            <a:r>
              <a:rPr lang="en-US" sz="1800" b="1" dirty="0">
                <a:effectLst/>
                <a:latin typeface="Times New Roman" panose="02020603050405020304" pitchFamily="18" charset="0"/>
                <a:ea typeface="Times New Roman" panose="02020603050405020304" pitchFamily="18" charset="0"/>
              </a:rPr>
              <a:t>Macroeconomics</a:t>
            </a:r>
          </a:p>
          <a:p>
            <a:pPr algn="ctr"/>
            <a:r>
              <a:rPr lang="en-US" sz="1800" b="1" dirty="0">
                <a:effectLst/>
                <a:latin typeface="Times New Roman" panose="02020603050405020304" pitchFamily="18" charset="0"/>
                <a:ea typeface="Times New Roman" panose="02020603050405020304" pitchFamily="18" charset="0"/>
              </a:rPr>
              <a:t>Course Code: BUS 3509</a:t>
            </a:r>
            <a:endParaRPr lang="en-US" sz="1800" dirty="0">
              <a:effectLst/>
              <a:latin typeface="Times New Roman" panose="02020603050405020304" pitchFamily="18" charset="0"/>
              <a:ea typeface="Times New Roman" panose="02020603050405020304" pitchFamily="18" charset="0"/>
            </a:endParaRPr>
          </a:p>
          <a:p>
            <a:pPr lvl="0" algn="ctr"/>
            <a:r>
              <a:rPr lang="en-US" baseline="0" dirty="0">
                <a:solidFill>
                  <a:schemeClr val="accent1">
                    <a:lumMod val="75000"/>
                  </a:schemeClr>
                </a:solidFill>
                <a:latin typeface="Times New Roman" panose="02020603050405020304" pitchFamily="18" charset="0"/>
                <a:cs typeface="Times New Roman" panose="02020603050405020304" pitchFamily="18" charset="0"/>
              </a:rPr>
              <a:t/>
            </a:r>
            <a:br>
              <a:rPr lang="en-US" baseline="0" dirty="0">
                <a:solidFill>
                  <a:schemeClr val="accent1">
                    <a:lumMod val="75000"/>
                  </a:schemeClr>
                </a:solidFill>
                <a:latin typeface="Times New Roman" panose="02020603050405020304" pitchFamily="18" charset="0"/>
                <a:cs typeface="Times New Roman" panose="02020603050405020304" pitchFamily="18" charset="0"/>
              </a:rPr>
            </a:br>
            <a:endParaRPr 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16047EEA-182F-4E6A-8D43-0E824F93635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rot="5400000">
            <a:off x="1967390" y="2048570"/>
            <a:ext cx="1737360" cy="1737360"/>
          </a:xfrm>
          <a:prstGeom prst="ellipse">
            <a:avLst/>
          </a:prstGeom>
          <a:noFill/>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6" name="직사각형 8">
            <a:extLst>
              <a:ext uri="{FF2B5EF4-FFF2-40B4-BE49-F238E27FC236}">
                <a16:creationId xmlns:a16="http://schemas.microsoft.com/office/drawing/2014/main" xmlns="" id="{9DB1CB28-D855-47C1-9DDA-F8DE93B8774C}"/>
              </a:ext>
            </a:extLst>
          </p:cNvPr>
          <p:cNvSpPr/>
          <p:nvPr/>
        </p:nvSpPr>
        <p:spPr>
          <a:xfrm>
            <a:off x="4727957" y="5600810"/>
            <a:ext cx="6423893" cy="3385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algn="r" fontAlgn="base">
              <a:spcBef>
                <a:spcPct val="0"/>
              </a:spcBef>
              <a:spcAft>
                <a:spcPct val="0"/>
              </a:spcAft>
            </a:pPr>
            <a:r>
              <a:rPr kumimoji="1" lang="en-US" altLang="ko-KR" sz="1600" b="1" dirty="0">
                <a:solidFill>
                  <a:schemeClr val="accent1">
                    <a:lumMod val="75000"/>
                  </a:schemeClr>
                </a:solidFill>
                <a:latin typeface="Times New Roman" panose="02020603050405020304" pitchFamily="18" charset="0"/>
                <a:ea typeface="맑은 고딕" pitchFamily="50" charset="-127"/>
                <a:cs typeface="Times New Roman" panose="02020603050405020304" pitchFamily="18" charset="0"/>
              </a:rPr>
              <a:t>Bangladesh Army International University of Science and Technology</a:t>
            </a:r>
          </a:p>
        </p:txBody>
      </p:sp>
      <p:pic>
        <p:nvPicPr>
          <p:cNvPr id="14" name="Picture 13">
            <a:extLst>
              <a:ext uri="{FF2B5EF4-FFF2-40B4-BE49-F238E27FC236}">
                <a16:creationId xmlns:a16="http://schemas.microsoft.com/office/drawing/2014/main" xmlns="" id="{7453C9B5-5559-49BD-8E7C-AAB92D07B4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1631" y="4585865"/>
            <a:ext cx="971551" cy="914401"/>
          </a:xfrm>
          <a:prstGeom prst="rect">
            <a:avLst/>
          </a:prstGeom>
        </p:spPr>
      </p:pic>
    </p:spTree>
    <p:extLst>
      <p:ext uri="{BB962C8B-B14F-4D97-AF65-F5344CB8AC3E}">
        <p14:creationId xmlns:p14="http://schemas.microsoft.com/office/powerpoint/2010/main" val="3001490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xmlns="" id="{19AB00B0-33F2-2D92-680E-04C3FF4975BC}"/>
              </a:ext>
            </a:extLst>
          </p:cNvPr>
          <p:cNvSpPr txBox="1"/>
          <p:nvPr/>
        </p:nvSpPr>
        <p:spPr>
          <a:xfrm>
            <a:off x="4370815" y="113427"/>
            <a:ext cx="5627077" cy="646331"/>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CONSTITUENTS OF THE PRESENTATION</a:t>
            </a:r>
          </a:p>
          <a:p>
            <a:endParaRPr lang="en-US" dirty="0">
              <a:solidFill>
                <a:schemeClr val="bg1"/>
              </a:solidFill>
            </a:endParaRPr>
          </a:p>
        </p:txBody>
      </p:sp>
      <p:sp>
        <p:nvSpPr>
          <p:cNvPr id="9" name="TextBox 8">
            <a:extLst>
              <a:ext uri="{FF2B5EF4-FFF2-40B4-BE49-F238E27FC236}">
                <a16:creationId xmlns:a16="http://schemas.microsoft.com/office/drawing/2014/main" xmlns="" id="{2ABA6CBC-2788-40CC-B8CB-AF790ED91842}"/>
              </a:ext>
            </a:extLst>
          </p:cNvPr>
          <p:cNvSpPr txBox="1"/>
          <p:nvPr/>
        </p:nvSpPr>
        <p:spPr>
          <a:xfrm>
            <a:off x="2615826" y="1494592"/>
            <a:ext cx="8876714" cy="437664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Consumption and Types of Consumption</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Consumption Function and key components</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Consumption Function in the short run</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Consumption Function in the long run</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Average Propensity to Consume (APC)</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Marginal Propensity to Consume (MPC)</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Linear Consumption Function</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Non-linear Consumption Function</a:t>
            </a:r>
          </a:p>
          <a:p>
            <a:pPr marL="285750" indent="-285750">
              <a:lnSpc>
                <a:spcPct val="150000"/>
              </a:lnSpc>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5915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xmlns="" id="{6341AAEE-117B-4FBD-92B1-04B1995486B2}"/>
              </a:ext>
            </a:extLst>
          </p:cNvPr>
          <p:cNvSpPr txBox="1"/>
          <p:nvPr/>
        </p:nvSpPr>
        <p:spPr>
          <a:xfrm>
            <a:off x="5343988" y="0"/>
            <a:ext cx="6148552"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Consumption</a:t>
            </a:r>
          </a:p>
        </p:txBody>
      </p:sp>
      <p:sp>
        <p:nvSpPr>
          <p:cNvPr id="11" name="TextBox 10">
            <a:extLst>
              <a:ext uri="{FF2B5EF4-FFF2-40B4-BE49-F238E27FC236}">
                <a16:creationId xmlns:a16="http://schemas.microsoft.com/office/drawing/2014/main" xmlns="" id="{18953B35-5D4D-4E95-9F0B-2C65DA0BA60E}"/>
              </a:ext>
            </a:extLst>
          </p:cNvPr>
          <p:cNvSpPr txBox="1"/>
          <p:nvPr/>
        </p:nvSpPr>
        <p:spPr>
          <a:xfrm>
            <a:off x="2253661" y="781184"/>
            <a:ext cx="9938339" cy="452431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 economics, </a:t>
            </a:r>
            <a:r>
              <a:rPr lang="en-US" b="1" dirty="0">
                <a:latin typeface="Times New Roman" panose="02020603050405020304" pitchFamily="18" charset="0"/>
                <a:cs typeface="Times New Roman" panose="02020603050405020304" pitchFamily="18" charset="0"/>
              </a:rPr>
              <a:t>consumption</a:t>
            </a:r>
            <a:r>
              <a:rPr lang="en-US" dirty="0">
                <a:latin typeface="Times New Roman" panose="02020603050405020304" pitchFamily="18" charset="0"/>
                <a:cs typeface="Times New Roman" panose="02020603050405020304" pitchFamily="18" charset="0"/>
              </a:rPr>
              <a:t> refers to the use of goods and services by households. Consumption is the process of satisfying human wants. So, The portion of income spent on goods and services to satisfy current needs and desires is called Consumption.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economics, the equation </a:t>
            </a:r>
            <a:r>
              <a:rPr lang="en-US" b="1" dirty="0">
                <a:latin typeface="Times New Roman" panose="02020603050405020304" pitchFamily="18" charset="0"/>
                <a:cs typeface="Times New Roman" panose="02020603050405020304" pitchFamily="18" charset="0"/>
              </a:rPr>
              <a:t>Income = Consumption + Saving</a:t>
            </a:r>
            <a:r>
              <a:rPr lang="en-US" dirty="0">
                <a:latin typeface="Times New Roman" panose="02020603050405020304" pitchFamily="18" charset="0"/>
                <a:cs typeface="Times New Roman" panose="02020603050405020304" pitchFamily="18" charset="0"/>
              </a:rPr>
              <a:t> is a fundamental identity that describes how households allocate their disposable income. </a:t>
            </a:r>
          </a:p>
          <a:p>
            <a:pPr algn="just"/>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Income= Consumption + Saving</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total earnings received by households, typically in the form of wages, salaries, profits, rents, and interest is called </a:t>
            </a:r>
            <a:r>
              <a:rPr lang="en-US" b="1" dirty="0">
                <a:latin typeface="Times New Roman" panose="02020603050405020304" pitchFamily="18" charset="0"/>
                <a:cs typeface="Times New Roman" panose="02020603050405020304" pitchFamily="18" charset="0"/>
              </a:rPr>
              <a:t>income.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portion of income spent by households on goods and services to satisfy current needs and desires is called </a:t>
            </a:r>
            <a:r>
              <a:rPr lang="en-US" b="1" dirty="0">
                <a:latin typeface="Times New Roman" panose="02020603050405020304" pitchFamily="18" charset="0"/>
                <a:cs typeface="Times New Roman" panose="02020603050405020304" pitchFamily="18" charset="0"/>
              </a:rPr>
              <a:t>consumption.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portion of income not spent on consumption, set aside for future use is called </a:t>
            </a:r>
            <a:r>
              <a:rPr lang="en-US" b="1" dirty="0">
                <a:latin typeface="Times New Roman" panose="02020603050405020304" pitchFamily="18" charset="0"/>
                <a:cs typeface="Times New Roman" panose="02020603050405020304" pitchFamily="18" charset="0"/>
              </a:rPr>
              <a:t>savings.</a:t>
            </a:r>
          </a:p>
        </p:txBody>
      </p:sp>
    </p:spTree>
    <p:extLst>
      <p:ext uri="{BB962C8B-B14F-4D97-AF65-F5344CB8AC3E}">
        <p14:creationId xmlns:p14="http://schemas.microsoft.com/office/powerpoint/2010/main" val="20583030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xmlns="" id="{6341AAEE-117B-4FBD-92B1-04B1995486B2}"/>
              </a:ext>
            </a:extLst>
          </p:cNvPr>
          <p:cNvSpPr txBox="1"/>
          <p:nvPr/>
        </p:nvSpPr>
        <p:spPr>
          <a:xfrm>
            <a:off x="4727302" y="0"/>
            <a:ext cx="6148552"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Types of Consumption</a:t>
            </a:r>
          </a:p>
        </p:txBody>
      </p:sp>
      <p:sp>
        <p:nvSpPr>
          <p:cNvPr id="2" name="Rectangle 1">
            <a:extLst>
              <a:ext uri="{FF2B5EF4-FFF2-40B4-BE49-F238E27FC236}">
                <a16:creationId xmlns:a16="http://schemas.microsoft.com/office/drawing/2014/main" xmlns="" id="{2535F473-0CA2-4990-8BC1-997088CF558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xmlns="" id="{26D336C2-E6DC-42D2-AF0D-8B1AFC708E6F}"/>
              </a:ext>
            </a:extLst>
          </p:cNvPr>
          <p:cNvSpPr txBox="1"/>
          <p:nvPr/>
        </p:nvSpPr>
        <p:spPr>
          <a:xfrm>
            <a:off x="2227882" y="757283"/>
            <a:ext cx="9360193" cy="2308324"/>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Consumption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is the minimum level of consumption that occurs even when income is zero. It reflects spending on basic needs that households cannot avoid, such as food and shelter.</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Induced Consumption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portion of consumption changes in response to changes in disposable income. It is represented by the marginal propensity to consume (MPC), which measures how much of additional income is spent on consumption.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82881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xmlns="" id="{38423988-B023-4EC5-854C-3C76C04C0C1E}"/>
              </a:ext>
            </a:extLst>
          </p:cNvPr>
          <p:cNvSpPr txBox="1"/>
          <p:nvPr/>
        </p:nvSpPr>
        <p:spPr>
          <a:xfrm>
            <a:off x="4887311" y="0"/>
            <a:ext cx="6148552"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 Consumption Function and key components</a:t>
            </a:r>
          </a:p>
        </p:txBody>
      </p:sp>
      <p:sp>
        <p:nvSpPr>
          <p:cNvPr id="11" name="TextBox 10">
            <a:extLst>
              <a:ext uri="{FF2B5EF4-FFF2-40B4-BE49-F238E27FC236}">
                <a16:creationId xmlns:a16="http://schemas.microsoft.com/office/drawing/2014/main" xmlns="" id="{A38D86E7-7BF3-4F2C-B07D-719EE21C69E1}"/>
              </a:ext>
            </a:extLst>
          </p:cNvPr>
          <p:cNvSpPr txBox="1"/>
          <p:nvPr/>
        </p:nvSpPr>
        <p:spPr>
          <a:xfrm>
            <a:off x="2234510" y="591992"/>
            <a:ext cx="9727557" cy="5355312"/>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As the demand for a good depends upon its price, similarly consumption of a community depends on the level of income. In other words, consumption is a function of income. The consumption function relates the amount of consumption to the level of income. So, the consumption function is the whole schedule which describes the amounts of consumption at various levels of income.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Consumption function should be carefully distinguished from the amount of consumption. By consumption function is meant the whole schedule which shows consumption at various levels of income, whereas amount of consumption means the amount consumed at a specific level of income.</a:t>
            </a:r>
          </a:p>
        </p:txBody>
      </p:sp>
      <p:pic>
        <p:nvPicPr>
          <p:cNvPr id="6" name="Picture 5">
            <a:extLst>
              <a:ext uri="{FF2B5EF4-FFF2-40B4-BE49-F238E27FC236}">
                <a16:creationId xmlns:a16="http://schemas.microsoft.com/office/drawing/2014/main" xmlns="" id="{279032E5-93D9-4E7E-B61C-8C31BFCCD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4368" y="1966708"/>
            <a:ext cx="9068940" cy="2924583"/>
          </a:xfrm>
          <a:prstGeom prst="rect">
            <a:avLst/>
          </a:prstGeom>
        </p:spPr>
      </p:pic>
    </p:spTree>
    <p:extLst>
      <p:ext uri="{BB962C8B-B14F-4D97-AF65-F5344CB8AC3E}">
        <p14:creationId xmlns:p14="http://schemas.microsoft.com/office/powerpoint/2010/main" val="243070029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xmlns="" id="{38423988-B023-4EC5-854C-3C76C04C0C1E}"/>
              </a:ext>
            </a:extLst>
          </p:cNvPr>
          <p:cNvSpPr txBox="1"/>
          <p:nvPr/>
        </p:nvSpPr>
        <p:spPr>
          <a:xfrm>
            <a:off x="4887311" y="0"/>
            <a:ext cx="6148552"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 Consumption Function and key components</a:t>
            </a:r>
          </a:p>
        </p:txBody>
      </p:sp>
      <p:sp>
        <p:nvSpPr>
          <p:cNvPr id="11" name="TextBox 10">
            <a:extLst>
              <a:ext uri="{FF2B5EF4-FFF2-40B4-BE49-F238E27FC236}">
                <a16:creationId xmlns:a16="http://schemas.microsoft.com/office/drawing/2014/main" xmlns="" id="{A38D86E7-7BF3-4F2C-B07D-719EE21C69E1}"/>
              </a:ext>
            </a:extLst>
          </p:cNvPr>
          <p:cNvSpPr txBox="1"/>
          <p:nvPr/>
        </p:nvSpPr>
        <p:spPr>
          <a:xfrm>
            <a:off x="2234510" y="591992"/>
            <a:ext cx="9727557"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consumption function</a:t>
            </a:r>
            <a:r>
              <a:rPr lang="en-US" dirty="0">
                <a:latin typeface="Times New Roman" panose="02020603050405020304" pitchFamily="18" charset="0"/>
                <a:cs typeface="Times New Roman" panose="02020603050405020304" pitchFamily="18" charset="0"/>
              </a:rPr>
              <a:t> is an economic concept that describes the relationship between a household's consumption expenditure and its disposable income. </a:t>
            </a:r>
          </a:p>
        </p:txBody>
      </p:sp>
      <p:pic>
        <p:nvPicPr>
          <p:cNvPr id="3" name="Picture 2">
            <a:extLst>
              <a:ext uri="{FF2B5EF4-FFF2-40B4-BE49-F238E27FC236}">
                <a16:creationId xmlns:a16="http://schemas.microsoft.com/office/drawing/2014/main" xmlns="" id="{5CCCDA03-906A-406F-B7A3-8D18488C38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6915" y="1399892"/>
            <a:ext cx="9011670" cy="4058216"/>
          </a:xfrm>
          <a:prstGeom prst="rect">
            <a:avLst/>
          </a:prstGeom>
        </p:spPr>
      </p:pic>
    </p:spTree>
    <p:extLst>
      <p:ext uri="{BB962C8B-B14F-4D97-AF65-F5344CB8AC3E}">
        <p14:creationId xmlns:p14="http://schemas.microsoft.com/office/powerpoint/2010/main" val="190365847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a16="http://schemas.microsoft.com/office/drawing/2014/main" xmlns="" id="{30B5A844-74A2-4F3C-8CE9-D7D9E3EF2407}"/>
              </a:ext>
            </a:extLst>
          </p:cNvPr>
          <p:cNvSpPr txBox="1"/>
          <p:nvPr/>
        </p:nvSpPr>
        <p:spPr>
          <a:xfrm>
            <a:off x="4370695"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Average Propensity to Consume (APC)</a:t>
            </a:r>
          </a:p>
        </p:txBody>
      </p:sp>
      <p:pic>
        <p:nvPicPr>
          <p:cNvPr id="4" name="Picture 3">
            <a:extLst>
              <a:ext uri="{FF2B5EF4-FFF2-40B4-BE49-F238E27FC236}">
                <a16:creationId xmlns:a16="http://schemas.microsoft.com/office/drawing/2014/main" xmlns="" id="{A5B03A3F-E655-40A6-9630-8D28D4E26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941" y="789150"/>
            <a:ext cx="9590125" cy="3537787"/>
          </a:xfrm>
          <a:prstGeom prst="rect">
            <a:avLst/>
          </a:prstGeom>
        </p:spPr>
      </p:pic>
    </p:spTree>
    <p:extLst>
      <p:ext uri="{BB962C8B-B14F-4D97-AF65-F5344CB8AC3E}">
        <p14:creationId xmlns:p14="http://schemas.microsoft.com/office/powerpoint/2010/main" val="377727348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a16="http://schemas.microsoft.com/office/drawing/2014/main" xmlns="" id="{AF73067A-0A52-458F-915C-9974B5CFB24B}"/>
              </a:ext>
            </a:extLst>
          </p:cNvPr>
          <p:cNvSpPr txBox="1"/>
          <p:nvPr/>
        </p:nvSpPr>
        <p:spPr>
          <a:xfrm>
            <a:off x="4302456"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Marginal Propensity to Consume (MPC)</a:t>
            </a:r>
          </a:p>
        </p:txBody>
      </p:sp>
      <p:pic>
        <p:nvPicPr>
          <p:cNvPr id="6" name="Picture 5">
            <a:extLst>
              <a:ext uri="{FF2B5EF4-FFF2-40B4-BE49-F238E27FC236}">
                <a16:creationId xmlns:a16="http://schemas.microsoft.com/office/drawing/2014/main" xmlns="" id="{B353796C-4D13-4455-97DE-1899F4D39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942" y="752970"/>
            <a:ext cx="9494270" cy="4173872"/>
          </a:xfrm>
          <a:prstGeom prst="rect">
            <a:avLst/>
          </a:prstGeom>
        </p:spPr>
      </p:pic>
    </p:spTree>
    <p:extLst>
      <p:ext uri="{BB962C8B-B14F-4D97-AF65-F5344CB8AC3E}">
        <p14:creationId xmlns:p14="http://schemas.microsoft.com/office/powerpoint/2010/main" val="132343553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bg1"/>
            </a:gs>
            <a:gs pos="100000">
              <a:schemeClr val="accent1">
                <a:lumMod val="45000"/>
                <a:lumOff val="55000"/>
              </a:schemeClr>
            </a:gs>
            <a:gs pos="100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xmlns=""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xmlns=""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xmlns=""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xmlns=""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a16="http://schemas.microsoft.com/office/drawing/2014/main" xmlns="" id="{AF73067A-0A52-458F-915C-9974B5CFB24B}"/>
              </a:ext>
            </a:extLst>
          </p:cNvPr>
          <p:cNvSpPr txBox="1"/>
          <p:nvPr/>
        </p:nvSpPr>
        <p:spPr>
          <a:xfrm>
            <a:off x="4302456"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Marginal Propensity to Consume (MPC)</a:t>
            </a:r>
          </a:p>
        </p:txBody>
      </p:sp>
      <p:pic>
        <p:nvPicPr>
          <p:cNvPr id="3" name="Picture 2">
            <a:extLst>
              <a:ext uri="{FF2B5EF4-FFF2-40B4-BE49-F238E27FC236}">
                <a16:creationId xmlns:a16="http://schemas.microsoft.com/office/drawing/2014/main" xmlns="" id="{DC9D2282-05B0-405F-9CE5-38A5EF1DB4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3744" y="568146"/>
            <a:ext cx="8859563" cy="2811207"/>
          </a:xfrm>
          <a:prstGeom prst="rect">
            <a:avLst/>
          </a:prstGeom>
        </p:spPr>
      </p:pic>
      <p:pic>
        <p:nvPicPr>
          <p:cNvPr id="5" name="Picture 4">
            <a:extLst>
              <a:ext uri="{FF2B5EF4-FFF2-40B4-BE49-F238E27FC236}">
                <a16:creationId xmlns:a16="http://schemas.microsoft.com/office/drawing/2014/main" xmlns="" id="{D38864FA-DAEC-49CE-B678-55619628F0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5547" y="3679936"/>
            <a:ext cx="9260710" cy="2256839"/>
          </a:xfrm>
          <a:prstGeom prst="rect">
            <a:avLst/>
          </a:prstGeom>
        </p:spPr>
      </p:pic>
    </p:spTree>
    <p:extLst>
      <p:ext uri="{BB962C8B-B14F-4D97-AF65-F5344CB8AC3E}">
        <p14:creationId xmlns:p14="http://schemas.microsoft.com/office/powerpoint/2010/main" val="320968615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 xmlns:a16="http://schemas.microsoft.com/office/drawing/2014/main" id="{9F2B2188-8444-4DA7-8D84-DE32E150BFC1}"/>
              </a:ext>
            </a:extLst>
          </p:cNvPr>
          <p:cNvSpPr txBox="1"/>
          <p:nvPr/>
        </p:nvSpPr>
        <p:spPr>
          <a:xfrm>
            <a:off x="4575412"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Average Propensity to Save (APS)</a:t>
            </a:r>
          </a:p>
        </p:txBody>
      </p:sp>
      <p:pic>
        <p:nvPicPr>
          <p:cNvPr id="4" name="Picture 3">
            <a:extLst>
              <a:ext uri="{FF2B5EF4-FFF2-40B4-BE49-F238E27FC236}">
                <a16:creationId xmlns="" xmlns:a16="http://schemas.microsoft.com/office/drawing/2014/main" id="{AD27C55E-B1D2-4B86-9A46-07BB570741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7304" y="655430"/>
            <a:ext cx="8503223" cy="3553676"/>
          </a:xfrm>
          <a:prstGeom prst="rect">
            <a:avLst/>
          </a:prstGeom>
        </p:spPr>
      </p:pic>
      <p:sp>
        <p:nvSpPr>
          <p:cNvPr id="16" name="TextBox 15">
            <a:extLst>
              <a:ext uri="{FF2B5EF4-FFF2-40B4-BE49-F238E27FC236}">
                <a16:creationId xmlns="" xmlns:a16="http://schemas.microsoft.com/office/drawing/2014/main" id="{041C52EA-8CD5-41D4-93F6-4B1FF72DBB66}"/>
              </a:ext>
            </a:extLst>
          </p:cNvPr>
          <p:cNvSpPr txBox="1"/>
          <p:nvPr/>
        </p:nvSpPr>
        <p:spPr>
          <a:xfrm>
            <a:off x="2692021" y="4406462"/>
            <a:ext cx="9040114" cy="9233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For example, if a household has an income of $50,000 and saves $10,000, the APS would be: 10,000 / 50,000 = 0.2. This means 20% of the household's income is saved, while 80% is spent on consumption.</a:t>
            </a:r>
          </a:p>
        </p:txBody>
      </p:sp>
    </p:spTree>
    <p:extLst>
      <p:ext uri="{BB962C8B-B14F-4D97-AF65-F5344CB8AC3E}">
        <p14:creationId xmlns:p14="http://schemas.microsoft.com/office/powerpoint/2010/main" val="3384203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2CBB86FE-4021-4E86-82AC-A10DA95839CC}"/>
              </a:ext>
            </a:extLst>
          </p:cNvPr>
          <p:cNvSpPr txBox="1"/>
          <p:nvPr/>
        </p:nvSpPr>
        <p:spPr>
          <a:xfrm>
            <a:off x="4452582"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Marginal Propensity to Save (MPS)</a:t>
            </a:r>
          </a:p>
        </p:txBody>
      </p:sp>
      <p:pic>
        <p:nvPicPr>
          <p:cNvPr id="4" name="Picture 3">
            <a:extLst>
              <a:ext uri="{FF2B5EF4-FFF2-40B4-BE49-F238E27FC236}">
                <a16:creationId xmlns="" xmlns:a16="http://schemas.microsoft.com/office/drawing/2014/main" id="{8A260BEB-1141-467D-AF33-6F71C0211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941" y="568104"/>
            <a:ext cx="8942055" cy="3266918"/>
          </a:xfrm>
          <a:prstGeom prst="rect">
            <a:avLst/>
          </a:prstGeom>
        </p:spPr>
      </p:pic>
      <p:pic>
        <p:nvPicPr>
          <p:cNvPr id="11" name="Picture 10">
            <a:extLst>
              <a:ext uri="{FF2B5EF4-FFF2-40B4-BE49-F238E27FC236}">
                <a16:creationId xmlns="" xmlns:a16="http://schemas.microsoft.com/office/drawing/2014/main" id="{4F973DAD-E877-44A3-A1A6-403B28AAD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1941" y="3835022"/>
            <a:ext cx="9460667" cy="2210726"/>
          </a:xfrm>
          <a:prstGeom prst="rect">
            <a:avLst/>
          </a:prstGeom>
        </p:spPr>
      </p:pic>
    </p:spTree>
    <p:extLst>
      <p:ext uri="{BB962C8B-B14F-4D97-AF65-F5344CB8AC3E}">
        <p14:creationId xmlns:p14="http://schemas.microsoft.com/office/powerpoint/2010/main" val="68167105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CA41FB4E-647F-487B-91B6-8A8D95FC83F7}"/>
              </a:ext>
            </a:extLst>
          </p:cNvPr>
          <p:cNvSpPr txBox="1"/>
          <p:nvPr/>
        </p:nvSpPr>
        <p:spPr>
          <a:xfrm>
            <a:off x="4329752"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Derivation of Saving function from consumption function</a:t>
            </a:r>
          </a:p>
        </p:txBody>
      </p:sp>
      <p:sp>
        <p:nvSpPr>
          <p:cNvPr id="10" name="TextBox 9">
            <a:extLst>
              <a:ext uri="{FF2B5EF4-FFF2-40B4-BE49-F238E27FC236}">
                <a16:creationId xmlns="" xmlns:a16="http://schemas.microsoft.com/office/drawing/2014/main" id="{D3B76683-593E-45FC-9C42-FB1A263FC07D}"/>
              </a:ext>
            </a:extLst>
          </p:cNvPr>
          <p:cNvSpPr txBox="1"/>
          <p:nvPr/>
        </p:nvSpPr>
        <p:spPr>
          <a:xfrm>
            <a:off x="2350410" y="763553"/>
            <a:ext cx="9142129" cy="480131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Let us derive an important relationship between average propensity to consume and average propensity to save. Restating below the relation that income is either consumed or saved:</a:t>
            </a:r>
          </a:p>
          <a:p>
            <a:pPr algn="ctr"/>
            <a:r>
              <a:rPr lang="en-US" dirty="0">
                <a:latin typeface="Times New Roman" panose="02020603050405020304" pitchFamily="18" charset="0"/>
                <a:cs typeface="Times New Roman" panose="02020603050405020304" pitchFamily="18" charset="0"/>
              </a:rPr>
              <a:t>C + S = Y</a:t>
            </a:r>
          </a:p>
          <a:p>
            <a:r>
              <a:rPr lang="en-US" dirty="0">
                <a:latin typeface="Times New Roman" panose="02020603050405020304" pitchFamily="18" charset="0"/>
                <a:cs typeface="Times New Roman" panose="02020603050405020304" pitchFamily="18" charset="0"/>
              </a:rPr>
              <a:t>Dividing both sides by disposable income Y we have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Here, C / Y is average propensity to consume and </a:t>
            </a:r>
          </a:p>
          <a:p>
            <a:r>
              <a:rPr lang="en-US" dirty="0">
                <a:latin typeface="Times New Roman" panose="02020603050405020304" pitchFamily="18" charset="0"/>
                <a:cs typeface="Times New Roman" panose="02020603050405020304" pitchFamily="18" charset="0"/>
              </a:rPr>
              <a:t>           S / Y is average propensity to save,</a:t>
            </a:r>
          </a:p>
          <a:p>
            <a:pPr algn="ctr"/>
            <a:r>
              <a:rPr lang="en-US" dirty="0">
                <a:latin typeface="Times New Roman" panose="02020603050405020304" pitchFamily="18" charset="0"/>
                <a:cs typeface="Times New Roman" panose="02020603050405020304" pitchFamily="18" charset="0"/>
              </a:rPr>
              <a:t>APC + APS = 1 </a:t>
            </a:r>
          </a:p>
          <a:p>
            <a:pPr algn="ctr"/>
            <a:r>
              <a:rPr lang="en-US" dirty="0">
                <a:latin typeface="Times New Roman" panose="02020603050405020304" pitchFamily="18" charset="0"/>
                <a:cs typeface="Times New Roman" panose="02020603050405020304" pitchFamily="18" charset="0"/>
              </a:rPr>
              <a:t>Or, APS = 1 – APC</a:t>
            </a:r>
          </a:p>
          <a:p>
            <a:pPr algn="ct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means, for example, that if a society consumes 75 per cent of its disposable income, that is, APC = 0.75, then it will save 25 per cent of its disposable income or its average propensity to save (APS) will be 0.25 (1 – 0.75 = 0.25).</a:t>
            </a:r>
          </a:p>
          <a:p>
            <a:pPr algn="just"/>
            <a:endParaRPr lang="en-US" dirty="0"/>
          </a:p>
          <a:p>
            <a:pPr algn="just"/>
            <a:endParaRPr lang="en-US" dirty="0"/>
          </a:p>
        </p:txBody>
      </p:sp>
      <p:pic>
        <p:nvPicPr>
          <p:cNvPr id="5" name="Picture 4">
            <a:extLst>
              <a:ext uri="{FF2B5EF4-FFF2-40B4-BE49-F238E27FC236}">
                <a16:creationId xmlns="" xmlns:a16="http://schemas.microsoft.com/office/drawing/2014/main" id="{02E820F2-A0DE-4787-B519-B5D0F8694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6448" y="1992997"/>
            <a:ext cx="2115866" cy="682537"/>
          </a:xfrm>
          <a:prstGeom prst="rect">
            <a:avLst/>
          </a:prstGeom>
        </p:spPr>
      </p:pic>
    </p:spTree>
    <p:extLst>
      <p:ext uri="{BB962C8B-B14F-4D97-AF65-F5344CB8AC3E}">
        <p14:creationId xmlns:p14="http://schemas.microsoft.com/office/powerpoint/2010/main" val="3102642684"/>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CA41FB4E-647F-487B-91B6-8A8D95FC83F7}"/>
              </a:ext>
            </a:extLst>
          </p:cNvPr>
          <p:cNvSpPr txBox="1"/>
          <p:nvPr/>
        </p:nvSpPr>
        <p:spPr>
          <a:xfrm>
            <a:off x="4329752"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Derivation of Saving function from consumption function</a:t>
            </a:r>
          </a:p>
        </p:txBody>
      </p:sp>
      <p:pic>
        <p:nvPicPr>
          <p:cNvPr id="3" name="Picture 2">
            <a:extLst>
              <a:ext uri="{FF2B5EF4-FFF2-40B4-BE49-F238E27FC236}">
                <a16:creationId xmlns="" xmlns:a16="http://schemas.microsoft.com/office/drawing/2014/main" id="{E68F0443-5C14-48FB-9183-6C414466A1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6996" y="604443"/>
            <a:ext cx="4535113" cy="6250684"/>
          </a:xfrm>
          <a:prstGeom prst="rect">
            <a:avLst/>
          </a:prstGeom>
        </p:spPr>
      </p:pic>
    </p:spTree>
    <p:extLst>
      <p:ext uri="{BB962C8B-B14F-4D97-AF65-F5344CB8AC3E}">
        <p14:creationId xmlns:p14="http://schemas.microsoft.com/office/powerpoint/2010/main" val="388669202"/>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CA41FB4E-647F-487B-91B6-8A8D95FC83F7}"/>
              </a:ext>
            </a:extLst>
          </p:cNvPr>
          <p:cNvSpPr txBox="1"/>
          <p:nvPr/>
        </p:nvSpPr>
        <p:spPr>
          <a:xfrm>
            <a:off x="4329752" y="0"/>
            <a:ext cx="6148316" cy="458074"/>
          </a:xfrm>
          <a:prstGeom prst="rect">
            <a:avLst/>
          </a:prstGeom>
          <a:noFill/>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Derivation of Saving function from consumption function</a:t>
            </a:r>
          </a:p>
        </p:txBody>
      </p:sp>
      <p:sp>
        <p:nvSpPr>
          <p:cNvPr id="10" name="TextBox 9">
            <a:extLst>
              <a:ext uri="{FF2B5EF4-FFF2-40B4-BE49-F238E27FC236}">
                <a16:creationId xmlns="" xmlns:a16="http://schemas.microsoft.com/office/drawing/2014/main" id="{99EE3C14-639A-462F-ADC4-7DEAC77CF94B}"/>
              </a:ext>
            </a:extLst>
          </p:cNvPr>
          <p:cNvSpPr txBox="1"/>
          <p:nvPr/>
        </p:nvSpPr>
        <p:spPr>
          <a:xfrm>
            <a:off x="2569779" y="1120676"/>
            <a:ext cx="9162356" cy="230832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 Fig, we have drawn the saving function curve SS in the panel at the bottom. The saving function curve SS shows the gap between consumption curve CC and the income curve OZ in the upper panel of Fig. It will be seen that up to income level OY1, consumption exceeds income, that is, there is dissaving. Beyond income level OY1, there is positive saving. It is worth mentioning that as average propensity to consume (APC) falls with the increase in income in the upper panel, average propensity to save rises as income increases. Thus in Fig, with the increase in income not only the absolute amount of saving increases, the average propensity to save also increases.</a:t>
            </a:r>
          </a:p>
        </p:txBody>
      </p:sp>
    </p:spTree>
    <p:extLst>
      <p:ext uri="{BB962C8B-B14F-4D97-AF65-F5344CB8AC3E}">
        <p14:creationId xmlns:p14="http://schemas.microsoft.com/office/powerpoint/2010/main" val="838928132"/>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Factors / determinants of influence the consumption function</a:t>
            </a:r>
            <a:endParaRPr lang="en-US" sz="18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E7971BC0-50AF-4619-8060-6D844A84C60B}"/>
              </a:ext>
            </a:extLst>
          </p:cNvPr>
          <p:cNvSpPr txBox="1"/>
          <p:nvPr/>
        </p:nvSpPr>
        <p:spPr>
          <a:xfrm>
            <a:off x="2150661" y="693683"/>
            <a:ext cx="9581474" cy="5940088"/>
          </a:xfrm>
          <a:prstGeom prst="rect">
            <a:avLst/>
          </a:prstGeom>
          <a:noFill/>
        </p:spPr>
        <p:txBody>
          <a:bodyPr wrap="square" rtlCol="0">
            <a:spAutoFit/>
          </a:bodyPr>
          <a:lstStyle/>
          <a:p>
            <a:pPr marL="342900" indent="-342900" algn="just">
              <a:buAutoNum type="arabicParenBoth"/>
            </a:pPr>
            <a:r>
              <a:rPr lang="en-US" sz="2000" b="1" dirty="0">
                <a:latin typeface="Times New Roman" panose="02020603050405020304" pitchFamily="18" charset="0"/>
                <a:cs typeface="Times New Roman" panose="02020603050405020304" pitchFamily="18" charset="0"/>
              </a:rPr>
              <a:t>Changes in the General Price Level : </a:t>
            </a:r>
            <a:r>
              <a:rPr lang="en-US" sz="2000" dirty="0">
                <a:latin typeface="Times New Roman" panose="02020603050405020304" pitchFamily="18" charset="0"/>
                <a:cs typeface="Times New Roman" panose="02020603050405020304" pitchFamily="18" charset="0"/>
              </a:rPr>
              <a:t>Real Balance Effect: When the general price level increases or, in other words, when inflation occurs, the consumption function shifts downward. This is because the rise in the general price level, real value (that is, purchasing power) of people’s money balances and financial assets with fixed monetary values declines. This causes a downward shift in the consumption function. This is called real balance effect. Similarly, when the general price level falls, real value of money balances and financial assets increases. This will induce people to consume relatively more out of their current income. This will cause an upward shift in the consumption function.</a:t>
            </a:r>
          </a:p>
          <a:p>
            <a:pPr marL="342900" indent="-342900" algn="just">
              <a:buAutoNum type="arabicParenBoth"/>
            </a:pPr>
            <a:endParaRPr lang="en-US" sz="2000" dirty="0">
              <a:latin typeface="Times New Roman" panose="02020603050405020304" pitchFamily="18" charset="0"/>
              <a:cs typeface="Times New Roman" panose="02020603050405020304" pitchFamily="18" charset="0"/>
            </a:endParaRPr>
          </a:p>
          <a:p>
            <a:pPr marL="342900" indent="-342900" algn="just">
              <a:buAutoNum type="arabicParenBoth"/>
            </a:pPr>
            <a:r>
              <a:rPr lang="en-US" sz="2000" b="1" dirty="0">
                <a:latin typeface="Times New Roman" panose="02020603050405020304" pitchFamily="18" charset="0"/>
                <a:cs typeface="Times New Roman" panose="02020603050405020304" pitchFamily="18" charset="0"/>
              </a:rPr>
              <a:t>Fiscal Policy: </a:t>
            </a:r>
            <a:r>
              <a:rPr lang="en-US" sz="2000" dirty="0">
                <a:latin typeface="Times New Roman" panose="02020603050405020304" pitchFamily="18" charset="0"/>
                <a:cs typeface="Times New Roman" panose="02020603050405020304" pitchFamily="18" charset="0"/>
              </a:rPr>
              <a:t>Fiscal policy of the Government, especially taxation policy affects the propensity to consume of the country. By levying excise duties, sales tax, the Government can cut down the consumption and thereby increase savings of the community. Likewise, when the Government reduces taxes, consumption of the people increases and this raises the propensity to consume.</a:t>
            </a:r>
          </a:p>
          <a:p>
            <a:pPr marL="342900" indent="-342900" algn="just">
              <a:buAutoNum type="arabicParenBoth"/>
            </a:pPr>
            <a:endParaRPr lang="en-US" sz="2000" dirty="0">
              <a:latin typeface="Times New Roman" panose="02020603050405020304" pitchFamily="18" charset="0"/>
              <a:cs typeface="Times New Roman" panose="02020603050405020304" pitchFamily="18" charset="0"/>
            </a:endParaRPr>
          </a:p>
          <a:p>
            <a:pPr marL="342900" indent="-342900" algn="just">
              <a:buAutoNum type="arabicParenBoth"/>
            </a:pPr>
            <a:r>
              <a:rPr lang="en-US" sz="2000" b="1" dirty="0">
                <a:latin typeface="Times New Roman" panose="02020603050405020304" pitchFamily="18" charset="0"/>
                <a:cs typeface="Times New Roman" panose="02020603050405020304" pitchFamily="18" charset="0"/>
              </a:rPr>
              <a:t>Rate of Interest: </a:t>
            </a:r>
            <a:r>
              <a:rPr lang="en-US" sz="2000" dirty="0">
                <a:latin typeface="Times New Roman" panose="02020603050405020304" pitchFamily="18" charset="0"/>
                <a:cs typeface="Times New Roman" panose="02020603050405020304" pitchFamily="18" charset="0"/>
              </a:rPr>
              <a:t>Rate of interest also affects the propensity to consume and save. It is generally believed that higher rate of interest induces the people to save more and this results in reducing their propensity to consume.</a:t>
            </a:r>
          </a:p>
        </p:txBody>
      </p:sp>
    </p:spTree>
    <p:extLst>
      <p:ext uri="{BB962C8B-B14F-4D97-AF65-F5344CB8AC3E}">
        <p14:creationId xmlns:p14="http://schemas.microsoft.com/office/powerpoint/2010/main" val="189198877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Factors / determinants of influence the consumption function</a:t>
            </a:r>
            <a:endParaRPr lang="en-US" sz="18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E7971BC0-50AF-4619-8060-6D844A84C60B}"/>
              </a:ext>
            </a:extLst>
          </p:cNvPr>
          <p:cNvSpPr txBox="1"/>
          <p:nvPr/>
        </p:nvSpPr>
        <p:spPr>
          <a:xfrm>
            <a:off x="2150661" y="699880"/>
            <a:ext cx="9811406" cy="6217087"/>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Stock of Wealth: </a:t>
            </a:r>
            <a:r>
              <a:rPr lang="en-US" sz="2000" dirty="0">
                <a:latin typeface="Times New Roman" panose="02020603050405020304" pitchFamily="18" charset="0"/>
                <a:cs typeface="Times New Roman" panose="02020603050405020304" pitchFamily="18" charset="0"/>
              </a:rPr>
              <a:t>The stock of wealth owned by the households in the economy is also an important factor that determines propensity to consume. In wealth we include not only real assets such as land, houses, automobiles but also financial assets such as cash balances, saving and fixed deposits with banks, stocks and bonds possessed by households. The greater the amount of wealth accumulated by households in the economy, the greater is generally the propensity to consume.</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5. </a:t>
            </a:r>
            <a:r>
              <a:rPr lang="en-US" sz="2000" b="1" dirty="0">
                <a:latin typeface="Times New Roman" panose="02020603050405020304" pitchFamily="18" charset="0"/>
                <a:cs typeface="Times New Roman" panose="02020603050405020304" pitchFamily="18" charset="0"/>
              </a:rPr>
              <a:t>Monetary Policy and Credit Conditions: </a:t>
            </a:r>
            <a:r>
              <a:rPr lang="en-US" sz="2000" dirty="0">
                <a:latin typeface="Times New Roman" panose="02020603050405020304" pitchFamily="18" charset="0"/>
                <a:cs typeface="Times New Roman" panose="02020603050405020304" pitchFamily="18" charset="0"/>
              </a:rPr>
              <a:t>The availability of easy credit causes an increase in consumption and shifts the consumption function upward</a:t>
            </a:r>
            <a:r>
              <a:rPr lang="en-US" sz="2000" dirty="0" smtClean="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6</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Change in Expectations: </a:t>
            </a:r>
            <a:r>
              <a:rPr lang="en-US" sz="2000" dirty="0">
                <a:latin typeface="Times New Roman" panose="02020603050405020304" pitchFamily="18" charset="0"/>
                <a:cs typeface="Times New Roman" panose="02020603050405020304" pitchFamily="18" charset="0"/>
              </a:rPr>
              <a:t>Changes in the expectations of the people also influence the propensity to consume. When people expect that </a:t>
            </a:r>
            <a:r>
              <a:rPr lang="en-US" sz="2000" dirty="0" smtClean="0">
                <a:latin typeface="Times New Roman" panose="02020603050405020304" pitchFamily="18" charset="0"/>
                <a:cs typeface="Times New Roman" panose="02020603050405020304" pitchFamily="18" charset="0"/>
              </a:rPr>
              <a:t>prices </a:t>
            </a:r>
            <a:r>
              <a:rPr lang="en-US" sz="2000" dirty="0">
                <a:latin typeface="Times New Roman" panose="02020603050405020304" pitchFamily="18" charset="0"/>
                <a:cs typeface="Times New Roman" panose="02020603050405020304" pitchFamily="18" charset="0"/>
              </a:rPr>
              <a:t>to go </a:t>
            </a:r>
            <a:r>
              <a:rPr lang="en-US" sz="2000" dirty="0" smtClean="0">
                <a:latin typeface="Times New Roman" panose="02020603050405020304" pitchFamily="18" charset="0"/>
                <a:cs typeface="Times New Roman" panose="02020603050405020304" pitchFamily="18" charset="0"/>
              </a:rPr>
              <a:t>up </a:t>
            </a:r>
            <a:r>
              <a:rPr lang="en-US" sz="2000" dirty="0">
                <a:latin typeface="Times New Roman" panose="02020603050405020304" pitchFamily="18" charset="0"/>
                <a:cs typeface="Times New Roman" panose="02020603050405020304" pitchFamily="18" charset="0"/>
              </a:rPr>
              <a:t>in the near future</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then they will try to spend more on goods so as to meet the needs of the immediate future. This raises the consumption function in the current period. On the other hand, when people expect the prices to fall, they reduce their current consumption so that they should spend more when the prices actually fall.</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342900" indent="-342900">
              <a:buAutoNum type="arabicParenBoth"/>
            </a:pPr>
            <a:endParaRPr lang="en-US" dirty="0"/>
          </a:p>
        </p:txBody>
      </p:sp>
    </p:spTree>
    <p:extLst>
      <p:ext uri="{BB962C8B-B14F-4D97-AF65-F5344CB8AC3E}">
        <p14:creationId xmlns:p14="http://schemas.microsoft.com/office/powerpoint/2010/main" val="232203148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433965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1.Given as consumption function C=50 + 0.5Y.  Show that,</a:t>
            </a:r>
          </a:p>
          <a:p>
            <a:pPr marL="857250" lvl="1" indent="-400050">
              <a:buFont typeface="+mj-lt"/>
              <a:buAutoNum type="romanLcPeriod"/>
            </a:pPr>
            <a:r>
              <a:rPr lang="en-US" sz="2400" dirty="0">
                <a:latin typeface="Times New Roman" panose="02020603050405020304" pitchFamily="18" charset="0"/>
                <a:cs typeface="Times New Roman" panose="02020603050405020304" pitchFamily="18" charset="0"/>
              </a:rPr>
              <a:t>Find out the saving function.</a:t>
            </a:r>
          </a:p>
          <a:p>
            <a:pPr marL="857250" lvl="1" indent="-400050">
              <a:buFont typeface="+mj-lt"/>
              <a:buAutoNum type="romanLcPeriod"/>
            </a:pPr>
            <a:r>
              <a:rPr lang="en-US" sz="2400" dirty="0">
                <a:latin typeface="Times New Roman" panose="02020603050405020304" pitchFamily="18" charset="0"/>
                <a:cs typeface="Times New Roman" panose="02020603050405020304" pitchFamily="18" charset="0"/>
              </a:rPr>
              <a:t>APS+APC= 1</a:t>
            </a:r>
          </a:p>
          <a:p>
            <a:pPr marL="857250" lvl="1" indent="-400050">
              <a:buFont typeface="+mj-lt"/>
              <a:buAutoNum type="romanLcPeriod"/>
            </a:pPr>
            <a:r>
              <a:rPr lang="en-US" sz="2400" dirty="0">
                <a:latin typeface="Times New Roman" panose="02020603050405020304" pitchFamily="18" charset="0"/>
                <a:cs typeface="Times New Roman" panose="02020603050405020304" pitchFamily="18" charset="0"/>
              </a:rPr>
              <a:t>MPS+MPC=1</a:t>
            </a:r>
          </a:p>
          <a:p>
            <a:pPr marL="857250" lvl="1" indent="-400050">
              <a:buFont typeface="+mj-lt"/>
              <a:buAutoNum type="romanLcPeriod"/>
            </a:pPr>
            <a:r>
              <a:rPr lang="en-US" sz="2400" dirty="0">
                <a:latin typeface="Times New Roman" panose="02020603050405020304" pitchFamily="18" charset="0"/>
                <a:cs typeface="Times New Roman" panose="02020603050405020304" pitchFamily="18" charset="0"/>
              </a:rPr>
              <a:t>Find out the breakeven point.</a:t>
            </a:r>
          </a:p>
          <a:p>
            <a:pPr marL="857250" lvl="1" indent="-400050">
              <a:buFont typeface="+mj-lt"/>
              <a:buAutoNum type="romanLcPeriod"/>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spTree>
    <p:extLst>
      <p:ext uri="{BB962C8B-B14F-4D97-AF65-F5344CB8AC3E}">
        <p14:creationId xmlns:p14="http://schemas.microsoft.com/office/powerpoint/2010/main" val="167899434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231654"/>
          </a:xfrm>
          <a:prstGeom prst="rect">
            <a:avLst/>
          </a:prstGeom>
          <a:noFill/>
        </p:spPr>
        <p:txBody>
          <a:bodyPr wrap="square" rtlCol="0">
            <a:spAutoFit/>
          </a:bodyPr>
          <a:lstStyle/>
          <a:p>
            <a:pPr marL="857250" lvl="1" indent="-400050">
              <a:buFont typeface="+mj-lt"/>
              <a:buAutoNum type="romanLcPeriod"/>
            </a:pPr>
            <a:r>
              <a:rPr lang="en-US" sz="2400" dirty="0">
                <a:latin typeface="Times New Roman" panose="02020603050405020304" pitchFamily="18" charset="0"/>
                <a:cs typeface="Times New Roman" panose="02020603050405020304" pitchFamily="18" charset="0"/>
              </a:rPr>
              <a:t>Find out the saving function.</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4" name="Picture 3">
            <a:extLst>
              <a:ext uri="{FF2B5EF4-FFF2-40B4-BE49-F238E27FC236}">
                <a16:creationId xmlns="" xmlns:a16="http://schemas.microsoft.com/office/drawing/2014/main" id="{15744865-44CF-4896-9A74-C318D5AE4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7962" y="1744799"/>
            <a:ext cx="7150171" cy="3368401"/>
          </a:xfrm>
          <a:prstGeom prst="rect">
            <a:avLst/>
          </a:prstGeom>
        </p:spPr>
      </p:pic>
    </p:spTree>
    <p:extLst>
      <p:ext uri="{BB962C8B-B14F-4D97-AF65-F5344CB8AC3E}">
        <p14:creationId xmlns:p14="http://schemas.microsoft.com/office/powerpoint/2010/main" val="300380295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231654"/>
          </a:xfrm>
          <a:prstGeom prst="rect">
            <a:avLst/>
          </a:prstGeom>
          <a:noFill/>
        </p:spPr>
        <p:txBody>
          <a:bodyPr wrap="square" rtlCol="0">
            <a:spAutoFit/>
          </a:bodyPr>
          <a:lstStyle/>
          <a:p>
            <a:pPr lvl="1"/>
            <a:r>
              <a:rPr lang="en-US" sz="2400" dirty="0">
                <a:latin typeface="Times New Roman" panose="02020603050405020304" pitchFamily="18" charset="0"/>
                <a:cs typeface="Times New Roman" panose="02020603050405020304" pitchFamily="18" charset="0"/>
              </a:rPr>
              <a:t>ii. APS+APC= 1</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5" name="Picture 4">
            <a:extLst>
              <a:ext uri="{FF2B5EF4-FFF2-40B4-BE49-F238E27FC236}">
                <a16:creationId xmlns="" xmlns:a16="http://schemas.microsoft.com/office/drawing/2014/main" id="{AFDE82D4-52AB-498B-9DDC-EDEA6D042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2347" y="1879731"/>
            <a:ext cx="9599789" cy="2392447"/>
          </a:xfrm>
          <a:prstGeom prst="rect">
            <a:avLst/>
          </a:prstGeom>
        </p:spPr>
      </p:pic>
    </p:spTree>
    <p:extLst>
      <p:ext uri="{BB962C8B-B14F-4D97-AF65-F5344CB8AC3E}">
        <p14:creationId xmlns:p14="http://schemas.microsoft.com/office/powerpoint/2010/main" val="84711287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231654"/>
          </a:xfrm>
          <a:prstGeom prst="rect">
            <a:avLst/>
          </a:prstGeom>
          <a:noFill/>
        </p:spPr>
        <p:txBody>
          <a:bodyPr wrap="square" rtlCol="0">
            <a:spAutoFit/>
          </a:bodyPr>
          <a:lstStyle/>
          <a:p>
            <a:pPr lvl="1"/>
            <a:r>
              <a:rPr lang="en-US" sz="2400" dirty="0">
                <a:latin typeface="Times New Roman" panose="02020603050405020304" pitchFamily="18" charset="0"/>
                <a:cs typeface="Times New Roman" panose="02020603050405020304" pitchFamily="18" charset="0"/>
              </a:rPr>
              <a:t>ii. MPS+MPC= 1</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4" name="Picture 3">
            <a:extLst>
              <a:ext uri="{FF2B5EF4-FFF2-40B4-BE49-F238E27FC236}">
                <a16:creationId xmlns="" xmlns:a16="http://schemas.microsoft.com/office/drawing/2014/main" id="{FEDCC9F5-C021-4D7B-9363-38B827413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1002" y="1931522"/>
            <a:ext cx="9561133" cy="2994956"/>
          </a:xfrm>
          <a:prstGeom prst="rect">
            <a:avLst/>
          </a:prstGeom>
        </p:spPr>
      </p:pic>
    </p:spTree>
    <p:extLst>
      <p:ext uri="{BB962C8B-B14F-4D97-AF65-F5344CB8AC3E}">
        <p14:creationId xmlns:p14="http://schemas.microsoft.com/office/powerpoint/2010/main" val="162230847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600986"/>
          </a:xfrm>
          <a:prstGeom prst="rect">
            <a:avLst/>
          </a:prstGeom>
          <a:noFill/>
        </p:spPr>
        <p:txBody>
          <a:bodyPr wrap="square" rtlCol="0">
            <a:spAutoFit/>
          </a:bodyPr>
          <a:lstStyle/>
          <a:p>
            <a:pPr lvl="1"/>
            <a:r>
              <a:rPr lang="en-US" sz="2400" dirty="0">
                <a:latin typeface="Times New Roman" panose="02020603050405020304" pitchFamily="18" charset="0"/>
                <a:cs typeface="Times New Roman" panose="02020603050405020304" pitchFamily="18" charset="0"/>
              </a:rPr>
              <a:t>iv. Find out the breakeven point.</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5" name="Picture 4">
            <a:extLst>
              <a:ext uri="{FF2B5EF4-FFF2-40B4-BE49-F238E27FC236}">
                <a16:creationId xmlns="" xmlns:a16="http://schemas.microsoft.com/office/drawing/2014/main" id="{ACB791A3-9235-4F5C-B793-DEA4E8624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606" y="1647813"/>
            <a:ext cx="9237934" cy="4800448"/>
          </a:xfrm>
          <a:prstGeom prst="rect">
            <a:avLst/>
          </a:prstGeom>
        </p:spPr>
      </p:pic>
    </p:spTree>
    <p:extLst>
      <p:ext uri="{BB962C8B-B14F-4D97-AF65-F5344CB8AC3E}">
        <p14:creationId xmlns:p14="http://schemas.microsoft.com/office/powerpoint/2010/main" val="1981501768"/>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5078313"/>
          </a:xfrm>
          <a:prstGeom prst="rect">
            <a:avLst/>
          </a:prstGeom>
          <a:noFill/>
        </p:spPr>
        <p:txBody>
          <a:bodyPr wrap="square" rtlCol="0">
            <a:spAutoFit/>
          </a:bodyPr>
          <a:lstStyle/>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Given as Savings function, S= -a + (1-b) Y</a:t>
            </a:r>
          </a:p>
          <a:p>
            <a:r>
              <a:rPr lang="en-US" sz="2400" dirty="0">
                <a:latin typeface="Times New Roman" panose="02020603050405020304" pitchFamily="18" charset="0"/>
                <a:cs typeface="Times New Roman" panose="02020603050405020304" pitchFamily="18" charset="0"/>
              </a:rPr>
              <a:t>      </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Find out consumption function.</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Show that, APS+APC= 1</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Show that, MPS+MPC=1</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Find out the breakeven point.</a:t>
            </a:r>
          </a:p>
          <a:p>
            <a:endParaRPr lang="en-US" sz="2400" dirty="0">
              <a:latin typeface="Times New Roman" panose="02020603050405020304" pitchFamily="18" charset="0"/>
              <a:cs typeface="Times New Roman" panose="02020603050405020304" pitchFamily="18" charset="0"/>
            </a:endParaRPr>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spTree>
    <p:extLst>
      <p:ext uri="{BB962C8B-B14F-4D97-AF65-F5344CB8AC3E}">
        <p14:creationId xmlns:p14="http://schemas.microsoft.com/office/powerpoint/2010/main" val="3921709717"/>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231654"/>
          </a:xfrm>
          <a:prstGeom prst="rect">
            <a:avLst/>
          </a:prstGeom>
          <a:noFill/>
        </p:spPr>
        <p:txBody>
          <a:bodyPr wrap="square" rtlCol="0">
            <a:spAutoFit/>
          </a:bodyPr>
          <a:lstStyle/>
          <a:p>
            <a:pPr marL="857250" lvl="1" indent="-400050">
              <a:buFont typeface="+mj-lt"/>
              <a:buAutoNum type="romanLcPeriod"/>
            </a:pPr>
            <a:r>
              <a:rPr lang="en-US" sz="2400" dirty="0">
                <a:latin typeface="Times New Roman" panose="02020603050405020304" pitchFamily="18" charset="0"/>
                <a:cs typeface="Times New Roman" panose="02020603050405020304" pitchFamily="18" charset="0"/>
              </a:rPr>
              <a:t>Find out the consumption function.</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5" name="Picture 4">
            <a:extLst>
              <a:ext uri="{FF2B5EF4-FFF2-40B4-BE49-F238E27FC236}">
                <a16:creationId xmlns="" xmlns:a16="http://schemas.microsoft.com/office/drawing/2014/main" id="{94C6035E-9276-4DB0-B698-126DAE20A1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3983" y="2003370"/>
            <a:ext cx="9228083" cy="3231654"/>
          </a:xfrm>
          <a:prstGeom prst="rect">
            <a:avLst/>
          </a:prstGeom>
        </p:spPr>
      </p:pic>
    </p:spTree>
    <p:extLst>
      <p:ext uri="{BB962C8B-B14F-4D97-AF65-F5344CB8AC3E}">
        <p14:creationId xmlns:p14="http://schemas.microsoft.com/office/powerpoint/2010/main" val="804634943"/>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231654"/>
          </a:xfrm>
          <a:prstGeom prst="rect">
            <a:avLst/>
          </a:prstGeom>
          <a:noFill/>
        </p:spPr>
        <p:txBody>
          <a:bodyPr wrap="square" rtlCol="0">
            <a:spAutoFit/>
          </a:bodyPr>
          <a:lstStyle/>
          <a:p>
            <a:pPr lvl="1"/>
            <a:r>
              <a:rPr lang="en-US" sz="2400" dirty="0">
                <a:latin typeface="Times New Roman" panose="02020603050405020304" pitchFamily="18" charset="0"/>
                <a:cs typeface="Times New Roman" panose="02020603050405020304" pitchFamily="18" charset="0"/>
              </a:rPr>
              <a:t>ii. APS+APC= 1</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4" name="Picture 3">
            <a:extLst>
              <a:ext uri="{FF2B5EF4-FFF2-40B4-BE49-F238E27FC236}">
                <a16:creationId xmlns="" xmlns:a16="http://schemas.microsoft.com/office/drawing/2014/main" id="{10EE2A0A-1645-47F1-9623-F603BDBF1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942" y="1936695"/>
            <a:ext cx="9212317" cy="4318274"/>
          </a:xfrm>
          <a:prstGeom prst="rect">
            <a:avLst/>
          </a:prstGeom>
        </p:spPr>
      </p:pic>
    </p:spTree>
    <p:extLst>
      <p:ext uri="{BB962C8B-B14F-4D97-AF65-F5344CB8AC3E}">
        <p14:creationId xmlns:p14="http://schemas.microsoft.com/office/powerpoint/2010/main" val="2354137383"/>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231654"/>
          </a:xfrm>
          <a:prstGeom prst="rect">
            <a:avLst/>
          </a:prstGeom>
          <a:noFill/>
        </p:spPr>
        <p:txBody>
          <a:bodyPr wrap="square" rtlCol="0">
            <a:spAutoFit/>
          </a:bodyPr>
          <a:lstStyle/>
          <a:p>
            <a:pPr lvl="1"/>
            <a:r>
              <a:rPr lang="en-US" sz="2400" dirty="0">
                <a:latin typeface="Times New Roman" panose="02020603050405020304" pitchFamily="18" charset="0"/>
                <a:cs typeface="Times New Roman" panose="02020603050405020304" pitchFamily="18" charset="0"/>
              </a:rPr>
              <a:t>iii. MPS+MPC= 1</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5" name="Picture 4">
            <a:extLst>
              <a:ext uri="{FF2B5EF4-FFF2-40B4-BE49-F238E27FC236}">
                <a16:creationId xmlns="" xmlns:a16="http://schemas.microsoft.com/office/drawing/2014/main" id="{D7C3C364-5CEB-42AA-BA3D-569ECFC23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8837" y="1624917"/>
            <a:ext cx="8576441" cy="5051287"/>
          </a:xfrm>
          <a:prstGeom prst="rect">
            <a:avLst/>
          </a:prstGeom>
        </p:spPr>
      </p:pic>
    </p:spTree>
    <p:extLst>
      <p:ext uri="{BB962C8B-B14F-4D97-AF65-F5344CB8AC3E}">
        <p14:creationId xmlns:p14="http://schemas.microsoft.com/office/powerpoint/2010/main" val="3040856062"/>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600986"/>
          </a:xfrm>
          <a:prstGeom prst="rect">
            <a:avLst/>
          </a:prstGeom>
          <a:noFill/>
        </p:spPr>
        <p:txBody>
          <a:bodyPr wrap="square" rtlCol="0">
            <a:spAutoFit/>
          </a:bodyPr>
          <a:lstStyle/>
          <a:p>
            <a:pPr lvl="1"/>
            <a:r>
              <a:rPr lang="en-US" sz="2400" dirty="0">
                <a:latin typeface="Times New Roman" panose="02020603050405020304" pitchFamily="18" charset="0"/>
                <a:cs typeface="Times New Roman" panose="02020603050405020304" pitchFamily="18" charset="0"/>
              </a:rPr>
              <a:t>iv. Find out the breakeven point.</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pic>
        <p:nvPicPr>
          <p:cNvPr id="4" name="Picture 3">
            <a:extLst>
              <a:ext uri="{FF2B5EF4-FFF2-40B4-BE49-F238E27FC236}">
                <a16:creationId xmlns="" xmlns:a16="http://schemas.microsoft.com/office/drawing/2014/main" id="{A7F3A807-84E0-43B9-9FC8-5F2AAC1D18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8132" y="2190992"/>
            <a:ext cx="8995176" cy="3626484"/>
          </a:xfrm>
          <a:prstGeom prst="rect">
            <a:avLst/>
          </a:prstGeom>
        </p:spPr>
      </p:pic>
    </p:spTree>
    <p:extLst>
      <p:ext uri="{BB962C8B-B14F-4D97-AF65-F5344CB8AC3E}">
        <p14:creationId xmlns:p14="http://schemas.microsoft.com/office/powerpoint/2010/main" val="2999146756"/>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17C1517F-D6FB-4077-8C69-B7128E04BED4}"/>
              </a:ext>
            </a:extLst>
          </p:cNvPr>
          <p:cNvSpPr txBox="1"/>
          <p:nvPr/>
        </p:nvSpPr>
        <p:spPr>
          <a:xfrm>
            <a:off x="2364828" y="1040524"/>
            <a:ext cx="8576441" cy="3323987"/>
          </a:xfrm>
          <a:prstGeom prst="rect">
            <a:avLst/>
          </a:prstGeom>
          <a:noFill/>
        </p:spPr>
        <p:txBody>
          <a:bodyPr wrap="square" rtlCol="0">
            <a:spAutoFit/>
          </a:bodyPr>
          <a:lstStyle/>
          <a:p>
            <a:pPr lvl="1"/>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Given </a:t>
            </a:r>
            <a:r>
              <a:rPr lang="en-US" sz="2400">
                <a:latin typeface="Times New Roman" panose="02020603050405020304" pitchFamily="18" charset="0"/>
                <a:cs typeface="Times New Roman" panose="02020603050405020304" pitchFamily="18" charset="0"/>
              </a:rPr>
              <a:t>as </a:t>
            </a:r>
            <a:r>
              <a:rPr lang="en-US" sz="2400" smtClean="0">
                <a:latin typeface="Times New Roman" panose="02020603050405020304" pitchFamily="18" charset="0"/>
                <a:cs typeface="Times New Roman" panose="02020603050405020304" pitchFamily="18" charset="0"/>
              </a:rPr>
              <a:t>consumption</a:t>
            </a:r>
            <a:r>
              <a:rPr lang="en-US" sz="240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function, C= 100 + 0.8 Y  and Y= 1000</a:t>
            </a:r>
          </a:p>
          <a:p>
            <a:r>
              <a:rPr lang="en-US" sz="2400" dirty="0">
                <a:latin typeface="Times New Roman" panose="02020603050405020304" pitchFamily="18" charset="0"/>
                <a:cs typeface="Times New Roman" panose="02020603050405020304" pitchFamily="18" charset="0"/>
              </a:rPr>
              <a:t>      </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Find out APC, APS, MPC, MPS.</a:t>
            </a:r>
            <a:endParaRPr lang="en-US" dirty="0"/>
          </a:p>
          <a:p>
            <a:pPr marL="400050" indent="-400050">
              <a:buFont typeface="+mj-lt"/>
              <a:buAutoNum type="romanLcPeriod"/>
            </a:pPr>
            <a:endParaRPr lang="en-US" dirty="0"/>
          </a:p>
          <a:p>
            <a:pPr marL="400050" indent="-400050">
              <a:buFont typeface="+mj-lt"/>
              <a:buAutoNum type="romanLcPeriod"/>
            </a:pPr>
            <a:endParaRPr lang="en-US" dirty="0"/>
          </a:p>
          <a:p>
            <a:pPr marL="400050" indent="-400050">
              <a:buFont typeface="+mj-lt"/>
              <a:buAutoNum type="romanLcPeriod"/>
            </a:pPr>
            <a:endParaRPr lang="en-US" dirty="0"/>
          </a:p>
          <a:p>
            <a:endParaRPr lang="en-US" dirty="0"/>
          </a:p>
          <a:p>
            <a:endParaRPr lang="en-US" dirty="0"/>
          </a:p>
        </p:txBody>
      </p:sp>
    </p:spTree>
    <p:extLst>
      <p:ext uri="{BB962C8B-B14F-4D97-AF65-F5344CB8AC3E}">
        <p14:creationId xmlns:p14="http://schemas.microsoft.com/office/powerpoint/2010/main" val="2711656870"/>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23E7DB28-127F-4A3F-9A90-F38A55D4E3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5402" y="1352069"/>
            <a:ext cx="8307906" cy="5042533"/>
          </a:xfrm>
          <a:prstGeom prst="rect">
            <a:avLst/>
          </a:prstGeom>
        </p:spPr>
      </p:pic>
    </p:spTree>
    <p:extLst>
      <p:ext uri="{BB962C8B-B14F-4D97-AF65-F5344CB8AC3E}">
        <p14:creationId xmlns:p14="http://schemas.microsoft.com/office/powerpoint/2010/main" val="211953839"/>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 xmlns:a16="http://schemas.microsoft.com/office/drawing/2014/main" id="{C7717785-D3E9-4CE5-BC2D-B6E60F8B6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942" y="1355834"/>
            <a:ext cx="9268826" cy="5022466"/>
          </a:xfrm>
          <a:prstGeom prst="rect">
            <a:avLst/>
          </a:prstGeom>
        </p:spPr>
      </p:pic>
    </p:spTree>
    <p:extLst>
      <p:ext uri="{BB962C8B-B14F-4D97-AF65-F5344CB8AC3E}">
        <p14:creationId xmlns:p14="http://schemas.microsoft.com/office/powerpoint/2010/main" val="1489833191"/>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7983B6-FE8D-26C2-B2B7-4749B9DD1417}"/>
            </a:ext>
          </a:extLst>
        </p:cNvPr>
        <p:cNvGrpSpPr/>
        <p:nvPr/>
      </p:nvGrpSpPr>
      <p:grpSpPr>
        <a:xfrm>
          <a:off x="0" y="0"/>
          <a:ext cx="0" cy="0"/>
          <a:chOff x="0" y="0"/>
          <a:chExt cx="0" cy="0"/>
        </a:xfrm>
      </p:grpSpPr>
      <p:sp>
        <p:nvSpPr>
          <p:cNvPr id="18" name="Freeform: Shape 17">
            <a:extLst>
              <a:ext uri="{FF2B5EF4-FFF2-40B4-BE49-F238E27FC236}">
                <a16:creationId xmlns="" xmlns:a16="http://schemas.microsoft.com/office/drawing/2014/main" id="{6E5E42B9-47CF-1906-3788-8927271F8180}"/>
              </a:ext>
            </a:extLst>
          </p:cNvPr>
          <p:cNvSpPr/>
          <p:nvPr/>
        </p:nvSpPr>
        <p:spPr>
          <a:xfrm>
            <a:off x="978692" y="0"/>
            <a:ext cx="1114018" cy="6858000"/>
          </a:xfrm>
          <a:custGeom>
            <a:avLst/>
            <a:gdLst>
              <a:gd name="connsiteX0" fmla="*/ 0 w 2943225"/>
              <a:gd name="connsiteY0" fmla="*/ 0 h 6858000"/>
              <a:gd name="connsiteX1" fmla="*/ 2438400 w 2943225"/>
              <a:gd name="connsiteY1" fmla="*/ 0 h 6858000"/>
              <a:gd name="connsiteX2" fmla="*/ 2438400 w 2943225"/>
              <a:gd name="connsiteY2" fmla="*/ 423698 h 6858000"/>
              <a:gd name="connsiteX3" fmla="*/ 2943225 w 2943225"/>
              <a:gd name="connsiteY3" fmla="*/ 876300 h 6858000"/>
              <a:gd name="connsiteX4" fmla="*/ 2438400 w 2943225"/>
              <a:gd name="connsiteY4" fmla="*/ 1328902 h 6858000"/>
              <a:gd name="connsiteX5" fmla="*/ 2438400 w 2943225"/>
              <a:gd name="connsiteY5" fmla="*/ 6858000 h 6858000"/>
              <a:gd name="connsiteX6" fmla="*/ 0 w 2943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3225" h="6858000">
                <a:moveTo>
                  <a:pt x="0" y="0"/>
                </a:moveTo>
                <a:lnTo>
                  <a:pt x="2438400" y="0"/>
                </a:lnTo>
                <a:lnTo>
                  <a:pt x="2438400" y="423698"/>
                </a:lnTo>
                <a:lnTo>
                  <a:pt x="2943225" y="876300"/>
                </a:lnTo>
                <a:lnTo>
                  <a:pt x="2438400" y="1328902"/>
                </a:lnTo>
                <a:lnTo>
                  <a:pt x="2438400" y="6858000"/>
                </a:lnTo>
                <a:lnTo>
                  <a:pt x="0" y="6858000"/>
                </a:lnTo>
                <a:close/>
              </a:path>
            </a:pathLst>
          </a:custGeom>
          <a:solidFill>
            <a:schemeClr val="tx2">
              <a:lumMod val="50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 xmlns:a16="http://schemas.microsoft.com/office/drawing/2014/main" id="{4FC975A1-E312-D511-17C2-17FB0E8CEB55}"/>
              </a:ext>
            </a:extLst>
          </p:cNvPr>
          <p:cNvSpPr/>
          <p:nvPr/>
        </p:nvSpPr>
        <p:spPr>
          <a:xfrm>
            <a:off x="699460" y="0"/>
            <a:ext cx="1153655" cy="6858000"/>
          </a:xfrm>
          <a:custGeom>
            <a:avLst/>
            <a:gdLst>
              <a:gd name="connsiteX0" fmla="*/ 0 w 2981324"/>
              <a:gd name="connsiteY0" fmla="*/ 0 h 6858000"/>
              <a:gd name="connsiteX1" fmla="*/ 2438400 w 2981324"/>
              <a:gd name="connsiteY1" fmla="*/ 0 h 6858000"/>
              <a:gd name="connsiteX2" fmla="*/ 2438400 w 2981324"/>
              <a:gd name="connsiteY2" fmla="*/ 389541 h 6858000"/>
              <a:gd name="connsiteX3" fmla="*/ 2981324 w 2981324"/>
              <a:gd name="connsiteY3" fmla="*/ 876300 h 6858000"/>
              <a:gd name="connsiteX4" fmla="*/ 2438400 w 2981324"/>
              <a:gd name="connsiteY4" fmla="*/ 1363060 h 6858000"/>
              <a:gd name="connsiteX5" fmla="*/ 2438400 w 2981324"/>
              <a:gd name="connsiteY5" fmla="*/ 6858000 h 6858000"/>
              <a:gd name="connsiteX6" fmla="*/ 0 w 29813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1324" h="6858000">
                <a:moveTo>
                  <a:pt x="0" y="0"/>
                </a:moveTo>
                <a:lnTo>
                  <a:pt x="2438400" y="0"/>
                </a:lnTo>
                <a:lnTo>
                  <a:pt x="2438400" y="389541"/>
                </a:lnTo>
                <a:lnTo>
                  <a:pt x="2981324" y="876300"/>
                </a:lnTo>
                <a:lnTo>
                  <a:pt x="2438400" y="1363060"/>
                </a:lnTo>
                <a:lnTo>
                  <a:pt x="2438400" y="6858000"/>
                </a:lnTo>
                <a:lnTo>
                  <a:pt x="0" y="6858000"/>
                </a:lnTo>
                <a:close/>
              </a:path>
            </a:pathLst>
          </a:custGeom>
          <a:solidFill>
            <a:schemeClr val="accent1">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 xmlns:a16="http://schemas.microsoft.com/office/drawing/2014/main" id="{2EB60B49-CF41-2C29-7CAA-3C18EA23D251}"/>
              </a:ext>
            </a:extLst>
          </p:cNvPr>
          <p:cNvSpPr/>
          <p:nvPr/>
        </p:nvSpPr>
        <p:spPr>
          <a:xfrm>
            <a:off x="459865" y="0"/>
            <a:ext cx="1163318"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lumMod val="75000"/>
            </a:schemeClr>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 xmlns:a16="http://schemas.microsoft.com/office/drawing/2014/main" id="{37076F2E-DCD0-C01B-C8EC-994581BF1890}"/>
              </a:ext>
            </a:extLst>
          </p:cNvPr>
          <p:cNvSpPr/>
          <p:nvPr/>
        </p:nvSpPr>
        <p:spPr>
          <a:xfrm>
            <a:off x="229933" y="0"/>
            <a:ext cx="1152664"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ln>
            <a:noFill/>
          </a:ln>
          <a:effectLst>
            <a:outerShdw blurRad="127000" dist="38100" algn="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 xmlns:a16="http://schemas.microsoft.com/office/drawing/2014/main" id="{3191152A-8634-E061-C9D4-6C525C2EAA1F}"/>
              </a:ext>
            </a:extLst>
          </p:cNvPr>
          <p:cNvSpPr/>
          <p:nvPr/>
        </p:nvSpPr>
        <p:spPr>
          <a:xfrm>
            <a:off x="-10652" y="0"/>
            <a:ext cx="1153652" cy="6858000"/>
          </a:xfrm>
          <a:custGeom>
            <a:avLst/>
            <a:gdLst>
              <a:gd name="connsiteX0" fmla="*/ 0 w 2990850"/>
              <a:gd name="connsiteY0" fmla="*/ 0 h 6858000"/>
              <a:gd name="connsiteX1" fmla="*/ 2438400 w 2990850"/>
              <a:gd name="connsiteY1" fmla="*/ 0 h 6858000"/>
              <a:gd name="connsiteX2" fmla="*/ 2438400 w 2990850"/>
              <a:gd name="connsiteY2" fmla="*/ 381000 h 6858000"/>
              <a:gd name="connsiteX3" fmla="*/ 2990850 w 2990850"/>
              <a:gd name="connsiteY3" fmla="*/ 876300 h 6858000"/>
              <a:gd name="connsiteX4" fmla="*/ 2438400 w 2990850"/>
              <a:gd name="connsiteY4" fmla="*/ 1371600 h 6858000"/>
              <a:gd name="connsiteX5" fmla="*/ 2438400 w 2990850"/>
              <a:gd name="connsiteY5" fmla="*/ 6858000 h 6858000"/>
              <a:gd name="connsiteX6" fmla="*/ 0 w 29908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850" h="685800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 xmlns:a16="http://schemas.microsoft.com/office/drawing/2014/main" id="{741C3859-E27E-4A10-BE1F-F8669722491A}"/>
              </a:ext>
            </a:extLst>
          </p:cNvPr>
          <p:cNvSpPr txBox="1"/>
          <p:nvPr/>
        </p:nvSpPr>
        <p:spPr>
          <a:xfrm>
            <a:off x="4165978" y="0"/>
            <a:ext cx="6148316" cy="46339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Mathematical problems on consumption function</a:t>
            </a:r>
            <a:endParaRPr lang="en-US" sz="18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 xmlns:a16="http://schemas.microsoft.com/office/drawing/2014/main" id="{629B37FE-A8F4-484A-BAAF-F0BBF71CF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0108" y="740978"/>
            <a:ext cx="5534830" cy="3429000"/>
          </a:xfrm>
          <a:prstGeom prst="rect">
            <a:avLst/>
          </a:prstGeom>
        </p:spPr>
      </p:pic>
      <p:pic>
        <p:nvPicPr>
          <p:cNvPr id="6" name="Picture 5">
            <a:extLst>
              <a:ext uri="{FF2B5EF4-FFF2-40B4-BE49-F238E27FC236}">
                <a16:creationId xmlns="" xmlns:a16="http://schemas.microsoft.com/office/drawing/2014/main" id="{7892BBE9-09C0-42B1-87AD-6333E66E71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0108" y="4447559"/>
            <a:ext cx="9101959" cy="2026608"/>
          </a:xfrm>
          <a:prstGeom prst="rect">
            <a:avLst/>
          </a:prstGeom>
        </p:spPr>
      </p:pic>
    </p:spTree>
    <p:extLst>
      <p:ext uri="{BB962C8B-B14F-4D97-AF65-F5344CB8AC3E}">
        <p14:creationId xmlns:p14="http://schemas.microsoft.com/office/powerpoint/2010/main" val="3280373163"/>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5664</TotalTime>
  <Words>1467</Words>
  <Application>Microsoft Office PowerPoint</Application>
  <PresentationFormat>Custom</PresentationFormat>
  <Paragraphs>202</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Abdullah Al Noman_7</dc:creator>
  <cp:lastModifiedBy>ismail - [2010]</cp:lastModifiedBy>
  <cp:revision>442</cp:revision>
  <dcterms:created xsi:type="dcterms:W3CDTF">2024-01-22T10:30:11Z</dcterms:created>
  <dcterms:modified xsi:type="dcterms:W3CDTF">2025-12-11T03:35:00Z</dcterms:modified>
</cp:coreProperties>
</file>