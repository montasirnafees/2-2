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29"/>
  </p:notesMasterIdLst>
  <p:handoutMasterIdLst>
    <p:handoutMasterId r:id="rId30"/>
  </p:handoutMasterIdLst>
  <p:sldIdLst>
    <p:sldId id="317" r:id="rId2"/>
    <p:sldId id="257" r:id="rId3"/>
    <p:sldId id="297" r:id="rId4"/>
    <p:sldId id="295" r:id="rId5"/>
    <p:sldId id="324" r:id="rId6"/>
    <p:sldId id="325" r:id="rId7"/>
    <p:sldId id="326" r:id="rId8"/>
    <p:sldId id="328" r:id="rId9"/>
    <p:sldId id="329" r:id="rId10"/>
    <p:sldId id="323" r:id="rId11"/>
    <p:sldId id="299" r:id="rId12"/>
    <p:sldId id="301" r:id="rId13"/>
    <p:sldId id="330" r:id="rId14"/>
    <p:sldId id="331" r:id="rId15"/>
    <p:sldId id="332" r:id="rId16"/>
    <p:sldId id="333" r:id="rId17"/>
    <p:sldId id="334" r:id="rId18"/>
    <p:sldId id="335" r:id="rId19"/>
    <p:sldId id="318" r:id="rId20"/>
    <p:sldId id="309" r:id="rId21"/>
    <p:sldId id="296" r:id="rId22"/>
    <p:sldId id="315" r:id="rId23"/>
    <p:sldId id="336" r:id="rId24"/>
    <p:sldId id="337" r:id="rId25"/>
    <p:sldId id="339" r:id="rId26"/>
    <p:sldId id="340" r:id="rId27"/>
    <p:sldId id="341" r:id="rId28"/>
  </p:sldIdLst>
  <p:sldSz cx="9144000" cy="6858000" type="screen4x3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00CC"/>
    <a:srgbClr val="FF0066"/>
    <a:srgbClr val="FFFFCC"/>
    <a:srgbClr val="9999FF"/>
    <a:srgbClr val="CCCCFF"/>
    <a:srgbClr val="66CCFF"/>
    <a:srgbClr val="99CCFF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7267" autoAdjust="0"/>
    <p:restoredTop sz="90929"/>
  </p:normalViewPr>
  <p:slideViewPr>
    <p:cSldViewPr>
      <p:cViewPr varScale="1">
        <p:scale>
          <a:sx n="71" d="100"/>
          <a:sy n="71" d="100"/>
        </p:scale>
        <p:origin x="1692" y="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handoutMaster" Target="handoutMasters/handoutMaster1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defTabSz="931863" eaLnBrk="0" hangingPunct="0">
              <a:defRPr sz="1200">
                <a:latin typeface="Times New Roman" pitchFamily="18" charset="0"/>
              </a:defRPr>
            </a:lvl1pPr>
          </a:lstStyle>
          <a:p>
            <a:endParaRPr lang="en-US"/>
          </a:p>
        </p:txBody>
      </p:sp>
      <p:sp>
        <p:nvSpPr>
          <p:cNvPr id="5120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0338" y="0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algn="r" defTabSz="931863" eaLnBrk="0" hangingPunct="0">
              <a:defRPr sz="1200">
                <a:latin typeface="Times New Roman" pitchFamily="18" charset="0"/>
              </a:defRPr>
            </a:lvl1pPr>
          </a:lstStyle>
          <a:p>
            <a:fld id="{E72524C8-738E-4177-9136-08AD8739CF33}" type="datetimeFigureOut">
              <a:rPr lang="en-US"/>
              <a:pPr/>
              <a:t>7/7/2025</a:t>
            </a:fld>
            <a:endParaRPr lang="en-US"/>
          </a:p>
        </p:txBody>
      </p:sp>
      <p:sp>
        <p:nvSpPr>
          <p:cNvPr id="5120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29675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defTabSz="931863" eaLnBrk="0" hangingPunct="0">
              <a:defRPr sz="1200">
                <a:latin typeface="Times New Roman" pitchFamily="18" charset="0"/>
              </a:defRPr>
            </a:lvl1pPr>
          </a:lstStyle>
          <a:p>
            <a:endParaRPr lang="en-US"/>
          </a:p>
        </p:txBody>
      </p:sp>
      <p:sp>
        <p:nvSpPr>
          <p:cNvPr id="5120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 defTabSz="931863" eaLnBrk="0" hangingPunct="0">
              <a:defRPr sz="1200">
                <a:latin typeface="Times New Roman" pitchFamily="18" charset="0"/>
              </a:defRPr>
            </a:lvl1pPr>
          </a:lstStyle>
          <a:p>
            <a:fld id="{28645CCD-4F5A-43F2-93C7-F89E2DAC7BB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85498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defTabSz="931863">
              <a:defRPr sz="1200">
                <a:latin typeface="Times New Roman" pitchFamily="18" charset="0"/>
              </a:defRPr>
            </a:lvl1pPr>
          </a:lstStyle>
          <a:p>
            <a:endParaRPr lang="en-IN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1925" y="0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algn="r" defTabSz="931863">
              <a:defRPr sz="1200">
                <a:latin typeface="Times New Roman" pitchFamily="18" charset="0"/>
              </a:defRPr>
            </a:lvl1pPr>
          </a:lstStyle>
          <a:p>
            <a:endParaRPr lang="en-IN"/>
          </a:p>
        </p:txBody>
      </p:sp>
      <p:sp>
        <p:nvSpPr>
          <p:cNvPr id="2560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1100" y="696913"/>
            <a:ext cx="46482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56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5038" y="4416425"/>
            <a:ext cx="5140325" cy="4183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56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1263"/>
            <a:ext cx="3038475" cy="465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defTabSz="931863">
              <a:defRPr sz="1200">
                <a:latin typeface="Times New Roman" pitchFamily="18" charset="0"/>
              </a:defRPr>
            </a:lvl1pPr>
          </a:lstStyle>
          <a:p>
            <a:endParaRPr lang="en-IN"/>
          </a:p>
        </p:txBody>
      </p:sp>
      <p:sp>
        <p:nvSpPr>
          <p:cNvPr id="256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1925" y="8831263"/>
            <a:ext cx="3038475" cy="465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 defTabSz="931863">
              <a:defRPr sz="1200">
                <a:latin typeface="Times New Roman" pitchFamily="18" charset="0"/>
              </a:defRPr>
            </a:lvl1pPr>
          </a:lstStyle>
          <a:p>
            <a:fld id="{197FF6AE-71F7-429C-BCF5-7B20CFC70D61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69064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>
    <p:checker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>
    <p:checker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>
    <p:checker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  <p:transition>
    <p:checker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checker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>
    <p:checker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>
    <p:checker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>
    <p:checker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 userDrawn="1"/>
        </p:nvSpPr>
        <p:spPr bwMode="auto">
          <a:xfrm>
            <a:off x="-9525" y="-7938"/>
            <a:ext cx="9163050" cy="104140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938"/>
            <a:ext cx="4762500" cy="6381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+mn-lt"/>
              <a:cs typeface="+mn-cs"/>
            </a:endParaRPr>
          </a:p>
        </p:txBody>
      </p:sp>
      <p:grpSp>
        <p:nvGrpSpPr>
          <p:cNvPr id="1033" name="Group 1"/>
          <p:cNvGrpSpPr>
            <a:grpSpLocks/>
          </p:cNvGrpSpPr>
          <p:nvPr userDrawn="1"/>
        </p:nvGrpSpPr>
        <p:grpSpPr bwMode="auto">
          <a:xfrm>
            <a:off x="-19050" y="203200"/>
            <a:ext cx="9180513" cy="647700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 userDrawn="1"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defRPr/>
              </a:pPr>
              <a:endParaRPr lang="en-US">
                <a:latin typeface="Times New Roman" pitchFamily="18" charset="0"/>
                <a:cs typeface="+mn-cs"/>
              </a:endParaRPr>
            </a:p>
          </p:txBody>
        </p:sp>
        <p:sp>
          <p:nvSpPr>
            <p:cNvPr id="13" name="Freeform 12"/>
            <p:cNvSpPr>
              <a:spLocks/>
            </p:cNvSpPr>
            <p:nvPr userDrawn="1"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defRPr/>
              </a:pPr>
              <a:endParaRPr lang="en-US">
                <a:latin typeface="Times New Roman" pitchFamily="18" charset="0"/>
                <a:cs typeface="+mn-cs"/>
              </a:endParaRPr>
            </a:p>
          </p:txBody>
        </p:sp>
      </p:grpSp>
      <p:sp>
        <p:nvSpPr>
          <p:cNvPr id="1040" name="Rectangle 16"/>
          <p:cNvSpPr>
            <a:spLocks noChangeArrowheads="1"/>
          </p:cNvSpPr>
          <p:nvPr userDrawn="1"/>
        </p:nvSpPr>
        <p:spPr bwMode="auto">
          <a:xfrm>
            <a:off x="6934200" y="6248400"/>
            <a:ext cx="18288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r"/>
            <a:r>
              <a:rPr lang="en-US" sz="1200" b="1">
                <a:solidFill>
                  <a:srgbClr val="0099CC"/>
                </a:solidFill>
                <a:latin typeface="Times New Roman" pitchFamily="18" charset="0"/>
              </a:rPr>
              <a:t>All Rights Reserved</a:t>
            </a:r>
            <a:endParaRPr lang="en-US" sz="1800">
              <a:solidFill>
                <a:srgbClr val="0099CC"/>
              </a:solidFill>
              <a:latin typeface="Times New Roman" pitchFamily="18" charset="0"/>
            </a:endParaRPr>
          </a:p>
        </p:txBody>
      </p:sp>
      <p:sp>
        <p:nvSpPr>
          <p:cNvPr id="1041" name="Line 17"/>
          <p:cNvSpPr>
            <a:spLocks noChangeShapeType="1"/>
          </p:cNvSpPr>
          <p:nvPr userDrawn="1"/>
        </p:nvSpPr>
        <p:spPr bwMode="auto">
          <a:xfrm>
            <a:off x="457200" y="6172200"/>
            <a:ext cx="8229600" cy="0"/>
          </a:xfrm>
          <a:prstGeom prst="line">
            <a:avLst/>
          </a:prstGeom>
          <a:noFill/>
          <a:ln w="15875">
            <a:solidFill>
              <a:srgbClr val="0099CC"/>
            </a:solidFill>
            <a:round/>
            <a:headEnd/>
            <a:tailEnd/>
          </a:ln>
          <a:effectLst/>
        </p:spPr>
        <p:txBody>
          <a:bodyPr wrap="none" lIns="81204" tIns="39889" rIns="81204" bIns="39889" anchor="ctr"/>
          <a:lstStyle/>
          <a:p>
            <a:endParaRPr lang="en-US"/>
          </a:p>
        </p:txBody>
      </p:sp>
      <p:sp>
        <p:nvSpPr>
          <p:cNvPr id="1042" name="Rectangle 18"/>
          <p:cNvSpPr>
            <a:spLocks noChangeArrowheads="1"/>
          </p:cNvSpPr>
          <p:nvPr userDrawn="1"/>
        </p:nvSpPr>
        <p:spPr bwMode="auto">
          <a:xfrm>
            <a:off x="381000" y="6248400"/>
            <a:ext cx="5638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/>
            <a:r>
              <a:rPr lang="en-US" sz="1200" b="1">
                <a:solidFill>
                  <a:srgbClr val="0099CC"/>
                </a:solidFill>
                <a:latin typeface="Times New Roman" pitchFamily="18" charset="0"/>
              </a:rPr>
              <a:t>Microeconomics</a:t>
            </a:r>
          </a:p>
          <a:p>
            <a:pPr eaLnBrk="0" hangingPunct="0"/>
            <a:r>
              <a:rPr lang="en-US" sz="1200" b="1">
                <a:solidFill>
                  <a:srgbClr val="0099CC"/>
                </a:solidFill>
                <a:latin typeface="Times New Roman" pitchFamily="18" charset="0"/>
              </a:rPr>
              <a:t>© Oxford University Press Malaysia, 2008</a:t>
            </a:r>
          </a:p>
        </p:txBody>
      </p:sp>
      <p:sp>
        <p:nvSpPr>
          <p:cNvPr id="1043" name="Rectangle 19"/>
          <p:cNvSpPr>
            <a:spLocks noChangeArrowheads="1"/>
          </p:cNvSpPr>
          <p:nvPr userDrawn="1"/>
        </p:nvSpPr>
        <p:spPr bwMode="auto">
          <a:xfrm>
            <a:off x="8210550" y="6553200"/>
            <a:ext cx="55245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r"/>
            <a:r>
              <a:rPr lang="en-US" sz="1200" b="1">
                <a:solidFill>
                  <a:srgbClr val="0083B8"/>
                </a:solidFill>
                <a:latin typeface="Times New Roman" pitchFamily="18" charset="0"/>
              </a:rPr>
              <a:t>6</a:t>
            </a:r>
            <a:r>
              <a:rPr lang="en-GB" sz="1200" b="1">
                <a:solidFill>
                  <a:srgbClr val="0083B8"/>
                </a:solidFill>
                <a:latin typeface="Times New Roman" pitchFamily="18" charset="0"/>
              </a:rPr>
              <a:t>–</a:t>
            </a:r>
            <a:r>
              <a:rPr lang="en-US" sz="1200" b="1">
                <a:solidFill>
                  <a:srgbClr val="0083B8"/>
                </a:solidFill>
                <a:latin typeface="Times New Roman" pitchFamily="18" charset="0"/>
              </a:rPr>
              <a:t> </a:t>
            </a:r>
            <a:fld id="{B4EEF78C-B9C3-4EFE-A43D-AB5965E96862}" type="slidenum">
              <a:rPr lang="en-US" sz="1200" b="1">
                <a:solidFill>
                  <a:srgbClr val="0083B8"/>
                </a:solidFill>
                <a:latin typeface="Times New Roman" pitchFamily="18" charset="0"/>
              </a:rPr>
              <a:pPr algn="r"/>
              <a:t>‹#›</a:t>
            </a:fld>
            <a:endParaRPr lang="en-US" sz="1200" b="1">
              <a:solidFill>
                <a:srgbClr val="0083B8"/>
              </a:solidFill>
              <a:latin typeface="Times New Roman" pitchFamily="18" charset="0"/>
            </a:endParaRPr>
          </a:p>
        </p:txBody>
      </p:sp>
      <p:sp>
        <p:nvSpPr>
          <p:cNvPr id="1044" name="Rectangle 20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45" name="Rectangle 21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</p:sldLayoutIdLst>
  <p:transition>
    <p:checker/>
  </p:transition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 b="1" kern="1200">
          <a:solidFill>
            <a:schemeClr val="tx2"/>
          </a:solidFill>
          <a:latin typeface="Arial" charset="0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9pPr>
    </p:titleStyle>
    <p:bodyStyle>
      <a:lvl1pPr marL="273050" indent="-273050" algn="l" rtl="0" eaLnBrk="0" fontAlgn="base" hangingPunct="0">
        <a:spcBef>
          <a:spcPct val="20000"/>
        </a:spcBef>
        <a:spcAft>
          <a:spcPct val="0"/>
        </a:spcAft>
        <a:buClr>
          <a:srgbClr val="0BD0D9"/>
        </a:buClr>
        <a:buSzPct val="95000"/>
        <a:buFont typeface="Wingdings 2" pitchFamily="18" charset="2"/>
        <a:buChar char=""/>
        <a:defRPr sz="3000" kern="1200">
          <a:solidFill>
            <a:schemeClr val="tx1"/>
          </a:solidFill>
          <a:latin typeface="Arial" charset="0"/>
          <a:ea typeface="+mn-ea"/>
          <a:cs typeface="+mn-cs"/>
        </a:defRPr>
      </a:lvl1pPr>
      <a:lvl2pPr marL="639763" indent="-246063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85000"/>
        <a:buFont typeface="Wingdings 2" pitchFamily="18" charset="2"/>
        <a:buChar char=""/>
        <a:defRPr sz="3000" kern="1200">
          <a:solidFill>
            <a:schemeClr val="tx1"/>
          </a:solidFill>
          <a:latin typeface="Arial" charset="0"/>
          <a:ea typeface="+mn-ea"/>
          <a:cs typeface="+mn-cs"/>
        </a:defRPr>
      </a:lvl2pPr>
      <a:lvl3pPr marL="914400" indent="-2460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 2" pitchFamily="18" charset="2"/>
        <a:buChar char=""/>
        <a:defRPr sz="3000" kern="1200">
          <a:solidFill>
            <a:schemeClr val="tx1"/>
          </a:solidFill>
          <a:latin typeface="Arial" charset="0"/>
          <a:ea typeface="+mn-ea"/>
          <a:cs typeface="+mn-cs"/>
        </a:defRPr>
      </a:lvl3pPr>
      <a:lvl4pPr marL="1187450" indent="-209550" algn="l" rtl="0" eaLnBrk="0" fontAlgn="base" hangingPunct="0">
        <a:spcBef>
          <a:spcPct val="20000"/>
        </a:spcBef>
        <a:spcAft>
          <a:spcPct val="0"/>
        </a:spcAft>
        <a:buClr>
          <a:srgbClr val="0BD0D9"/>
        </a:buClr>
        <a:buSzPct val="65000"/>
        <a:buFont typeface="Wingdings 2" pitchFamily="18" charset="2"/>
        <a:buChar char=""/>
        <a:defRPr sz="3000" kern="1200">
          <a:solidFill>
            <a:schemeClr val="tx1"/>
          </a:solidFill>
          <a:latin typeface="Arial" charset="0"/>
          <a:ea typeface="+mn-ea"/>
          <a:cs typeface="+mn-cs"/>
        </a:defRPr>
      </a:lvl4pPr>
      <a:lvl5pPr marL="1462088" indent="-209550" algn="l" rtl="0" eaLnBrk="0" fontAlgn="base" hangingPunct="0">
        <a:spcBef>
          <a:spcPct val="20000"/>
        </a:spcBef>
        <a:spcAft>
          <a:spcPct val="0"/>
        </a:spcAft>
        <a:buClr>
          <a:srgbClr val="10CF9B"/>
        </a:buClr>
        <a:buSzPct val="65000"/>
        <a:buFont typeface="Wingdings 2" pitchFamily="18" charset="2"/>
        <a:buChar char=""/>
        <a:defRPr sz="3000" kern="1200">
          <a:solidFill>
            <a:schemeClr val="tx1"/>
          </a:solidFill>
          <a:latin typeface="Arial" charset="0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tmp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tmp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tmp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tmp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tmp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tmp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tmp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" Target="slide6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tmp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tmp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tmp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tmp"/><Relationship Id="rId2" Type="http://schemas.openxmlformats.org/officeDocument/2006/relationships/image" Target="../media/image14.tmp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tmp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tmp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tmp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tmp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tmp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tmp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tmp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61" name="Rectangle 5" descr="mic Open2"/>
          <p:cNvSpPr>
            <a:spLocks noChangeArrowheads="1"/>
          </p:cNvSpPr>
          <p:nvPr/>
        </p:nvSpPr>
        <p:spPr bwMode="auto">
          <a:xfrm>
            <a:off x="0" y="0"/>
            <a:ext cx="9144000" cy="2667000"/>
          </a:xfrm>
          <a:prstGeom prst="rect">
            <a:avLst/>
          </a:prstGeom>
          <a:blipFill dpi="0" rotWithShape="1">
            <a:blip r:embed="rId2" cstate="print"/>
            <a:srcRect/>
            <a:stretch>
              <a:fillRect/>
            </a:stretch>
          </a:blip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5062" name="Rectangle 6"/>
          <p:cNvSpPr>
            <a:spLocks noGrp="1"/>
          </p:cNvSpPr>
          <p:nvPr>
            <p:ph type="title"/>
          </p:nvPr>
        </p:nvSpPr>
        <p:spPr>
          <a:xfrm>
            <a:off x="2057400" y="3581400"/>
            <a:ext cx="6629400" cy="1143000"/>
          </a:xfrm>
          <a:noFill/>
          <a:ln/>
        </p:spPr>
        <p:txBody>
          <a:bodyPr lIns="0" rIns="0" bIns="0" anchor="b"/>
          <a:lstStyle/>
          <a:p>
            <a:pPr algn="l"/>
            <a:br>
              <a:rPr lang="en-US" b="0"/>
            </a:br>
            <a:r>
              <a:rPr lang="en-US" sz="5000">
                <a:solidFill>
                  <a:schemeClr val="accent1"/>
                </a:solidFill>
                <a:latin typeface="Franklin Gothic Medium" pitchFamily="34" charset="0"/>
              </a:rPr>
              <a:t>Theory of Production</a:t>
            </a:r>
          </a:p>
        </p:txBody>
      </p:sp>
      <p:sp>
        <p:nvSpPr>
          <p:cNvPr id="45063" name="Rectangle 7"/>
          <p:cNvSpPr>
            <a:spLocks noChangeArrowheads="1"/>
          </p:cNvSpPr>
          <p:nvPr/>
        </p:nvSpPr>
        <p:spPr bwMode="auto">
          <a:xfrm>
            <a:off x="76200" y="2667000"/>
            <a:ext cx="1752600" cy="1470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r"/>
            <a:endParaRPr lang="en-GB" sz="4000" dirty="0">
              <a:solidFill>
                <a:srgbClr val="0033CC"/>
              </a:solidFill>
              <a:latin typeface="Arial Black" pitchFamily="34" charset="0"/>
            </a:endParaRPr>
          </a:p>
        </p:txBody>
      </p:sp>
      <p:sp>
        <p:nvSpPr>
          <p:cNvPr id="45065" name="Line 9"/>
          <p:cNvSpPr>
            <a:spLocks noChangeShapeType="1"/>
          </p:cNvSpPr>
          <p:nvPr/>
        </p:nvSpPr>
        <p:spPr bwMode="auto">
          <a:xfrm>
            <a:off x="1905000" y="2209800"/>
            <a:ext cx="0" cy="243840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ffectLst/>
        </p:spPr>
        <p:txBody>
          <a:bodyPr wrap="none" lIns="81204" tIns="39889" rIns="81204" bIns="39889" anchor="ctr"/>
          <a:lstStyle/>
          <a:p>
            <a:endParaRPr lang="en-US"/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2133600"/>
            <a:ext cx="8610600" cy="1219200"/>
          </a:xfrm>
          <a:solidFill>
            <a:srgbClr val="FFFFFF"/>
          </a:solidFill>
        </p:spPr>
        <p:txBody>
          <a:bodyPr/>
          <a:lstStyle/>
          <a:p>
            <a:pPr marL="0" indent="0" eaLnBrk="1" hangingPunct="1">
              <a:buFont typeface="Wingdings" pitchFamily="2" charset="2"/>
              <a:buNone/>
            </a:pPr>
            <a:r>
              <a:rPr lang="en-US" sz="3400" b="1"/>
              <a:t>Production is the process of transforming inputs into outputs.</a:t>
            </a:r>
          </a:p>
          <a:p>
            <a:pPr marL="0" indent="0">
              <a:buFont typeface="Wingdings 2" pitchFamily="18" charset="2"/>
              <a:buNone/>
            </a:pPr>
            <a:r>
              <a:rPr lang="en-GB" sz="3400" b="1"/>
              <a:t>					</a:t>
            </a:r>
            <a:r>
              <a:rPr lang="en-US" sz="3400" b="1"/>
              <a:t>		</a:t>
            </a:r>
            <a:endParaRPr lang="en-US" sz="3400"/>
          </a:p>
          <a:p>
            <a:pPr marL="0" indent="0" algn="just" eaLnBrk="1" hangingPunct="1">
              <a:buFont typeface="Wingdings" pitchFamily="2" charset="2"/>
              <a:buNone/>
            </a:pPr>
            <a:endParaRPr lang="en-US" sz="3400"/>
          </a:p>
        </p:txBody>
      </p:sp>
      <p:sp>
        <p:nvSpPr>
          <p:cNvPr id="5122" name="Rectangle 2"/>
          <p:cNvSpPr>
            <a:spLocks noChangeArrowheads="1"/>
          </p:cNvSpPr>
          <p:nvPr/>
        </p:nvSpPr>
        <p:spPr bwMode="auto">
          <a:xfrm>
            <a:off x="609600" y="990600"/>
            <a:ext cx="784860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rIns="0" bIns="0" anchor="b"/>
          <a:lstStyle/>
          <a:p>
            <a:pPr algn="ctr"/>
            <a:r>
              <a:rPr lang="en-US" sz="4000" b="1">
                <a:solidFill>
                  <a:srgbClr val="0000FF"/>
                </a:solidFill>
              </a:rPr>
              <a:t>DEFINITION OF PRODUCTION</a:t>
            </a:r>
          </a:p>
        </p:txBody>
      </p:sp>
      <p:sp>
        <p:nvSpPr>
          <p:cNvPr id="6168" name="Line 24"/>
          <p:cNvSpPr>
            <a:spLocks noChangeShapeType="1"/>
          </p:cNvSpPr>
          <p:nvPr/>
        </p:nvSpPr>
        <p:spPr bwMode="auto">
          <a:xfrm>
            <a:off x="609600" y="1905000"/>
            <a:ext cx="7772400" cy="0"/>
          </a:xfrm>
          <a:prstGeom prst="line">
            <a:avLst/>
          </a:prstGeom>
          <a:noFill/>
          <a:ln w="9525">
            <a:solidFill>
              <a:srgbClr val="0083B8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grpSp>
        <p:nvGrpSpPr>
          <p:cNvPr id="6172" name="Group 28"/>
          <p:cNvGrpSpPr>
            <a:grpSpLocks/>
          </p:cNvGrpSpPr>
          <p:nvPr/>
        </p:nvGrpSpPr>
        <p:grpSpPr bwMode="auto">
          <a:xfrm>
            <a:off x="304800" y="3352800"/>
            <a:ext cx="8534400" cy="2703513"/>
            <a:chOff x="192" y="1344"/>
            <a:chExt cx="5376" cy="1703"/>
          </a:xfrm>
        </p:grpSpPr>
        <p:pic>
          <p:nvPicPr>
            <p:cNvPr id="6158" name="Rectangle 17"/>
            <p:cNvPicPr>
              <a:picLocks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92" y="1344"/>
              <a:ext cx="1584" cy="1655"/>
            </a:xfrm>
            <a:prstGeom prst="rect">
              <a:avLst/>
            </a:prstGeom>
            <a:noFill/>
          </p:spPr>
        </p:pic>
        <p:grpSp>
          <p:nvGrpSpPr>
            <p:cNvPr id="6171" name="Group 27"/>
            <p:cNvGrpSpPr>
              <a:grpSpLocks/>
            </p:cNvGrpSpPr>
            <p:nvPr/>
          </p:nvGrpSpPr>
          <p:grpSpPr bwMode="auto">
            <a:xfrm>
              <a:off x="288" y="1392"/>
              <a:ext cx="5280" cy="1655"/>
              <a:chOff x="288" y="1392"/>
              <a:chExt cx="5280" cy="1655"/>
            </a:xfrm>
          </p:grpSpPr>
          <p:sp>
            <p:nvSpPr>
              <p:cNvPr id="8" name="Rectangle 7"/>
              <p:cNvSpPr/>
              <p:nvPr/>
            </p:nvSpPr>
            <p:spPr>
              <a:xfrm>
                <a:off x="2154" y="1893"/>
                <a:ext cx="1404" cy="576"/>
              </a:xfrm>
              <a:prstGeom prst="rect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/>
                <a:r>
                  <a:rPr lang="en-US" b="1">
                    <a:solidFill>
                      <a:srgbClr val="000000"/>
                    </a:solidFill>
                    <a:latin typeface="Arial" charset="0"/>
                  </a:rPr>
                  <a:t>Processing </a:t>
                </a:r>
              </a:p>
            </p:txBody>
          </p:sp>
          <p:cxnSp>
            <p:nvCxnSpPr>
              <p:cNvPr id="10" name="Straight Arrow Connector 9"/>
              <p:cNvCxnSpPr/>
              <p:nvPr/>
            </p:nvCxnSpPr>
            <p:spPr>
              <a:xfrm>
                <a:off x="1728" y="2112"/>
                <a:ext cx="432" cy="1"/>
              </a:xfrm>
              <a:prstGeom prst="straightConnector1">
                <a:avLst/>
              </a:prstGeom>
              <a:ln w="76200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Arrow Connector 11"/>
              <p:cNvCxnSpPr/>
              <p:nvPr/>
            </p:nvCxnSpPr>
            <p:spPr>
              <a:xfrm>
                <a:off x="3600" y="2160"/>
                <a:ext cx="432" cy="1"/>
              </a:xfrm>
              <a:prstGeom prst="straightConnector1">
                <a:avLst/>
              </a:prstGeom>
              <a:ln w="76200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159" name="Text Box 15"/>
              <p:cNvSpPr txBox="1">
                <a:spLocks noChangeArrowheads="1"/>
              </p:cNvSpPr>
              <p:nvPr/>
            </p:nvSpPr>
            <p:spPr bwMode="auto">
              <a:xfrm>
                <a:off x="288" y="1584"/>
                <a:ext cx="1584" cy="134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anchor="ctr"/>
              <a:lstStyle/>
              <a:p>
                <a:pPr algn="ctr">
                  <a:buFont typeface="Wingdings" pitchFamily="2" charset="2"/>
                  <a:buNone/>
                </a:pPr>
                <a:endParaRPr lang="en-US" sz="2000" b="1">
                  <a:latin typeface="Constantia" pitchFamily="18" charset="0"/>
                </a:endParaRPr>
              </a:p>
              <a:p>
                <a:pPr algn="ctr">
                  <a:buFont typeface="Wingdings" pitchFamily="2" charset="2"/>
                  <a:buNone/>
                </a:pPr>
                <a:r>
                  <a:rPr lang="en-US" sz="2500" b="1"/>
                  <a:t>INPUTS</a:t>
                </a:r>
              </a:p>
              <a:p>
                <a:pPr>
                  <a:spcBef>
                    <a:spcPct val="35000"/>
                  </a:spcBef>
                  <a:buFont typeface="Wingdings" pitchFamily="2" charset="2"/>
                  <a:buNone/>
                </a:pPr>
                <a:r>
                  <a:rPr lang="en-US" sz="1900" b="1">
                    <a:solidFill>
                      <a:srgbClr val="0000FF"/>
                    </a:solidFill>
                  </a:rPr>
                  <a:t>Input refers to </a:t>
                </a:r>
                <a:br>
                  <a:rPr lang="en-US" sz="1900" b="1">
                    <a:solidFill>
                      <a:srgbClr val="0000FF"/>
                    </a:solidFill>
                  </a:rPr>
                </a:br>
                <a:r>
                  <a:rPr lang="en-US" sz="1900" b="1">
                    <a:solidFill>
                      <a:srgbClr val="0000FF"/>
                    </a:solidFill>
                  </a:rPr>
                  <a:t>the factors of production </a:t>
                </a:r>
              </a:p>
              <a:p>
                <a:pPr>
                  <a:buFont typeface="Wingdings" pitchFamily="2" charset="2"/>
                  <a:buNone/>
                </a:pPr>
                <a:r>
                  <a:rPr lang="en-US" sz="1900" b="1">
                    <a:solidFill>
                      <a:srgbClr val="0000FF"/>
                    </a:solidFill>
                  </a:rPr>
                  <a:t>that a firm uses in the production process</a:t>
                </a:r>
              </a:p>
              <a:p>
                <a:pPr>
                  <a:buFont typeface="Wingdings" pitchFamily="2" charset="2"/>
                  <a:buNone/>
                </a:pPr>
                <a:endParaRPr lang="en-US" sz="1900" b="1">
                  <a:solidFill>
                    <a:srgbClr val="0000FF"/>
                  </a:solidFill>
                </a:endParaRPr>
              </a:p>
              <a:p>
                <a:pPr>
                  <a:buFont typeface="Wingdings" pitchFamily="2" charset="2"/>
                  <a:buNone/>
                </a:pPr>
                <a:endParaRPr lang="en-US" sz="1900" b="1">
                  <a:solidFill>
                    <a:srgbClr val="0000FF"/>
                  </a:solidFill>
                </a:endParaRPr>
              </a:p>
            </p:txBody>
          </p:sp>
          <p:pic>
            <p:nvPicPr>
              <p:cNvPr id="6170" name="Rectangle 17"/>
              <p:cNvPicPr>
                <a:picLocks noChangeArrowheads="1"/>
              </p:cNvPicPr>
              <p:nvPr/>
            </p:nvPicPr>
            <p:blipFill>
              <a:blip r:embed="rId2" cstate="print"/>
              <a:srcRect/>
              <a:stretch>
                <a:fillRect/>
              </a:stretch>
            </p:blipFill>
            <p:spPr bwMode="auto">
              <a:xfrm>
                <a:off x="3984" y="1392"/>
                <a:ext cx="1584" cy="1655"/>
              </a:xfrm>
              <a:prstGeom prst="rect">
                <a:avLst/>
              </a:prstGeom>
              <a:noFill/>
            </p:spPr>
          </p:pic>
          <p:sp>
            <p:nvSpPr>
              <p:cNvPr id="6156" name="Text Box 12"/>
              <p:cNvSpPr txBox="1">
                <a:spLocks noChangeArrowheads="1"/>
              </p:cNvSpPr>
              <p:nvPr/>
            </p:nvSpPr>
            <p:spPr bwMode="auto">
              <a:xfrm>
                <a:off x="4080" y="1584"/>
                <a:ext cx="1440" cy="12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anchor="ctr"/>
              <a:lstStyle/>
              <a:p>
                <a:pPr algn="ctr">
                  <a:buFont typeface="Wingdings" pitchFamily="2" charset="2"/>
                  <a:buNone/>
                </a:pPr>
                <a:r>
                  <a:rPr lang="en-US" sz="2500" b="1"/>
                  <a:t>OUTPUTS</a:t>
                </a:r>
              </a:p>
              <a:p>
                <a:pPr>
                  <a:spcBef>
                    <a:spcPct val="35000"/>
                  </a:spcBef>
                  <a:buFont typeface="Wingdings" pitchFamily="2" charset="2"/>
                  <a:buNone/>
                </a:pPr>
                <a:r>
                  <a:rPr lang="en-US" sz="1900" b="1">
                    <a:solidFill>
                      <a:srgbClr val="0000FF"/>
                    </a:solidFill>
                  </a:rPr>
                  <a:t>Refers to what we get at the end of the production process, that is,  finished products.</a:t>
                </a:r>
              </a:p>
            </p:txBody>
          </p:sp>
        </p:grp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6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1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1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1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1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3" grpId="0" animBg="1"/>
      <p:bldP spid="5122" grpId="0"/>
      <p:bldP spid="616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31" name="Group 63"/>
          <p:cNvGrpSpPr>
            <a:grpSpLocks/>
          </p:cNvGrpSpPr>
          <p:nvPr/>
        </p:nvGrpSpPr>
        <p:grpSpPr bwMode="auto">
          <a:xfrm>
            <a:off x="609600" y="990600"/>
            <a:ext cx="7848600" cy="914400"/>
            <a:chOff x="384" y="624"/>
            <a:chExt cx="4944" cy="576"/>
          </a:xfrm>
        </p:grpSpPr>
        <p:sp>
          <p:nvSpPr>
            <p:cNvPr id="5122" name="Rectangle 2"/>
            <p:cNvSpPr>
              <a:spLocks noChangeArrowheads="1"/>
            </p:cNvSpPr>
            <p:nvPr/>
          </p:nvSpPr>
          <p:spPr bwMode="auto">
            <a:xfrm>
              <a:off x="384" y="624"/>
              <a:ext cx="4944" cy="57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rIns="0" bIns="0" anchor="b"/>
            <a:lstStyle/>
            <a:p>
              <a:pPr algn="ctr"/>
              <a:r>
                <a:rPr lang="en-US" sz="4000" b="1">
                  <a:solidFill>
                    <a:srgbClr val="0000FF"/>
                  </a:solidFill>
                </a:rPr>
                <a:t>CLASSIFICATION OF FACTORS OF PRODUCTION</a:t>
              </a:r>
            </a:p>
          </p:txBody>
        </p:sp>
        <p:sp>
          <p:nvSpPr>
            <p:cNvPr id="7189" name="Line 21"/>
            <p:cNvSpPr>
              <a:spLocks noChangeShapeType="1"/>
            </p:cNvSpPr>
            <p:nvPr/>
          </p:nvSpPr>
          <p:spPr bwMode="auto">
            <a:xfrm>
              <a:off x="384" y="1200"/>
              <a:ext cx="4896" cy="0"/>
            </a:xfrm>
            <a:prstGeom prst="line">
              <a:avLst/>
            </a:prstGeom>
            <a:noFill/>
            <a:ln w="9525">
              <a:solidFill>
                <a:srgbClr val="0083B8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230" name="Group 62"/>
          <p:cNvGrpSpPr>
            <a:grpSpLocks/>
          </p:cNvGrpSpPr>
          <p:nvPr/>
        </p:nvGrpSpPr>
        <p:grpSpPr bwMode="auto">
          <a:xfrm>
            <a:off x="533400" y="2286000"/>
            <a:ext cx="8153400" cy="3765550"/>
            <a:chOff x="336" y="1440"/>
            <a:chExt cx="5136" cy="2372"/>
          </a:xfrm>
        </p:grpSpPr>
        <p:sp>
          <p:nvSpPr>
            <p:cNvPr id="7171" name="Text Box 3"/>
            <p:cNvSpPr txBox="1">
              <a:spLocks noChangeArrowheads="1"/>
            </p:cNvSpPr>
            <p:nvPr/>
          </p:nvSpPr>
          <p:spPr bwMode="auto">
            <a:xfrm>
              <a:off x="1680" y="1930"/>
              <a:ext cx="1968" cy="1248"/>
            </a:xfrm>
            <a:prstGeom prst="rect">
              <a:avLst/>
            </a:prstGeom>
            <a:gradFill rotWithShape="1">
              <a:gsLst>
                <a:gs pos="0">
                  <a:srgbClr val="FFFFFF"/>
                </a:gs>
                <a:gs pos="50000">
                  <a:srgbClr val="FFFF66"/>
                </a:gs>
                <a:gs pos="100000">
                  <a:srgbClr val="FFFFFF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</p:spPr>
          <p:txBody>
            <a:bodyPr wrap="none" lIns="81204" tIns="39889" rIns="81204" bIns="39889" anchor="ctr"/>
            <a:lstStyle/>
            <a:p>
              <a:pPr algn="ctr" defTabSz="820738" eaLnBrk="0" hangingPunct="0">
                <a:lnSpc>
                  <a:spcPct val="90000"/>
                </a:lnSpc>
              </a:pPr>
              <a:endParaRPr lang="en-US" sz="2800">
                <a:solidFill>
                  <a:srgbClr val="000000"/>
                </a:solidFill>
                <a:latin typeface="Tahoma" pitchFamily="34" charset="0"/>
              </a:endParaRPr>
            </a:p>
            <a:p>
              <a:pPr algn="ctr" defTabSz="820738" eaLnBrk="0" hangingPunct="0">
                <a:lnSpc>
                  <a:spcPct val="90000"/>
                </a:lnSpc>
              </a:pPr>
              <a:endParaRPr lang="en-US" sz="2800">
                <a:solidFill>
                  <a:srgbClr val="000000"/>
                </a:solidFill>
                <a:latin typeface="Tahoma" pitchFamily="34" charset="0"/>
              </a:endParaRPr>
            </a:p>
            <a:p>
              <a:pPr algn="ctr" defTabSz="820738" eaLnBrk="0" hangingPunct="0">
                <a:lnSpc>
                  <a:spcPct val="90000"/>
                </a:lnSpc>
              </a:pPr>
              <a:endParaRPr lang="en-US" sz="2800">
                <a:solidFill>
                  <a:srgbClr val="000000"/>
                </a:solidFill>
                <a:latin typeface="Tahoma" pitchFamily="34" charset="0"/>
              </a:endParaRPr>
            </a:p>
            <a:p>
              <a:pPr algn="ctr" defTabSz="820738" eaLnBrk="0" hangingPunct="0">
                <a:lnSpc>
                  <a:spcPct val="90000"/>
                </a:lnSpc>
              </a:pPr>
              <a:endParaRPr lang="en-US" sz="2500" b="1">
                <a:solidFill>
                  <a:srgbClr val="6600CC"/>
                </a:solidFill>
              </a:endParaRPr>
            </a:p>
            <a:p>
              <a:pPr algn="ctr" defTabSz="820738" eaLnBrk="0" hangingPunct="0">
                <a:lnSpc>
                  <a:spcPct val="90000"/>
                </a:lnSpc>
              </a:pPr>
              <a:r>
                <a:rPr lang="en-US" sz="2500" b="1">
                  <a:solidFill>
                    <a:srgbClr val="6600CC"/>
                  </a:solidFill>
                </a:rPr>
                <a:t>CLASSIFICATION</a:t>
              </a:r>
            </a:p>
            <a:p>
              <a:pPr algn="ctr" defTabSz="820738" eaLnBrk="0" hangingPunct="0">
                <a:lnSpc>
                  <a:spcPct val="90000"/>
                </a:lnSpc>
              </a:pPr>
              <a:r>
                <a:rPr lang="en-US" sz="2500" b="1">
                  <a:solidFill>
                    <a:srgbClr val="6600CC"/>
                  </a:solidFill>
                </a:rPr>
                <a:t>OF FACTORS</a:t>
              </a:r>
            </a:p>
            <a:p>
              <a:pPr algn="ctr" defTabSz="820738" eaLnBrk="0" hangingPunct="0">
                <a:lnSpc>
                  <a:spcPct val="90000"/>
                </a:lnSpc>
              </a:pPr>
              <a:r>
                <a:rPr lang="en-US" sz="2500" b="1">
                  <a:solidFill>
                    <a:srgbClr val="6600CC"/>
                  </a:solidFill>
                </a:rPr>
                <a:t> OF PRODUCTION</a:t>
              </a:r>
            </a:p>
            <a:p>
              <a:pPr algn="ctr" defTabSz="820738" eaLnBrk="0" hangingPunct="0">
                <a:lnSpc>
                  <a:spcPct val="90000"/>
                </a:lnSpc>
              </a:pPr>
              <a:endParaRPr lang="en-US" sz="2500">
                <a:solidFill>
                  <a:srgbClr val="000000"/>
                </a:solidFill>
              </a:endParaRPr>
            </a:p>
            <a:p>
              <a:pPr algn="ctr" defTabSz="820738" eaLnBrk="0" hangingPunct="0">
                <a:lnSpc>
                  <a:spcPct val="90000"/>
                </a:lnSpc>
              </a:pPr>
              <a:endParaRPr lang="en-US" sz="2500">
                <a:solidFill>
                  <a:srgbClr val="000000"/>
                </a:solidFill>
              </a:endParaRPr>
            </a:p>
            <a:p>
              <a:pPr algn="ctr" defTabSz="820738" eaLnBrk="0" hangingPunct="0">
                <a:lnSpc>
                  <a:spcPct val="90000"/>
                </a:lnSpc>
              </a:pPr>
              <a:endParaRPr lang="en-US" sz="2500">
                <a:solidFill>
                  <a:srgbClr val="000000"/>
                </a:solidFill>
              </a:endParaRPr>
            </a:p>
            <a:p>
              <a:pPr algn="ctr" defTabSz="820738" eaLnBrk="0" hangingPunct="0">
                <a:lnSpc>
                  <a:spcPct val="90000"/>
                </a:lnSpc>
              </a:pPr>
              <a:endParaRPr lang="en-US" sz="2500">
                <a:solidFill>
                  <a:srgbClr val="000000"/>
                </a:solidFill>
              </a:endParaRPr>
            </a:p>
          </p:txBody>
        </p:sp>
        <p:sp>
          <p:nvSpPr>
            <p:cNvPr id="7222" name="AutoShape 54"/>
            <p:cNvSpPr>
              <a:spLocks noChangeArrowheads="1"/>
            </p:cNvSpPr>
            <p:nvPr/>
          </p:nvSpPr>
          <p:spPr bwMode="auto">
            <a:xfrm>
              <a:off x="336" y="1690"/>
              <a:ext cx="1632" cy="528"/>
            </a:xfrm>
            <a:prstGeom prst="flowChartAlternateProcess">
              <a:avLst/>
            </a:prstGeom>
            <a:solidFill>
              <a:srgbClr val="9966FF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en-US">
                <a:latin typeface="Times New Roman" pitchFamily="18" charset="0"/>
              </a:endParaRPr>
            </a:p>
          </p:txBody>
        </p:sp>
        <p:sp>
          <p:nvSpPr>
            <p:cNvPr id="7212" name="Text Box 44"/>
            <p:cNvSpPr txBox="1">
              <a:spLocks noChangeArrowheads="1"/>
            </p:cNvSpPr>
            <p:nvPr/>
          </p:nvSpPr>
          <p:spPr bwMode="auto">
            <a:xfrm>
              <a:off x="672" y="1450"/>
              <a:ext cx="960" cy="250"/>
            </a:xfrm>
            <a:prstGeom prst="rect">
              <a:avLst/>
            </a:prstGeom>
            <a:solidFill>
              <a:srgbClr val="6600CC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000" b="1">
                  <a:solidFill>
                    <a:srgbClr val="FFFF00"/>
                  </a:solidFill>
                </a:rPr>
                <a:t>LAND</a:t>
              </a:r>
            </a:p>
          </p:txBody>
        </p:sp>
        <p:grpSp>
          <p:nvGrpSpPr>
            <p:cNvPr id="7228" name="Group 60"/>
            <p:cNvGrpSpPr>
              <a:grpSpLocks/>
            </p:cNvGrpSpPr>
            <p:nvPr/>
          </p:nvGrpSpPr>
          <p:grpSpPr bwMode="auto">
            <a:xfrm>
              <a:off x="3600" y="1440"/>
              <a:ext cx="1872" cy="778"/>
              <a:chOff x="3456" y="1430"/>
              <a:chExt cx="1872" cy="778"/>
            </a:xfrm>
          </p:grpSpPr>
          <p:sp>
            <p:nvSpPr>
              <p:cNvPr id="7221" name="AutoShape 53"/>
              <p:cNvSpPr>
                <a:spLocks noChangeArrowheads="1"/>
              </p:cNvSpPr>
              <p:nvPr/>
            </p:nvSpPr>
            <p:spPr bwMode="auto">
              <a:xfrm>
                <a:off x="3456" y="1680"/>
                <a:ext cx="1872" cy="528"/>
              </a:xfrm>
              <a:prstGeom prst="flowChartAlternateProcess">
                <a:avLst/>
              </a:prstGeom>
              <a:solidFill>
                <a:srgbClr val="9966FF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endParaRPr lang="en-US">
                  <a:latin typeface="Times New Roman" pitchFamily="18" charset="0"/>
                </a:endParaRPr>
              </a:p>
            </p:txBody>
          </p:sp>
          <p:sp>
            <p:nvSpPr>
              <p:cNvPr id="7211" name="Text Box 43"/>
              <p:cNvSpPr txBox="1">
                <a:spLocks noChangeArrowheads="1"/>
              </p:cNvSpPr>
              <p:nvPr/>
            </p:nvSpPr>
            <p:spPr bwMode="auto">
              <a:xfrm>
                <a:off x="3936" y="1430"/>
                <a:ext cx="960" cy="250"/>
              </a:xfrm>
              <a:prstGeom prst="rect">
                <a:avLst/>
              </a:prstGeom>
              <a:solidFill>
                <a:srgbClr val="6600CC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2000" b="1">
                    <a:solidFill>
                      <a:srgbClr val="FFFF00"/>
                    </a:solidFill>
                  </a:rPr>
                  <a:t>LABOUR</a:t>
                </a:r>
              </a:p>
            </p:txBody>
          </p:sp>
          <p:sp>
            <p:nvSpPr>
              <p:cNvPr id="7218" name="Text Box 50"/>
              <p:cNvSpPr txBox="1">
                <a:spLocks noChangeArrowheads="1"/>
              </p:cNvSpPr>
              <p:nvPr/>
            </p:nvSpPr>
            <p:spPr bwMode="auto">
              <a:xfrm>
                <a:off x="3456" y="1746"/>
                <a:ext cx="1776" cy="36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ctr"/>
                <a:r>
                  <a:rPr lang="en-GB" sz="1600" b="1">
                    <a:solidFill>
                      <a:srgbClr val="FFFFFF"/>
                    </a:solidFill>
                  </a:rPr>
                  <a:t>Physical or mental</a:t>
                </a:r>
              </a:p>
              <a:p>
                <a:pPr algn="ctr"/>
                <a:r>
                  <a:rPr lang="en-GB" sz="1600" b="1">
                    <a:solidFill>
                      <a:srgbClr val="FFFFFF"/>
                    </a:solidFill>
                  </a:rPr>
                  <a:t>activities of human beings</a:t>
                </a:r>
                <a:endParaRPr lang="en-US" sz="1600"/>
              </a:p>
            </p:txBody>
          </p:sp>
        </p:grpSp>
        <p:sp>
          <p:nvSpPr>
            <p:cNvPr id="7220" name="AutoShape 52"/>
            <p:cNvSpPr>
              <a:spLocks noChangeArrowheads="1"/>
            </p:cNvSpPr>
            <p:nvPr/>
          </p:nvSpPr>
          <p:spPr bwMode="auto">
            <a:xfrm>
              <a:off x="3600" y="2708"/>
              <a:ext cx="1872" cy="1104"/>
            </a:xfrm>
            <a:prstGeom prst="flowChartAlternateProcess">
              <a:avLst/>
            </a:prstGeom>
            <a:solidFill>
              <a:srgbClr val="9966FF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09" name="Text Box 41"/>
            <p:cNvSpPr txBox="1">
              <a:spLocks noChangeArrowheads="1"/>
            </p:cNvSpPr>
            <p:nvPr/>
          </p:nvSpPr>
          <p:spPr bwMode="auto">
            <a:xfrm rot="5400000">
              <a:off x="4076" y="2328"/>
              <a:ext cx="912" cy="18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rot="10800000" vert="eaVert" wrap="none" lIns="78355" tIns="39889" rIns="78355" bIns="39889" anchor="ctr"/>
            <a:lstStyle/>
            <a:p>
              <a:pPr algn="ctr" defTabSz="769938" eaLnBrk="0" hangingPunct="0"/>
              <a:r>
                <a:rPr lang="en-GB" sz="1600" b="1">
                  <a:solidFill>
                    <a:srgbClr val="FFFFFF"/>
                  </a:solidFill>
                </a:rPr>
                <a:t>A person who combines</a:t>
              </a:r>
              <a:br>
                <a:rPr lang="en-GB" sz="1600" b="1">
                  <a:solidFill>
                    <a:srgbClr val="FFFFFF"/>
                  </a:solidFill>
                </a:rPr>
              </a:br>
              <a:r>
                <a:rPr lang="en-GB" sz="1600" b="1">
                  <a:solidFill>
                    <a:srgbClr val="FFFFFF"/>
                  </a:solidFill>
                </a:rPr>
                <a:t>the different factors of</a:t>
              </a:r>
              <a:br>
                <a:rPr lang="en-GB" sz="1600" b="1">
                  <a:solidFill>
                    <a:srgbClr val="FFFFFF"/>
                  </a:solidFill>
                </a:rPr>
              </a:br>
              <a:r>
                <a:rPr lang="en-GB" sz="1600" b="1">
                  <a:solidFill>
                    <a:srgbClr val="FFFFFF"/>
                  </a:solidFill>
                </a:rPr>
                <a:t>production, and initiates</a:t>
              </a:r>
            </a:p>
            <a:p>
              <a:pPr algn="ctr" defTabSz="769938" eaLnBrk="0" hangingPunct="0"/>
              <a:r>
                <a:rPr lang="en-GB" sz="1600" b="1">
                  <a:solidFill>
                    <a:srgbClr val="FFFFFF"/>
                  </a:solidFill>
                </a:rPr>
                <a:t>the process of</a:t>
              </a:r>
            </a:p>
            <a:p>
              <a:pPr algn="ctr" defTabSz="769938"/>
              <a:r>
                <a:rPr lang="en-GB" sz="1600" b="1">
                  <a:solidFill>
                    <a:srgbClr val="FFFFFF"/>
                  </a:solidFill>
                </a:rPr>
                <a:t>production and also</a:t>
              </a:r>
            </a:p>
            <a:p>
              <a:pPr algn="ctr" defTabSz="769938"/>
              <a:r>
                <a:rPr lang="en-GB" sz="1600" b="1">
                  <a:solidFill>
                    <a:srgbClr val="FFFFFF"/>
                  </a:solidFill>
                </a:rPr>
                <a:t> bears the risk</a:t>
              </a:r>
              <a:endParaRPr lang="en-US" sz="1600" b="1">
                <a:solidFill>
                  <a:srgbClr val="FFFFFF"/>
                </a:solidFill>
              </a:endParaRPr>
            </a:p>
          </p:txBody>
        </p:sp>
        <p:sp>
          <p:nvSpPr>
            <p:cNvPr id="7219" name="Text Box 51"/>
            <p:cNvSpPr txBox="1">
              <a:spLocks noChangeArrowheads="1"/>
            </p:cNvSpPr>
            <p:nvPr/>
          </p:nvSpPr>
          <p:spPr bwMode="auto">
            <a:xfrm>
              <a:off x="3696" y="2496"/>
              <a:ext cx="1632" cy="250"/>
            </a:xfrm>
            <a:prstGeom prst="rect">
              <a:avLst/>
            </a:prstGeom>
            <a:solidFill>
              <a:srgbClr val="6600CC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000" b="1">
                  <a:solidFill>
                    <a:srgbClr val="FFFF00"/>
                  </a:solidFill>
                </a:rPr>
                <a:t>ENTREPRENEUR</a:t>
              </a:r>
            </a:p>
          </p:txBody>
        </p:sp>
        <p:sp>
          <p:nvSpPr>
            <p:cNvPr id="7223" name="Text Box 55"/>
            <p:cNvSpPr txBox="1">
              <a:spLocks noChangeArrowheads="1"/>
            </p:cNvSpPr>
            <p:nvPr/>
          </p:nvSpPr>
          <p:spPr bwMode="auto">
            <a:xfrm rot="5400000">
              <a:off x="936" y="1186"/>
              <a:ext cx="432" cy="15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rot="10800000" vert="eaVert" wrap="none" lIns="78355" tIns="39889" rIns="78355" bIns="39889" anchor="ctr"/>
            <a:lstStyle/>
            <a:p>
              <a:pPr algn="ctr" defTabSz="769938"/>
              <a:r>
                <a:rPr lang="en-GB" sz="1600" b="1">
                  <a:solidFill>
                    <a:srgbClr val="FFFFFF"/>
                  </a:solidFill>
                </a:rPr>
                <a:t>All natural resources</a:t>
              </a:r>
            </a:p>
            <a:p>
              <a:pPr algn="ctr" defTabSz="769938"/>
              <a:r>
                <a:rPr lang="en-GB" sz="1600" b="1">
                  <a:solidFill>
                    <a:srgbClr val="FFFFFF"/>
                  </a:solidFill>
                </a:rPr>
                <a:t>or gifts of nature</a:t>
              </a:r>
              <a:endParaRPr lang="en-US" sz="1600" b="1">
                <a:solidFill>
                  <a:srgbClr val="FFFFFF"/>
                </a:solidFill>
              </a:endParaRPr>
            </a:p>
          </p:txBody>
        </p:sp>
        <p:sp>
          <p:nvSpPr>
            <p:cNvPr id="7224" name="AutoShape 56"/>
            <p:cNvSpPr>
              <a:spLocks noChangeArrowheads="1"/>
            </p:cNvSpPr>
            <p:nvPr/>
          </p:nvSpPr>
          <p:spPr bwMode="auto">
            <a:xfrm>
              <a:off x="336" y="3082"/>
              <a:ext cx="1632" cy="528"/>
            </a:xfrm>
            <a:prstGeom prst="flowChartAlternateProcess">
              <a:avLst/>
            </a:prstGeom>
            <a:solidFill>
              <a:srgbClr val="9966FF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en-US">
                <a:latin typeface="Times New Roman" pitchFamily="18" charset="0"/>
              </a:endParaRPr>
            </a:p>
          </p:txBody>
        </p:sp>
        <p:sp>
          <p:nvSpPr>
            <p:cNvPr id="7225" name="Text Box 57"/>
            <p:cNvSpPr txBox="1">
              <a:spLocks noChangeArrowheads="1"/>
            </p:cNvSpPr>
            <p:nvPr/>
          </p:nvSpPr>
          <p:spPr bwMode="auto">
            <a:xfrm>
              <a:off x="720" y="2842"/>
              <a:ext cx="960" cy="250"/>
            </a:xfrm>
            <a:prstGeom prst="rect">
              <a:avLst/>
            </a:prstGeom>
            <a:solidFill>
              <a:srgbClr val="6600CC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000" b="1">
                  <a:solidFill>
                    <a:srgbClr val="FFFF00"/>
                  </a:solidFill>
                </a:rPr>
                <a:t>CAPITAL</a:t>
              </a:r>
            </a:p>
          </p:txBody>
        </p:sp>
        <p:sp>
          <p:nvSpPr>
            <p:cNvPr id="7226" name="Text Box 58"/>
            <p:cNvSpPr txBox="1">
              <a:spLocks noChangeArrowheads="1"/>
            </p:cNvSpPr>
            <p:nvPr/>
          </p:nvSpPr>
          <p:spPr bwMode="auto">
            <a:xfrm rot="5400000">
              <a:off x="936" y="2578"/>
              <a:ext cx="432" cy="15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rot="10800000" vert="eaVert" wrap="none" lIns="78355" tIns="39889" rIns="78355" bIns="39889" anchor="ctr"/>
            <a:lstStyle/>
            <a:p>
              <a:pPr algn="ctr" defTabSz="769938"/>
              <a:r>
                <a:rPr lang="en-GB" sz="1600" b="1">
                  <a:solidFill>
                    <a:srgbClr val="FFFFFF"/>
                  </a:solidFill>
                </a:rPr>
                <a:t>Part of man-made</a:t>
              </a:r>
            </a:p>
            <a:p>
              <a:pPr algn="ctr" defTabSz="769938"/>
              <a:r>
                <a:rPr lang="en-GB" sz="1600" b="1">
                  <a:solidFill>
                    <a:srgbClr val="FFFFFF"/>
                  </a:solidFill>
                </a:rPr>
                <a:t>wealth used for further</a:t>
              </a:r>
            </a:p>
            <a:p>
              <a:pPr algn="ctr" defTabSz="769938"/>
              <a:r>
                <a:rPr lang="en-GB" sz="1600" b="1">
                  <a:solidFill>
                    <a:srgbClr val="FFFFFF"/>
                  </a:solidFill>
                </a:rPr>
                <a:t>production</a:t>
              </a:r>
              <a:endParaRPr lang="en-US" sz="1600" b="1">
                <a:solidFill>
                  <a:srgbClr val="FFFFFF"/>
                </a:solidFill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7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D10003D-9018-47B9-BB86-2DBA0A6366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1066799"/>
            <a:ext cx="8686800" cy="5868218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6BF0918-A1B6-451E-8A23-7415DB974B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914399"/>
            <a:ext cx="8686800" cy="5855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9948315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EBAE7A1-36F5-4760-867B-A552FF51D7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914400"/>
            <a:ext cx="8763000" cy="5901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3959311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3B64BB5-1632-4A50-8FD1-DD5C46F721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323" y="1043168"/>
            <a:ext cx="8673354" cy="5814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1364308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ED7419B-A133-43DD-B697-0F933AE906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914400"/>
            <a:ext cx="8763000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9418310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5E0D7FE-90B3-490B-BAA3-CBDD5D58DD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914400"/>
            <a:ext cx="8839200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5364479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E700BAA-46DA-4B08-B1BF-252ED02016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1066800"/>
            <a:ext cx="8305800" cy="519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251281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9" name="Title 1"/>
          <p:cNvSpPr>
            <a:spLocks/>
          </p:cNvSpPr>
          <p:nvPr/>
        </p:nvSpPr>
        <p:spPr bwMode="auto">
          <a:xfrm>
            <a:off x="533400" y="1295400"/>
            <a:ext cx="80010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rIns="0" bIns="0" anchor="b"/>
          <a:lstStyle/>
          <a:p>
            <a:pPr algn="ctr" eaLnBrk="0" hangingPunct="0"/>
            <a:r>
              <a:rPr lang="en-US" sz="4000" b="1">
                <a:solidFill>
                  <a:srgbClr val="0000FF"/>
                </a:solidFill>
              </a:rPr>
              <a:t>SHORT RUN</a:t>
            </a:r>
            <a:br>
              <a:rPr lang="en-US" sz="4000" b="1">
                <a:solidFill>
                  <a:srgbClr val="0000FF"/>
                </a:solidFill>
              </a:rPr>
            </a:br>
            <a:r>
              <a:rPr lang="en-US" sz="4000" b="1">
                <a:solidFill>
                  <a:srgbClr val="0000FF"/>
                </a:solidFill>
              </a:rPr>
              <a:t>PRODUCTION FUNCTION </a:t>
            </a:r>
            <a:r>
              <a:rPr lang="en-US" sz="3500" b="1">
                <a:solidFill>
                  <a:srgbClr val="0000FF"/>
                </a:solidFill>
              </a:rPr>
              <a:t>(CON’T)</a:t>
            </a:r>
          </a:p>
        </p:txBody>
      </p:sp>
      <p:sp>
        <p:nvSpPr>
          <p:cNvPr id="10250" name="Line 10"/>
          <p:cNvSpPr>
            <a:spLocks noChangeShapeType="1"/>
          </p:cNvSpPr>
          <p:nvPr/>
        </p:nvSpPr>
        <p:spPr bwMode="auto">
          <a:xfrm>
            <a:off x="533400" y="1905000"/>
            <a:ext cx="8001000" cy="0"/>
          </a:xfrm>
          <a:prstGeom prst="line">
            <a:avLst/>
          </a:prstGeom>
          <a:noFill/>
          <a:ln w="9525">
            <a:solidFill>
              <a:srgbClr val="0083B8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grpSp>
        <p:nvGrpSpPr>
          <p:cNvPr id="10257" name="Group 17"/>
          <p:cNvGrpSpPr>
            <a:grpSpLocks/>
          </p:cNvGrpSpPr>
          <p:nvPr/>
        </p:nvGrpSpPr>
        <p:grpSpPr bwMode="auto">
          <a:xfrm>
            <a:off x="1600200" y="2133600"/>
            <a:ext cx="5867400" cy="4338638"/>
            <a:chOff x="1008" y="1344"/>
            <a:chExt cx="3696" cy="2733"/>
          </a:xfrm>
        </p:grpSpPr>
        <p:sp>
          <p:nvSpPr>
            <p:cNvPr id="10254" name="AutoShape 14"/>
            <p:cNvSpPr>
              <a:spLocks noChangeArrowheads="1"/>
            </p:cNvSpPr>
            <p:nvPr/>
          </p:nvSpPr>
          <p:spPr bwMode="auto">
            <a:xfrm>
              <a:off x="1008" y="2400"/>
              <a:ext cx="3696" cy="1344"/>
            </a:xfrm>
            <a:prstGeom prst="roundRect">
              <a:avLst>
                <a:gd name="adj" fmla="val 16667"/>
              </a:avLst>
            </a:prstGeom>
            <a:solidFill>
              <a:srgbClr val="000066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cxnSp>
          <p:nvCxnSpPr>
            <p:cNvPr id="9" name="Straight Connector 8"/>
            <p:cNvCxnSpPr>
              <a:cxnSpLocks noChangeShapeType="1"/>
            </p:cNvCxnSpPr>
            <p:nvPr/>
          </p:nvCxnSpPr>
          <p:spPr bwMode="auto">
            <a:xfrm>
              <a:off x="3360" y="3312"/>
              <a:ext cx="864" cy="1"/>
            </a:xfrm>
            <a:prstGeom prst="line">
              <a:avLst/>
            </a:prstGeom>
            <a:noFill/>
            <a:ln w="19050" algn="ctr">
              <a:solidFill>
                <a:schemeClr val="bg1"/>
              </a:solidFill>
              <a:round/>
              <a:headEnd/>
              <a:tailEnd/>
            </a:ln>
          </p:spPr>
        </p:cxnSp>
        <p:sp>
          <p:nvSpPr>
            <p:cNvPr id="10251" name="Text Box 11"/>
            <p:cNvSpPr txBox="1">
              <a:spLocks noChangeArrowheads="1"/>
            </p:cNvSpPr>
            <p:nvPr/>
          </p:nvSpPr>
          <p:spPr bwMode="auto">
            <a:xfrm>
              <a:off x="1728" y="3120"/>
              <a:ext cx="2928" cy="95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tabLst>
                  <a:tab pos="1524000" algn="l"/>
                  <a:tab pos="2159000" algn="l"/>
                  <a:tab pos="2603500" algn="l"/>
                </a:tabLst>
              </a:pPr>
              <a:r>
                <a:rPr lang="en-US" sz="1400" b="1">
                  <a:solidFill>
                    <a:srgbClr val="FFFFFF"/>
                  </a:solidFill>
                </a:rPr>
                <a:t>Average Product (AP)	= 	Total Product </a:t>
              </a:r>
              <a:endParaRPr lang="en-US" sz="1400">
                <a:solidFill>
                  <a:srgbClr val="FFFFFF"/>
                </a:solidFill>
              </a:endParaRPr>
            </a:p>
            <a:p>
              <a:pPr>
                <a:spcBef>
                  <a:spcPct val="40000"/>
                </a:spcBef>
                <a:tabLst>
                  <a:tab pos="1524000" algn="l"/>
                  <a:tab pos="2159000" algn="l"/>
                  <a:tab pos="2603500" algn="l"/>
                </a:tabLst>
              </a:pPr>
              <a:r>
                <a:rPr lang="en-US" sz="1400" b="1">
                  <a:solidFill>
                    <a:srgbClr val="FFFFFF"/>
                  </a:solidFill>
                </a:rPr>
                <a:t>	                  	Total Labour</a:t>
              </a:r>
              <a:endParaRPr lang="en-US" sz="1400">
                <a:solidFill>
                  <a:srgbClr val="FFFFFF"/>
                </a:solidFill>
              </a:endParaRPr>
            </a:p>
            <a:p>
              <a:pPr>
                <a:spcBef>
                  <a:spcPct val="40000"/>
                </a:spcBef>
                <a:tabLst>
                  <a:tab pos="1524000" algn="l"/>
                  <a:tab pos="2159000" algn="l"/>
                  <a:tab pos="2603500" algn="l"/>
                </a:tabLst>
              </a:pPr>
              <a:r>
                <a:rPr lang="en-US" sz="1400" b="1">
                  <a:solidFill>
                    <a:srgbClr val="FFFFFF"/>
                  </a:solidFill>
                </a:rPr>
                <a:t>                  	 AP	=   	TP/ L</a:t>
              </a:r>
              <a:endParaRPr lang="en-US" sz="1400" b="1">
                <a:solidFill>
                  <a:schemeClr val="bg1"/>
                </a:solidFill>
              </a:endParaRPr>
            </a:p>
            <a:p>
              <a:pPr>
                <a:spcBef>
                  <a:spcPct val="40000"/>
                </a:spcBef>
                <a:tabLst>
                  <a:tab pos="1524000" algn="l"/>
                  <a:tab pos="2159000" algn="l"/>
                  <a:tab pos="2603500" algn="l"/>
                </a:tabLst>
              </a:pPr>
              <a:endParaRPr lang="en-US" sz="1400" b="1">
                <a:solidFill>
                  <a:schemeClr val="bg1"/>
                </a:solidFill>
              </a:endParaRPr>
            </a:p>
            <a:p>
              <a:pPr>
                <a:spcBef>
                  <a:spcPct val="50000"/>
                </a:spcBef>
                <a:tabLst>
                  <a:tab pos="1524000" algn="l"/>
                  <a:tab pos="2159000" algn="l"/>
                  <a:tab pos="2603500" algn="l"/>
                </a:tabLst>
              </a:pPr>
              <a:endParaRPr lang="en-US" sz="1400"/>
            </a:p>
          </p:txBody>
        </p:sp>
        <p:sp>
          <p:nvSpPr>
            <p:cNvPr id="10252" name="Text Box 12"/>
            <p:cNvSpPr txBox="1">
              <a:spLocks noChangeArrowheads="1"/>
            </p:cNvSpPr>
            <p:nvPr/>
          </p:nvSpPr>
          <p:spPr bwMode="auto">
            <a:xfrm>
              <a:off x="1056" y="2448"/>
              <a:ext cx="3648" cy="6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/>
              <a:r>
                <a:rPr lang="en-US" sz="2800" b="1" dirty="0">
                  <a:solidFill>
                    <a:srgbClr val="FFFFCC"/>
                  </a:solidFill>
                </a:rPr>
                <a:t>AVERAGE PRODUCT (AP)</a:t>
              </a:r>
              <a:r>
                <a:rPr lang="en-US" sz="1600" b="1" dirty="0">
                  <a:solidFill>
                    <a:srgbClr val="FFFFCC"/>
                  </a:solidFill>
                </a:rPr>
                <a:t> </a:t>
              </a:r>
              <a:endParaRPr lang="en-GB" sz="1600" dirty="0">
                <a:solidFill>
                  <a:srgbClr val="FFFFCC"/>
                </a:solidFill>
              </a:endParaRPr>
            </a:p>
            <a:p>
              <a:pPr algn="ctr">
                <a:spcBef>
                  <a:spcPct val="30000"/>
                </a:spcBef>
              </a:pPr>
              <a:r>
                <a:rPr lang="en-US" sz="1600" b="1" dirty="0">
                  <a:solidFill>
                    <a:srgbClr val="FFFFFF"/>
                  </a:solidFill>
                </a:rPr>
                <a:t>Divide the total product by the amount of that </a:t>
              </a:r>
              <a:br>
                <a:rPr lang="en-US" sz="1600" b="1" dirty="0">
                  <a:solidFill>
                    <a:srgbClr val="FFFFFF"/>
                  </a:solidFill>
                </a:rPr>
              </a:br>
              <a:r>
                <a:rPr lang="en-US" sz="1600" b="1" dirty="0">
                  <a:solidFill>
                    <a:srgbClr val="FFFFFF"/>
                  </a:solidFill>
                </a:rPr>
                <a:t>input used in the production.</a:t>
              </a:r>
              <a:endParaRPr lang="en-US" sz="1600" dirty="0"/>
            </a:p>
          </p:txBody>
        </p:sp>
        <p:sp>
          <p:nvSpPr>
            <p:cNvPr id="10255" name="AutoShape 15"/>
            <p:cNvSpPr>
              <a:spLocks noChangeArrowheads="1"/>
            </p:cNvSpPr>
            <p:nvPr/>
          </p:nvSpPr>
          <p:spPr bwMode="auto">
            <a:xfrm>
              <a:off x="1008" y="1344"/>
              <a:ext cx="3696" cy="1008"/>
            </a:xfrm>
            <a:prstGeom prst="roundRect">
              <a:avLst>
                <a:gd name="adj" fmla="val 16667"/>
              </a:avLst>
            </a:prstGeom>
            <a:solidFill>
              <a:srgbClr val="000066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56" name="Text Box 16"/>
            <p:cNvSpPr txBox="1">
              <a:spLocks noChangeArrowheads="1"/>
            </p:cNvSpPr>
            <p:nvPr/>
          </p:nvSpPr>
          <p:spPr bwMode="auto">
            <a:xfrm>
              <a:off x="1008" y="1488"/>
              <a:ext cx="3648" cy="9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/>
              <a:r>
                <a:rPr lang="en-US" sz="2800" b="1" dirty="0">
                  <a:solidFill>
                    <a:srgbClr val="FFFFCC"/>
                  </a:solidFill>
                </a:rPr>
                <a:t>TOTAL PRODUCT (TP) </a:t>
              </a:r>
              <a:endParaRPr lang="en-GB" sz="2800" b="1" dirty="0">
                <a:solidFill>
                  <a:srgbClr val="FFFFCC"/>
                </a:solidFill>
              </a:endParaRPr>
            </a:p>
            <a:p>
              <a:pPr algn="ctr">
                <a:lnSpc>
                  <a:spcPct val="110000"/>
                </a:lnSpc>
                <a:spcBef>
                  <a:spcPct val="50000"/>
                </a:spcBef>
              </a:pPr>
              <a:r>
                <a:rPr lang="en-US" sz="1600" b="1" dirty="0">
                  <a:solidFill>
                    <a:srgbClr val="FFFFFF"/>
                  </a:solidFill>
                </a:rPr>
                <a:t>The amount of output produced when a given amount</a:t>
              </a:r>
              <a:br>
                <a:rPr lang="en-US" sz="1600" b="1" dirty="0">
                  <a:solidFill>
                    <a:srgbClr val="FFFFFF"/>
                  </a:solidFill>
                </a:rPr>
              </a:br>
              <a:r>
                <a:rPr lang="en-US" sz="1600" b="1" dirty="0">
                  <a:solidFill>
                    <a:srgbClr val="FFFFFF"/>
                  </a:solidFill>
                </a:rPr>
                <a:t>of that input is used along with fixed inputs.</a:t>
              </a:r>
              <a:endParaRPr lang="en-US" sz="1600" b="1" dirty="0">
                <a:solidFill>
                  <a:schemeClr val="bg1"/>
                </a:solidFill>
              </a:endParaRPr>
            </a:p>
            <a:p>
              <a:pPr algn="ctr">
                <a:lnSpc>
                  <a:spcPct val="110000"/>
                </a:lnSpc>
                <a:spcBef>
                  <a:spcPct val="50000"/>
                </a:spcBef>
              </a:pPr>
              <a:endParaRPr lang="en-US" sz="1600" b="1" dirty="0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0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0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0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02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02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9" grpId="0"/>
      <p:bldP spid="10250" grpId="0" animBg="1"/>
      <p:bldP spid="10250" grpId="1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75" name="Group 11"/>
          <p:cNvGrpSpPr>
            <a:grpSpLocks/>
          </p:cNvGrpSpPr>
          <p:nvPr/>
        </p:nvGrpSpPr>
        <p:grpSpPr bwMode="auto">
          <a:xfrm>
            <a:off x="1219200" y="2362200"/>
            <a:ext cx="6019800" cy="3429000"/>
            <a:chOff x="768" y="1488"/>
            <a:chExt cx="3792" cy="2160"/>
          </a:xfrm>
        </p:grpSpPr>
        <p:sp>
          <p:nvSpPr>
            <p:cNvPr id="6" name="AutoShape 4">
              <a:hlinkClick r:id="rId2" action="ppaction://hlinksldjump"/>
            </p:cNvPr>
            <p:cNvSpPr>
              <a:spLocks noChangeArrowheads="1"/>
            </p:cNvSpPr>
            <p:nvPr/>
          </p:nvSpPr>
          <p:spPr bwMode="auto">
            <a:xfrm rot="5400000">
              <a:off x="1584" y="672"/>
              <a:ext cx="2160" cy="3792"/>
            </a:xfrm>
            <a:prstGeom prst="roundRect">
              <a:avLst/>
            </a:prstGeom>
            <a:solidFill>
              <a:srgbClr val="002060"/>
            </a:solidFill>
            <a:ln>
              <a:headEnd/>
              <a:tailE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10800000" vert="eaVert" wrap="none" lIns="78355" tIns="39889" rIns="78355" bIns="39889" anchor="ctr"/>
            <a:lstStyle/>
            <a:p>
              <a:pPr>
                <a:tabLst>
                  <a:tab pos="2457450" algn="l"/>
                  <a:tab pos="2857500" algn="l"/>
                  <a:tab pos="3600450" algn="l"/>
                </a:tabLst>
              </a:pPr>
              <a:r>
                <a:rPr lang="en-US" sz="2800" b="1" dirty="0">
                  <a:solidFill>
                    <a:srgbClr val="FFFFFF"/>
                  </a:solidFill>
                  <a:latin typeface="Arial" charset="0"/>
                </a:rPr>
                <a:t>MARGINAL PRODUCT (MP) </a:t>
              </a:r>
            </a:p>
            <a:p>
              <a:pPr eaLnBrk="0" hangingPunct="0">
                <a:tabLst>
                  <a:tab pos="2457450" algn="l"/>
                  <a:tab pos="2857500" algn="l"/>
                  <a:tab pos="3600450" algn="l"/>
                </a:tabLst>
              </a:pPr>
              <a:endParaRPr lang="en-GB" sz="1400" dirty="0">
                <a:solidFill>
                  <a:schemeClr val="bg1"/>
                </a:solidFill>
                <a:latin typeface="Arial" charset="0"/>
              </a:endParaRPr>
            </a:p>
            <a:p>
              <a:pPr eaLnBrk="0" hangingPunct="0">
                <a:tabLst>
                  <a:tab pos="2457450" algn="l"/>
                  <a:tab pos="2857500" algn="l"/>
                  <a:tab pos="3600450" algn="l"/>
                </a:tabLst>
              </a:pPr>
              <a:r>
                <a:rPr lang="en-US" sz="1600" b="1" dirty="0">
                  <a:solidFill>
                    <a:srgbClr val="FFFFFF"/>
                  </a:solidFill>
                  <a:latin typeface="Arial" charset="0"/>
                </a:rPr>
                <a:t>Change in the total product of that input corresponding to </a:t>
              </a:r>
              <a:br>
                <a:rPr lang="en-US" sz="1600" b="1" dirty="0">
                  <a:solidFill>
                    <a:srgbClr val="FFFFFF"/>
                  </a:solidFill>
                  <a:latin typeface="Arial" charset="0"/>
                </a:rPr>
              </a:br>
              <a:r>
                <a:rPr lang="en-US" sz="1600" b="1" dirty="0">
                  <a:solidFill>
                    <a:srgbClr val="FFFFFF"/>
                  </a:solidFill>
                  <a:latin typeface="Arial" charset="0"/>
                </a:rPr>
                <a:t>an additional unit change in its </a:t>
              </a:r>
              <a:r>
                <a:rPr lang="en-US" sz="1600" b="1" dirty="0" err="1">
                  <a:solidFill>
                    <a:srgbClr val="FFFFFF"/>
                  </a:solidFill>
                  <a:latin typeface="Arial" charset="0"/>
                </a:rPr>
                <a:t>labour</a:t>
              </a:r>
              <a:r>
                <a:rPr lang="en-US" sz="1600" b="1" dirty="0">
                  <a:solidFill>
                    <a:srgbClr val="FFFFFF"/>
                  </a:solidFill>
                  <a:latin typeface="Arial" charset="0"/>
                </a:rPr>
                <a:t> assuming</a:t>
              </a:r>
            </a:p>
            <a:p>
              <a:pPr eaLnBrk="0" hangingPunct="0">
                <a:tabLst>
                  <a:tab pos="2457450" algn="l"/>
                  <a:tab pos="2857500" algn="l"/>
                  <a:tab pos="3600450" algn="l"/>
                </a:tabLst>
              </a:pPr>
              <a:r>
                <a:rPr lang="en-US" sz="1600" b="1" dirty="0">
                  <a:solidFill>
                    <a:srgbClr val="FFFFFF"/>
                  </a:solidFill>
                  <a:latin typeface="Arial" charset="0"/>
                </a:rPr>
                <a:t>other factors, that is, capital fixed.</a:t>
              </a:r>
            </a:p>
            <a:p>
              <a:pPr eaLnBrk="0" hangingPunct="0">
                <a:tabLst>
                  <a:tab pos="2457450" algn="l"/>
                  <a:tab pos="2857500" algn="l"/>
                  <a:tab pos="3600450" algn="l"/>
                </a:tabLst>
              </a:pPr>
              <a:endParaRPr lang="en-US" sz="1600" b="1" dirty="0">
                <a:solidFill>
                  <a:srgbClr val="FFFFFF"/>
                </a:solidFill>
                <a:latin typeface="Arial" charset="0"/>
              </a:endParaRPr>
            </a:p>
            <a:p>
              <a:pPr eaLnBrk="0" hangingPunct="0">
                <a:lnSpc>
                  <a:spcPct val="120000"/>
                </a:lnSpc>
                <a:tabLst>
                  <a:tab pos="2457450" algn="l"/>
                  <a:tab pos="2857500" algn="l"/>
                  <a:tab pos="3600450" algn="l"/>
                </a:tabLst>
              </a:pPr>
              <a:r>
                <a:rPr lang="en-US" sz="1600" b="1" dirty="0">
                  <a:solidFill>
                    <a:srgbClr val="FFFFFF"/>
                  </a:solidFill>
                  <a:latin typeface="Arial" charset="0"/>
                </a:rPr>
                <a:t>Marginal Product (MP)	=	Change in Total Product </a:t>
              </a:r>
              <a:endParaRPr lang="en-US" sz="1600" dirty="0">
                <a:solidFill>
                  <a:srgbClr val="FFFFFF"/>
                </a:solidFill>
                <a:latin typeface="Arial" charset="0"/>
              </a:endParaRPr>
            </a:p>
            <a:p>
              <a:pPr>
                <a:lnSpc>
                  <a:spcPct val="120000"/>
                </a:lnSpc>
                <a:spcBef>
                  <a:spcPct val="30000"/>
                </a:spcBef>
                <a:buFont typeface="Wingdings 2" pitchFamily="18" charset="2"/>
                <a:buNone/>
                <a:tabLst>
                  <a:tab pos="2457450" algn="l"/>
                  <a:tab pos="2857500" algn="l"/>
                  <a:tab pos="3600450" algn="l"/>
                </a:tabLst>
              </a:pPr>
              <a:r>
                <a:rPr lang="en-US" sz="1600" b="1" dirty="0">
                  <a:solidFill>
                    <a:srgbClr val="FFFFFF"/>
                  </a:solidFill>
                  <a:latin typeface="Arial" charset="0"/>
                </a:rPr>
                <a:t>	       Change in  Total </a:t>
              </a:r>
              <a:r>
                <a:rPr lang="en-US" sz="1600" b="1" dirty="0" err="1">
                  <a:solidFill>
                    <a:srgbClr val="FFFFFF"/>
                  </a:solidFill>
                  <a:latin typeface="Arial" charset="0"/>
                </a:rPr>
                <a:t>Labour</a:t>
              </a:r>
              <a:endParaRPr lang="en-US" sz="1600" b="1" dirty="0">
                <a:solidFill>
                  <a:srgbClr val="FFFFFF"/>
                </a:solidFill>
                <a:latin typeface="Arial" charset="0"/>
              </a:endParaRPr>
            </a:p>
            <a:p>
              <a:pPr>
                <a:lnSpc>
                  <a:spcPct val="120000"/>
                </a:lnSpc>
                <a:spcBef>
                  <a:spcPct val="30000"/>
                </a:spcBef>
                <a:buFont typeface="Wingdings 2" pitchFamily="18" charset="2"/>
                <a:buNone/>
                <a:tabLst>
                  <a:tab pos="2457450" algn="l"/>
                  <a:tab pos="2857500" algn="l"/>
                  <a:tab pos="3600450" algn="l"/>
                </a:tabLst>
              </a:pPr>
              <a:endParaRPr lang="en-US" sz="1600" b="1" dirty="0">
                <a:solidFill>
                  <a:srgbClr val="FFFFFF"/>
                </a:solidFill>
                <a:latin typeface="Arial" charset="0"/>
              </a:endParaRPr>
            </a:p>
            <a:p>
              <a:pPr>
                <a:lnSpc>
                  <a:spcPct val="120000"/>
                </a:lnSpc>
                <a:buFont typeface="Wingdings 2" pitchFamily="18" charset="2"/>
                <a:buNone/>
                <a:tabLst>
                  <a:tab pos="2457450" algn="l"/>
                  <a:tab pos="2857500" algn="l"/>
                  <a:tab pos="3600450" algn="l"/>
                </a:tabLst>
              </a:pPr>
              <a:r>
                <a:rPr lang="en-US" sz="1600" b="1" dirty="0">
                  <a:solidFill>
                    <a:srgbClr val="FFFFFF"/>
                  </a:solidFill>
                  <a:latin typeface="Arial" charset="0"/>
                </a:rPr>
                <a:t>                                    MP  =     </a:t>
              </a:r>
              <a:r>
                <a:rPr lang="en-US" sz="1600" b="1" dirty="0">
                  <a:solidFill>
                    <a:srgbClr val="FFFFFF"/>
                  </a:solidFill>
                  <a:latin typeface="Arial" charset="0"/>
                  <a:sym typeface="Symbol" pitchFamily="18" charset="2"/>
                </a:rPr>
                <a:t></a:t>
              </a:r>
              <a:r>
                <a:rPr lang="en-US" sz="1600" b="1" dirty="0">
                  <a:solidFill>
                    <a:srgbClr val="FFFFFF"/>
                  </a:solidFill>
                  <a:latin typeface="Arial" charset="0"/>
                </a:rPr>
                <a:t> TP/</a:t>
              </a:r>
              <a:r>
                <a:rPr lang="en-US" sz="1600" b="1" dirty="0">
                  <a:solidFill>
                    <a:srgbClr val="FFFFFF"/>
                  </a:solidFill>
                  <a:latin typeface="Arial" charset="0"/>
                  <a:sym typeface="Symbol" pitchFamily="18" charset="2"/>
                </a:rPr>
                <a:t> </a:t>
              </a:r>
              <a:r>
                <a:rPr lang="en-US" sz="1600" b="1" dirty="0">
                  <a:solidFill>
                    <a:srgbClr val="FFFFFF"/>
                  </a:solidFill>
                  <a:latin typeface="Arial" charset="0"/>
                </a:rPr>
                <a:t> L</a:t>
              </a:r>
              <a:endParaRPr lang="en-US" sz="1600" b="1" dirty="0">
                <a:solidFill>
                  <a:schemeClr val="bg1"/>
                </a:solidFill>
                <a:latin typeface="Arial" charset="0"/>
              </a:endParaRPr>
            </a:p>
            <a:p>
              <a:pPr eaLnBrk="0" hangingPunct="0">
                <a:lnSpc>
                  <a:spcPct val="120000"/>
                </a:lnSpc>
                <a:tabLst>
                  <a:tab pos="2457450" algn="l"/>
                  <a:tab pos="2857500" algn="l"/>
                  <a:tab pos="3600450" algn="l"/>
                </a:tabLst>
              </a:pPr>
              <a:endParaRPr lang="en-US" sz="1600" b="1" dirty="0">
                <a:solidFill>
                  <a:schemeClr val="bg1"/>
                </a:solidFill>
                <a:latin typeface="Arial" charset="0"/>
              </a:endParaRPr>
            </a:p>
          </p:txBody>
        </p:sp>
        <p:cxnSp>
          <p:nvCxnSpPr>
            <p:cNvPr id="8" name="Straight Connector 7"/>
            <p:cNvCxnSpPr>
              <a:cxnSpLocks noChangeShapeType="1"/>
            </p:cNvCxnSpPr>
            <p:nvPr/>
          </p:nvCxnSpPr>
          <p:spPr bwMode="auto">
            <a:xfrm>
              <a:off x="2688" y="2784"/>
              <a:ext cx="1536" cy="0"/>
            </a:xfrm>
            <a:prstGeom prst="line">
              <a:avLst/>
            </a:prstGeom>
            <a:noFill/>
            <a:ln w="19050" algn="ctr">
              <a:solidFill>
                <a:schemeClr val="bg1"/>
              </a:solidFill>
              <a:round/>
              <a:headEnd/>
              <a:tailEnd/>
            </a:ln>
          </p:spPr>
        </p:cxnSp>
      </p:grpSp>
      <p:sp>
        <p:nvSpPr>
          <p:cNvPr id="11272" name="Title 1"/>
          <p:cNvSpPr>
            <a:spLocks/>
          </p:cNvSpPr>
          <p:nvPr/>
        </p:nvSpPr>
        <p:spPr bwMode="auto">
          <a:xfrm>
            <a:off x="533400" y="1295400"/>
            <a:ext cx="80010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rIns="0" bIns="0" anchor="b"/>
          <a:lstStyle/>
          <a:p>
            <a:pPr algn="ctr" eaLnBrk="0" hangingPunct="0"/>
            <a:r>
              <a:rPr lang="en-US" sz="4000" b="1">
                <a:solidFill>
                  <a:srgbClr val="0000FF"/>
                </a:solidFill>
              </a:rPr>
              <a:t>SHORT RUN</a:t>
            </a:r>
            <a:br>
              <a:rPr lang="en-US" sz="4000" b="1">
                <a:solidFill>
                  <a:srgbClr val="0000FF"/>
                </a:solidFill>
              </a:rPr>
            </a:br>
            <a:r>
              <a:rPr lang="en-US" sz="4000" b="1">
                <a:solidFill>
                  <a:srgbClr val="0000FF"/>
                </a:solidFill>
              </a:rPr>
              <a:t>PRODUCTION FUNCTION </a:t>
            </a:r>
            <a:r>
              <a:rPr lang="en-US" sz="3500" b="1">
                <a:solidFill>
                  <a:srgbClr val="0000FF"/>
                </a:solidFill>
              </a:rPr>
              <a:t>(CON’T)</a:t>
            </a:r>
          </a:p>
        </p:txBody>
      </p:sp>
      <p:sp>
        <p:nvSpPr>
          <p:cNvPr id="11273" name="Line 9"/>
          <p:cNvSpPr>
            <a:spLocks noChangeShapeType="1"/>
          </p:cNvSpPr>
          <p:nvPr/>
        </p:nvSpPr>
        <p:spPr bwMode="auto">
          <a:xfrm>
            <a:off x="533400" y="1905000"/>
            <a:ext cx="8001000" cy="0"/>
          </a:xfrm>
          <a:prstGeom prst="line">
            <a:avLst/>
          </a:prstGeom>
          <a:noFill/>
          <a:ln w="9525">
            <a:solidFill>
              <a:srgbClr val="0083B8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1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43836D8-6CA3-49A3-88AB-C579ED0E4E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838200"/>
            <a:ext cx="8915400" cy="586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774623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BDCF3AB-1AFD-465E-85C6-769DF5027C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8200"/>
            <a:ext cx="9144000" cy="601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4804459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205E9A1-18A5-472D-8EB4-6B8D9A8C84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76" y="838200"/>
            <a:ext cx="9112624" cy="601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3943658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7D358F5-5174-442C-9DB2-6888938D83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8200"/>
            <a:ext cx="9144000" cy="60198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205E9A1-18A5-472D-8EB4-6B8D9A8C84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9200" y="2286000"/>
            <a:ext cx="3810000" cy="396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8518689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C467893-6798-4A1D-A672-7F870020D1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4" y="914400"/>
            <a:ext cx="9135035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6736210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9AA8C36-56F8-4588-ACC8-1AE60F00BA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94" y="838200"/>
            <a:ext cx="9117106" cy="601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7112518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2438400"/>
            <a:ext cx="8229600" cy="3154363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ct val="50000"/>
              </a:spcBef>
              <a:buFont typeface="Wingdings 2" pitchFamily="18" charset="2"/>
              <a:buNone/>
            </a:pPr>
            <a:r>
              <a:rPr lang="en-US" b="1" dirty="0"/>
              <a:t>Isoquant                             </a:t>
            </a:r>
          </a:p>
          <a:p>
            <a:pPr>
              <a:lnSpc>
                <a:spcPct val="90000"/>
              </a:lnSpc>
              <a:spcBef>
                <a:spcPct val="50000"/>
              </a:spcBef>
              <a:buFontTx/>
              <a:buChar char="•"/>
            </a:pPr>
            <a:r>
              <a:rPr lang="en-US" dirty="0"/>
              <a:t>Isoquant represents all possible combinations of variable inputs that are used to generate the same level of output (total product). </a:t>
            </a:r>
          </a:p>
          <a:p>
            <a:pPr>
              <a:lnSpc>
                <a:spcPct val="90000"/>
              </a:lnSpc>
              <a:spcBef>
                <a:spcPct val="50000"/>
              </a:spcBef>
              <a:buFontTx/>
              <a:buChar char="•"/>
            </a:pPr>
            <a:r>
              <a:rPr lang="en-US" dirty="0"/>
              <a:t>Isoquant analysis illustrates that there are various ways to generate a given quantity of output in one time period.</a:t>
            </a:r>
          </a:p>
          <a:p>
            <a:pPr>
              <a:lnSpc>
                <a:spcPct val="90000"/>
              </a:lnSpc>
              <a:spcBef>
                <a:spcPct val="50000"/>
              </a:spcBef>
              <a:buFontTx/>
              <a:buChar char="•"/>
            </a:pPr>
            <a:endParaRPr lang="en-US" dirty="0"/>
          </a:p>
        </p:txBody>
      </p:sp>
      <p:sp>
        <p:nvSpPr>
          <p:cNvPr id="49157" name="Title 1"/>
          <p:cNvSpPr>
            <a:spLocks/>
          </p:cNvSpPr>
          <p:nvPr/>
        </p:nvSpPr>
        <p:spPr bwMode="auto">
          <a:xfrm>
            <a:off x="457200" y="1447800"/>
            <a:ext cx="82296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rIns="0" bIns="0" anchor="b"/>
          <a:lstStyle/>
          <a:p>
            <a:pPr algn="ctr" eaLnBrk="0" hangingPunct="0"/>
            <a:r>
              <a:rPr lang="en-US" sz="4000" b="1">
                <a:solidFill>
                  <a:srgbClr val="0000FF"/>
                </a:solidFill>
              </a:rPr>
              <a:t>LONG-RUN</a:t>
            </a:r>
            <a:br>
              <a:rPr lang="en-US" sz="4000" b="1">
                <a:solidFill>
                  <a:srgbClr val="0000FF"/>
                </a:solidFill>
              </a:rPr>
            </a:br>
            <a:r>
              <a:rPr lang="en-US" sz="4000" b="1">
                <a:solidFill>
                  <a:srgbClr val="0000FF"/>
                </a:solidFill>
              </a:rPr>
              <a:t>PRODUCTION FUNCTION </a:t>
            </a:r>
            <a:r>
              <a:rPr lang="en-US" sz="3500" b="1">
                <a:solidFill>
                  <a:srgbClr val="0000FF"/>
                </a:solidFill>
              </a:rPr>
              <a:t>(CON’T)</a:t>
            </a:r>
            <a:endParaRPr lang="en-US" sz="4000" b="1">
              <a:solidFill>
                <a:srgbClr val="0000FF"/>
              </a:solidFill>
            </a:endParaRPr>
          </a:p>
        </p:txBody>
      </p:sp>
      <p:sp>
        <p:nvSpPr>
          <p:cNvPr id="49158" name="Line 6"/>
          <p:cNvSpPr>
            <a:spLocks noChangeShapeType="1"/>
          </p:cNvSpPr>
          <p:nvPr/>
        </p:nvSpPr>
        <p:spPr bwMode="auto">
          <a:xfrm>
            <a:off x="533400" y="2209800"/>
            <a:ext cx="8001000" cy="0"/>
          </a:xfrm>
          <a:prstGeom prst="line">
            <a:avLst/>
          </a:prstGeom>
          <a:noFill/>
          <a:ln w="9525">
            <a:solidFill>
              <a:srgbClr val="0083B8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91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91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91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91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91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91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Content Placeholder 2"/>
          <p:cNvSpPr>
            <a:spLocks noGrp="1"/>
          </p:cNvSpPr>
          <p:nvPr>
            <p:ph idx="1"/>
          </p:nvPr>
        </p:nvSpPr>
        <p:spPr>
          <a:xfrm>
            <a:off x="533400" y="2286000"/>
            <a:ext cx="8229600" cy="533400"/>
          </a:xfrm>
          <a:solidFill>
            <a:srgbClr val="FFFFFF"/>
          </a:solidFill>
        </p:spPr>
        <p:txBody>
          <a:bodyPr/>
          <a:lstStyle/>
          <a:p>
            <a:pPr>
              <a:buFont typeface="Wingdings 2" pitchFamily="18" charset="2"/>
              <a:buNone/>
            </a:pPr>
            <a:r>
              <a:rPr lang="en-US" dirty="0">
                <a:cs typeface="Arial" charset="0"/>
              </a:rPr>
              <a:t>Isoquant Table</a:t>
            </a:r>
          </a:p>
        </p:txBody>
      </p:sp>
      <p:sp>
        <p:nvSpPr>
          <p:cNvPr id="16445" name="Title 1"/>
          <p:cNvSpPr>
            <a:spLocks/>
          </p:cNvSpPr>
          <p:nvPr/>
        </p:nvSpPr>
        <p:spPr bwMode="auto">
          <a:xfrm>
            <a:off x="457200" y="1447800"/>
            <a:ext cx="82296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rIns="0" bIns="0" anchor="b"/>
          <a:lstStyle/>
          <a:p>
            <a:pPr algn="ctr" eaLnBrk="0" hangingPunct="0"/>
            <a:r>
              <a:rPr lang="en-US" sz="4000" b="1">
                <a:solidFill>
                  <a:srgbClr val="0000FF"/>
                </a:solidFill>
              </a:rPr>
              <a:t>LONG-RUN</a:t>
            </a:r>
            <a:br>
              <a:rPr lang="en-US" sz="4000" b="1">
                <a:solidFill>
                  <a:srgbClr val="0000FF"/>
                </a:solidFill>
              </a:rPr>
            </a:br>
            <a:r>
              <a:rPr lang="en-US" sz="4000" b="1">
                <a:solidFill>
                  <a:srgbClr val="0000FF"/>
                </a:solidFill>
              </a:rPr>
              <a:t>PRODUCTION FUNCTION </a:t>
            </a:r>
            <a:r>
              <a:rPr lang="en-US" sz="3500" b="1">
                <a:solidFill>
                  <a:srgbClr val="0000FF"/>
                </a:solidFill>
              </a:rPr>
              <a:t>(CON’T)</a:t>
            </a:r>
            <a:endParaRPr lang="en-US" sz="4000" b="1">
              <a:solidFill>
                <a:srgbClr val="0000FF"/>
              </a:solidFill>
            </a:endParaRPr>
          </a:p>
        </p:txBody>
      </p:sp>
      <p:sp>
        <p:nvSpPr>
          <p:cNvPr id="16446" name="Line 62"/>
          <p:cNvSpPr>
            <a:spLocks noChangeShapeType="1"/>
          </p:cNvSpPr>
          <p:nvPr/>
        </p:nvSpPr>
        <p:spPr bwMode="auto">
          <a:xfrm>
            <a:off x="533400" y="2209800"/>
            <a:ext cx="8001000" cy="0"/>
          </a:xfrm>
          <a:prstGeom prst="line">
            <a:avLst/>
          </a:prstGeom>
          <a:noFill/>
          <a:ln w="9525">
            <a:solidFill>
              <a:srgbClr val="0083B8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grpSp>
        <p:nvGrpSpPr>
          <p:cNvPr id="16454" name="Group 70"/>
          <p:cNvGrpSpPr>
            <a:grpSpLocks/>
          </p:cNvGrpSpPr>
          <p:nvPr/>
        </p:nvGrpSpPr>
        <p:grpSpPr bwMode="auto">
          <a:xfrm>
            <a:off x="2057400" y="3124200"/>
            <a:ext cx="5334000" cy="3121025"/>
            <a:chOff x="1296" y="1968"/>
            <a:chExt cx="3360" cy="1966"/>
          </a:xfrm>
        </p:grpSpPr>
        <p:sp>
          <p:nvSpPr>
            <p:cNvPr id="16450" name="Text Box 66"/>
            <p:cNvSpPr txBox="1">
              <a:spLocks noChangeArrowheads="1"/>
            </p:cNvSpPr>
            <p:nvPr/>
          </p:nvSpPr>
          <p:spPr bwMode="auto">
            <a:xfrm>
              <a:off x="1296" y="2448"/>
              <a:ext cx="3360" cy="1271"/>
            </a:xfrm>
            <a:prstGeom prst="rect">
              <a:avLst/>
            </a:prstGeom>
            <a:solidFill>
              <a:srgbClr val="99CCFF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marL="533400" lvl="2">
                <a:spcBef>
                  <a:spcPct val="50000"/>
                </a:spcBef>
                <a:tabLst>
                  <a:tab pos="266700" algn="l"/>
                  <a:tab pos="533400" algn="l"/>
                  <a:tab pos="1346200" algn="l"/>
                  <a:tab pos="1435100" algn="l"/>
                  <a:tab pos="1524000" algn="l"/>
                  <a:tab pos="1612900" algn="l"/>
                  <a:tab pos="2159000" algn="l"/>
                  <a:tab pos="2870200" algn="l"/>
                  <a:tab pos="3683000" algn="l"/>
                  <a:tab pos="4572000" algn="l"/>
                </a:tabLst>
              </a:pPr>
              <a:r>
                <a:rPr lang="en-US" sz="1800" dirty="0"/>
                <a:t>1	250	450	  600	  700	  800</a:t>
              </a:r>
            </a:p>
            <a:p>
              <a:pPr marL="533400" lvl="2">
                <a:spcBef>
                  <a:spcPct val="50000"/>
                </a:spcBef>
                <a:tabLst>
                  <a:tab pos="266700" algn="l"/>
                  <a:tab pos="533400" algn="l"/>
                  <a:tab pos="1346200" algn="l"/>
                  <a:tab pos="1435100" algn="l"/>
                  <a:tab pos="1524000" algn="l"/>
                  <a:tab pos="1612900" algn="l"/>
                  <a:tab pos="2159000" algn="l"/>
                  <a:tab pos="2870200" algn="l"/>
                  <a:tab pos="3683000" algn="l"/>
                  <a:tab pos="4572000" algn="l"/>
                </a:tabLst>
              </a:pPr>
              <a:r>
                <a:rPr lang="en-US" sz="1800" dirty="0"/>
                <a:t>2	450	650	  800	  900	  950</a:t>
              </a:r>
            </a:p>
            <a:p>
              <a:pPr marL="533400" lvl="2">
                <a:spcBef>
                  <a:spcPct val="50000"/>
                </a:spcBef>
                <a:tabLst>
                  <a:tab pos="266700" algn="l"/>
                  <a:tab pos="533400" algn="l"/>
                  <a:tab pos="1346200" algn="l"/>
                  <a:tab pos="1435100" algn="l"/>
                  <a:tab pos="1524000" algn="l"/>
                  <a:tab pos="1612900" algn="l"/>
                  <a:tab pos="2159000" algn="l"/>
                  <a:tab pos="2870200" algn="l"/>
                  <a:tab pos="3683000" algn="l"/>
                  <a:tab pos="4572000" algn="l"/>
                </a:tabLst>
              </a:pPr>
              <a:r>
                <a:rPr lang="en-US" sz="1800" dirty="0"/>
                <a:t>3	600	800	  950	1050	1100</a:t>
              </a:r>
            </a:p>
            <a:p>
              <a:pPr marL="533400" lvl="2">
                <a:spcBef>
                  <a:spcPct val="50000"/>
                </a:spcBef>
                <a:tabLst>
                  <a:tab pos="266700" algn="l"/>
                  <a:tab pos="533400" algn="l"/>
                  <a:tab pos="1346200" algn="l"/>
                  <a:tab pos="1435100" algn="l"/>
                  <a:tab pos="1524000" algn="l"/>
                  <a:tab pos="1612900" algn="l"/>
                  <a:tab pos="2159000" algn="l"/>
                  <a:tab pos="2870200" algn="l"/>
                  <a:tab pos="3683000" algn="l"/>
                  <a:tab pos="4572000" algn="l"/>
                </a:tabLst>
              </a:pPr>
              <a:r>
                <a:rPr lang="en-US" sz="1800" dirty="0"/>
                <a:t>4	700	900	1050	1150	1200</a:t>
              </a:r>
            </a:p>
            <a:p>
              <a:pPr marL="533400" lvl="2">
                <a:spcBef>
                  <a:spcPct val="50000"/>
                </a:spcBef>
                <a:tabLst>
                  <a:tab pos="266700" algn="l"/>
                  <a:tab pos="533400" algn="l"/>
                  <a:tab pos="1346200" algn="l"/>
                  <a:tab pos="1435100" algn="l"/>
                  <a:tab pos="1524000" algn="l"/>
                  <a:tab pos="1612900" algn="l"/>
                  <a:tab pos="2159000" algn="l"/>
                  <a:tab pos="2870200" algn="l"/>
                  <a:tab pos="3683000" algn="l"/>
                  <a:tab pos="4572000" algn="l"/>
                </a:tabLst>
              </a:pPr>
              <a:r>
                <a:rPr lang="en-US" sz="1800" dirty="0"/>
                <a:t>5	800	950	1100	1200	1250</a:t>
              </a:r>
            </a:p>
          </p:txBody>
        </p:sp>
        <p:grpSp>
          <p:nvGrpSpPr>
            <p:cNvPr id="16449" name="Group 65"/>
            <p:cNvGrpSpPr>
              <a:grpSpLocks/>
            </p:cNvGrpSpPr>
            <p:nvPr/>
          </p:nvGrpSpPr>
          <p:grpSpPr bwMode="auto">
            <a:xfrm>
              <a:off x="2064" y="2160"/>
              <a:ext cx="2592" cy="288"/>
              <a:chOff x="2304" y="1584"/>
              <a:chExt cx="2592" cy="336"/>
            </a:xfrm>
          </p:grpSpPr>
          <p:sp>
            <p:nvSpPr>
              <p:cNvPr id="2" name="Rectangle 9"/>
              <p:cNvSpPr>
                <a:spLocks noChangeArrowheads="1"/>
              </p:cNvSpPr>
              <p:nvPr/>
            </p:nvSpPr>
            <p:spPr bwMode="auto">
              <a:xfrm>
                <a:off x="2304" y="1584"/>
                <a:ext cx="527" cy="336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lIns="68580" tIns="0" rIns="68580" bIns="0"/>
              <a:lstStyle/>
              <a:p>
                <a:pPr algn="ctr"/>
                <a:endParaRPr lang="en-US" sz="1300">
                  <a:solidFill>
                    <a:srgbClr val="000000"/>
                  </a:solidFill>
                </a:endParaRPr>
              </a:p>
              <a:p>
                <a:pPr algn="ctr"/>
                <a:r>
                  <a:rPr lang="en-US" sz="1300" b="1">
                    <a:solidFill>
                      <a:schemeClr val="bg1"/>
                    </a:solidFill>
                  </a:rPr>
                  <a:t>1</a:t>
                </a:r>
                <a:endParaRPr lang="en-US" sz="1400" b="1">
                  <a:solidFill>
                    <a:schemeClr val="bg1"/>
                  </a:solidFill>
                  <a:cs typeface="Times New Roman" pitchFamily="18" charset="0"/>
                </a:endParaRPr>
              </a:p>
            </p:txBody>
          </p:sp>
          <p:sp>
            <p:nvSpPr>
              <p:cNvPr id="3" name="Rectangle 10"/>
              <p:cNvSpPr>
                <a:spLocks noChangeArrowheads="1"/>
              </p:cNvSpPr>
              <p:nvPr/>
            </p:nvSpPr>
            <p:spPr bwMode="auto">
              <a:xfrm>
                <a:off x="2831" y="1584"/>
                <a:ext cx="481" cy="336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lIns="68580" tIns="0" rIns="68580" bIns="0"/>
              <a:lstStyle/>
              <a:p>
                <a:pPr algn="ctr"/>
                <a:endParaRPr lang="en-US" sz="1300">
                  <a:solidFill>
                    <a:srgbClr val="000000"/>
                  </a:solidFill>
                </a:endParaRPr>
              </a:p>
              <a:p>
                <a:pPr algn="ctr"/>
                <a:r>
                  <a:rPr lang="en-US" sz="1300" b="1">
                    <a:solidFill>
                      <a:schemeClr val="bg1"/>
                    </a:solidFill>
                  </a:rPr>
                  <a:t>2</a:t>
                </a:r>
                <a:endParaRPr lang="en-US" sz="1400" b="1">
                  <a:solidFill>
                    <a:schemeClr val="bg1"/>
                  </a:solidFill>
                  <a:cs typeface="Times New Roman" pitchFamily="18" charset="0"/>
                </a:endParaRPr>
              </a:p>
            </p:txBody>
          </p:sp>
          <p:sp>
            <p:nvSpPr>
              <p:cNvPr id="4" name="Rectangle 11"/>
              <p:cNvSpPr>
                <a:spLocks noChangeArrowheads="1"/>
              </p:cNvSpPr>
              <p:nvPr/>
            </p:nvSpPr>
            <p:spPr bwMode="auto">
              <a:xfrm>
                <a:off x="3312" y="1584"/>
                <a:ext cx="480" cy="336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lIns="68580" tIns="0" rIns="68580" bIns="0"/>
              <a:lstStyle/>
              <a:p>
                <a:pPr algn="ctr"/>
                <a:endParaRPr lang="en-US" sz="1300">
                  <a:solidFill>
                    <a:srgbClr val="000000"/>
                  </a:solidFill>
                </a:endParaRPr>
              </a:p>
              <a:p>
                <a:pPr algn="ctr"/>
                <a:r>
                  <a:rPr lang="en-US" sz="1300" b="1">
                    <a:solidFill>
                      <a:schemeClr val="bg1"/>
                    </a:solidFill>
                  </a:rPr>
                  <a:t>3</a:t>
                </a:r>
                <a:endParaRPr lang="en-US" sz="1400" b="1">
                  <a:solidFill>
                    <a:schemeClr val="bg1"/>
                  </a:solidFill>
                  <a:cs typeface="Times New Roman" pitchFamily="18" charset="0"/>
                </a:endParaRPr>
              </a:p>
            </p:txBody>
          </p:sp>
          <p:sp>
            <p:nvSpPr>
              <p:cNvPr id="5" name="Rectangle 12"/>
              <p:cNvSpPr>
                <a:spLocks noChangeArrowheads="1"/>
              </p:cNvSpPr>
              <p:nvPr/>
            </p:nvSpPr>
            <p:spPr bwMode="auto">
              <a:xfrm>
                <a:off x="3792" y="1584"/>
                <a:ext cx="528" cy="336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lIns="68580" tIns="0" rIns="68580" bIns="0"/>
              <a:lstStyle/>
              <a:p>
                <a:pPr algn="ctr"/>
                <a:endParaRPr lang="en-US" sz="1300">
                  <a:solidFill>
                    <a:srgbClr val="000000"/>
                  </a:solidFill>
                </a:endParaRPr>
              </a:p>
              <a:p>
                <a:pPr algn="ctr"/>
                <a:r>
                  <a:rPr lang="en-US" sz="1300" b="1">
                    <a:solidFill>
                      <a:schemeClr val="bg1"/>
                    </a:solidFill>
                  </a:rPr>
                  <a:t>4</a:t>
                </a:r>
                <a:endParaRPr lang="en-US" sz="1400" b="1">
                  <a:solidFill>
                    <a:schemeClr val="bg1"/>
                  </a:solidFill>
                  <a:cs typeface="Times New Roman" pitchFamily="18" charset="0"/>
                </a:endParaRPr>
              </a:p>
            </p:txBody>
          </p:sp>
          <p:sp>
            <p:nvSpPr>
              <p:cNvPr id="6" name="Rectangle 13"/>
              <p:cNvSpPr>
                <a:spLocks noChangeArrowheads="1"/>
              </p:cNvSpPr>
              <p:nvPr/>
            </p:nvSpPr>
            <p:spPr bwMode="auto">
              <a:xfrm>
                <a:off x="4320" y="1584"/>
                <a:ext cx="576" cy="336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lIns="68580" tIns="0" rIns="68580" bIns="0"/>
              <a:lstStyle/>
              <a:p>
                <a:pPr algn="ctr"/>
                <a:endParaRPr lang="en-US" sz="1300">
                  <a:solidFill>
                    <a:srgbClr val="000000"/>
                  </a:solidFill>
                </a:endParaRPr>
              </a:p>
              <a:p>
                <a:pPr algn="ctr"/>
                <a:r>
                  <a:rPr lang="en-US" sz="1300" b="1">
                    <a:solidFill>
                      <a:schemeClr val="bg1"/>
                    </a:solidFill>
                  </a:rPr>
                  <a:t>5</a:t>
                </a:r>
                <a:endParaRPr lang="en-US" sz="1400" b="1">
                  <a:solidFill>
                    <a:schemeClr val="bg1"/>
                  </a:solidFill>
                  <a:cs typeface="Times New Roman" pitchFamily="18" charset="0"/>
                </a:endParaRPr>
              </a:p>
            </p:txBody>
          </p:sp>
        </p:grpSp>
        <p:sp>
          <p:nvSpPr>
            <p:cNvPr id="7" name="Rectangle 7"/>
            <p:cNvSpPr>
              <a:spLocks noChangeArrowheads="1"/>
            </p:cNvSpPr>
            <p:nvPr/>
          </p:nvSpPr>
          <p:spPr bwMode="auto">
            <a:xfrm>
              <a:off x="1296" y="1968"/>
              <a:ext cx="768" cy="48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lIns="68580" tIns="0" rIns="68580" bIns="0" anchor="ctr"/>
            <a:lstStyle/>
            <a:p>
              <a:pPr algn="ctr"/>
              <a:r>
                <a:rPr lang="en-US" sz="1300" b="1">
                  <a:solidFill>
                    <a:schemeClr val="bg1"/>
                  </a:solidFill>
                </a:rPr>
                <a:t>CAPITAL</a:t>
              </a:r>
              <a:endParaRPr lang="en-US" sz="1400" b="1">
                <a:solidFill>
                  <a:schemeClr val="bg1"/>
                </a:solidFill>
                <a:cs typeface="Times New Roman" pitchFamily="18" charset="0"/>
              </a:endParaRPr>
            </a:p>
          </p:txBody>
        </p:sp>
        <p:sp>
          <p:nvSpPr>
            <p:cNvPr id="8" name="Rectangle 8"/>
            <p:cNvSpPr>
              <a:spLocks noChangeArrowheads="1"/>
            </p:cNvSpPr>
            <p:nvPr/>
          </p:nvSpPr>
          <p:spPr bwMode="auto">
            <a:xfrm>
              <a:off x="2064" y="1968"/>
              <a:ext cx="2592" cy="24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lIns="68580" tIns="0" rIns="68580" bIns="0" anchor="ctr"/>
            <a:lstStyle/>
            <a:p>
              <a:pPr algn="ctr"/>
              <a:r>
                <a:rPr lang="en-US" sz="1300" b="1">
                  <a:solidFill>
                    <a:schemeClr val="bg1"/>
                  </a:solidFill>
                </a:rPr>
                <a:t>LABOUR</a:t>
              </a:r>
              <a:endParaRPr lang="en-US" sz="1400" b="1">
                <a:solidFill>
                  <a:schemeClr val="bg1"/>
                </a:solidFill>
                <a:cs typeface="Times New Roman" pitchFamily="18" charset="0"/>
              </a:endParaRPr>
            </a:p>
          </p:txBody>
        </p:sp>
        <p:sp>
          <p:nvSpPr>
            <p:cNvPr id="9" name="Line 44"/>
            <p:cNvSpPr>
              <a:spLocks noChangeShapeType="1"/>
            </p:cNvSpPr>
            <p:nvPr/>
          </p:nvSpPr>
          <p:spPr bwMode="auto">
            <a:xfrm>
              <a:off x="2064" y="2016"/>
              <a:ext cx="0" cy="1918"/>
            </a:xfrm>
            <a:prstGeom prst="line">
              <a:avLst/>
            </a:prstGeom>
            <a:noFill/>
            <a:ln w="12700" algn="ctr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16448" name="Group 64"/>
            <p:cNvGrpSpPr>
              <a:grpSpLocks/>
            </p:cNvGrpSpPr>
            <p:nvPr/>
          </p:nvGrpSpPr>
          <p:grpSpPr bwMode="auto">
            <a:xfrm>
              <a:off x="2591" y="2208"/>
              <a:ext cx="1489" cy="1584"/>
              <a:chOff x="2591" y="2352"/>
              <a:chExt cx="1489" cy="1438"/>
            </a:xfrm>
          </p:grpSpPr>
          <p:sp>
            <p:nvSpPr>
              <p:cNvPr id="10" name="Line 45"/>
              <p:cNvSpPr>
                <a:spLocks noChangeShapeType="1"/>
              </p:cNvSpPr>
              <p:nvPr/>
            </p:nvSpPr>
            <p:spPr bwMode="auto">
              <a:xfrm>
                <a:off x="2591" y="2352"/>
                <a:ext cx="0" cy="1438"/>
              </a:xfrm>
              <a:prstGeom prst="line">
                <a:avLst/>
              </a:prstGeom>
              <a:noFill/>
              <a:ln w="12700" algn="ctr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" name="Line 46"/>
              <p:cNvSpPr>
                <a:spLocks noChangeShapeType="1"/>
              </p:cNvSpPr>
              <p:nvPr/>
            </p:nvSpPr>
            <p:spPr bwMode="auto">
              <a:xfrm>
                <a:off x="3072" y="2352"/>
                <a:ext cx="0" cy="1438"/>
              </a:xfrm>
              <a:prstGeom prst="line">
                <a:avLst/>
              </a:prstGeom>
              <a:noFill/>
              <a:ln w="12700" algn="ctr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" name="Line 47"/>
              <p:cNvSpPr>
                <a:spLocks noChangeShapeType="1"/>
              </p:cNvSpPr>
              <p:nvPr/>
            </p:nvSpPr>
            <p:spPr bwMode="auto">
              <a:xfrm>
                <a:off x="3552" y="2352"/>
                <a:ext cx="0" cy="1438"/>
              </a:xfrm>
              <a:prstGeom prst="line">
                <a:avLst/>
              </a:prstGeom>
              <a:noFill/>
              <a:ln w="12700" algn="ctr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" name="Line 48"/>
              <p:cNvSpPr>
                <a:spLocks noChangeShapeType="1"/>
              </p:cNvSpPr>
              <p:nvPr/>
            </p:nvSpPr>
            <p:spPr bwMode="auto">
              <a:xfrm>
                <a:off x="4080" y="2352"/>
                <a:ext cx="0" cy="1438"/>
              </a:xfrm>
              <a:prstGeom prst="line">
                <a:avLst/>
              </a:prstGeom>
              <a:noFill/>
              <a:ln w="12700" algn="ctr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4" name="Line 49"/>
            <p:cNvSpPr>
              <a:spLocks noChangeShapeType="1"/>
            </p:cNvSpPr>
            <p:nvPr/>
          </p:nvSpPr>
          <p:spPr bwMode="auto">
            <a:xfrm>
              <a:off x="2064" y="2208"/>
              <a:ext cx="2592" cy="0"/>
            </a:xfrm>
            <a:prstGeom prst="line">
              <a:avLst/>
            </a:prstGeom>
            <a:noFill/>
            <a:ln w="12700" algn="ctr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Line 50"/>
            <p:cNvSpPr>
              <a:spLocks noChangeShapeType="1"/>
            </p:cNvSpPr>
            <p:nvPr/>
          </p:nvSpPr>
          <p:spPr bwMode="auto">
            <a:xfrm>
              <a:off x="1296" y="2448"/>
              <a:ext cx="3360" cy="0"/>
            </a:xfrm>
            <a:prstGeom prst="line">
              <a:avLst/>
            </a:prstGeom>
            <a:noFill/>
            <a:ln w="12700" algn="ctr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Line 54"/>
            <p:cNvSpPr>
              <a:spLocks noChangeShapeType="1"/>
            </p:cNvSpPr>
            <p:nvPr/>
          </p:nvSpPr>
          <p:spPr bwMode="auto">
            <a:xfrm>
              <a:off x="1296" y="2688"/>
              <a:ext cx="3360" cy="0"/>
            </a:xfrm>
            <a:prstGeom prst="line">
              <a:avLst/>
            </a:prstGeom>
            <a:noFill/>
            <a:ln w="12700" algn="ctr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Line 56"/>
            <p:cNvSpPr>
              <a:spLocks noChangeShapeType="1"/>
            </p:cNvSpPr>
            <p:nvPr/>
          </p:nvSpPr>
          <p:spPr bwMode="auto">
            <a:xfrm>
              <a:off x="4656" y="1968"/>
              <a:ext cx="0" cy="1680"/>
            </a:xfrm>
            <a:prstGeom prst="line">
              <a:avLst/>
            </a:prstGeom>
            <a:noFill/>
            <a:ln w="12700" algn="ctr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Line 58"/>
            <p:cNvSpPr>
              <a:spLocks noChangeShapeType="1"/>
            </p:cNvSpPr>
            <p:nvPr/>
          </p:nvSpPr>
          <p:spPr bwMode="auto">
            <a:xfrm>
              <a:off x="1296" y="2928"/>
              <a:ext cx="3360" cy="0"/>
            </a:xfrm>
            <a:prstGeom prst="line">
              <a:avLst/>
            </a:prstGeom>
            <a:noFill/>
            <a:ln w="12700" algn="ctr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Line 67"/>
            <p:cNvSpPr>
              <a:spLocks noChangeShapeType="1"/>
            </p:cNvSpPr>
            <p:nvPr/>
          </p:nvSpPr>
          <p:spPr bwMode="auto">
            <a:xfrm>
              <a:off x="1296" y="3216"/>
              <a:ext cx="3360" cy="0"/>
            </a:xfrm>
            <a:prstGeom prst="line">
              <a:avLst/>
            </a:prstGeom>
            <a:noFill/>
            <a:ln w="12700" algn="ctr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Line 68"/>
            <p:cNvSpPr>
              <a:spLocks noChangeShapeType="1"/>
            </p:cNvSpPr>
            <p:nvPr/>
          </p:nvSpPr>
          <p:spPr bwMode="auto">
            <a:xfrm>
              <a:off x="1296" y="3456"/>
              <a:ext cx="3360" cy="0"/>
            </a:xfrm>
            <a:prstGeom prst="line">
              <a:avLst/>
            </a:prstGeom>
            <a:noFill/>
            <a:ln w="12700" algn="ctr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63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63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64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64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7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19" name="Title 1"/>
          <p:cNvSpPr>
            <a:spLocks/>
          </p:cNvSpPr>
          <p:nvPr/>
        </p:nvSpPr>
        <p:spPr bwMode="auto">
          <a:xfrm>
            <a:off x="457200" y="1143000"/>
            <a:ext cx="82296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rIns="0" bIns="0" anchor="b"/>
          <a:lstStyle/>
          <a:p>
            <a:pPr algn="ctr" eaLnBrk="0" hangingPunct="0"/>
            <a:r>
              <a:rPr lang="en-US" sz="4000" b="1">
                <a:solidFill>
                  <a:srgbClr val="0000FF"/>
                </a:solidFill>
              </a:rPr>
              <a:t>SCALES OF PRODUCTION</a:t>
            </a:r>
          </a:p>
        </p:txBody>
      </p:sp>
      <p:sp>
        <p:nvSpPr>
          <p:cNvPr id="21520" name="Line 16"/>
          <p:cNvSpPr>
            <a:spLocks noChangeShapeType="1"/>
          </p:cNvSpPr>
          <p:nvPr/>
        </p:nvSpPr>
        <p:spPr bwMode="auto">
          <a:xfrm>
            <a:off x="533400" y="1905000"/>
            <a:ext cx="8001000" cy="0"/>
          </a:xfrm>
          <a:prstGeom prst="line">
            <a:avLst/>
          </a:prstGeom>
          <a:noFill/>
          <a:ln w="9525">
            <a:solidFill>
              <a:srgbClr val="0083B8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1521" name="Text Box 17"/>
          <p:cNvSpPr txBox="1">
            <a:spLocks noChangeArrowheads="1"/>
          </p:cNvSpPr>
          <p:nvPr/>
        </p:nvSpPr>
        <p:spPr bwMode="auto">
          <a:xfrm>
            <a:off x="457200" y="2209800"/>
            <a:ext cx="8077200" cy="1133475"/>
          </a:xfrm>
          <a:prstGeom prst="rect">
            <a:avLst/>
          </a:prstGeom>
          <a:gradFill rotWithShape="1">
            <a:gsLst>
              <a:gs pos="0">
                <a:srgbClr val="CCCCFF"/>
              </a:gs>
              <a:gs pos="100000">
                <a:schemeClr val="bg2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/>
            <a:r>
              <a:rPr lang="en-US" b="1" dirty="0">
                <a:solidFill>
                  <a:srgbClr val="6600CC"/>
                </a:solidFill>
              </a:rPr>
              <a:t>DECREASING RETURNS TO SCALE </a:t>
            </a:r>
            <a:endParaRPr lang="en-US" dirty="0">
              <a:solidFill>
                <a:srgbClr val="6600CC"/>
              </a:solidFill>
            </a:endParaRPr>
          </a:p>
          <a:p>
            <a:pPr algn="ctr">
              <a:spcBef>
                <a:spcPct val="10000"/>
              </a:spcBef>
            </a:pPr>
            <a:r>
              <a:rPr lang="en-GB" b="1" i="1" dirty="0">
                <a:solidFill>
                  <a:srgbClr val="000000"/>
                </a:solidFill>
              </a:rPr>
              <a:t>  </a:t>
            </a:r>
            <a:r>
              <a:rPr lang="en-GB" sz="1800" i="1" dirty="0">
                <a:solidFill>
                  <a:srgbClr val="000000"/>
                </a:solidFill>
              </a:rPr>
              <a:t>All the factors of production are increased in a given proportion, and output would increase by a smaller proportion.</a:t>
            </a:r>
            <a:endParaRPr lang="en-US" sz="1800" dirty="0"/>
          </a:p>
        </p:txBody>
      </p:sp>
      <p:sp>
        <p:nvSpPr>
          <p:cNvPr id="21522" name="Text Box 18"/>
          <p:cNvSpPr txBox="1">
            <a:spLocks noChangeArrowheads="1"/>
          </p:cNvSpPr>
          <p:nvPr/>
        </p:nvSpPr>
        <p:spPr bwMode="auto">
          <a:xfrm>
            <a:off x="457200" y="3429000"/>
            <a:ext cx="8077200" cy="1133475"/>
          </a:xfrm>
          <a:prstGeom prst="rect">
            <a:avLst/>
          </a:prstGeom>
          <a:gradFill rotWithShape="1">
            <a:gsLst>
              <a:gs pos="0">
                <a:srgbClr val="CCCCFF"/>
              </a:gs>
              <a:gs pos="100000">
                <a:schemeClr val="bg2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/>
            <a:r>
              <a:rPr lang="en-US" b="1" dirty="0">
                <a:solidFill>
                  <a:srgbClr val="6600CC"/>
                </a:solidFill>
              </a:rPr>
              <a:t>CONSTANT RETURNS TO SCALE</a:t>
            </a:r>
            <a:endParaRPr lang="en-US" dirty="0">
              <a:solidFill>
                <a:srgbClr val="6600CC"/>
              </a:solidFill>
            </a:endParaRPr>
          </a:p>
          <a:p>
            <a:pPr algn="ctr">
              <a:spcBef>
                <a:spcPct val="10000"/>
              </a:spcBef>
            </a:pPr>
            <a:r>
              <a:rPr lang="en-GB" i="1" dirty="0">
                <a:solidFill>
                  <a:srgbClr val="000000"/>
                </a:solidFill>
              </a:rPr>
              <a:t> </a:t>
            </a:r>
            <a:r>
              <a:rPr lang="en-GB" sz="1800" i="1" dirty="0">
                <a:solidFill>
                  <a:srgbClr val="000000"/>
                </a:solidFill>
              </a:rPr>
              <a:t>All the factors of production are increased in a given proportion, and output would increase by the same proportion.</a:t>
            </a:r>
            <a:endParaRPr lang="en-US" sz="1800" dirty="0"/>
          </a:p>
        </p:txBody>
      </p:sp>
      <p:sp>
        <p:nvSpPr>
          <p:cNvPr id="21523" name="Text Box 19"/>
          <p:cNvSpPr txBox="1">
            <a:spLocks noChangeArrowheads="1"/>
          </p:cNvSpPr>
          <p:nvPr/>
        </p:nvSpPr>
        <p:spPr bwMode="auto">
          <a:xfrm>
            <a:off x="533400" y="4724400"/>
            <a:ext cx="8001000" cy="1033463"/>
          </a:xfrm>
          <a:prstGeom prst="rect">
            <a:avLst/>
          </a:prstGeom>
          <a:gradFill rotWithShape="1">
            <a:gsLst>
              <a:gs pos="0">
                <a:srgbClr val="CCCCFF"/>
              </a:gs>
              <a:gs pos="100000">
                <a:schemeClr val="bg2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/>
            <a:r>
              <a:rPr lang="en-US" b="1" dirty="0">
                <a:solidFill>
                  <a:srgbClr val="6600CC"/>
                </a:solidFill>
              </a:rPr>
              <a:t>INCREASING RETURNS TO SCALE</a:t>
            </a:r>
            <a:endParaRPr lang="en-US" dirty="0">
              <a:solidFill>
                <a:srgbClr val="6600CC"/>
              </a:solidFill>
            </a:endParaRPr>
          </a:p>
          <a:p>
            <a:pPr algn="ctr">
              <a:spcBef>
                <a:spcPct val="10000"/>
              </a:spcBef>
            </a:pPr>
            <a:r>
              <a:rPr lang="en-GB" sz="1800" i="1" dirty="0">
                <a:solidFill>
                  <a:srgbClr val="000000"/>
                </a:solidFill>
              </a:rPr>
              <a:t>All the factors of production are increased in a given proportion, and output would increase by a greater proportion.</a:t>
            </a:r>
            <a:endParaRPr lang="en-US" sz="18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1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1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15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15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15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15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15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15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19" grpId="0"/>
      <p:bldP spid="21520" grpId="0" animBg="1"/>
      <p:bldP spid="21521" grpId="0" animBg="1"/>
      <p:bldP spid="21522" grpId="0" animBg="1"/>
      <p:bldP spid="21523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5" name="Title 1"/>
          <p:cNvSpPr>
            <a:spLocks/>
          </p:cNvSpPr>
          <p:nvPr/>
        </p:nvSpPr>
        <p:spPr bwMode="auto">
          <a:xfrm>
            <a:off x="457200" y="1143000"/>
            <a:ext cx="82296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rIns="0" bIns="0" anchor="b"/>
          <a:lstStyle/>
          <a:p>
            <a:pPr algn="ctr" eaLnBrk="0" hangingPunct="0"/>
            <a:r>
              <a:rPr lang="en-US" sz="4000" b="1">
                <a:solidFill>
                  <a:srgbClr val="0000FF"/>
                </a:solidFill>
              </a:rPr>
              <a:t>SCALES OF PRODUCTION </a:t>
            </a:r>
            <a:r>
              <a:rPr lang="en-US" sz="3100" b="1">
                <a:solidFill>
                  <a:srgbClr val="0000FF"/>
                </a:solidFill>
              </a:rPr>
              <a:t>(CON’T)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34DFF4F-6CAA-4150-A838-3F13C2B0C2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0" y="2819400"/>
            <a:ext cx="4304074" cy="259080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7344124-B380-4D1F-BF9E-7FC7F0BF338D}"/>
              </a:ext>
            </a:extLst>
          </p:cNvPr>
          <p:cNvSpPr txBox="1"/>
          <p:nvPr/>
        </p:nvSpPr>
        <p:spPr>
          <a:xfrm>
            <a:off x="838200" y="1981200"/>
            <a:ext cx="5181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Constant returns to scale:</a:t>
            </a:r>
          </a:p>
        </p:txBody>
      </p:sp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5" name="Title 1"/>
          <p:cNvSpPr>
            <a:spLocks/>
          </p:cNvSpPr>
          <p:nvPr/>
        </p:nvSpPr>
        <p:spPr bwMode="auto">
          <a:xfrm>
            <a:off x="457200" y="1143000"/>
            <a:ext cx="82296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rIns="0" bIns="0" anchor="b"/>
          <a:lstStyle/>
          <a:p>
            <a:pPr algn="ctr" eaLnBrk="0" hangingPunct="0"/>
            <a:r>
              <a:rPr lang="en-US" sz="4000" b="1">
                <a:solidFill>
                  <a:srgbClr val="0000FF"/>
                </a:solidFill>
              </a:rPr>
              <a:t>SCALES OF PRODUCTION </a:t>
            </a:r>
            <a:r>
              <a:rPr lang="en-US" sz="3100" b="1">
                <a:solidFill>
                  <a:srgbClr val="0000FF"/>
                </a:solidFill>
              </a:rPr>
              <a:t>(CON’T)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7344124-B380-4D1F-BF9E-7FC7F0BF338D}"/>
              </a:ext>
            </a:extLst>
          </p:cNvPr>
          <p:cNvSpPr txBox="1"/>
          <p:nvPr/>
        </p:nvSpPr>
        <p:spPr>
          <a:xfrm>
            <a:off x="838200" y="1981200"/>
            <a:ext cx="5181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Increasing returns to scale: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E213086-F312-4247-A471-66F0EE4C1F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6313" y="2452550"/>
            <a:ext cx="4739225" cy="2729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3261917"/>
      </p:ext>
    </p:extLst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5" name="Title 1"/>
          <p:cNvSpPr>
            <a:spLocks/>
          </p:cNvSpPr>
          <p:nvPr/>
        </p:nvSpPr>
        <p:spPr bwMode="auto">
          <a:xfrm>
            <a:off x="457200" y="1143000"/>
            <a:ext cx="82296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rIns="0" bIns="0" anchor="b"/>
          <a:lstStyle/>
          <a:p>
            <a:pPr algn="ctr" eaLnBrk="0" hangingPunct="0"/>
            <a:r>
              <a:rPr lang="en-US" sz="4000" b="1">
                <a:solidFill>
                  <a:srgbClr val="0000FF"/>
                </a:solidFill>
              </a:rPr>
              <a:t>SCALES OF PRODUCTION </a:t>
            </a:r>
            <a:r>
              <a:rPr lang="en-US" sz="3100" b="1">
                <a:solidFill>
                  <a:srgbClr val="0000FF"/>
                </a:solidFill>
              </a:rPr>
              <a:t>(CON’T)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7344124-B380-4D1F-BF9E-7FC7F0BF338D}"/>
              </a:ext>
            </a:extLst>
          </p:cNvPr>
          <p:cNvSpPr txBox="1"/>
          <p:nvPr/>
        </p:nvSpPr>
        <p:spPr>
          <a:xfrm>
            <a:off x="838200" y="1981200"/>
            <a:ext cx="5181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Decreasing returns to scale: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BF6C86D-162F-42A7-BE6B-1CEFF0023D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2819400"/>
            <a:ext cx="4738056" cy="2362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3257520"/>
      </p:ext>
    </p:extLst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5" name="Title 1"/>
          <p:cNvSpPr>
            <a:spLocks/>
          </p:cNvSpPr>
          <p:nvPr/>
        </p:nvSpPr>
        <p:spPr bwMode="auto">
          <a:xfrm>
            <a:off x="457200" y="1143000"/>
            <a:ext cx="82296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rIns="0" bIns="0" anchor="b"/>
          <a:lstStyle/>
          <a:p>
            <a:pPr algn="ctr" eaLnBrk="0" hangingPunct="0"/>
            <a:r>
              <a:rPr lang="en-US" sz="4000" b="1" dirty="0">
                <a:solidFill>
                  <a:srgbClr val="0000FF"/>
                </a:solidFill>
              </a:rPr>
              <a:t>Mathematical Problems</a:t>
            </a:r>
            <a:endParaRPr lang="en-US" sz="3100" b="1" dirty="0">
              <a:solidFill>
                <a:srgbClr val="0000F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302DA28-A124-4988-B2E2-C8B5CAD57D37}"/>
                  </a:ext>
                </a:extLst>
              </p:cNvPr>
              <p:cNvSpPr txBox="1"/>
              <p:nvPr/>
            </p:nvSpPr>
            <p:spPr>
              <a:xfrm>
                <a:off x="457200" y="2133600"/>
                <a:ext cx="8077200" cy="4551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AutoNum type="arabicPeriod"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Find the marginal product of labor and capital if Q= 10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 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𝐾𝐿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when k=2  and L=6.</a:t>
                </a:r>
              </a:p>
              <a:p>
                <a:pPr marL="457200" indent="-457200">
                  <a:buFontTx/>
                  <a:buAutoNum type="arabicPeriod"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Find the marginal product of labor and capital if Q= 20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 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𝐾𝐿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when k=4  and L=7.</a:t>
                </a:r>
              </a:p>
              <a:p>
                <a:pPr marL="457200" indent="-457200">
                  <a:buFontTx/>
                  <a:buAutoNum type="arabicPeriod"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 the production function is Q=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5 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2/3</m:t>
                        </m:r>
                      </m:sup>
                    </m:sSup>
                  </m:oMath>
                </a14:m>
                <a:r>
                  <a:rPr lang="en-US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𝐾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  <m: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/3</m:t>
                        </m:r>
                      </m:sup>
                    </m:sSup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then what is the value of marginal product of capital, if 64 units of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labour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27 units of capital are used?</a:t>
                </a:r>
              </a:p>
              <a:p>
                <a:pPr marL="457200" indent="-457200">
                  <a:buFontTx/>
                  <a:buAutoNum type="arabicPeriod"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 the production function is Q=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6 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1/4</m:t>
                        </m:r>
                      </m:sup>
                    </m:sSup>
                  </m:oMath>
                </a14:m>
                <a:r>
                  <a:rPr lang="en-US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𝐾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  <m: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/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then what is the value of marginal product of capital, if 44 units of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labour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20 units of capital are used?</a:t>
                </a:r>
              </a:p>
              <a:p>
                <a:pPr marL="457200" indent="-457200">
                  <a:buFontTx/>
                  <a:buAutoNum type="arabicPeriod"/>
                </a:pP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AutoNum type="arabicPeriod"/>
                </a:pP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302DA28-A124-4988-B2E2-C8B5CAD57D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2133600"/>
                <a:ext cx="8077200" cy="4551887"/>
              </a:xfrm>
              <a:prstGeom prst="rect">
                <a:avLst/>
              </a:prstGeom>
              <a:blipFill>
                <a:blip r:embed="rId2"/>
                <a:stretch>
                  <a:fillRect l="-981" t="-1071" r="-18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82132250"/>
      </p:ext>
    </p:extLst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5" name="Title 1"/>
          <p:cNvSpPr>
            <a:spLocks/>
          </p:cNvSpPr>
          <p:nvPr/>
        </p:nvSpPr>
        <p:spPr bwMode="auto">
          <a:xfrm>
            <a:off x="457200" y="1143000"/>
            <a:ext cx="82296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rIns="0" bIns="0" anchor="b"/>
          <a:lstStyle/>
          <a:p>
            <a:pPr algn="ctr" eaLnBrk="0" hangingPunct="0"/>
            <a:r>
              <a:rPr lang="en-US" sz="4000" b="1" dirty="0">
                <a:solidFill>
                  <a:srgbClr val="0000FF"/>
                </a:solidFill>
              </a:rPr>
              <a:t>solution</a:t>
            </a:r>
            <a:endParaRPr lang="en-US" sz="3100" b="1" dirty="0">
              <a:solidFill>
                <a:srgbClr val="0000FF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84CABA8-36FB-4612-95CD-9DEDCE6C34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2133600"/>
            <a:ext cx="7628166" cy="312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7741945"/>
      </p:ext>
    </p:extLst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5" name="Title 1"/>
          <p:cNvSpPr>
            <a:spLocks/>
          </p:cNvSpPr>
          <p:nvPr/>
        </p:nvSpPr>
        <p:spPr bwMode="auto">
          <a:xfrm>
            <a:off x="457200" y="1143000"/>
            <a:ext cx="82296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rIns="0" bIns="0" anchor="b"/>
          <a:lstStyle/>
          <a:p>
            <a:pPr algn="ctr" eaLnBrk="0" hangingPunct="0"/>
            <a:r>
              <a:rPr lang="en-US" sz="4000" b="1" dirty="0">
                <a:solidFill>
                  <a:srgbClr val="0000FF"/>
                </a:solidFill>
              </a:rPr>
              <a:t>solution</a:t>
            </a:r>
            <a:endParaRPr lang="en-US" sz="3100" b="1" dirty="0">
              <a:solidFill>
                <a:srgbClr val="0000FF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F7D95A2-9A05-4E0B-AA3D-47F146A6BC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164" y="2057400"/>
            <a:ext cx="7687235" cy="32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3683671"/>
      </p:ext>
    </p:extLst>
  </p:cSld>
  <p:clrMapOvr>
    <a:masterClrMapping/>
  </p:clrMapOvr>
  <p:transition/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4331</TotalTime>
  <Words>632</Words>
  <Application>Microsoft Office PowerPoint</Application>
  <PresentationFormat>On-screen Show (4:3)</PresentationFormat>
  <Paragraphs>97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8" baseType="lpstr">
      <vt:lpstr>Arial</vt:lpstr>
      <vt:lpstr>Arial Black</vt:lpstr>
      <vt:lpstr>Calibri</vt:lpstr>
      <vt:lpstr>Cambria Math</vt:lpstr>
      <vt:lpstr>Constantia</vt:lpstr>
      <vt:lpstr>Franklin Gothic Medium</vt:lpstr>
      <vt:lpstr>Tahoma</vt:lpstr>
      <vt:lpstr>Times New Roman</vt:lpstr>
      <vt:lpstr>Wingdings</vt:lpstr>
      <vt:lpstr>Wingdings 2</vt:lpstr>
      <vt:lpstr>Flow</vt:lpstr>
      <vt:lpstr> Theory of Production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CAWANGAN PERAK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PRINCIPLE OF ECONOMICS</dc:title>
  <dc:creator>UiTM</dc:creator>
  <cp:lastModifiedBy>Abdullah</cp:lastModifiedBy>
  <cp:revision>217</cp:revision>
  <dcterms:created xsi:type="dcterms:W3CDTF">2007-01-16T02:28:48Z</dcterms:created>
  <dcterms:modified xsi:type="dcterms:W3CDTF">2025-07-07T17:43:09Z</dcterms:modified>
</cp:coreProperties>
</file>