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12192000"/>
  <p:notesSz cx="6858000" cy="9144000"/>
  <p:embeddedFontLst>
    <p:embeddedFont>
      <p:font typeface="Tahoma"/>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1" roundtripDataSignature="AMtx7miBMvcRiWUxvUAmz++zKRkDvYhR2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Tahoma-bold.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Tahoma-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93" name="Google Shape;93;p2:notes"/>
          <p:cNvSpPr/>
          <p:nvPr/>
        </p:nvSpPr>
        <p:spPr>
          <a:xfrm>
            <a:off x="3963988"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4" name="Google Shape;94;p2:notes"/>
          <p:cNvSpPr/>
          <p:nvPr/>
        </p:nvSpPr>
        <p:spPr>
          <a:xfrm>
            <a:off x="3963988" y="8820150"/>
            <a:ext cx="3032125" cy="463550"/>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2</a:t>
            </a:r>
            <a:endParaRPr/>
          </a:p>
        </p:txBody>
      </p:sp>
      <p:sp>
        <p:nvSpPr>
          <p:cNvPr id="95" name="Google Shape;95;p2:notes"/>
          <p:cNvSpPr/>
          <p:nvPr/>
        </p:nvSpPr>
        <p:spPr>
          <a:xfrm>
            <a:off x="0" y="882015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6" name="Google Shape;96;p2:notes"/>
          <p:cNvSpPr/>
          <p:nvPr/>
        </p:nvSpPr>
        <p:spPr>
          <a:xfrm>
            <a:off x="0"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 name="Google Shape;97;p2:notes"/>
          <p:cNvSpPr/>
          <p:nvPr/>
        </p:nvSpPr>
        <p:spPr>
          <a:xfrm>
            <a:off x="3962400" y="0"/>
            <a:ext cx="3033713"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8" name="Google Shape;98;p2:notes"/>
          <p:cNvSpPr/>
          <p:nvPr/>
        </p:nvSpPr>
        <p:spPr>
          <a:xfrm>
            <a:off x="3962400" y="8818563"/>
            <a:ext cx="3033713" cy="465137"/>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2</a:t>
            </a:r>
            <a:endParaRPr/>
          </a:p>
        </p:txBody>
      </p:sp>
      <p:sp>
        <p:nvSpPr>
          <p:cNvPr id="99" name="Google Shape;99;p2:notes"/>
          <p:cNvSpPr/>
          <p:nvPr/>
        </p:nvSpPr>
        <p:spPr>
          <a:xfrm>
            <a:off x="-1588" y="8818563"/>
            <a:ext cx="3032126" cy="4651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0" name="Google Shape;100;p2:notes"/>
          <p:cNvSpPr/>
          <p:nvPr/>
        </p:nvSpPr>
        <p:spPr>
          <a:xfrm>
            <a:off x="-1588" y="0"/>
            <a:ext cx="3032126"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204" name="Google Shape;204;p19:notes"/>
          <p:cNvSpPr/>
          <p:nvPr/>
        </p:nvSpPr>
        <p:spPr>
          <a:xfrm>
            <a:off x="3963988"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05" name="Google Shape;205;p19:notes"/>
          <p:cNvSpPr/>
          <p:nvPr/>
        </p:nvSpPr>
        <p:spPr>
          <a:xfrm>
            <a:off x="3963988" y="8820150"/>
            <a:ext cx="3032125" cy="463550"/>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29</a:t>
            </a:r>
            <a:endParaRPr/>
          </a:p>
        </p:txBody>
      </p:sp>
      <p:sp>
        <p:nvSpPr>
          <p:cNvPr id="206" name="Google Shape;206;p19:notes"/>
          <p:cNvSpPr/>
          <p:nvPr/>
        </p:nvSpPr>
        <p:spPr>
          <a:xfrm>
            <a:off x="0" y="882015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07" name="Google Shape;207;p19:notes"/>
          <p:cNvSpPr/>
          <p:nvPr/>
        </p:nvSpPr>
        <p:spPr>
          <a:xfrm>
            <a:off x="0"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08" name="Google Shape;208;p19:notes"/>
          <p:cNvSpPr/>
          <p:nvPr/>
        </p:nvSpPr>
        <p:spPr>
          <a:xfrm>
            <a:off x="3962400" y="0"/>
            <a:ext cx="3033713"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09" name="Google Shape;209;p19:notes"/>
          <p:cNvSpPr/>
          <p:nvPr/>
        </p:nvSpPr>
        <p:spPr>
          <a:xfrm>
            <a:off x="3962400" y="8818563"/>
            <a:ext cx="3033713" cy="465137"/>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19</a:t>
            </a:r>
            <a:endParaRPr/>
          </a:p>
        </p:txBody>
      </p:sp>
      <p:sp>
        <p:nvSpPr>
          <p:cNvPr id="210" name="Google Shape;210;p19:notes"/>
          <p:cNvSpPr/>
          <p:nvPr/>
        </p:nvSpPr>
        <p:spPr>
          <a:xfrm>
            <a:off x="-1588" y="8818563"/>
            <a:ext cx="3032126" cy="4651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1" name="Google Shape;211;p19:notes"/>
          <p:cNvSpPr/>
          <p:nvPr/>
        </p:nvSpPr>
        <p:spPr>
          <a:xfrm>
            <a:off x="-1588" y="0"/>
            <a:ext cx="3032126"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2" name="Google Shape;21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219" name="Google Shape;219;p20:notes"/>
          <p:cNvSpPr/>
          <p:nvPr/>
        </p:nvSpPr>
        <p:spPr>
          <a:xfrm>
            <a:off x="3963988"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0" name="Google Shape;220;p20:notes"/>
          <p:cNvSpPr/>
          <p:nvPr/>
        </p:nvSpPr>
        <p:spPr>
          <a:xfrm>
            <a:off x="3963988" y="8820150"/>
            <a:ext cx="3032125" cy="463550"/>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31</a:t>
            </a:r>
            <a:endParaRPr/>
          </a:p>
        </p:txBody>
      </p:sp>
      <p:sp>
        <p:nvSpPr>
          <p:cNvPr id="221" name="Google Shape;221;p20:notes"/>
          <p:cNvSpPr/>
          <p:nvPr/>
        </p:nvSpPr>
        <p:spPr>
          <a:xfrm>
            <a:off x="0" y="882015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2" name="Google Shape;222;p20:notes"/>
          <p:cNvSpPr/>
          <p:nvPr/>
        </p:nvSpPr>
        <p:spPr>
          <a:xfrm>
            <a:off x="0"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3" name="Google Shape;223;p20:notes"/>
          <p:cNvSpPr/>
          <p:nvPr/>
        </p:nvSpPr>
        <p:spPr>
          <a:xfrm>
            <a:off x="3962400" y="0"/>
            <a:ext cx="3033713"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4" name="Google Shape;224;p20:notes"/>
          <p:cNvSpPr/>
          <p:nvPr/>
        </p:nvSpPr>
        <p:spPr>
          <a:xfrm>
            <a:off x="3962400" y="8818563"/>
            <a:ext cx="3033713" cy="465137"/>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20</a:t>
            </a:r>
            <a:endParaRPr/>
          </a:p>
        </p:txBody>
      </p:sp>
      <p:sp>
        <p:nvSpPr>
          <p:cNvPr id="225" name="Google Shape;225;p20:notes"/>
          <p:cNvSpPr/>
          <p:nvPr/>
        </p:nvSpPr>
        <p:spPr>
          <a:xfrm>
            <a:off x="-1588" y="8818563"/>
            <a:ext cx="3032126" cy="4651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6" name="Google Shape;226;p20:notes"/>
          <p:cNvSpPr/>
          <p:nvPr/>
        </p:nvSpPr>
        <p:spPr>
          <a:xfrm>
            <a:off x="-1588" y="0"/>
            <a:ext cx="3032126"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7" name="Google Shape;22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239" name="Google Shape;239;p21:notes"/>
          <p:cNvSpPr/>
          <p:nvPr/>
        </p:nvSpPr>
        <p:spPr>
          <a:xfrm>
            <a:off x="3963988"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0" name="Google Shape;240;p21:notes"/>
          <p:cNvSpPr/>
          <p:nvPr/>
        </p:nvSpPr>
        <p:spPr>
          <a:xfrm>
            <a:off x="3963988" y="8820150"/>
            <a:ext cx="3032125" cy="463550"/>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32</a:t>
            </a:r>
            <a:endParaRPr/>
          </a:p>
        </p:txBody>
      </p:sp>
      <p:sp>
        <p:nvSpPr>
          <p:cNvPr id="241" name="Google Shape;241;p21:notes"/>
          <p:cNvSpPr/>
          <p:nvPr/>
        </p:nvSpPr>
        <p:spPr>
          <a:xfrm>
            <a:off x="0" y="882015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2" name="Google Shape;242;p21:notes"/>
          <p:cNvSpPr/>
          <p:nvPr/>
        </p:nvSpPr>
        <p:spPr>
          <a:xfrm>
            <a:off x="0"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3" name="Google Shape;243;p21:notes"/>
          <p:cNvSpPr/>
          <p:nvPr/>
        </p:nvSpPr>
        <p:spPr>
          <a:xfrm>
            <a:off x="3962400" y="0"/>
            <a:ext cx="3033713"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4" name="Google Shape;244;p21:notes"/>
          <p:cNvSpPr/>
          <p:nvPr/>
        </p:nvSpPr>
        <p:spPr>
          <a:xfrm>
            <a:off x="3962400" y="8818563"/>
            <a:ext cx="3033713" cy="465137"/>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21</a:t>
            </a:r>
            <a:endParaRPr/>
          </a:p>
        </p:txBody>
      </p:sp>
      <p:sp>
        <p:nvSpPr>
          <p:cNvPr id="245" name="Google Shape;245;p21:notes"/>
          <p:cNvSpPr/>
          <p:nvPr/>
        </p:nvSpPr>
        <p:spPr>
          <a:xfrm>
            <a:off x="-1588" y="8818563"/>
            <a:ext cx="3032126" cy="4651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6" name="Google Shape;246;p21:notes"/>
          <p:cNvSpPr/>
          <p:nvPr/>
        </p:nvSpPr>
        <p:spPr>
          <a:xfrm>
            <a:off x="-1588" y="0"/>
            <a:ext cx="3032126"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7" name="Google Shape;2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254" name="Google Shape;254;p22:notes"/>
          <p:cNvSpPr/>
          <p:nvPr/>
        </p:nvSpPr>
        <p:spPr>
          <a:xfrm>
            <a:off x="3963988"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5" name="Google Shape;255;p22:notes"/>
          <p:cNvSpPr/>
          <p:nvPr/>
        </p:nvSpPr>
        <p:spPr>
          <a:xfrm>
            <a:off x="3963988" y="8820150"/>
            <a:ext cx="3032125" cy="463550"/>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32</a:t>
            </a:r>
            <a:endParaRPr/>
          </a:p>
        </p:txBody>
      </p:sp>
      <p:sp>
        <p:nvSpPr>
          <p:cNvPr id="256" name="Google Shape;256;p22:notes"/>
          <p:cNvSpPr/>
          <p:nvPr/>
        </p:nvSpPr>
        <p:spPr>
          <a:xfrm>
            <a:off x="0" y="882015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7" name="Google Shape;257;p22:notes"/>
          <p:cNvSpPr/>
          <p:nvPr/>
        </p:nvSpPr>
        <p:spPr>
          <a:xfrm>
            <a:off x="0"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8" name="Google Shape;258;p22:notes"/>
          <p:cNvSpPr/>
          <p:nvPr/>
        </p:nvSpPr>
        <p:spPr>
          <a:xfrm>
            <a:off x="3962400" y="0"/>
            <a:ext cx="3033713"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9" name="Google Shape;259;p22:notes"/>
          <p:cNvSpPr/>
          <p:nvPr/>
        </p:nvSpPr>
        <p:spPr>
          <a:xfrm>
            <a:off x="3962400" y="8818563"/>
            <a:ext cx="3033713" cy="465137"/>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21</a:t>
            </a:r>
            <a:endParaRPr/>
          </a:p>
        </p:txBody>
      </p:sp>
      <p:sp>
        <p:nvSpPr>
          <p:cNvPr id="260" name="Google Shape;260;p22:notes"/>
          <p:cNvSpPr/>
          <p:nvPr/>
        </p:nvSpPr>
        <p:spPr>
          <a:xfrm>
            <a:off x="-1588" y="8818563"/>
            <a:ext cx="3032126" cy="4651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1" name="Google Shape;261;p22:notes"/>
          <p:cNvSpPr/>
          <p:nvPr/>
        </p:nvSpPr>
        <p:spPr>
          <a:xfrm>
            <a:off x="-1588" y="0"/>
            <a:ext cx="3032126"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2" name="Google Shape;26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269" name="Google Shape;269;p23:notes"/>
          <p:cNvSpPr/>
          <p:nvPr/>
        </p:nvSpPr>
        <p:spPr>
          <a:xfrm>
            <a:off x="3963988"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0" name="Google Shape;270;p23:notes"/>
          <p:cNvSpPr/>
          <p:nvPr/>
        </p:nvSpPr>
        <p:spPr>
          <a:xfrm>
            <a:off x="3963988" y="8820150"/>
            <a:ext cx="3032125" cy="463550"/>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32</a:t>
            </a:r>
            <a:endParaRPr/>
          </a:p>
        </p:txBody>
      </p:sp>
      <p:sp>
        <p:nvSpPr>
          <p:cNvPr id="271" name="Google Shape;271;p23:notes"/>
          <p:cNvSpPr/>
          <p:nvPr/>
        </p:nvSpPr>
        <p:spPr>
          <a:xfrm>
            <a:off x="0" y="882015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2" name="Google Shape;272;p23:notes"/>
          <p:cNvSpPr/>
          <p:nvPr/>
        </p:nvSpPr>
        <p:spPr>
          <a:xfrm>
            <a:off x="0"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3" name="Google Shape;273;p23:notes"/>
          <p:cNvSpPr/>
          <p:nvPr/>
        </p:nvSpPr>
        <p:spPr>
          <a:xfrm>
            <a:off x="3962400" y="0"/>
            <a:ext cx="3033713"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4" name="Google Shape;274;p23:notes"/>
          <p:cNvSpPr/>
          <p:nvPr/>
        </p:nvSpPr>
        <p:spPr>
          <a:xfrm>
            <a:off x="3962400" y="8818563"/>
            <a:ext cx="3033713" cy="465137"/>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21</a:t>
            </a:r>
            <a:endParaRPr/>
          </a:p>
        </p:txBody>
      </p:sp>
      <p:sp>
        <p:nvSpPr>
          <p:cNvPr id="275" name="Google Shape;275;p23:notes"/>
          <p:cNvSpPr/>
          <p:nvPr/>
        </p:nvSpPr>
        <p:spPr>
          <a:xfrm>
            <a:off x="-1588" y="8818563"/>
            <a:ext cx="3032126" cy="4651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6" name="Google Shape;276;p23:notes"/>
          <p:cNvSpPr/>
          <p:nvPr/>
        </p:nvSpPr>
        <p:spPr>
          <a:xfrm>
            <a:off x="-1588" y="0"/>
            <a:ext cx="3032126"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7" name="Google Shape;27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284" name="Google Shape;284;p24:notes"/>
          <p:cNvSpPr/>
          <p:nvPr/>
        </p:nvSpPr>
        <p:spPr>
          <a:xfrm>
            <a:off x="3963988"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5" name="Google Shape;285;p24:notes"/>
          <p:cNvSpPr/>
          <p:nvPr/>
        </p:nvSpPr>
        <p:spPr>
          <a:xfrm>
            <a:off x="3963988" y="8820150"/>
            <a:ext cx="3032125" cy="463550"/>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32</a:t>
            </a:r>
            <a:endParaRPr/>
          </a:p>
        </p:txBody>
      </p:sp>
      <p:sp>
        <p:nvSpPr>
          <p:cNvPr id="286" name="Google Shape;286;p24:notes"/>
          <p:cNvSpPr/>
          <p:nvPr/>
        </p:nvSpPr>
        <p:spPr>
          <a:xfrm>
            <a:off x="0" y="882015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7" name="Google Shape;287;p24:notes"/>
          <p:cNvSpPr/>
          <p:nvPr/>
        </p:nvSpPr>
        <p:spPr>
          <a:xfrm>
            <a:off x="0" y="0"/>
            <a:ext cx="3032125" cy="463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8" name="Google Shape;288;p24:notes"/>
          <p:cNvSpPr/>
          <p:nvPr/>
        </p:nvSpPr>
        <p:spPr>
          <a:xfrm>
            <a:off x="3962400" y="0"/>
            <a:ext cx="3033713"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9" name="Google Shape;289;p24:notes"/>
          <p:cNvSpPr/>
          <p:nvPr/>
        </p:nvSpPr>
        <p:spPr>
          <a:xfrm>
            <a:off x="3962400" y="8818563"/>
            <a:ext cx="3033713" cy="465137"/>
          </a:xfrm>
          <a:prstGeom prst="rect">
            <a:avLst/>
          </a:prstGeom>
          <a:noFill/>
          <a:ln>
            <a:noFill/>
          </a:ln>
        </p:spPr>
        <p:txBody>
          <a:bodyPr anchorCtr="0" anchor="b" bIns="0" lIns="19375" spcFirstLastPara="1" rIns="19375" wrap="square" tIns="0">
            <a:noAutofit/>
          </a:bodyPr>
          <a:lstStyle/>
          <a:p>
            <a:pPr indent="0" lvl="0" marL="0" marR="0" rtl="0" algn="r">
              <a:spcBef>
                <a:spcPts val="0"/>
              </a:spcBef>
              <a:spcAft>
                <a:spcPts val="0"/>
              </a:spcAft>
              <a:buNone/>
            </a:pPr>
            <a:r>
              <a:rPr b="0" i="1" lang="en-US" sz="1000" u="none" cap="none" strike="noStrike">
                <a:solidFill>
                  <a:schemeClr val="dk1"/>
                </a:solidFill>
                <a:latin typeface="Times New Roman"/>
                <a:ea typeface="Times New Roman"/>
                <a:cs typeface="Times New Roman"/>
                <a:sym typeface="Times New Roman"/>
              </a:rPr>
              <a:t>21</a:t>
            </a:r>
            <a:endParaRPr/>
          </a:p>
        </p:txBody>
      </p:sp>
      <p:sp>
        <p:nvSpPr>
          <p:cNvPr id="290" name="Google Shape;290;p24:notes"/>
          <p:cNvSpPr/>
          <p:nvPr/>
        </p:nvSpPr>
        <p:spPr>
          <a:xfrm>
            <a:off x="-1588" y="8818563"/>
            <a:ext cx="3032126" cy="4651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1" name="Google Shape;291;p24:notes"/>
          <p:cNvSpPr/>
          <p:nvPr/>
        </p:nvSpPr>
        <p:spPr>
          <a:xfrm>
            <a:off x="-1588" y="0"/>
            <a:ext cx="3032126" cy="4619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2" name="Google Shape;29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300" name="Google Shape;30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307" name="Google Shape;30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 name="Google Shape;30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314" name="Google Shape;31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321" name="Google Shape;32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328" name="Google Shape;32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335" name="Google Shape;33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342" name="Google Shape;34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349" name="Google Shape;34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357" name="Google Shape;35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5"/>
          <p:cNvSpPr txBox="1"/>
          <p:nvPr>
            <p:ph type="ctrTitle"/>
          </p:nvPr>
        </p:nvSpPr>
        <p:spPr>
          <a:xfrm>
            <a:off x="914400" y="2130430"/>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5"/>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5"/>
          <p:cNvSpPr txBox="1"/>
          <p:nvPr>
            <p:ph idx="10" type="dt"/>
          </p:nvPr>
        </p:nvSpPr>
        <p:spPr>
          <a:xfrm>
            <a:off x="609600" y="6356355"/>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5"/>
          <p:cNvSpPr txBox="1"/>
          <p:nvPr>
            <p:ph idx="11" type="ftr"/>
          </p:nvPr>
        </p:nvSpPr>
        <p:spPr>
          <a:xfrm>
            <a:off x="4165600" y="6356355"/>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5"/>
          <p:cNvSpPr txBox="1"/>
          <p:nvPr>
            <p:ph idx="12" type="sldNum"/>
          </p:nvPr>
        </p:nvSpPr>
        <p:spPr>
          <a:xfrm>
            <a:off x="8737600" y="6356355"/>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6"/>
          <p:cNvSpPr txBox="1"/>
          <p:nvPr>
            <p:ph idx="1" type="body"/>
          </p:nvPr>
        </p:nvSpPr>
        <p:spPr>
          <a:xfrm>
            <a:off x="609600" y="1600205"/>
            <a:ext cx="109728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6"/>
          <p:cNvSpPr txBox="1"/>
          <p:nvPr>
            <p:ph idx="10" type="dt"/>
          </p:nvPr>
        </p:nvSpPr>
        <p:spPr>
          <a:xfrm>
            <a:off x="609600" y="6356355"/>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6"/>
          <p:cNvSpPr txBox="1"/>
          <p:nvPr>
            <p:ph idx="11" type="ftr"/>
          </p:nvPr>
        </p:nvSpPr>
        <p:spPr>
          <a:xfrm>
            <a:off x="4165600" y="6356355"/>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6"/>
          <p:cNvSpPr txBox="1"/>
          <p:nvPr>
            <p:ph idx="12" type="sldNum"/>
          </p:nvPr>
        </p:nvSpPr>
        <p:spPr>
          <a:xfrm>
            <a:off x="8737600" y="6356355"/>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7"/>
          <p:cNvSpPr txBox="1"/>
          <p:nvPr>
            <p:ph type="title"/>
          </p:nvPr>
        </p:nvSpPr>
        <p:spPr>
          <a:xfrm>
            <a:off x="963084" y="4406905"/>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7"/>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7"/>
          <p:cNvSpPr txBox="1"/>
          <p:nvPr>
            <p:ph idx="10" type="dt"/>
          </p:nvPr>
        </p:nvSpPr>
        <p:spPr>
          <a:xfrm>
            <a:off x="609600" y="6356355"/>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7"/>
          <p:cNvSpPr txBox="1"/>
          <p:nvPr>
            <p:ph idx="11" type="ftr"/>
          </p:nvPr>
        </p:nvSpPr>
        <p:spPr>
          <a:xfrm>
            <a:off x="4165600" y="6356355"/>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7"/>
          <p:cNvSpPr txBox="1"/>
          <p:nvPr>
            <p:ph idx="12" type="sldNum"/>
          </p:nvPr>
        </p:nvSpPr>
        <p:spPr>
          <a:xfrm>
            <a:off x="8737600" y="6356355"/>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8"/>
          <p:cNvSpPr txBox="1"/>
          <p:nvPr>
            <p:ph idx="1" type="body"/>
          </p:nvPr>
        </p:nvSpPr>
        <p:spPr>
          <a:xfrm>
            <a:off x="812800" y="1600205"/>
            <a:ext cx="7213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8"/>
          <p:cNvSpPr txBox="1"/>
          <p:nvPr>
            <p:ph idx="2" type="body"/>
          </p:nvPr>
        </p:nvSpPr>
        <p:spPr>
          <a:xfrm>
            <a:off x="8229600" y="1600205"/>
            <a:ext cx="7213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8"/>
          <p:cNvSpPr txBox="1"/>
          <p:nvPr>
            <p:ph idx="10" type="dt"/>
          </p:nvPr>
        </p:nvSpPr>
        <p:spPr>
          <a:xfrm>
            <a:off x="609600" y="6356355"/>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8"/>
          <p:cNvSpPr txBox="1"/>
          <p:nvPr>
            <p:ph idx="11" type="ftr"/>
          </p:nvPr>
        </p:nvSpPr>
        <p:spPr>
          <a:xfrm>
            <a:off x="4165600" y="6356355"/>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8"/>
          <p:cNvSpPr txBox="1"/>
          <p:nvPr>
            <p:ph idx="12" type="sldNum"/>
          </p:nvPr>
        </p:nvSpPr>
        <p:spPr>
          <a:xfrm>
            <a:off x="8737600" y="6356355"/>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9"/>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9"/>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9"/>
          <p:cNvSpPr txBox="1"/>
          <p:nvPr>
            <p:ph idx="3" type="body"/>
          </p:nvPr>
        </p:nvSpPr>
        <p:spPr>
          <a:xfrm>
            <a:off x="6193370"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9"/>
          <p:cNvSpPr txBox="1"/>
          <p:nvPr>
            <p:ph idx="4" type="body"/>
          </p:nvPr>
        </p:nvSpPr>
        <p:spPr>
          <a:xfrm>
            <a:off x="6193370"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9"/>
          <p:cNvSpPr txBox="1"/>
          <p:nvPr>
            <p:ph idx="10" type="dt"/>
          </p:nvPr>
        </p:nvSpPr>
        <p:spPr>
          <a:xfrm>
            <a:off x="609600" y="6356355"/>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9"/>
          <p:cNvSpPr txBox="1"/>
          <p:nvPr>
            <p:ph idx="11" type="ftr"/>
          </p:nvPr>
        </p:nvSpPr>
        <p:spPr>
          <a:xfrm>
            <a:off x="4165600" y="6356355"/>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9"/>
          <p:cNvSpPr txBox="1"/>
          <p:nvPr>
            <p:ph idx="12" type="sldNum"/>
          </p:nvPr>
        </p:nvSpPr>
        <p:spPr>
          <a:xfrm>
            <a:off x="8737600" y="6356355"/>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0"/>
          <p:cNvSpPr txBox="1"/>
          <p:nvPr>
            <p:ph idx="10" type="dt"/>
          </p:nvPr>
        </p:nvSpPr>
        <p:spPr>
          <a:xfrm>
            <a:off x="609600" y="6356355"/>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0"/>
          <p:cNvSpPr txBox="1"/>
          <p:nvPr>
            <p:ph idx="11" type="ftr"/>
          </p:nvPr>
        </p:nvSpPr>
        <p:spPr>
          <a:xfrm>
            <a:off x="4165600" y="6356355"/>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0"/>
          <p:cNvSpPr txBox="1"/>
          <p:nvPr>
            <p:ph idx="12" type="sldNum"/>
          </p:nvPr>
        </p:nvSpPr>
        <p:spPr>
          <a:xfrm>
            <a:off x="8737600" y="6356355"/>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1"/>
          <p:cNvSpPr txBox="1"/>
          <p:nvPr>
            <p:ph idx="10" type="dt"/>
          </p:nvPr>
        </p:nvSpPr>
        <p:spPr>
          <a:xfrm>
            <a:off x="609600" y="6356355"/>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1"/>
          <p:cNvSpPr txBox="1"/>
          <p:nvPr>
            <p:ph idx="11" type="ftr"/>
          </p:nvPr>
        </p:nvSpPr>
        <p:spPr>
          <a:xfrm>
            <a:off x="4165600" y="6356355"/>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1"/>
          <p:cNvSpPr txBox="1"/>
          <p:nvPr>
            <p:ph idx="12" type="sldNum"/>
          </p:nvPr>
        </p:nvSpPr>
        <p:spPr>
          <a:xfrm>
            <a:off x="8737600" y="6356355"/>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2"/>
          <p:cNvSpPr txBox="1"/>
          <p:nvPr>
            <p:ph type="title"/>
          </p:nvPr>
        </p:nvSpPr>
        <p:spPr>
          <a:xfrm>
            <a:off x="609603" y="273050"/>
            <a:ext cx="4011084"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2"/>
          <p:cNvSpPr txBox="1"/>
          <p:nvPr>
            <p:ph idx="1" type="body"/>
          </p:nvPr>
        </p:nvSpPr>
        <p:spPr>
          <a:xfrm>
            <a:off x="4766733" y="273055"/>
            <a:ext cx="6815667"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42"/>
          <p:cNvSpPr txBox="1"/>
          <p:nvPr>
            <p:ph idx="2" type="body"/>
          </p:nvPr>
        </p:nvSpPr>
        <p:spPr>
          <a:xfrm>
            <a:off x="609603" y="1435103"/>
            <a:ext cx="4011084"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42"/>
          <p:cNvSpPr txBox="1"/>
          <p:nvPr>
            <p:ph idx="10" type="dt"/>
          </p:nvPr>
        </p:nvSpPr>
        <p:spPr>
          <a:xfrm>
            <a:off x="609600" y="6356355"/>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2"/>
          <p:cNvSpPr txBox="1"/>
          <p:nvPr>
            <p:ph idx="11" type="ftr"/>
          </p:nvPr>
        </p:nvSpPr>
        <p:spPr>
          <a:xfrm>
            <a:off x="4165600" y="6356355"/>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2"/>
          <p:cNvSpPr txBox="1"/>
          <p:nvPr>
            <p:ph idx="12" type="sldNum"/>
          </p:nvPr>
        </p:nvSpPr>
        <p:spPr>
          <a:xfrm>
            <a:off x="8737600" y="6356355"/>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3"/>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3"/>
          <p:cNvSpPr/>
          <p:nvPr>
            <p:ph idx="2" type="pic"/>
          </p:nvPr>
        </p:nvSpPr>
        <p:spPr>
          <a:xfrm>
            <a:off x="2389717" y="612775"/>
            <a:ext cx="7315200" cy="4114800"/>
          </a:xfrm>
          <a:prstGeom prst="rect">
            <a:avLst/>
          </a:prstGeom>
          <a:noFill/>
          <a:ln>
            <a:noFill/>
          </a:ln>
        </p:spPr>
      </p:sp>
      <p:sp>
        <p:nvSpPr>
          <p:cNvPr id="68" name="Google Shape;68;p43"/>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3"/>
          <p:cNvSpPr txBox="1"/>
          <p:nvPr>
            <p:ph idx="10" type="dt"/>
          </p:nvPr>
        </p:nvSpPr>
        <p:spPr>
          <a:xfrm>
            <a:off x="609600" y="6356355"/>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3"/>
          <p:cNvSpPr txBox="1"/>
          <p:nvPr>
            <p:ph idx="11" type="ftr"/>
          </p:nvPr>
        </p:nvSpPr>
        <p:spPr>
          <a:xfrm>
            <a:off x="4165600" y="6356355"/>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3"/>
          <p:cNvSpPr txBox="1"/>
          <p:nvPr>
            <p:ph idx="12" type="sldNum"/>
          </p:nvPr>
        </p:nvSpPr>
        <p:spPr>
          <a:xfrm>
            <a:off x="8737600" y="6356355"/>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4"/>
          <p:cNvSpPr txBox="1"/>
          <p:nvPr>
            <p:ph idx="1" type="body"/>
          </p:nvPr>
        </p:nvSpPr>
        <p:spPr>
          <a:xfrm rot="5400000">
            <a:off x="3833019" y="-1623214"/>
            <a:ext cx="4525963" cy="10972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4"/>
          <p:cNvSpPr txBox="1"/>
          <p:nvPr>
            <p:ph idx="10" type="dt"/>
          </p:nvPr>
        </p:nvSpPr>
        <p:spPr>
          <a:xfrm>
            <a:off x="609600" y="6356355"/>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4"/>
          <p:cNvSpPr txBox="1"/>
          <p:nvPr>
            <p:ph idx="11" type="ftr"/>
          </p:nvPr>
        </p:nvSpPr>
        <p:spPr>
          <a:xfrm>
            <a:off x="4165600" y="6356355"/>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4"/>
          <p:cNvSpPr txBox="1"/>
          <p:nvPr>
            <p:ph idx="12" type="sldNum"/>
          </p:nvPr>
        </p:nvSpPr>
        <p:spPr>
          <a:xfrm>
            <a:off x="8737600" y="6356355"/>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5"/>
          <p:cNvSpPr txBox="1"/>
          <p:nvPr>
            <p:ph type="title"/>
          </p:nvPr>
        </p:nvSpPr>
        <p:spPr>
          <a:xfrm rot="5400000">
            <a:off x="10688638" y="1371606"/>
            <a:ext cx="5851525" cy="3657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5"/>
          <p:cNvSpPr txBox="1"/>
          <p:nvPr>
            <p:ph idx="1" type="body"/>
          </p:nvPr>
        </p:nvSpPr>
        <p:spPr>
          <a:xfrm rot="5400000">
            <a:off x="3271838" y="-2184394"/>
            <a:ext cx="5851525" cy="1076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5"/>
          <p:cNvSpPr txBox="1"/>
          <p:nvPr>
            <p:ph idx="10" type="dt"/>
          </p:nvPr>
        </p:nvSpPr>
        <p:spPr>
          <a:xfrm>
            <a:off x="609600" y="6356355"/>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5"/>
          <p:cNvSpPr txBox="1"/>
          <p:nvPr>
            <p:ph idx="11" type="ftr"/>
          </p:nvPr>
        </p:nvSpPr>
        <p:spPr>
          <a:xfrm>
            <a:off x="4165600" y="6356355"/>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5"/>
          <p:cNvSpPr txBox="1"/>
          <p:nvPr>
            <p:ph idx="12" type="sldNum"/>
          </p:nvPr>
        </p:nvSpPr>
        <p:spPr>
          <a:xfrm>
            <a:off x="8737600" y="6356355"/>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4"/>
          <p:cNvSpPr txBox="1"/>
          <p:nvPr>
            <p:ph idx="1" type="body"/>
          </p:nvPr>
        </p:nvSpPr>
        <p:spPr>
          <a:xfrm>
            <a:off x="609600" y="1600205"/>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34"/>
          <p:cNvSpPr txBox="1"/>
          <p:nvPr>
            <p:ph idx="10" type="dt"/>
          </p:nvPr>
        </p:nvSpPr>
        <p:spPr>
          <a:xfrm>
            <a:off x="609600" y="6356355"/>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34"/>
          <p:cNvSpPr txBox="1"/>
          <p:nvPr>
            <p:ph idx="11" type="ftr"/>
          </p:nvPr>
        </p:nvSpPr>
        <p:spPr>
          <a:xfrm>
            <a:off x="4165600" y="6356355"/>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34"/>
          <p:cNvSpPr txBox="1"/>
          <p:nvPr>
            <p:ph idx="12" type="sldNum"/>
          </p:nvPr>
        </p:nvSpPr>
        <p:spPr>
          <a:xfrm>
            <a:off x="8737600" y="6356355"/>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1pPr>
            <a:lvl2pPr indent="0" lvl="1"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2pPr>
            <a:lvl3pPr indent="0" lvl="2"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3pPr>
            <a:lvl4pPr indent="0" lvl="3"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4pPr>
            <a:lvl5pPr indent="0" lvl="4"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5pPr>
            <a:lvl6pPr indent="0" lvl="5"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6pPr>
            <a:lvl7pPr indent="0" lvl="6"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7pPr>
            <a:lvl8pPr indent="0" lvl="7"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8pPr>
            <a:lvl9pPr indent="0" lvl="8"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2.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txBox="1"/>
          <p:nvPr>
            <p:ph type="ctrTitle"/>
          </p:nvPr>
        </p:nvSpPr>
        <p:spPr>
          <a:xfrm>
            <a:off x="5289756" y="639101"/>
            <a:ext cx="6253317" cy="368601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8000"/>
              <a:buFont typeface="Arial"/>
              <a:buNone/>
            </a:pPr>
            <a:r>
              <a:rPr lang="en-US" sz="8000"/>
              <a:t>Engineering</a:t>
            </a:r>
            <a:br>
              <a:rPr lang="en-US" sz="8000"/>
            </a:br>
            <a:r>
              <a:rPr lang="en-US" sz="8000"/>
              <a:t>Economics</a:t>
            </a:r>
            <a:endParaRPr/>
          </a:p>
        </p:txBody>
      </p:sp>
      <p:sp>
        <p:nvSpPr>
          <p:cNvPr id="89" name="Google Shape;89;p1"/>
          <p:cNvSpPr txBox="1"/>
          <p:nvPr>
            <p:ph idx="1" type="subTitle"/>
          </p:nvPr>
        </p:nvSpPr>
        <p:spPr>
          <a:xfrm>
            <a:off x="5289753" y="4672739"/>
            <a:ext cx="6269347" cy="1021498"/>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262626"/>
              </a:buClr>
              <a:buSzPts val="4000"/>
              <a:buNone/>
            </a:pPr>
            <a:r>
              <a:rPr lang="en-US" sz="4000">
                <a:solidFill>
                  <a:srgbClr val="262626"/>
                </a:solidFill>
              </a:rPr>
              <a:t>Lecture-5</a:t>
            </a:r>
            <a:endParaRPr sz="4000">
              <a:solidFill>
                <a:srgbClr val="262626"/>
              </a:solidFill>
            </a:endParaRPr>
          </a:p>
        </p:txBody>
      </p:sp>
      <p:pic>
        <p:nvPicPr>
          <p:cNvPr descr="A picture containing building, sitting, bench, side&#10;&#10;Description automatically generated" id="90" name="Google Shape;90;p1"/>
          <p:cNvPicPr preferRelativeResize="0"/>
          <p:nvPr/>
        </p:nvPicPr>
        <p:blipFill rotWithShape="1">
          <a:blip r:embed="rId3">
            <a:alphaModFix/>
          </a:blip>
          <a:srcRect b="0" l="0" r="0" t="0"/>
          <a:stretch/>
        </p:blipFill>
        <p:spPr>
          <a:xfrm>
            <a:off x="1" y="4"/>
            <a:ext cx="4635315" cy="68579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2153770" y="0"/>
            <a:ext cx="77724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7A0014"/>
              </a:buClr>
              <a:buSzPts val="4000"/>
              <a:buFont typeface="Arial"/>
              <a:buNone/>
            </a:pPr>
            <a:r>
              <a:rPr lang="en-US" sz="4000">
                <a:solidFill>
                  <a:srgbClr val="7A0014"/>
                </a:solidFill>
              </a:rPr>
              <a:t>Elasticity 	</a:t>
            </a:r>
            <a:endParaRPr sz="4000">
              <a:latin typeface="Tahoma"/>
              <a:ea typeface="Tahoma"/>
              <a:cs typeface="Tahoma"/>
              <a:sym typeface="Tahoma"/>
            </a:endParaRPr>
          </a:p>
        </p:txBody>
      </p:sp>
      <p:sp>
        <p:nvSpPr>
          <p:cNvPr id="105" name="Google Shape;105;p2"/>
          <p:cNvSpPr txBox="1"/>
          <p:nvPr>
            <p:ph idx="1" type="body"/>
          </p:nvPr>
        </p:nvSpPr>
        <p:spPr>
          <a:xfrm>
            <a:off x="797858" y="1806388"/>
            <a:ext cx="10484224" cy="4114800"/>
          </a:xfrm>
          <a:prstGeom prst="rect">
            <a:avLst/>
          </a:prstGeom>
          <a:noFill/>
          <a:ln>
            <a:noFill/>
          </a:ln>
        </p:spPr>
        <p:txBody>
          <a:bodyPr anchorCtr="0" anchor="t" bIns="45700" lIns="91425" spcFirstLastPara="1" rIns="91425" wrap="square" tIns="45700">
            <a:normAutofit fontScale="85000" lnSpcReduction="20000"/>
          </a:bodyPr>
          <a:lstStyle/>
          <a:p>
            <a:pPr indent="-172720" lvl="0" marL="0" rtl="0" algn="just">
              <a:spcBef>
                <a:spcPts val="0"/>
              </a:spcBef>
              <a:spcAft>
                <a:spcPts val="0"/>
              </a:spcAft>
              <a:buClr>
                <a:srgbClr val="F09A0E"/>
              </a:buClr>
              <a:buSzPct val="100000"/>
              <a:buFont typeface="Arial"/>
              <a:buChar char="●"/>
            </a:pPr>
            <a:r>
              <a:rPr lang="en-US"/>
              <a:t> Elasticity is a measure of how much buyers and sellers respond to changes in market conditions. </a:t>
            </a:r>
            <a:endParaRPr/>
          </a:p>
          <a:p>
            <a:pPr indent="0" lvl="0" marL="0" rtl="0" algn="just">
              <a:spcBef>
                <a:spcPts val="544"/>
              </a:spcBef>
              <a:spcAft>
                <a:spcPts val="0"/>
              </a:spcAft>
              <a:buClr>
                <a:srgbClr val="F09A0E"/>
              </a:buClr>
              <a:buSzPct val="100000"/>
              <a:buNone/>
            </a:pPr>
            <a:r>
              <a:rPr lang="en-US"/>
              <a:t> </a:t>
            </a:r>
            <a:endParaRPr/>
          </a:p>
          <a:p>
            <a:pPr indent="-172720" lvl="0" marL="0" rtl="0" algn="just">
              <a:spcBef>
                <a:spcPts val="544"/>
              </a:spcBef>
              <a:spcAft>
                <a:spcPts val="0"/>
              </a:spcAft>
              <a:buClr>
                <a:srgbClr val="F09A0E"/>
              </a:buClr>
              <a:buSzPct val="100000"/>
              <a:buFont typeface="Arial"/>
              <a:buChar char="●"/>
            </a:pPr>
            <a:r>
              <a:rPr lang="en-US"/>
              <a:t> It allows us to analyze supply and demand with greater precision.</a:t>
            </a:r>
            <a:endParaRPr/>
          </a:p>
          <a:p>
            <a:pPr indent="0" lvl="0" marL="0" rtl="0" algn="just">
              <a:spcBef>
                <a:spcPts val="544"/>
              </a:spcBef>
              <a:spcAft>
                <a:spcPts val="0"/>
              </a:spcAft>
              <a:buClr>
                <a:srgbClr val="F09A0E"/>
              </a:buClr>
              <a:buSzPct val="100000"/>
              <a:buFont typeface="Arial"/>
              <a:buNone/>
            </a:pPr>
            <a:r>
              <a:t/>
            </a:r>
            <a:endParaRPr/>
          </a:p>
          <a:p>
            <a:pPr indent="-172720" lvl="0" marL="0" rtl="0" algn="just">
              <a:spcBef>
                <a:spcPts val="544"/>
              </a:spcBef>
              <a:spcAft>
                <a:spcPts val="0"/>
              </a:spcAft>
              <a:buClr>
                <a:srgbClr val="F09A0E"/>
              </a:buClr>
              <a:buSzPct val="100000"/>
              <a:buFont typeface="Arial"/>
              <a:buChar char="●"/>
            </a:pPr>
            <a:r>
              <a:rPr lang="en-US"/>
              <a:t>There are three types of elasticity of demand.</a:t>
            </a:r>
            <a:endParaRPr/>
          </a:p>
          <a:p>
            <a:pPr indent="0" lvl="0" marL="0" rtl="0" algn="just">
              <a:spcBef>
                <a:spcPts val="544"/>
              </a:spcBef>
              <a:spcAft>
                <a:spcPts val="0"/>
              </a:spcAft>
              <a:buClr>
                <a:srgbClr val="F09A0E"/>
              </a:buClr>
              <a:buSzPct val="100000"/>
              <a:buFont typeface="Arial"/>
              <a:buNone/>
            </a:pPr>
            <a:r>
              <a:t/>
            </a:r>
            <a:endParaRPr/>
          </a:p>
          <a:p>
            <a:pPr indent="-342900" lvl="0" marL="342900" rtl="0" algn="just">
              <a:spcBef>
                <a:spcPts val="544"/>
              </a:spcBef>
              <a:spcAft>
                <a:spcPts val="0"/>
              </a:spcAft>
              <a:buClr>
                <a:srgbClr val="F09A0E"/>
              </a:buClr>
              <a:buSzPct val="100000"/>
              <a:buChar char="•"/>
            </a:pPr>
            <a:r>
              <a:rPr lang="en-US"/>
              <a:t>Price elasticity.</a:t>
            </a:r>
            <a:endParaRPr/>
          </a:p>
          <a:p>
            <a:pPr indent="-342900" lvl="0" marL="342900" rtl="0" algn="just">
              <a:spcBef>
                <a:spcPts val="544"/>
              </a:spcBef>
              <a:spcAft>
                <a:spcPts val="0"/>
              </a:spcAft>
              <a:buClr>
                <a:srgbClr val="F09A0E"/>
              </a:buClr>
              <a:buSzPct val="100000"/>
              <a:buChar char="•"/>
            </a:pPr>
            <a:r>
              <a:rPr lang="en-US"/>
              <a:t>Income elasticity.</a:t>
            </a:r>
            <a:endParaRPr/>
          </a:p>
          <a:p>
            <a:pPr indent="-342900" lvl="0" marL="342900" rtl="0" algn="just">
              <a:spcBef>
                <a:spcPts val="544"/>
              </a:spcBef>
              <a:spcAft>
                <a:spcPts val="0"/>
              </a:spcAft>
              <a:buClr>
                <a:srgbClr val="F09A0E"/>
              </a:buClr>
              <a:buSzPct val="100000"/>
              <a:buChar char="•"/>
            </a:pPr>
            <a:r>
              <a:rPr lang="en-US"/>
              <a:t>Cross elasticity.</a:t>
            </a:r>
            <a:endParaRPr/>
          </a:p>
          <a:p>
            <a:pPr indent="0" lvl="0" marL="0" rtl="0" algn="just">
              <a:spcBef>
                <a:spcPts val="544"/>
              </a:spcBef>
              <a:spcAft>
                <a:spcPts val="0"/>
              </a:spcAft>
              <a:buClr>
                <a:srgbClr val="F09A0E"/>
              </a:buClr>
              <a:buSzPct val="100000"/>
              <a:buFont typeface="Arial"/>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Effect filter="fade" transition="in">
                                      <p:cBhvr>
                                        <p:cTn dur="500"/>
                                        <p:tgtEl>
                                          <p:spTgt spid="1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Effect filter="fade" transition="in">
                                      <p:cBhvr>
                                        <p:cTn dur="500"/>
                                        <p:tgtEl>
                                          <p:spTgt spid="1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animEffect filter="fade" transition="in">
                                      <p:cBhvr>
                                        <p:cTn dur="500"/>
                                        <p:tgtEl>
                                          <p:spTgt spid="1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animEffect filter="fade" transition="in">
                                      <p:cBhvr>
                                        <p:cTn dur="500"/>
                                        <p:tgtEl>
                                          <p:spTgt spid="1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animEffect filter="fade" transition="in">
                                      <p:cBhvr>
                                        <p:cTn dur="500"/>
                                        <p:tgtEl>
                                          <p:spTgt spid="10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5" st="5"/>
                                            </p:txEl>
                                          </p:spTgt>
                                        </p:tgtEl>
                                        <p:attrNameLst>
                                          <p:attrName>style.visibility</p:attrName>
                                        </p:attrNameLst>
                                      </p:cBhvr>
                                      <p:to>
                                        <p:strVal val="visible"/>
                                      </p:to>
                                    </p:set>
                                    <p:animEffect filter="fade" transition="in">
                                      <p:cBhvr>
                                        <p:cTn dur="500"/>
                                        <p:tgtEl>
                                          <p:spTgt spid="10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6" st="6"/>
                                            </p:txEl>
                                          </p:spTgt>
                                        </p:tgtEl>
                                        <p:attrNameLst>
                                          <p:attrName>style.visibility</p:attrName>
                                        </p:attrNameLst>
                                      </p:cBhvr>
                                      <p:to>
                                        <p:strVal val="visible"/>
                                      </p:to>
                                    </p:set>
                                    <p:animEffect filter="fade" transition="in">
                                      <p:cBhvr>
                                        <p:cTn dur="500"/>
                                        <p:tgtEl>
                                          <p:spTgt spid="10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7" st="7"/>
                                            </p:txEl>
                                          </p:spTgt>
                                        </p:tgtEl>
                                        <p:attrNameLst>
                                          <p:attrName>style.visibility</p:attrName>
                                        </p:attrNameLst>
                                      </p:cBhvr>
                                      <p:to>
                                        <p:strVal val="visible"/>
                                      </p:to>
                                    </p:set>
                                    <p:animEffect filter="fade" transition="in">
                                      <p:cBhvr>
                                        <p:cTn dur="500"/>
                                        <p:tgtEl>
                                          <p:spTgt spid="10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8" st="8"/>
                                            </p:txEl>
                                          </p:spTgt>
                                        </p:tgtEl>
                                        <p:attrNameLst>
                                          <p:attrName>style.visibility</p:attrName>
                                        </p:attrNameLst>
                                      </p:cBhvr>
                                      <p:to>
                                        <p:strVal val="visible"/>
                                      </p:to>
                                    </p:set>
                                    <p:animEffect filter="fade" transition="in">
                                      <p:cBhvr>
                                        <p:cTn dur="500"/>
                                        <p:tgtEl>
                                          <p:spTgt spid="10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9" st="9"/>
                                            </p:txEl>
                                          </p:spTgt>
                                        </p:tgtEl>
                                        <p:attrNameLst>
                                          <p:attrName>style.visibility</p:attrName>
                                        </p:attrNameLst>
                                      </p:cBhvr>
                                      <p:to>
                                        <p:strVal val="visible"/>
                                      </p:to>
                                    </p:set>
                                    <p:animEffect filter="fade" transition="in">
                                      <p:cBhvr>
                                        <p:cTn dur="500"/>
                                        <p:tgtEl>
                                          <p:spTgt spid="105">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i="1" lang="en-US"/>
              <a:t>Price Elasticity of Demand</a:t>
            </a:r>
            <a:r>
              <a:rPr lang="en-US"/>
              <a:t> </a:t>
            </a:r>
            <a:endParaRPr/>
          </a:p>
        </p:txBody>
      </p:sp>
      <p:sp>
        <p:nvSpPr>
          <p:cNvPr id="111" name="Google Shape;111;p3"/>
          <p:cNvSpPr txBox="1"/>
          <p:nvPr>
            <p:ph idx="1" type="body"/>
          </p:nvPr>
        </p:nvSpPr>
        <p:spPr>
          <a:xfrm>
            <a:off x="609600" y="1600205"/>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i="1" lang="en-US"/>
              <a:t>Price Elasticity of Demand</a:t>
            </a:r>
            <a:r>
              <a:rPr lang="en-US"/>
              <a:t> (PED) is defined as the responsiveness of quantity demanded to a change in price. </a:t>
            </a:r>
            <a:endParaRPr/>
          </a:p>
          <a:p>
            <a:pPr indent="-342900" lvl="0" marL="342900" rtl="0" algn="just">
              <a:spcBef>
                <a:spcPts val="640"/>
              </a:spcBef>
              <a:spcAft>
                <a:spcPts val="0"/>
              </a:spcAft>
              <a:buClr>
                <a:schemeClr val="dk1"/>
              </a:buClr>
              <a:buSzPts val="3200"/>
              <a:buChar char="•"/>
            </a:pPr>
            <a:r>
              <a:rPr lang="en-US"/>
              <a:t>Demand is said to be elastic when the change in demand is proportionally larger than the change in price. In other words, demand is elastic when the demand changes significantly with smaller price changes. </a:t>
            </a:r>
            <a:endParaRPr/>
          </a:p>
          <a:p>
            <a:pPr indent="-342900" lvl="0" marL="342900" rtl="0" algn="just">
              <a:spcBef>
                <a:spcPts val="640"/>
              </a:spcBef>
              <a:spcAft>
                <a:spcPts val="0"/>
              </a:spcAft>
              <a:buClr>
                <a:schemeClr val="dk1"/>
              </a:buClr>
              <a:buSzPts val="3200"/>
              <a:buChar char="•"/>
            </a:pPr>
            <a:r>
              <a:rPr lang="en-US"/>
              <a:t>Conversely, demand is inelastic when the change in demand is proportionally smaller than the difference in price.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i="1" lang="en-US"/>
              <a:t>Price Elasticity of Demand</a:t>
            </a:r>
            <a:endParaRPr/>
          </a:p>
        </p:txBody>
      </p:sp>
      <p:pic>
        <p:nvPicPr>
          <p:cNvPr id="117" name="Google Shape;117;p4"/>
          <p:cNvPicPr preferRelativeResize="0"/>
          <p:nvPr>
            <p:ph idx="1" type="body"/>
          </p:nvPr>
        </p:nvPicPr>
        <p:blipFill rotWithShape="1">
          <a:blip r:embed="rId3">
            <a:alphaModFix/>
          </a:blip>
          <a:srcRect b="0" l="0" r="0" t="0"/>
          <a:stretch/>
        </p:blipFill>
        <p:spPr>
          <a:xfrm>
            <a:off x="2220686" y="2468880"/>
            <a:ext cx="7707085" cy="240356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i="1" lang="en-US"/>
              <a:t>Price Elasticity of Demand</a:t>
            </a:r>
            <a:endParaRPr/>
          </a:p>
        </p:txBody>
      </p:sp>
      <p:sp>
        <p:nvSpPr>
          <p:cNvPr id="123" name="Google Shape;123;p5"/>
          <p:cNvSpPr txBox="1"/>
          <p:nvPr>
            <p:ph idx="1" type="body"/>
          </p:nvPr>
        </p:nvSpPr>
        <p:spPr>
          <a:xfrm>
            <a:off x="609600" y="1600205"/>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 in Q</a:t>
            </a:r>
            <a:r>
              <a:rPr baseline="-25000" lang="en-US"/>
              <a:t>d</a:t>
            </a:r>
            <a:r>
              <a:rPr lang="en-US"/>
              <a:t> = Percentage Change in Quantity Demanded. The Percentage Change in Quantity Demanded is the New Quantity Demanded minus the Old Quantity Demanded divided by the Old Quantity Demanded.</a:t>
            </a:r>
            <a:endParaRPr/>
          </a:p>
          <a:p>
            <a:pPr indent="-139700" lvl="0" marL="342900" rtl="0" algn="just">
              <a:spcBef>
                <a:spcPts val="640"/>
              </a:spcBef>
              <a:spcAft>
                <a:spcPts val="0"/>
              </a:spcAft>
              <a:buClr>
                <a:schemeClr val="dk1"/>
              </a:buClr>
              <a:buSzPts val="3200"/>
              <a:buNone/>
            </a:pPr>
            <a:r>
              <a:t/>
            </a:r>
            <a:endParaRPr/>
          </a:p>
          <a:p>
            <a:pPr indent="-342900" lvl="0" marL="342900" rtl="0" algn="just">
              <a:spcBef>
                <a:spcPts val="640"/>
              </a:spcBef>
              <a:spcAft>
                <a:spcPts val="0"/>
              </a:spcAft>
              <a:buClr>
                <a:schemeClr val="dk1"/>
              </a:buClr>
              <a:buSzPts val="3200"/>
              <a:buChar char="•"/>
            </a:pPr>
            <a:r>
              <a:rPr lang="en-US"/>
              <a:t>%∆ in P = Percentage Change in Price. This is the New Price minus the Old Price divided by the Old Price.</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 Perfectly Inelastic Demand, (PED = 0)</a:t>
            </a:r>
            <a:endParaRPr/>
          </a:p>
        </p:txBody>
      </p:sp>
      <p:pic>
        <p:nvPicPr>
          <p:cNvPr id="129" name="Google Shape;129;p6"/>
          <p:cNvPicPr preferRelativeResize="0"/>
          <p:nvPr>
            <p:ph idx="1" type="body"/>
          </p:nvPr>
        </p:nvPicPr>
        <p:blipFill rotWithShape="1">
          <a:blip r:embed="rId3">
            <a:alphaModFix/>
          </a:blip>
          <a:srcRect b="0" l="0" r="0" t="0"/>
          <a:stretch/>
        </p:blipFill>
        <p:spPr>
          <a:xfrm>
            <a:off x="2521132" y="1600200"/>
            <a:ext cx="6404286" cy="45259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Perfectly Inelastic Demand, (PED = 0)</a:t>
            </a:r>
            <a:endParaRPr/>
          </a:p>
        </p:txBody>
      </p:sp>
      <p:sp>
        <p:nvSpPr>
          <p:cNvPr id="135" name="Google Shape;135;p7"/>
          <p:cNvSpPr txBox="1"/>
          <p:nvPr>
            <p:ph idx="1" type="body"/>
          </p:nvPr>
        </p:nvSpPr>
        <p:spPr>
          <a:xfrm>
            <a:off x="609600" y="1600205"/>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2A2B2E"/>
              </a:buClr>
              <a:buSzPts val="3200"/>
              <a:buChar char="•"/>
            </a:pPr>
            <a:r>
              <a:rPr b="0" i="0" lang="en-US">
                <a:solidFill>
                  <a:srgbClr val="2A2B2E"/>
                </a:solidFill>
                <a:latin typeface="Arial"/>
                <a:ea typeface="Arial"/>
                <a:cs typeface="Arial"/>
                <a:sym typeface="Arial"/>
              </a:rPr>
              <a:t>With a perfectly inelastic demand, there is no change in the demand for a product with a change in its price. This means that the demand remains constant for any value of price. The demand curve is represented as a straight vertical line.</a:t>
            </a:r>
            <a:endParaRPr/>
          </a:p>
          <a:p>
            <a:pPr indent="-342900" lvl="0" marL="342900" rtl="0" algn="just">
              <a:spcBef>
                <a:spcPts val="640"/>
              </a:spcBef>
              <a:spcAft>
                <a:spcPts val="0"/>
              </a:spcAft>
              <a:buClr>
                <a:srgbClr val="2A2B2E"/>
              </a:buClr>
              <a:buSzPts val="3200"/>
              <a:buChar char="•"/>
            </a:pPr>
            <a:r>
              <a:rPr b="0" i="0" lang="en-US">
                <a:solidFill>
                  <a:srgbClr val="2A2B2E"/>
                </a:solidFill>
                <a:latin typeface="Arial"/>
                <a:ea typeface="Arial"/>
                <a:cs typeface="Arial"/>
                <a:sym typeface="Arial"/>
              </a:rPr>
              <a:t>It is practically impossible to find a product that has a perfectly inelastic demand. The closest thing could be essentials like water or certain food products.</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lang="en-US"/>
              <a:t> Relatively Inelastic Demand, (PED = 0 &lt; x &lt; 1)</a:t>
            </a:r>
            <a:endParaRPr/>
          </a:p>
        </p:txBody>
      </p:sp>
      <p:pic>
        <p:nvPicPr>
          <p:cNvPr id="141" name="Google Shape;141;p8"/>
          <p:cNvPicPr preferRelativeResize="0"/>
          <p:nvPr>
            <p:ph idx="1" type="body"/>
          </p:nvPr>
        </p:nvPicPr>
        <p:blipFill rotWithShape="1">
          <a:blip r:embed="rId3">
            <a:alphaModFix/>
          </a:blip>
          <a:srcRect b="0" l="0" r="0" t="0"/>
          <a:stretch/>
        </p:blipFill>
        <p:spPr>
          <a:xfrm>
            <a:off x="3266582" y="1600200"/>
            <a:ext cx="5658835" cy="45259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0000"/>
              </a:buClr>
              <a:buSzPts val="4000"/>
              <a:buFont typeface="Arial"/>
              <a:buNone/>
            </a:pPr>
            <a:r>
              <a:rPr lang="en-US" sz="4000">
                <a:solidFill>
                  <a:srgbClr val="000000"/>
                </a:solidFill>
              </a:rPr>
              <a:t>Relatively Inelastic Demand, (PED = 0 &lt; x &lt; 1)</a:t>
            </a:r>
            <a:endParaRPr/>
          </a:p>
        </p:txBody>
      </p:sp>
      <p:sp>
        <p:nvSpPr>
          <p:cNvPr id="147" name="Google Shape;147;p9"/>
          <p:cNvSpPr txBox="1"/>
          <p:nvPr>
            <p:ph idx="1" type="body"/>
          </p:nvPr>
        </p:nvSpPr>
        <p:spPr>
          <a:xfrm>
            <a:off x="609600" y="1600205"/>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2A2B2E"/>
              </a:buClr>
              <a:buSzPts val="3200"/>
              <a:buChar char="•"/>
            </a:pPr>
            <a:r>
              <a:rPr b="0" i="0" lang="en-US">
                <a:solidFill>
                  <a:srgbClr val="2A2B2E"/>
                </a:solidFill>
                <a:latin typeface="Arial"/>
                <a:ea typeface="Arial"/>
                <a:cs typeface="Arial"/>
                <a:sym typeface="Arial"/>
              </a:rPr>
              <a:t>Relatively inelastic demand occurs when the percentage change in demand is less than the percentage change in the price of a product.</a:t>
            </a:r>
            <a:endParaRPr/>
          </a:p>
          <a:p>
            <a:pPr indent="-342900" lvl="0" marL="342900" rtl="0" algn="just">
              <a:spcBef>
                <a:spcPts val="640"/>
              </a:spcBef>
              <a:spcAft>
                <a:spcPts val="0"/>
              </a:spcAft>
              <a:buClr>
                <a:srgbClr val="2A2B2E"/>
              </a:buClr>
              <a:buSzPts val="3200"/>
              <a:buChar char="•"/>
            </a:pPr>
            <a:r>
              <a:rPr b="0" i="0" lang="en-US">
                <a:solidFill>
                  <a:srgbClr val="2A2B2E"/>
                </a:solidFill>
                <a:latin typeface="Arial"/>
                <a:ea typeface="Arial"/>
                <a:cs typeface="Arial"/>
                <a:sym typeface="Arial"/>
              </a:rPr>
              <a:t>For example, if the price of a product increases by 15% and the demand for the product decreases only by 7%, then the demand would be called relatively inelastic.</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Unit Elastic Demand, (PED = 1)</a:t>
            </a:r>
            <a:endParaRPr/>
          </a:p>
        </p:txBody>
      </p:sp>
      <p:pic>
        <p:nvPicPr>
          <p:cNvPr id="153" name="Google Shape;153;p10"/>
          <p:cNvPicPr preferRelativeResize="0"/>
          <p:nvPr>
            <p:ph idx="1" type="body"/>
          </p:nvPr>
        </p:nvPicPr>
        <p:blipFill rotWithShape="1">
          <a:blip r:embed="rId3">
            <a:alphaModFix/>
          </a:blip>
          <a:srcRect b="0" l="0" r="0" t="0"/>
          <a:stretch/>
        </p:blipFill>
        <p:spPr>
          <a:xfrm>
            <a:off x="3266582" y="1600200"/>
            <a:ext cx="5658835" cy="45259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Unit Elastic Demand, (PED = 1)</a:t>
            </a:r>
            <a:endParaRPr/>
          </a:p>
        </p:txBody>
      </p:sp>
      <p:sp>
        <p:nvSpPr>
          <p:cNvPr id="159" name="Google Shape;159;p11"/>
          <p:cNvSpPr txBox="1"/>
          <p:nvPr>
            <p:ph idx="1" type="body"/>
          </p:nvPr>
        </p:nvSpPr>
        <p:spPr>
          <a:xfrm>
            <a:off x="609600" y="1600205"/>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Demand is said to be unit elastic when the proportionate change in demand produces the same change in the price. The quantity demanded changes by the same percentage as the change in price.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lang="en-US"/>
              <a:t>Relatively Elastic Demand, (PED = 1 &lt; x &lt; ∞)</a:t>
            </a:r>
            <a:endParaRPr/>
          </a:p>
        </p:txBody>
      </p:sp>
      <p:pic>
        <p:nvPicPr>
          <p:cNvPr id="165" name="Google Shape;165;p12"/>
          <p:cNvPicPr preferRelativeResize="0"/>
          <p:nvPr>
            <p:ph idx="1" type="body"/>
          </p:nvPr>
        </p:nvPicPr>
        <p:blipFill rotWithShape="1">
          <a:blip r:embed="rId3">
            <a:alphaModFix/>
          </a:blip>
          <a:srcRect b="0" l="0" r="0" t="0"/>
          <a:stretch/>
        </p:blipFill>
        <p:spPr>
          <a:xfrm>
            <a:off x="3266582" y="1600200"/>
            <a:ext cx="5658835" cy="452596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b="1" lang="en-US"/>
              <a:t>Relatively Elastic Demand, (PED = 1 &lt; x &lt; ∞)</a:t>
            </a:r>
            <a:endParaRPr/>
          </a:p>
        </p:txBody>
      </p:sp>
      <p:sp>
        <p:nvSpPr>
          <p:cNvPr id="171" name="Google Shape;171;p13"/>
          <p:cNvSpPr txBox="1"/>
          <p:nvPr>
            <p:ph idx="1" type="body"/>
          </p:nvPr>
        </p:nvSpPr>
        <p:spPr>
          <a:xfrm>
            <a:off x="609600" y="1600205"/>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Relatively elastic demand is defined as the proportionate change produced in demand is greater than the proportionate change in the price of a product. The quantity demanded changes by a larger percentage than the change in price.</a:t>
            </a:r>
            <a:endParaRPr/>
          </a:p>
          <a:p>
            <a:pPr indent="-139700" lvl="0" marL="342900" rtl="0" algn="just">
              <a:spcBef>
                <a:spcPts val="640"/>
              </a:spcBef>
              <a:spcAft>
                <a:spcPts val="0"/>
              </a:spcAft>
              <a:buClr>
                <a:schemeClr val="dk1"/>
              </a:buClr>
              <a:buSzPts val="3200"/>
              <a:buNone/>
            </a:pPr>
            <a:r>
              <a:t/>
            </a:r>
            <a:endParaRPr/>
          </a:p>
          <a:p>
            <a:pPr indent="-342900" lvl="0" marL="342900" rtl="0" algn="just">
              <a:spcBef>
                <a:spcPts val="640"/>
              </a:spcBef>
              <a:spcAft>
                <a:spcPts val="0"/>
              </a:spcAft>
              <a:buClr>
                <a:schemeClr val="dk1"/>
              </a:buClr>
              <a:buSzPts val="3200"/>
              <a:buChar char="•"/>
            </a:pPr>
            <a:r>
              <a:rPr lang="en-US"/>
              <a:t>For example, if the price of a product increases by 10% and then the demand for the product decreases by 15%, then the demand would be relatively elastic.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b="1" lang="en-US"/>
              <a:t>Perfectly Elastic Demand, (PED = ∞)</a:t>
            </a:r>
            <a:br>
              <a:rPr b="1" lang="en-US"/>
            </a:br>
            <a:endParaRPr/>
          </a:p>
        </p:txBody>
      </p:sp>
      <p:pic>
        <p:nvPicPr>
          <p:cNvPr id="177" name="Google Shape;177;p14"/>
          <p:cNvPicPr preferRelativeResize="0"/>
          <p:nvPr>
            <p:ph idx="1" type="body"/>
          </p:nvPr>
        </p:nvPicPr>
        <p:blipFill rotWithShape="1">
          <a:blip r:embed="rId3">
            <a:alphaModFix/>
          </a:blip>
          <a:srcRect b="0" l="0" r="0" t="0"/>
          <a:stretch/>
        </p:blipFill>
        <p:spPr>
          <a:xfrm>
            <a:off x="3266582" y="1600200"/>
            <a:ext cx="5658835" cy="45259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b="1" lang="en-US"/>
              <a:t>Perfectly Elastic Demand, (PED = ∞)</a:t>
            </a:r>
            <a:endParaRPr/>
          </a:p>
        </p:txBody>
      </p:sp>
      <p:sp>
        <p:nvSpPr>
          <p:cNvPr id="183" name="Google Shape;183;p15"/>
          <p:cNvSpPr txBox="1"/>
          <p:nvPr>
            <p:ph idx="1" type="body"/>
          </p:nvPr>
        </p:nvSpPr>
        <p:spPr>
          <a:xfrm>
            <a:off x="609600" y="1600205"/>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In Perfectly Elastic Demand, a small rise in price will result in a fall in demand to zero, while a small fall in price will result in the demand to become infinite. </a:t>
            </a:r>
            <a:endParaRPr/>
          </a:p>
          <a:p>
            <a:pPr indent="-342900" lvl="0" marL="342900" rtl="0" algn="just">
              <a:spcBef>
                <a:spcPts val="640"/>
              </a:spcBef>
              <a:spcAft>
                <a:spcPts val="0"/>
              </a:spcAft>
              <a:buClr>
                <a:schemeClr val="dk1"/>
              </a:buClr>
              <a:buSzPts val="3200"/>
              <a:buChar char="•"/>
            </a:pPr>
            <a:r>
              <a:rPr lang="en-US"/>
              <a:t>This is a theoretical concept because it requires perfect competition where the slightest price increase results in zero demand.</a:t>
            </a:r>
            <a:endParaRPr/>
          </a:p>
          <a:p>
            <a:pPr indent="-342900" lvl="0" marL="342900" rtl="0" algn="just">
              <a:spcBef>
                <a:spcPts val="640"/>
              </a:spcBef>
              <a:spcAft>
                <a:spcPts val="0"/>
              </a:spcAft>
              <a:buClr>
                <a:schemeClr val="dk1"/>
              </a:buClr>
              <a:buSzPts val="3200"/>
              <a:buChar char="•"/>
            </a:pPr>
            <a:r>
              <a:rPr lang="en-US"/>
              <a:t>In a perfectly elastic demand, the demand curve is represented as a horizontal straight line.</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Range of Price elasticity</a:t>
            </a:r>
            <a:endParaRPr/>
          </a:p>
        </p:txBody>
      </p:sp>
      <p:pic>
        <p:nvPicPr>
          <p:cNvPr id="189" name="Google Shape;189;p16"/>
          <p:cNvPicPr preferRelativeResize="0"/>
          <p:nvPr>
            <p:ph idx="1" type="body"/>
          </p:nvPr>
        </p:nvPicPr>
        <p:blipFill rotWithShape="1">
          <a:blip r:embed="rId3">
            <a:alphaModFix/>
          </a:blip>
          <a:srcRect b="0" l="0" r="0" t="0"/>
          <a:stretch/>
        </p:blipFill>
        <p:spPr>
          <a:xfrm>
            <a:off x="609600" y="1909482"/>
            <a:ext cx="11081607" cy="449131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Math on Price elasticity</a:t>
            </a:r>
            <a:endParaRPr/>
          </a:p>
        </p:txBody>
      </p:sp>
      <p:sp>
        <p:nvSpPr>
          <p:cNvPr id="195" name="Google Shape;195;p17"/>
          <p:cNvSpPr txBox="1"/>
          <p:nvPr>
            <p:ph idx="1" type="body"/>
          </p:nvPr>
        </p:nvSpPr>
        <p:spPr>
          <a:xfrm>
            <a:off x="448235" y="1417638"/>
            <a:ext cx="109728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spcBef>
                <a:spcPts val="0"/>
              </a:spcBef>
              <a:spcAft>
                <a:spcPts val="0"/>
              </a:spcAft>
              <a:buClr>
                <a:srgbClr val="3A3A3A"/>
              </a:buClr>
              <a:buSzPct val="100000"/>
              <a:buChar char="•"/>
            </a:pPr>
            <a:r>
              <a:rPr b="0" i="0" lang="en-US">
                <a:solidFill>
                  <a:srgbClr val="3A3A3A"/>
                </a:solidFill>
                <a:latin typeface="Georgia"/>
                <a:ea typeface="Georgia"/>
                <a:cs typeface="Georgia"/>
                <a:sym typeface="Georgia"/>
              </a:rPr>
              <a:t>When the price of CD increased from $20 to $22, the quantity of CDs demanded decreased from 100 to 87.What is the price elasticity of demand for CDs?</a:t>
            </a:r>
            <a:endParaRPr/>
          </a:p>
          <a:p>
            <a:pPr indent="-200660" lvl="0" marL="342900" rtl="0" algn="just">
              <a:spcBef>
                <a:spcPts val="448"/>
              </a:spcBef>
              <a:spcAft>
                <a:spcPts val="0"/>
              </a:spcAft>
              <a:buClr>
                <a:schemeClr val="dk1"/>
              </a:buClr>
              <a:buSzPct val="100000"/>
              <a:buNone/>
            </a:pPr>
            <a:r>
              <a:t/>
            </a:r>
            <a:endParaRPr>
              <a:solidFill>
                <a:srgbClr val="3A3A3A"/>
              </a:solidFill>
              <a:latin typeface="Georgia"/>
              <a:ea typeface="Georgia"/>
              <a:cs typeface="Georgia"/>
              <a:sym typeface="Georgia"/>
            </a:endParaRPr>
          </a:p>
          <a:p>
            <a:pPr indent="-342900" lvl="0" marL="342900" rtl="0" algn="l">
              <a:spcBef>
                <a:spcPts val="448"/>
              </a:spcBef>
              <a:spcAft>
                <a:spcPts val="0"/>
              </a:spcAft>
              <a:buClr>
                <a:srgbClr val="3A3A3A"/>
              </a:buClr>
              <a:buSzPct val="100000"/>
              <a:buFont typeface="Arial"/>
              <a:buChar char="•"/>
            </a:pPr>
            <a:r>
              <a:rPr b="0" i="0" lang="en-US">
                <a:solidFill>
                  <a:srgbClr val="3A3A3A"/>
                </a:solidFill>
                <a:latin typeface="Georgia"/>
                <a:ea typeface="Georgia"/>
                <a:cs typeface="Georgia"/>
                <a:sym typeface="Georgia"/>
              </a:rPr>
              <a:t>The price increases from $20 to $22. Therefore % change in price = (22-20/20)*100 = 10</a:t>
            </a:r>
            <a:br>
              <a:rPr b="0" i="0" lang="en-US">
                <a:solidFill>
                  <a:srgbClr val="3A3A3A"/>
                </a:solidFill>
                <a:latin typeface="Georgia"/>
                <a:ea typeface="Georgia"/>
                <a:cs typeface="Georgia"/>
                <a:sym typeface="Georgia"/>
              </a:rPr>
            </a:br>
            <a:r>
              <a:rPr b="0" i="0" lang="en-US">
                <a:solidFill>
                  <a:srgbClr val="3A3A3A"/>
                </a:solidFill>
                <a:latin typeface="Georgia"/>
                <a:ea typeface="Georgia"/>
                <a:cs typeface="Georgia"/>
                <a:sym typeface="Georgia"/>
              </a:rPr>
              <a:t>0.1 = 10% (0.1 *100)</a:t>
            </a:r>
            <a:endParaRPr/>
          </a:p>
          <a:p>
            <a:pPr indent="-342900" lvl="0" marL="342900" rtl="0" algn="l">
              <a:spcBef>
                <a:spcPts val="448"/>
              </a:spcBef>
              <a:spcAft>
                <a:spcPts val="0"/>
              </a:spcAft>
              <a:buClr>
                <a:srgbClr val="3A3A3A"/>
              </a:buClr>
              <a:buSzPct val="100000"/>
              <a:buFont typeface="Arial"/>
              <a:buChar char="•"/>
            </a:pPr>
            <a:r>
              <a:rPr b="0" i="0" lang="en-US">
                <a:solidFill>
                  <a:srgbClr val="3A3A3A"/>
                </a:solidFill>
                <a:latin typeface="Georgia"/>
                <a:ea typeface="Georgia"/>
                <a:cs typeface="Georgia"/>
                <a:sym typeface="Georgia"/>
              </a:rPr>
              <a:t>Quantity fell by (87-100/100)*100 =13</a:t>
            </a:r>
            <a:endParaRPr/>
          </a:p>
          <a:p>
            <a:pPr indent="-200660" lvl="0" marL="342900" rtl="0" algn="l">
              <a:spcBef>
                <a:spcPts val="448"/>
              </a:spcBef>
              <a:spcAft>
                <a:spcPts val="0"/>
              </a:spcAft>
              <a:buClr>
                <a:schemeClr val="dk1"/>
              </a:buClr>
              <a:buSzPct val="100000"/>
              <a:buFont typeface="Arial"/>
              <a:buNone/>
            </a:pPr>
            <a:r>
              <a:t/>
            </a:r>
            <a:endParaRPr b="0" i="0">
              <a:solidFill>
                <a:srgbClr val="3A3A3A"/>
              </a:solidFill>
              <a:latin typeface="Georgia"/>
              <a:ea typeface="Georgia"/>
              <a:cs typeface="Georgia"/>
              <a:sym typeface="Georgia"/>
            </a:endParaRPr>
          </a:p>
          <a:p>
            <a:pPr indent="-342900" lvl="0" marL="342900" rtl="0" algn="l">
              <a:spcBef>
                <a:spcPts val="448"/>
              </a:spcBef>
              <a:spcAft>
                <a:spcPts val="0"/>
              </a:spcAft>
              <a:buClr>
                <a:srgbClr val="3A3A3A"/>
              </a:buClr>
              <a:buSzPct val="100000"/>
              <a:buFont typeface="Arial"/>
              <a:buChar char="•"/>
            </a:pPr>
            <a:r>
              <a:rPr b="0" i="0" lang="en-US">
                <a:solidFill>
                  <a:srgbClr val="3A3A3A"/>
                </a:solidFill>
                <a:latin typeface="Georgia"/>
                <a:ea typeface="Georgia"/>
                <a:cs typeface="Georgia"/>
                <a:sym typeface="Georgia"/>
              </a:rPr>
              <a:t>Therefore PED = -13/10</a:t>
            </a:r>
            <a:endParaRPr/>
          </a:p>
          <a:p>
            <a:pPr indent="0" lvl="0" marL="0" rtl="0" algn="l">
              <a:spcBef>
                <a:spcPts val="448"/>
              </a:spcBef>
              <a:spcAft>
                <a:spcPts val="0"/>
              </a:spcAft>
              <a:buClr>
                <a:schemeClr val="dk1"/>
              </a:buClr>
              <a:buSzPct val="100000"/>
              <a:buNone/>
            </a:pPr>
            <a:r>
              <a:t/>
            </a:r>
            <a:endParaRPr b="0" i="0">
              <a:solidFill>
                <a:srgbClr val="3A3A3A"/>
              </a:solidFill>
              <a:latin typeface="Georgia"/>
              <a:ea typeface="Georgia"/>
              <a:cs typeface="Georgia"/>
              <a:sym typeface="Georgia"/>
            </a:endParaRPr>
          </a:p>
          <a:p>
            <a:pPr indent="0" lvl="0" marL="0" rtl="0" algn="l">
              <a:spcBef>
                <a:spcPts val="448"/>
              </a:spcBef>
              <a:spcAft>
                <a:spcPts val="0"/>
              </a:spcAft>
              <a:buClr>
                <a:schemeClr val="dk1"/>
              </a:buClr>
              <a:buSzPct val="100000"/>
              <a:buNone/>
            </a:pPr>
            <a:r>
              <a:t/>
            </a:r>
            <a:endParaRPr b="0" i="0">
              <a:solidFill>
                <a:srgbClr val="3A3A3A"/>
              </a:solidFill>
              <a:latin typeface="Georgia"/>
              <a:ea typeface="Georgia"/>
              <a:cs typeface="Georgia"/>
              <a:sym typeface="Georgia"/>
            </a:endParaRPr>
          </a:p>
          <a:p>
            <a:pPr indent="0" lvl="0" marL="0" rtl="0" algn="l">
              <a:spcBef>
                <a:spcPts val="448"/>
              </a:spcBef>
              <a:spcAft>
                <a:spcPts val="0"/>
              </a:spcAft>
              <a:buClr>
                <a:srgbClr val="3A3A3A"/>
              </a:buClr>
              <a:buSzPct val="100000"/>
              <a:buNone/>
            </a:pPr>
            <a:r>
              <a:rPr b="0" i="0" lang="en-US">
                <a:solidFill>
                  <a:srgbClr val="3A3A3A"/>
                </a:solidFill>
                <a:latin typeface="Georgia"/>
                <a:ea typeface="Georgia"/>
                <a:cs typeface="Georgia"/>
                <a:sym typeface="Georgia"/>
              </a:rPr>
              <a:t>Therefore </a:t>
            </a:r>
            <a:r>
              <a:rPr b="1" i="0" lang="en-US">
                <a:solidFill>
                  <a:srgbClr val="3A3A3A"/>
                </a:solidFill>
                <a:latin typeface="Georgia"/>
                <a:ea typeface="Georgia"/>
                <a:cs typeface="Georgia"/>
                <a:sym typeface="Georgia"/>
              </a:rPr>
              <a:t>PED = -1.3. </a:t>
            </a:r>
            <a:r>
              <a:rPr b="0" i="0" lang="en-US">
                <a:solidFill>
                  <a:srgbClr val="3A3A3A"/>
                </a:solidFill>
                <a:latin typeface="Georgia"/>
                <a:ea typeface="Georgia"/>
                <a:cs typeface="Georgia"/>
                <a:sym typeface="Georgia"/>
              </a:rPr>
              <a:t>Therefore Demand is elastic. Elastic demand occurs when % change in quantity is greater than % change in price; when PED &gt;1.</a:t>
            </a:r>
            <a:endParaRPr/>
          </a:p>
          <a:p>
            <a:pPr indent="0" lvl="0" marL="0" rtl="0" algn="l">
              <a:spcBef>
                <a:spcPts val="448"/>
              </a:spcBef>
              <a:spcAft>
                <a:spcPts val="0"/>
              </a:spcAft>
              <a:buClr>
                <a:schemeClr val="dk1"/>
              </a:buClr>
              <a:buSzPct val="100000"/>
              <a:buNone/>
            </a:pPr>
            <a:r>
              <a:t/>
            </a:r>
            <a:endParaRPr b="0" i="0">
              <a:solidFill>
                <a:srgbClr val="3A3A3A"/>
              </a:solidFill>
              <a:latin typeface="Georgia"/>
              <a:ea typeface="Georgia"/>
              <a:cs typeface="Georgia"/>
              <a:sym typeface="Georgia"/>
            </a:endParaRPr>
          </a:p>
          <a:p>
            <a:pPr indent="-200660" lvl="0" marL="342900" rtl="0" algn="l">
              <a:spcBef>
                <a:spcPts val="448"/>
              </a:spcBef>
              <a:spcAft>
                <a:spcPts val="0"/>
              </a:spcAft>
              <a:buClr>
                <a:schemeClr val="dk1"/>
              </a:buClr>
              <a:buSzPct val="100000"/>
              <a:buFont typeface="Arial"/>
              <a:buNone/>
            </a:pPr>
            <a:r>
              <a:t/>
            </a:r>
            <a:endParaRPr b="1" i="0">
              <a:solidFill>
                <a:srgbClr val="3A3A3A"/>
              </a:solidFill>
              <a:latin typeface="Georgia"/>
              <a:ea typeface="Georgia"/>
              <a:cs typeface="Georgia"/>
              <a:sym typeface="Georgia"/>
            </a:endParaRPr>
          </a:p>
          <a:p>
            <a:pPr indent="-200660" lvl="0" marL="342900" rtl="0" algn="l">
              <a:spcBef>
                <a:spcPts val="448"/>
              </a:spcBef>
              <a:spcAft>
                <a:spcPts val="0"/>
              </a:spcAft>
              <a:buClr>
                <a:schemeClr val="dk1"/>
              </a:buClr>
              <a:buSzPct val="100000"/>
              <a:buFont typeface="Arial"/>
              <a:buNone/>
            </a:pPr>
            <a:r>
              <a:t/>
            </a:r>
            <a:endParaRPr b="0" i="0">
              <a:solidFill>
                <a:srgbClr val="3A3A3A"/>
              </a:solidFill>
              <a:latin typeface="Georgia"/>
              <a:ea typeface="Georgia"/>
              <a:cs typeface="Georgia"/>
              <a:sym typeface="Georgia"/>
            </a:endParaRPr>
          </a:p>
          <a:p>
            <a:pPr indent="-200660" lvl="0" marL="342900" rtl="0" algn="just">
              <a:spcBef>
                <a:spcPts val="448"/>
              </a:spcBef>
              <a:spcAft>
                <a:spcPts val="0"/>
              </a:spcAft>
              <a:buClr>
                <a:schemeClr val="dk1"/>
              </a:buClr>
              <a:buSzPct val="100000"/>
              <a:buNone/>
            </a:pPr>
            <a:r>
              <a:t/>
            </a:r>
            <a:endParaRPr b="0" i="0">
              <a:solidFill>
                <a:srgbClr val="3A3A3A"/>
              </a:solidFill>
              <a:latin typeface="Georgia"/>
              <a:ea typeface="Georgia"/>
              <a:cs typeface="Georgia"/>
              <a:sym typeface="Georgia"/>
            </a:endParaRPr>
          </a:p>
          <a:p>
            <a:pPr indent="-200660" lvl="0" marL="342900" rtl="0" algn="l">
              <a:spcBef>
                <a:spcPts val="448"/>
              </a:spcBef>
              <a:spcAft>
                <a:spcPts val="0"/>
              </a:spcAft>
              <a:buClr>
                <a:schemeClr val="dk1"/>
              </a:buClr>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Math on Price elasticity</a:t>
            </a:r>
            <a:endParaRPr/>
          </a:p>
        </p:txBody>
      </p:sp>
      <p:sp>
        <p:nvSpPr>
          <p:cNvPr id="201" name="Google Shape;201;p18"/>
          <p:cNvSpPr txBox="1"/>
          <p:nvPr>
            <p:ph idx="1" type="body"/>
          </p:nvPr>
        </p:nvSpPr>
        <p:spPr>
          <a:xfrm>
            <a:off x="277376" y="1971635"/>
            <a:ext cx="10972800" cy="4154984"/>
          </a:xfrm>
          <a:prstGeom prst="rect">
            <a:avLst/>
          </a:prstGeom>
          <a:noFill/>
          <a:ln>
            <a:noFill/>
          </a:ln>
        </p:spPr>
        <p:txBody>
          <a:bodyPr anchorCtr="0" anchor="ctr"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Mathematically, PED is </a:t>
            </a:r>
            <a:r>
              <a:rPr b="1" i="0" lang="en-US" sz="2400" u="none" cap="none" strike="noStrike">
                <a:solidFill>
                  <a:schemeClr val="dk1"/>
                </a:solidFill>
                <a:latin typeface="Georgia"/>
                <a:ea typeface="Georgia"/>
                <a:cs typeface="Georgia"/>
                <a:sym typeface="Georgia"/>
              </a:rPr>
              <a:t>negative</a:t>
            </a:r>
            <a:r>
              <a:rPr b="0" i="0" lang="en-US" sz="2400" u="none" cap="none" strike="noStrike">
                <a:solidFill>
                  <a:schemeClr val="dk1"/>
                </a:solidFill>
                <a:latin typeface="Georgia"/>
                <a:ea typeface="Georgia"/>
                <a:cs typeface="Georgia"/>
                <a:sym typeface="Georgia"/>
              </a:rPr>
              <a:t> because of the </a:t>
            </a:r>
            <a:r>
              <a:rPr b="1" i="0" lang="en-US" sz="2400" u="none" cap="none" strike="noStrike">
                <a:solidFill>
                  <a:schemeClr val="dk1"/>
                </a:solidFill>
                <a:latin typeface="Georgia"/>
                <a:ea typeface="Georgia"/>
                <a:cs typeface="Georgia"/>
                <a:sym typeface="Georgia"/>
              </a:rPr>
              <a:t>law of demand</a:t>
            </a:r>
            <a:r>
              <a:rPr b="0" i="0" lang="en-US" sz="2400" u="none" cap="none" strike="noStrike">
                <a:solidFill>
                  <a:schemeClr val="dk1"/>
                </a:solidFill>
                <a:latin typeface="Georgia"/>
                <a:ea typeface="Georgia"/>
                <a:cs typeface="Georgia"/>
                <a:sym typeface="Georgia"/>
              </a:rPr>
              <a:t> (price and quantity demanded move in opposite directions).</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Georgia"/>
              <a:ea typeface="Georgia"/>
              <a:cs typeface="Georgia"/>
              <a:sym typeface="Georgia"/>
            </a:endParaRPr>
          </a:p>
          <a:p>
            <a:pPr indent="-152400" lvl="0" marL="0" marR="0" rtl="0" algn="just">
              <a:lnSpc>
                <a:spcPct val="100000"/>
              </a:lnSpc>
              <a:spcBef>
                <a:spcPts val="0"/>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But in economics, we often care about the </a:t>
            </a:r>
            <a:r>
              <a:rPr b="1" i="0" lang="en-US" sz="2400" u="none" cap="none" strike="noStrike">
                <a:solidFill>
                  <a:schemeClr val="dk1"/>
                </a:solidFill>
                <a:latin typeface="Georgia"/>
                <a:ea typeface="Georgia"/>
                <a:cs typeface="Georgia"/>
                <a:sym typeface="Georgia"/>
              </a:rPr>
              <a:t>magnitude</a:t>
            </a:r>
            <a:r>
              <a:rPr b="0" i="0" lang="en-US" sz="2400" u="none" cap="none" strike="noStrike">
                <a:solidFill>
                  <a:schemeClr val="dk1"/>
                </a:solidFill>
                <a:latin typeface="Georgia"/>
                <a:ea typeface="Georgia"/>
                <a:cs typeface="Georgia"/>
                <a:sym typeface="Georgia"/>
              </a:rPr>
              <a:t> of responsiveness, not the direction.</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Georgia"/>
              <a:ea typeface="Georgia"/>
              <a:cs typeface="Georgia"/>
              <a:sym typeface="Georgia"/>
            </a:endParaRPr>
          </a:p>
          <a:p>
            <a:pPr indent="-152400" lvl="0" marL="0" marR="0" rtl="0" algn="just">
              <a:lnSpc>
                <a:spcPct val="100000"/>
              </a:lnSpc>
              <a:spcBef>
                <a:spcPts val="0"/>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So </a:t>
            </a:r>
            <a:r>
              <a:rPr b="1" i="0" lang="en-US" sz="2400" u="none" cap="none" strike="noStrike">
                <a:solidFill>
                  <a:schemeClr val="dk1"/>
                </a:solidFill>
                <a:latin typeface="Georgia"/>
                <a:ea typeface="Georgia"/>
                <a:cs typeface="Georgia"/>
                <a:sym typeface="Georgia"/>
              </a:rPr>
              <a:t>we ignore the negative sign</a:t>
            </a:r>
            <a:r>
              <a:rPr b="0" i="0" lang="en-US" sz="2400" u="none" cap="none" strike="noStrike">
                <a:solidFill>
                  <a:schemeClr val="dk1"/>
                </a:solidFill>
                <a:latin typeface="Georgia"/>
                <a:ea typeface="Georgia"/>
                <a:cs typeface="Georgia"/>
                <a:sym typeface="Georgia"/>
              </a:rPr>
              <a:t> and report PED as a </a:t>
            </a:r>
            <a:r>
              <a:rPr b="1" i="0" lang="en-US" sz="2400" u="none" cap="none" strike="noStrike">
                <a:solidFill>
                  <a:schemeClr val="dk1"/>
                </a:solidFill>
                <a:latin typeface="Georgia"/>
                <a:ea typeface="Georgia"/>
                <a:cs typeface="Georgia"/>
                <a:sym typeface="Georgia"/>
              </a:rPr>
              <a:t>positive number</a:t>
            </a:r>
            <a:r>
              <a:rPr b="0" i="0" lang="en-US" sz="2400" u="none" cap="none" strike="noStrike">
                <a:solidFill>
                  <a:schemeClr val="dk1"/>
                </a:solidFill>
                <a:latin typeface="Georgia"/>
                <a:ea typeface="Georgia"/>
                <a:cs typeface="Georgia"/>
                <a:sym typeface="Georgia"/>
              </a:rPr>
              <a:t>. Suppose PED = −2.5 (meaning a 1% price increase leads to a 2.5% decrease in quantity demanded).We report it simply as </a:t>
            </a:r>
            <a:r>
              <a:rPr b="1" i="0" lang="en-US" sz="2400" u="none" cap="none" strike="noStrike">
                <a:solidFill>
                  <a:schemeClr val="dk1"/>
                </a:solidFill>
                <a:latin typeface="Georgia"/>
                <a:ea typeface="Georgia"/>
                <a:cs typeface="Georgia"/>
                <a:sym typeface="Georgia"/>
              </a:rPr>
              <a:t>2.5</a:t>
            </a:r>
            <a:r>
              <a:rPr b="0" i="0" lang="en-US" sz="2400" u="none" cap="none" strike="noStrike">
                <a:solidFill>
                  <a:schemeClr val="dk1"/>
                </a:solidFill>
                <a:latin typeface="Georgia"/>
                <a:ea typeface="Georgia"/>
                <a:cs typeface="Georgia"/>
                <a:sym typeface="Georgia"/>
              </a:rPr>
              <a:t> when talking about "elasticity“.</a:t>
            </a:r>
            <a:endParaRPr/>
          </a:p>
          <a:p>
            <a:pPr indent="0" lvl="0" marL="0" marR="0" rtl="0" algn="just">
              <a:lnSpc>
                <a:spcPct val="100000"/>
              </a:lnSpc>
              <a:spcBef>
                <a:spcPts val="0"/>
              </a:spcBef>
              <a:spcAft>
                <a:spcPts val="0"/>
              </a:spcAft>
              <a:buClr>
                <a:schemeClr val="dk1"/>
              </a:buClr>
              <a:buSzPts val="2400"/>
              <a:buFont typeface="Times New Roman"/>
              <a:buNone/>
            </a:pPr>
            <a:r>
              <a:t/>
            </a:r>
            <a:endParaRPr sz="2400">
              <a:latin typeface="Georgia"/>
              <a:ea typeface="Georgia"/>
              <a:cs typeface="Georgia"/>
              <a:sym typeface="Georgia"/>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Georgia"/>
              <a:ea typeface="Georgia"/>
              <a:cs typeface="Georgia"/>
              <a:sym typeface="Georg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7A0014"/>
              </a:buClr>
              <a:buSzPts val="4000"/>
              <a:buFont typeface="Arial"/>
              <a:buNone/>
            </a:pPr>
            <a:r>
              <a:rPr lang="en-US" sz="4000">
                <a:solidFill>
                  <a:srgbClr val="7A0014"/>
                </a:solidFill>
              </a:rPr>
              <a:t>Income Elasticity of Demand</a:t>
            </a:r>
            <a:endParaRPr sz="4000">
              <a:solidFill>
                <a:srgbClr val="A50021"/>
              </a:solidFill>
              <a:latin typeface="Tahoma"/>
              <a:ea typeface="Tahoma"/>
              <a:cs typeface="Tahoma"/>
              <a:sym typeface="Tahoma"/>
            </a:endParaRPr>
          </a:p>
        </p:txBody>
      </p:sp>
      <p:sp>
        <p:nvSpPr>
          <p:cNvPr id="216" name="Google Shape;216;p19"/>
          <p:cNvSpPr txBox="1"/>
          <p:nvPr>
            <p:ph idx="1" type="body"/>
          </p:nvPr>
        </p:nvSpPr>
        <p:spPr>
          <a:xfrm>
            <a:off x="609600" y="2218770"/>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F09A0E"/>
              </a:buClr>
              <a:buSzPts val="3200"/>
              <a:buFont typeface="Arial"/>
              <a:buChar char="●"/>
            </a:pPr>
            <a:r>
              <a:rPr lang="en-US">
                <a:solidFill>
                  <a:srgbClr val="B0001D"/>
                </a:solidFill>
              </a:rPr>
              <a:t>Income elasticity of demand</a:t>
            </a:r>
            <a:r>
              <a:rPr lang="en-US">
                <a:solidFill>
                  <a:srgbClr val="474A81"/>
                </a:solidFill>
              </a:rPr>
              <a:t> measures how much the quantity demanded of a good responds to a change in consumers’ income. </a:t>
            </a:r>
            <a:endParaRPr/>
          </a:p>
          <a:p>
            <a:pPr indent="-342900" lvl="0" marL="342900" rtl="0" algn="just">
              <a:spcBef>
                <a:spcPts val="640"/>
              </a:spcBef>
              <a:spcAft>
                <a:spcPts val="0"/>
              </a:spcAft>
              <a:buClr>
                <a:srgbClr val="F09A0E"/>
              </a:buClr>
              <a:buSzPts val="3200"/>
              <a:buFont typeface="Arial"/>
              <a:buChar char="●"/>
            </a:pPr>
            <a:r>
              <a:rPr lang="en-US">
                <a:solidFill>
                  <a:srgbClr val="474A81"/>
                </a:solidFill>
              </a:rPr>
              <a:t>It is computed as the percentage change in the quantity demanded divided by the percentage change in income.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0" st="0"/>
                                            </p:txEl>
                                          </p:spTgt>
                                        </p:tgtEl>
                                        <p:attrNameLst>
                                          <p:attrName>style.visibility</p:attrName>
                                        </p:attrNameLst>
                                      </p:cBhvr>
                                      <p:to>
                                        <p:strVal val="visible"/>
                                      </p:to>
                                    </p:set>
                                    <p:animEffect filter="fade" transition="in">
                                      <p:cBhvr>
                                        <p:cTn dur="500"/>
                                        <p:tgtEl>
                                          <p:spTgt spid="2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1" st="1"/>
                                            </p:txEl>
                                          </p:spTgt>
                                        </p:tgtEl>
                                        <p:attrNameLst>
                                          <p:attrName>style.visibility</p:attrName>
                                        </p:attrNameLst>
                                      </p:cBhvr>
                                      <p:to>
                                        <p:strVal val="visible"/>
                                      </p:to>
                                    </p:set>
                                    <p:animEffect filter="fade" transition="in">
                                      <p:cBhvr>
                                        <p:cTn dur="500"/>
                                        <p:tgtEl>
                                          <p:spTgt spid="216">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0"/>
          <p:cNvSpPr txBox="1"/>
          <p:nvPr>
            <p:ph type="title"/>
          </p:nvPr>
        </p:nvSpPr>
        <p:spPr>
          <a:xfrm>
            <a:off x="1676400" y="228601"/>
            <a:ext cx="8915400" cy="11477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7A0014"/>
              </a:buClr>
              <a:buSzPts val="4000"/>
              <a:buFont typeface="Arial"/>
              <a:buNone/>
            </a:pPr>
            <a:r>
              <a:rPr lang="en-US" sz="4000">
                <a:solidFill>
                  <a:srgbClr val="7A0014"/>
                </a:solidFill>
              </a:rPr>
              <a:t> Computing Income Elasticity</a:t>
            </a:r>
            <a:endParaRPr sz="4000">
              <a:solidFill>
                <a:srgbClr val="A50021"/>
              </a:solidFill>
              <a:latin typeface="Tahoma"/>
              <a:ea typeface="Tahoma"/>
              <a:cs typeface="Tahoma"/>
              <a:sym typeface="Tahoma"/>
            </a:endParaRPr>
          </a:p>
        </p:txBody>
      </p:sp>
      <p:grpSp>
        <p:nvGrpSpPr>
          <p:cNvPr id="231" name="Google Shape;231;p20"/>
          <p:cNvGrpSpPr/>
          <p:nvPr/>
        </p:nvGrpSpPr>
        <p:grpSpPr>
          <a:xfrm>
            <a:off x="1524000" y="2209801"/>
            <a:ext cx="9144000" cy="1692275"/>
            <a:chOff x="0" y="1392"/>
            <a:chExt cx="5760" cy="1066"/>
          </a:xfrm>
        </p:grpSpPr>
        <p:sp>
          <p:nvSpPr>
            <p:cNvPr id="232" name="Google Shape;232;p20"/>
            <p:cNvSpPr txBox="1"/>
            <p:nvPr/>
          </p:nvSpPr>
          <p:spPr>
            <a:xfrm>
              <a:off x="0" y="1632"/>
              <a:ext cx="2496" cy="55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99"/>
                </a:buClr>
                <a:buSzPts val="3200"/>
                <a:buFont typeface="Arial"/>
                <a:buNone/>
              </a:pPr>
              <a:r>
                <a:rPr b="1" i="0" lang="en-US" sz="3200" u="none" cap="none" strike="noStrike">
                  <a:solidFill>
                    <a:srgbClr val="000099"/>
                  </a:solidFill>
                  <a:latin typeface="Tahoma"/>
                  <a:ea typeface="Tahoma"/>
                  <a:cs typeface="Tahoma"/>
                  <a:sym typeface="Tahoma"/>
                </a:rPr>
                <a:t>Income Elasticity</a:t>
              </a:r>
              <a:endParaRPr/>
            </a:p>
            <a:p>
              <a:pPr indent="0" lvl="0" marL="0" marR="0" rtl="0" algn="ctr">
                <a:lnSpc>
                  <a:spcPct val="80000"/>
                </a:lnSpc>
                <a:spcBef>
                  <a:spcPts val="0"/>
                </a:spcBef>
                <a:spcAft>
                  <a:spcPts val="0"/>
                </a:spcAft>
                <a:buClr>
                  <a:srgbClr val="000099"/>
                </a:buClr>
                <a:buSzPts val="3200"/>
                <a:buFont typeface="Arial"/>
                <a:buNone/>
              </a:pPr>
              <a:r>
                <a:rPr b="1" i="0" lang="en-US" sz="3200" u="none" cap="none" strike="noStrike">
                  <a:solidFill>
                    <a:srgbClr val="000099"/>
                  </a:solidFill>
                  <a:latin typeface="Tahoma"/>
                  <a:ea typeface="Tahoma"/>
                  <a:cs typeface="Tahoma"/>
                  <a:sym typeface="Tahoma"/>
                </a:rPr>
                <a:t>of Demand</a:t>
              </a:r>
              <a:endParaRPr b="0" i="0" sz="3200" u="none" cap="none" strike="noStrike">
                <a:solidFill>
                  <a:schemeClr val="dk1"/>
                </a:solidFill>
                <a:latin typeface="Times New Roman"/>
                <a:ea typeface="Times New Roman"/>
                <a:cs typeface="Times New Roman"/>
                <a:sym typeface="Times New Roman"/>
              </a:endParaRPr>
            </a:p>
          </p:txBody>
        </p:sp>
        <p:sp>
          <p:nvSpPr>
            <p:cNvPr id="233" name="Google Shape;233;p20"/>
            <p:cNvSpPr txBox="1"/>
            <p:nvPr/>
          </p:nvSpPr>
          <p:spPr>
            <a:xfrm>
              <a:off x="2832" y="1392"/>
              <a:ext cx="2928" cy="49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99"/>
                </a:buClr>
                <a:buSzPts val="2800"/>
                <a:buFont typeface="Arial"/>
                <a:buNone/>
              </a:pPr>
              <a:r>
                <a:rPr b="1" i="0" lang="en-US" sz="2800" u="none" cap="none" strike="noStrike">
                  <a:solidFill>
                    <a:srgbClr val="000099"/>
                  </a:solidFill>
                  <a:latin typeface="Tahoma"/>
                  <a:ea typeface="Tahoma"/>
                  <a:cs typeface="Tahoma"/>
                  <a:sym typeface="Tahoma"/>
                </a:rPr>
                <a:t>Percentage Change </a:t>
              </a:r>
              <a:endParaRPr/>
            </a:p>
            <a:p>
              <a:pPr indent="0" lvl="0" marL="0" marR="0" rtl="0" algn="ctr">
                <a:lnSpc>
                  <a:spcPct val="80000"/>
                </a:lnSpc>
                <a:spcBef>
                  <a:spcPts val="0"/>
                </a:spcBef>
                <a:spcAft>
                  <a:spcPts val="0"/>
                </a:spcAft>
                <a:buClr>
                  <a:srgbClr val="000099"/>
                </a:buClr>
                <a:buSzPts val="2800"/>
                <a:buFont typeface="Arial"/>
                <a:buNone/>
              </a:pPr>
              <a:r>
                <a:rPr b="1" i="0" lang="en-US" sz="2800" u="none" cap="none" strike="noStrike">
                  <a:solidFill>
                    <a:srgbClr val="000099"/>
                  </a:solidFill>
                  <a:latin typeface="Tahoma"/>
                  <a:ea typeface="Tahoma"/>
                  <a:cs typeface="Tahoma"/>
                  <a:sym typeface="Tahoma"/>
                </a:rPr>
                <a:t>in Quantity Demanded</a:t>
              </a:r>
              <a:endParaRPr b="0" i="0" sz="3200" u="none" cap="none" strike="noStrike">
                <a:solidFill>
                  <a:schemeClr val="dk1"/>
                </a:solidFill>
                <a:latin typeface="Times New Roman"/>
                <a:ea typeface="Times New Roman"/>
                <a:cs typeface="Times New Roman"/>
                <a:sym typeface="Times New Roman"/>
              </a:endParaRPr>
            </a:p>
          </p:txBody>
        </p:sp>
        <p:sp>
          <p:nvSpPr>
            <p:cNvPr id="234" name="Google Shape;234;p20"/>
            <p:cNvSpPr txBox="1"/>
            <p:nvPr/>
          </p:nvSpPr>
          <p:spPr>
            <a:xfrm>
              <a:off x="2832" y="1968"/>
              <a:ext cx="2928" cy="49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99"/>
                </a:buClr>
                <a:buSzPts val="2800"/>
                <a:buFont typeface="Arial"/>
                <a:buNone/>
              </a:pPr>
              <a:r>
                <a:rPr b="1" i="0" lang="en-US" sz="2800" u="none" cap="none" strike="noStrike">
                  <a:solidFill>
                    <a:srgbClr val="000099"/>
                  </a:solidFill>
                  <a:latin typeface="Tahoma"/>
                  <a:ea typeface="Tahoma"/>
                  <a:cs typeface="Tahoma"/>
                  <a:sym typeface="Tahoma"/>
                </a:rPr>
                <a:t>Percentage Change</a:t>
              </a:r>
              <a:endParaRPr/>
            </a:p>
            <a:p>
              <a:pPr indent="0" lvl="0" marL="0" marR="0" rtl="0" algn="ctr">
                <a:lnSpc>
                  <a:spcPct val="80000"/>
                </a:lnSpc>
                <a:spcBef>
                  <a:spcPts val="0"/>
                </a:spcBef>
                <a:spcAft>
                  <a:spcPts val="0"/>
                </a:spcAft>
                <a:buClr>
                  <a:srgbClr val="000099"/>
                </a:buClr>
                <a:buSzPts val="2800"/>
                <a:buFont typeface="Arial"/>
                <a:buNone/>
              </a:pPr>
              <a:r>
                <a:rPr b="1" i="0" lang="en-US" sz="2800" u="none" cap="none" strike="noStrike">
                  <a:solidFill>
                    <a:srgbClr val="000099"/>
                  </a:solidFill>
                  <a:latin typeface="Tahoma"/>
                  <a:ea typeface="Tahoma"/>
                  <a:cs typeface="Tahoma"/>
                  <a:sym typeface="Tahoma"/>
                </a:rPr>
                <a:t> in Income</a:t>
              </a:r>
              <a:endParaRPr b="0" i="0" sz="3200" u="none" cap="none" strike="noStrike">
                <a:solidFill>
                  <a:schemeClr val="dk1"/>
                </a:solidFill>
                <a:latin typeface="Times New Roman"/>
                <a:ea typeface="Times New Roman"/>
                <a:cs typeface="Times New Roman"/>
                <a:sym typeface="Times New Roman"/>
              </a:endParaRPr>
            </a:p>
          </p:txBody>
        </p:sp>
        <p:sp>
          <p:nvSpPr>
            <p:cNvPr id="235" name="Google Shape;235;p20"/>
            <p:cNvSpPr txBox="1"/>
            <p:nvPr/>
          </p:nvSpPr>
          <p:spPr>
            <a:xfrm>
              <a:off x="2400" y="1728"/>
              <a:ext cx="576" cy="58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99"/>
                </a:buClr>
                <a:buSzPts val="3600"/>
                <a:buFont typeface="Arial"/>
                <a:buNone/>
              </a:pPr>
              <a:r>
                <a:rPr b="1" i="0" lang="en-US" sz="3600" u="none" cap="none" strike="noStrike">
                  <a:solidFill>
                    <a:srgbClr val="000099"/>
                  </a:solidFill>
                  <a:latin typeface="Tahoma"/>
                  <a:ea typeface="Tahoma"/>
                  <a:cs typeface="Tahoma"/>
                  <a:sym typeface="Tahoma"/>
                </a:rPr>
                <a:t>=</a:t>
              </a:r>
              <a:endParaRPr b="1" i="0" sz="3200" u="none" cap="none" strike="noStrike">
                <a:solidFill>
                  <a:srgbClr val="000099"/>
                </a:solidFill>
                <a:latin typeface="Tahoma"/>
                <a:ea typeface="Tahoma"/>
                <a:cs typeface="Tahoma"/>
                <a:sym typeface="Tahoma"/>
              </a:endParaRPr>
            </a:p>
            <a:p>
              <a:pPr indent="0" lvl="0" marL="0" marR="0" rtl="0" algn="ctr">
                <a:lnSpc>
                  <a:spcPct val="80000"/>
                </a:lnSpc>
                <a:spcBef>
                  <a:spcPts val="0"/>
                </a:spcBef>
                <a:spcAft>
                  <a:spcPts val="0"/>
                </a:spcAft>
                <a:buClr>
                  <a:schemeClr val="dk1"/>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cxnSp>
          <p:nvCxnSpPr>
            <p:cNvPr id="236" name="Google Shape;236;p20"/>
            <p:cNvCxnSpPr/>
            <p:nvPr/>
          </p:nvCxnSpPr>
          <p:spPr>
            <a:xfrm>
              <a:off x="2976" y="1920"/>
              <a:ext cx="2640" cy="0"/>
            </a:xfrm>
            <a:prstGeom prst="straightConnector1">
              <a:avLst/>
            </a:prstGeom>
            <a:noFill/>
            <a:ln cap="flat" cmpd="sng" w="12700">
              <a:solidFill>
                <a:srgbClr val="000099"/>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7A0014"/>
              </a:buClr>
              <a:buSzPct val="100000"/>
              <a:buFont typeface="Arial"/>
              <a:buNone/>
            </a:pPr>
            <a:r>
              <a:rPr lang="en-US" sz="4000">
                <a:solidFill>
                  <a:srgbClr val="7A0014"/>
                </a:solidFill>
              </a:rPr>
              <a:t>Income Elasticity</a:t>
            </a:r>
            <a:br>
              <a:rPr lang="en-US" sz="4000">
                <a:solidFill>
                  <a:srgbClr val="7A0014"/>
                </a:solidFill>
              </a:rPr>
            </a:br>
            <a:r>
              <a:rPr lang="en-US" sz="3600">
                <a:solidFill>
                  <a:srgbClr val="7A0014"/>
                </a:solidFill>
              </a:rPr>
              <a:t>- Types of Goods -</a:t>
            </a:r>
            <a:endParaRPr>
              <a:solidFill>
                <a:srgbClr val="A50021"/>
              </a:solidFill>
            </a:endParaRPr>
          </a:p>
        </p:txBody>
      </p:sp>
      <p:pic>
        <p:nvPicPr>
          <p:cNvPr id="251" name="Google Shape;251;p21"/>
          <p:cNvPicPr preferRelativeResize="0"/>
          <p:nvPr/>
        </p:nvPicPr>
        <p:blipFill rotWithShape="1">
          <a:blip r:embed="rId3">
            <a:alphaModFix/>
          </a:blip>
          <a:srcRect b="0" l="0" r="0" t="0"/>
          <a:stretch/>
        </p:blipFill>
        <p:spPr>
          <a:xfrm>
            <a:off x="1905001" y="2209800"/>
            <a:ext cx="8226425" cy="1600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7A0014"/>
              </a:buClr>
              <a:buSzPct val="100000"/>
              <a:buFont typeface="Arial"/>
              <a:buNone/>
            </a:pPr>
            <a:r>
              <a:rPr lang="en-US" sz="4000">
                <a:solidFill>
                  <a:srgbClr val="7A0014"/>
                </a:solidFill>
              </a:rPr>
              <a:t>Income Elasticity</a:t>
            </a:r>
            <a:br>
              <a:rPr lang="en-US" sz="4000">
                <a:solidFill>
                  <a:srgbClr val="7A0014"/>
                </a:solidFill>
              </a:rPr>
            </a:br>
            <a:r>
              <a:rPr lang="en-US" sz="3600">
                <a:solidFill>
                  <a:srgbClr val="7A0014"/>
                </a:solidFill>
              </a:rPr>
              <a:t>- Types of Goods -</a:t>
            </a:r>
            <a:endParaRPr>
              <a:solidFill>
                <a:srgbClr val="A50021"/>
              </a:solidFill>
            </a:endParaRPr>
          </a:p>
        </p:txBody>
      </p:sp>
      <p:pic>
        <p:nvPicPr>
          <p:cNvPr id="266" name="Google Shape;266;p22"/>
          <p:cNvPicPr preferRelativeResize="0"/>
          <p:nvPr/>
        </p:nvPicPr>
        <p:blipFill rotWithShape="1">
          <a:blip r:embed="rId3">
            <a:alphaModFix/>
          </a:blip>
          <a:srcRect b="0" l="0" r="0" t="0"/>
          <a:stretch/>
        </p:blipFill>
        <p:spPr>
          <a:xfrm>
            <a:off x="2286001" y="1981200"/>
            <a:ext cx="7153275" cy="2133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7A0014"/>
              </a:buClr>
              <a:buSzPct val="100000"/>
              <a:buFont typeface="Arial"/>
              <a:buNone/>
            </a:pPr>
            <a:r>
              <a:rPr lang="en-US" sz="4000">
                <a:solidFill>
                  <a:srgbClr val="7A0014"/>
                </a:solidFill>
              </a:rPr>
              <a:t>Income Elasticity</a:t>
            </a:r>
            <a:br>
              <a:rPr lang="en-US" sz="4000">
                <a:solidFill>
                  <a:srgbClr val="7A0014"/>
                </a:solidFill>
              </a:rPr>
            </a:br>
            <a:r>
              <a:rPr lang="en-US" sz="3600">
                <a:solidFill>
                  <a:srgbClr val="7A0014"/>
                </a:solidFill>
              </a:rPr>
              <a:t>- Types of Goods -</a:t>
            </a:r>
            <a:endParaRPr>
              <a:solidFill>
                <a:srgbClr val="A50021"/>
              </a:solidFill>
            </a:endParaRPr>
          </a:p>
        </p:txBody>
      </p:sp>
      <p:pic>
        <p:nvPicPr>
          <p:cNvPr id="281" name="Google Shape;281;p23"/>
          <p:cNvPicPr preferRelativeResize="0"/>
          <p:nvPr/>
        </p:nvPicPr>
        <p:blipFill rotWithShape="1">
          <a:blip r:embed="rId3">
            <a:alphaModFix/>
          </a:blip>
          <a:srcRect b="0" l="0" r="0" t="0"/>
          <a:stretch/>
        </p:blipFill>
        <p:spPr>
          <a:xfrm>
            <a:off x="1828800" y="2133600"/>
            <a:ext cx="8458200" cy="4038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7A0014"/>
              </a:buClr>
              <a:buSzPct val="100000"/>
              <a:buFont typeface="Arial"/>
              <a:buNone/>
            </a:pPr>
            <a:r>
              <a:rPr lang="en-US" sz="4000">
                <a:solidFill>
                  <a:srgbClr val="7A0014"/>
                </a:solidFill>
              </a:rPr>
              <a:t>Income Elasticity</a:t>
            </a:r>
            <a:br>
              <a:rPr lang="en-US" sz="4000">
                <a:solidFill>
                  <a:srgbClr val="7A0014"/>
                </a:solidFill>
              </a:rPr>
            </a:br>
            <a:r>
              <a:rPr lang="en-US" sz="3600">
                <a:solidFill>
                  <a:srgbClr val="7A0014"/>
                </a:solidFill>
              </a:rPr>
              <a:t>- Types of Goods -</a:t>
            </a:r>
            <a:endParaRPr>
              <a:solidFill>
                <a:srgbClr val="A50021"/>
              </a:solidFill>
            </a:endParaRPr>
          </a:p>
        </p:txBody>
      </p:sp>
      <p:pic>
        <p:nvPicPr>
          <p:cNvPr id="296" name="Google Shape;296;p24"/>
          <p:cNvPicPr preferRelativeResize="0"/>
          <p:nvPr/>
        </p:nvPicPr>
        <p:blipFill rotWithShape="1">
          <a:blip r:embed="rId3">
            <a:alphaModFix/>
          </a:blip>
          <a:srcRect b="0" l="0" r="0" t="0"/>
          <a:stretch/>
        </p:blipFill>
        <p:spPr>
          <a:xfrm>
            <a:off x="2286000" y="1841501"/>
            <a:ext cx="7467600" cy="1781175"/>
          </a:xfrm>
          <a:prstGeom prst="rect">
            <a:avLst/>
          </a:prstGeom>
          <a:noFill/>
          <a:ln>
            <a:noFill/>
          </a:ln>
        </p:spPr>
      </p:pic>
      <p:pic>
        <p:nvPicPr>
          <p:cNvPr id="297" name="Google Shape;297;p24"/>
          <p:cNvPicPr preferRelativeResize="0"/>
          <p:nvPr/>
        </p:nvPicPr>
        <p:blipFill rotWithShape="1">
          <a:blip r:embed="rId4">
            <a:alphaModFix/>
          </a:blip>
          <a:srcRect b="0" l="0" r="0" t="0"/>
          <a:stretch/>
        </p:blipFill>
        <p:spPr>
          <a:xfrm>
            <a:off x="2557464" y="4114800"/>
            <a:ext cx="7077075" cy="2019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Cross Price Elasticity of Demand</a:t>
            </a:r>
            <a:endParaRPr/>
          </a:p>
        </p:txBody>
      </p:sp>
      <p:sp>
        <p:nvSpPr>
          <p:cNvPr id="304" name="Google Shape;304;p25"/>
          <p:cNvSpPr txBox="1"/>
          <p:nvPr/>
        </p:nvSpPr>
        <p:spPr>
          <a:xfrm>
            <a:off x="609599" y="1905001"/>
            <a:ext cx="10457329" cy="452431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Cross Elasticity of Demand</a:t>
            </a:r>
            <a:r>
              <a:rPr b="0" i="0" lang="en-US" sz="1800" u="none" cap="none" strike="noStrike">
                <a:solidFill>
                  <a:schemeClr val="dk1"/>
                </a:solidFill>
                <a:latin typeface="Times New Roman"/>
                <a:ea typeface="Times New Roman"/>
                <a:cs typeface="Times New Roman"/>
                <a:sym typeface="Times New Roman"/>
              </a:rPr>
              <a:t> measures how the quantity demanded of one good changes in response to a change in the price of another related good. It indicates whether the two goods are </a:t>
            </a:r>
            <a:r>
              <a:rPr b="1" i="0" lang="en-US" sz="1800" u="none" cap="none" strike="noStrike">
                <a:solidFill>
                  <a:schemeClr val="dk1"/>
                </a:solidFill>
                <a:latin typeface="Times New Roman"/>
                <a:ea typeface="Times New Roman"/>
                <a:cs typeface="Times New Roman"/>
                <a:sym typeface="Times New Roman"/>
              </a:rPr>
              <a:t>substitutes</a:t>
            </a:r>
            <a:r>
              <a:rPr b="0" i="0" lang="en-US" sz="1800" u="none" cap="none" strike="noStrike">
                <a:solidFill>
                  <a:schemeClr val="dk1"/>
                </a:solidFill>
                <a:latin typeface="Times New Roman"/>
                <a:ea typeface="Times New Roman"/>
                <a:cs typeface="Times New Roman"/>
                <a:sym typeface="Times New Roman"/>
              </a:rPr>
              <a:t>, </a:t>
            </a:r>
            <a:r>
              <a:rPr b="1" i="0" lang="en-US" sz="1800" u="none" cap="none" strike="noStrike">
                <a:solidFill>
                  <a:schemeClr val="dk1"/>
                </a:solidFill>
                <a:latin typeface="Times New Roman"/>
                <a:ea typeface="Times New Roman"/>
                <a:cs typeface="Times New Roman"/>
                <a:sym typeface="Times New Roman"/>
              </a:rPr>
              <a:t>complements</a:t>
            </a:r>
            <a:r>
              <a:rPr b="0" i="0" lang="en-US" sz="1800" u="none" cap="none" strike="noStrike">
                <a:solidFill>
                  <a:schemeClr val="dk1"/>
                </a:solidFill>
                <a:latin typeface="Times New Roman"/>
                <a:ea typeface="Times New Roman"/>
                <a:cs typeface="Times New Roman"/>
                <a:sym typeface="Times New Roman"/>
              </a:rPr>
              <a:t>, or </a:t>
            </a:r>
            <a:r>
              <a:rPr b="1" i="0" lang="en-US" sz="1800" u="none" cap="none" strike="noStrike">
                <a:solidFill>
                  <a:schemeClr val="dk1"/>
                </a:solidFill>
                <a:latin typeface="Times New Roman"/>
                <a:ea typeface="Times New Roman"/>
                <a:cs typeface="Times New Roman"/>
                <a:sym typeface="Times New Roman"/>
              </a:rPr>
              <a:t>independent</a:t>
            </a:r>
            <a:r>
              <a:rPr b="0" i="0" lang="en-US" sz="1800" u="none" cap="none" strike="noStrike">
                <a:solidFill>
                  <a:schemeClr val="dk1"/>
                </a:solidFill>
                <a:latin typeface="Times New Roman"/>
                <a:ea typeface="Times New Roman"/>
                <a:cs typeface="Times New Roman"/>
                <a:sym typeface="Times New Roman"/>
              </a:rPr>
              <a:t>.</a:t>
            </a:r>
            <a:endParaRPr/>
          </a:p>
          <a:p>
            <a:pPr indent="0" lvl="0" marL="0" marR="0" rtl="0" algn="just">
              <a:lnSpc>
                <a:spcPct val="150000"/>
              </a:lnSpc>
              <a:spcBef>
                <a:spcPts val="0"/>
              </a:spcBef>
              <a:spcAft>
                <a:spcPts val="0"/>
              </a:spcAft>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By calculating cross price elasticity, it can be determined if the products are substitutes, complements, or are not related to each other.</a:t>
            </a:r>
            <a:endParaRPr/>
          </a:p>
          <a:p>
            <a:pPr indent="0" lvl="0" marL="0" marR="0" rtl="0" algn="just">
              <a:lnSpc>
                <a:spcPct val="150000"/>
              </a:lnSpc>
              <a:spcBef>
                <a:spcPts val="0"/>
              </a:spcBef>
              <a:spcAft>
                <a:spcPts val="0"/>
              </a:spcAft>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In such a situation, if the products are substitutes of each other, then a positive cross elasticity of demand is observed, while if the products are complements of each other, then a negative cross elasticity of demand is observed.</a:t>
            </a:r>
            <a:endParaRPr/>
          </a:p>
          <a:p>
            <a:pPr indent="0" lvl="0" marL="0" marR="0" rtl="0" algn="l">
              <a:spcBef>
                <a:spcPts val="0"/>
              </a:spcBef>
              <a:spcAft>
                <a:spcPts val="0"/>
              </a:spcAft>
              <a:buNone/>
            </a:pPr>
            <a: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Cross Price Elasticity of Demand</a:t>
            </a:r>
            <a:endParaRPr/>
          </a:p>
        </p:txBody>
      </p:sp>
      <p:pic>
        <p:nvPicPr>
          <p:cNvPr id="311" name="Google Shape;311;p26"/>
          <p:cNvPicPr preferRelativeResize="0"/>
          <p:nvPr/>
        </p:nvPicPr>
        <p:blipFill rotWithShape="1">
          <a:blip r:embed="rId3">
            <a:alphaModFix/>
          </a:blip>
          <a:srcRect b="0" l="0" r="0" t="0"/>
          <a:stretch/>
        </p:blipFill>
        <p:spPr>
          <a:xfrm>
            <a:off x="1766889" y="2438400"/>
            <a:ext cx="8658225" cy="401478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Cross Price Elasticity of Demand</a:t>
            </a:r>
            <a:endParaRPr/>
          </a:p>
        </p:txBody>
      </p:sp>
      <p:pic>
        <p:nvPicPr>
          <p:cNvPr id="318" name="Google Shape;318;p27"/>
          <p:cNvPicPr preferRelativeResize="0"/>
          <p:nvPr/>
        </p:nvPicPr>
        <p:blipFill rotWithShape="1">
          <a:blip r:embed="rId3">
            <a:alphaModFix/>
          </a:blip>
          <a:srcRect b="0" l="0" r="0" t="0"/>
          <a:stretch/>
        </p:blipFill>
        <p:spPr>
          <a:xfrm>
            <a:off x="1676400" y="1828801"/>
            <a:ext cx="8839200" cy="474186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Cross Price Elasticity of Demand</a:t>
            </a:r>
            <a:endParaRPr/>
          </a:p>
        </p:txBody>
      </p:sp>
      <p:pic>
        <p:nvPicPr>
          <p:cNvPr id="325" name="Google Shape;325;p28"/>
          <p:cNvPicPr preferRelativeResize="0"/>
          <p:nvPr/>
        </p:nvPicPr>
        <p:blipFill rotWithShape="1">
          <a:blip r:embed="rId3">
            <a:alphaModFix/>
          </a:blip>
          <a:srcRect b="0" l="0" r="0" t="0"/>
          <a:stretch/>
        </p:blipFill>
        <p:spPr>
          <a:xfrm>
            <a:off x="1752601" y="2057400"/>
            <a:ext cx="8321675" cy="4552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Cross Price Elasticity of Demand</a:t>
            </a:r>
            <a:endParaRPr/>
          </a:p>
        </p:txBody>
      </p:sp>
      <p:pic>
        <p:nvPicPr>
          <p:cNvPr id="332" name="Google Shape;332;p29"/>
          <p:cNvPicPr preferRelativeResize="0"/>
          <p:nvPr/>
        </p:nvPicPr>
        <p:blipFill rotWithShape="1">
          <a:blip r:embed="rId3">
            <a:alphaModFix/>
          </a:blip>
          <a:srcRect b="0" l="0" r="0" t="0"/>
          <a:stretch/>
        </p:blipFill>
        <p:spPr>
          <a:xfrm>
            <a:off x="1949450" y="1828801"/>
            <a:ext cx="7772400" cy="477996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Cross Price Elasticity of Demand</a:t>
            </a:r>
            <a:endParaRPr/>
          </a:p>
        </p:txBody>
      </p:sp>
      <p:pic>
        <p:nvPicPr>
          <p:cNvPr id="339" name="Google Shape;339;p30"/>
          <p:cNvPicPr preferRelativeResize="0"/>
          <p:nvPr/>
        </p:nvPicPr>
        <p:blipFill rotWithShape="1">
          <a:blip r:embed="rId3">
            <a:alphaModFix/>
          </a:blip>
          <a:srcRect b="0" l="0" r="0" t="0"/>
          <a:stretch/>
        </p:blipFill>
        <p:spPr>
          <a:xfrm>
            <a:off x="1828800" y="1828801"/>
            <a:ext cx="8229600" cy="48609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Cross Price Elasticity of Demand</a:t>
            </a:r>
            <a:endParaRPr/>
          </a:p>
        </p:txBody>
      </p:sp>
      <p:pic>
        <p:nvPicPr>
          <p:cNvPr id="346" name="Google Shape;346;p31"/>
          <p:cNvPicPr preferRelativeResize="0"/>
          <p:nvPr/>
        </p:nvPicPr>
        <p:blipFill rotWithShape="1">
          <a:blip r:embed="rId3">
            <a:alphaModFix/>
          </a:blip>
          <a:srcRect b="0" l="0" r="0" t="0"/>
          <a:stretch/>
        </p:blipFill>
        <p:spPr>
          <a:xfrm>
            <a:off x="1752600" y="1981200"/>
            <a:ext cx="8686800" cy="4648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Cross Price Elasticity of Demand</a:t>
            </a:r>
            <a:endParaRPr/>
          </a:p>
        </p:txBody>
      </p:sp>
      <p:pic>
        <p:nvPicPr>
          <p:cNvPr id="353" name="Google Shape;353;p32"/>
          <p:cNvPicPr preferRelativeResize="0"/>
          <p:nvPr/>
        </p:nvPicPr>
        <p:blipFill rotWithShape="1">
          <a:blip r:embed="rId3">
            <a:alphaModFix/>
          </a:blip>
          <a:srcRect b="0" l="0" r="0" t="0"/>
          <a:stretch/>
        </p:blipFill>
        <p:spPr>
          <a:xfrm>
            <a:off x="1981201" y="1828800"/>
            <a:ext cx="7059613" cy="2533650"/>
          </a:xfrm>
          <a:prstGeom prst="rect">
            <a:avLst/>
          </a:prstGeom>
          <a:noFill/>
          <a:ln>
            <a:noFill/>
          </a:ln>
        </p:spPr>
      </p:pic>
      <p:pic>
        <p:nvPicPr>
          <p:cNvPr id="354" name="Google Shape;354;p32"/>
          <p:cNvPicPr preferRelativeResize="0"/>
          <p:nvPr/>
        </p:nvPicPr>
        <p:blipFill rotWithShape="1">
          <a:blip r:embed="rId4">
            <a:alphaModFix/>
          </a:blip>
          <a:srcRect b="0" l="0" r="0" t="0"/>
          <a:stretch/>
        </p:blipFill>
        <p:spPr>
          <a:xfrm>
            <a:off x="1905001" y="4292600"/>
            <a:ext cx="7059613" cy="200183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t>Cross Price Elasticity of Demand</a:t>
            </a:r>
            <a:endParaRPr/>
          </a:p>
        </p:txBody>
      </p:sp>
      <p:pic>
        <p:nvPicPr>
          <p:cNvPr id="361" name="Google Shape;361;p33"/>
          <p:cNvPicPr preferRelativeResize="0"/>
          <p:nvPr/>
        </p:nvPicPr>
        <p:blipFill rotWithShape="1">
          <a:blip r:embed="rId3">
            <a:alphaModFix/>
          </a:blip>
          <a:srcRect b="0" l="0" r="0" t="0"/>
          <a:stretch/>
        </p:blipFill>
        <p:spPr>
          <a:xfrm>
            <a:off x="1981200" y="1981200"/>
            <a:ext cx="7467600" cy="1790700"/>
          </a:xfrm>
          <a:prstGeom prst="rect">
            <a:avLst/>
          </a:prstGeom>
          <a:noFill/>
          <a:ln>
            <a:noFill/>
          </a:ln>
        </p:spPr>
      </p:pic>
      <p:pic>
        <p:nvPicPr>
          <p:cNvPr id="362" name="Google Shape;362;p33"/>
          <p:cNvPicPr preferRelativeResize="0"/>
          <p:nvPr/>
        </p:nvPicPr>
        <p:blipFill rotWithShape="1">
          <a:blip r:embed="rId4">
            <a:alphaModFix/>
          </a:blip>
          <a:srcRect b="0" l="0" r="0" t="0"/>
          <a:stretch/>
        </p:blipFill>
        <p:spPr>
          <a:xfrm>
            <a:off x="2532064" y="4267200"/>
            <a:ext cx="7604125" cy="1790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2020-10-25T11:09:19Z</dcterms:created>
  <dc:creator>User</dc:creator>
</cp:coreProperties>
</file>